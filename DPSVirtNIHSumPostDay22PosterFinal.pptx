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42062400" cy="23660100"/>
  <p:notesSz cx="7010400" cy="9296400"/>
  <p:defaultTextStyle>
    <a:defPPr>
      <a:defRPr lang="en-US"/>
    </a:defPPr>
    <a:lvl1pPr marL="0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1pPr>
    <a:lvl2pPr marL="1716762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2pPr>
    <a:lvl3pPr marL="3433524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3pPr>
    <a:lvl4pPr marL="5150286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4pPr>
    <a:lvl5pPr marL="6867049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5pPr>
    <a:lvl6pPr marL="8583811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6pPr>
    <a:lvl7pPr marL="10300573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7pPr>
    <a:lvl8pPr marL="12017336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8pPr>
    <a:lvl9pPr marL="13734098" algn="l" defTabSz="3433524" rtl="0" eaLnBrk="1" latinLnBrk="0" hangingPunct="1">
      <a:defRPr sz="673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71" userDrawn="1">
          <p15:clr>
            <a:srgbClr val="A4A3A4"/>
          </p15:clr>
        </p15:guide>
        <p15:guide id="2" pos="13248" userDrawn="1">
          <p15:clr>
            <a:srgbClr val="A4A3A4"/>
          </p15:clr>
        </p15:guide>
        <p15:guide id="3" orient="horz" pos="6387" userDrawn="1">
          <p15:clr>
            <a:srgbClr val="A4A3A4"/>
          </p15:clr>
        </p15:guide>
        <p15:guide id="4" orient="horz" pos="5216" userDrawn="1">
          <p15:clr>
            <a:srgbClr val="A4A3A4"/>
          </p15:clr>
        </p15:guide>
        <p15:guide id="5" orient="horz" pos="74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" initials="a" lastIdx="9" clrIdx="0"/>
  <p:cmAuthor id="2" name="Eunah Lee" initials="EL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DFF"/>
    <a:srgbClr val="A80000"/>
    <a:srgbClr val="001C74"/>
    <a:srgbClr val="99CCFF"/>
    <a:srgbClr val="000000"/>
    <a:srgbClr val="001168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7" autoAdjust="0"/>
    <p:restoredTop sz="94660"/>
  </p:normalViewPr>
  <p:slideViewPr>
    <p:cSldViewPr>
      <p:cViewPr varScale="1">
        <p:scale>
          <a:sx n="33" d="100"/>
          <a:sy n="33" d="100"/>
        </p:scale>
        <p:origin x="936" y="24"/>
      </p:cViewPr>
      <p:guideLst>
        <p:guide orient="horz" pos="4471"/>
        <p:guide pos="13248"/>
        <p:guide orient="horz" pos="6387"/>
        <p:guide orient="horz" pos="5216"/>
        <p:guide orient="horz" pos="74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1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048DD6F-BBD0-554C-8053-E8F75C8A89A5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1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C53832F-CD2C-BC4C-9ABA-0A20B70F9C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40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1pPr>
    <a:lvl2pPr marL="375544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2pPr>
    <a:lvl3pPr marL="751088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3pPr>
    <a:lvl4pPr marL="1126632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4pPr>
    <a:lvl5pPr marL="1502176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5pPr>
    <a:lvl6pPr marL="1877720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6pPr>
    <a:lvl7pPr marL="2253264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7pPr>
    <a:lvl8pPr marL="2628809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8pPr>
    <a:lvl9pPr marL="3004353" algn="l" defTabSz="375544" rtl="0" eaLnBrk="1" latinLnBrk="0" hangingPunct="1">
      <a:defRPr sz="98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53832F-CD2C-BC4C-9ABA-0A20B70F9CE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2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4680" y="7349972"/>
            <a:ext cx="35753040" cy="50715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9360" y="13407390"/>
            <a:ext cx="29443680" cy="60464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8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79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668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558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44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33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22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311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7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8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2640" y="15203807"/>
            <a:ext cx="35753040" cy="4699159"/>
          </a:xfrm>
        </p:spPr>
        <p:txBody>
          <a:bodyPr anchor="t"/>
          <a:lstStyle>
            <a:lvl1pPr algn="l">
              <a:defRPr sz="2004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2640" y="10028163"/>
            <a:ext cx="35753040" cy="5175645"/>
          </a:xfrm>
        </p:spPr>
        <p:txBody>
          <a:bodyPr anchor="b"/>
          <a:lstStyle>
            <a:lvl1pPr marL="0" indent="0">
              <a:buNone/>
              <a:defRPr sz="9966">
                <a:solidFill>
                  <a:schemeClr val="tx1">
                    <a:tint val="75000"/>
                  </a:schemeClr>
                </a:solidFill>
              </a:defRPr>
            </a:lvl1pPr>
            <a:lvl2pPr marL="2288959" indent="0">
              <a:buNone/>
              <a:defRPr sz="8980">
                <a:solidFill>
                  <a:schemeClr val="tx1">
                    <a:tint val="75000"/>
                  </a:schemeClr>
                </a:solidFill>
              </a:defRPr>
            </a:lvl2pPr>
            <a:lvl3pPr marL="4577918" indent="0">
              <a:buNone/>
              <a:defRPr sz="7995">
                <a:solidFill>
                  <a:schemeClr val="tx1">
                    <a:tint val="75000"/>
                  </a:schemeClr>
                </a:solidFill>
              </a:defRPr>
            </a:lvl3pPr>
            <a:lvl4pPr marL="6866877" indent="0">
              <a:buNone/>
              <a:defRPr sz="7009">
                <a:solidFill>
                  <a:schemeClr val="tx1">
                    <a:tint val="75000"/>
                  </a:schemeClr>
                </a:solidFill>
              </a:defRPr>
            </a:lvl4pPr>
            <a:lvl5pPr marL="9155836" indent="0">
              <a:buNone/>
              <a:defRPr sz="7009">
                <a:solidFill>
                  <a:schemeClr val="tx1">
                    <a:tint val="75000"/>
                  </a:schemeClr>
                </a:solidFill>
              </a:defRPr>
            </a:lvl5pPr>
            <a:lvl6pPr marL="11444795" indent="0">
              <a:buNone/>
              <a:defRPr sz="7009">
                <a:solidFill>
                  <a:schemeClr val="tx1">
                    <a:tint val="75000"/>
                  </a:schemeClr>
                </a:solidFill>
              </a:defRPr>
            </a:lvl6pPr>
            <a:lvl7pPr marL="13733754" indent="0">
              <a:buNone/>
              <a:defRPr sz="7009">
                <a:solidFill>
                  <a:schemeClr val="tx1">
                    <a:tint val="75000"/>
                  </a:schemeClr>
                </a:solidFill>
              </a:defRPr>
            </a:lvl7pPr>
            <a:lvl8pPr marL="16022714" indent="0">
              <a:buNone/>
              <a:defRPr sz="7009">
                <a:solidFill>
                  <a:schemeClr val="tx1">
                    <a:tint val="75000"/>
                  </a:schemeClr>
                </a:solidFill>
              </a:defRPr>
            </a:lvl8pPr>
            <a:lvl9pPr marL="18311673" indent="0">
              <a:buNone/>
              <a:defRPr sz="70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3120" y="5520693"/>
            <a:ext cx="18577560" cy="15614572"/>
          </a:xfrm>
        </p:spPr>
        <p:txBody>
          <a:bodyPr/>
          <a:lstStyle>
            <a:lvl1pPr>
              <a:defRPr sz="14018"/>
            </a:lvl1pPr>
            <a:lvl2pPr>
              <a:defRPr sz="12047"/>
            </a:lvl2pPr>
            <a:lvl3pPr>
              <a:defRPr sz="9966"/>
            </a:lvl3pPr>
            <a:lvl4pPr>
              <a:defRPr sz="8980"/>
            </a:lvl4pPr>
            <a:lvl5pPr>
              <a:defRPr sz="8980"/>
            </a:lvl5pPr>
            <a:lvl6pPr>
              <a:defRPr sz="8980"/>
            </a:lvl6pPr>
            <a:lvl7pPr>
              <a:defRPr sz="8980"/>
            </a:lvl7pPr>
            <a:lvl8pPr>
              <a:defRPr sz="8980"/>
            </a:lvl8pPr>
            <a:lvl9pPr>
              <a:defRPr sz="89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81720" y="5520693"/>
            <a:ext cx="18577560" cy="15614572"/>
          </a:xfrm>
        </p:spPr>
        <p:txBody>
          <a:bodyPr/>
          <a:lstStyle>
            <a:lvl1pPr>
              <a:defRPr sz="14018"/>
            </a:lvl1pPr>
            <a:lvl2pPr>
              <a:defRPr sz="12047"/>
            </a:lvl2pPr>
            <a:lvl3pPr>
              <a:defRPr sz="9966"/>
            </a:lvl3pPr>
            <a:lvl4pPr>
              <a:defRPr sz="8980"/>
            </a:lvl4pPr>
            <a:lvl5pPr>
              <a:defRPr sz="8980"/>
            </a:lvl5pPr>
            <a:lvl6pPr>
              <a:defRPr sz="8980"/>
            </a:lvl6pPr>
            <a:lvl7pPr>
              <a:defRPr sz="8980"/>
            </a:lvl7pPr>
            <a:lvl8pPr>
              <a:defRPr sz="8980"/>
            </a:lvl8pPr>
            <a:lvl9pPr>
              <a:defRPr sz="89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1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3122" y="5296142"/>
            <a:ext cx="18584865" cy="2207179"/>
          </a:xfrm>
        </p:spPr>
        <p:txBody>
          <a:bodyPr anchor="b"/>
          <a:lstStyle>
            <a:lvl1pPr marL="0" indent="0">
              <a:buNone/>
              <a:defRPr sz="12047" b="1"/>
            </a:lvl1pPr>
            <a:lvl2pPr marL="2288959" indent="0">
              <a:buNone/>
              <a:defRPr sz="9966" b="1"/>
            </a:lvl2pPr>
            <a:lvl3pPr marL="4577918" indent="0">
              <a:buNone/>
              <a:defRPr sz="8980" b="1"/>
            </a:lvl3pPr>
            <a:lvl4pPr marL="6866877" indent="0">
              <a:buNone/>
              <a:defRPr sz="7995" b="1"/>
            </a:lvl4pPr>
            <a:lvl5pPr marL="9155836" indent="0">
              <a:buNone/>
              <a:defRPr sz="7995" b="1"/>
            </a:lvl5pPr>
            <a:lvl6pPr marL="11444795" indent="0">
              <a:buNone/>
              <a:defRPr sz="7995" b="1"/>
            </a:lvl6pPr>
            <a:lvl7pPr marL="13733754" indent="0">
              <a:buNone/>
              <a:defRPr sz="7995" b="1"/>
            </a:lvl7pPr>
            <a:lvl8pPr marL="16022714" indent="0">
              <a:buNone/>
              <a:defRPr sz="7995" b="1"/>
            </a:lvl8pPr>
            <a:lvl9pPr marL="18311673" indent="0">
              <a:buNone/>
              <a:defRPr sz="79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3122" y="7503321"/>
            <a:ext cx="18584865" cy="13631943"/>
          </a:xfrm>
        </p:spPr>
        <p:txBody>
          <a:bodyPr/>
          <a:lstStyle>
            <a:lvl1pPr>
              <a:defRPr sz="12047"/>
            </a:lvl1pPr>
            <a:lvl2pPr>
              <a:defRPr sz="9966"/>
            </a:lvl2pPr>
            <a:lvl3pPr>
              <a:defRPr sz="8980"/>
            </a:lvl3pPr>
            <a:lvl4pPr>
              <a:defRPr sz="7995"/>
            </a:lvl4pPr>
            <a:lvl5pPr>
              <a:defRPr sz="7995"/>
            </a:lvl5pPr>
            <a:lvl6pPr>
              <a:defRPr sz="7995"/>
            </a:lvl6pPr>
            <a:lvl7pPr>
              <a:defRPr sz="7995"/>
            </a:lvl7pPr>
            <a:lvl8pPr>
              <a:defRPr sz="7995"/>
            </a:lvl8pPr>
            <a:lvl9pPr>
              <a:defRPr sz="79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367119" y="5296142"/>
            <a:ext cx="18592165" cy="2207179"/>
          </a:xfrm>
        </p:spPr>
        <p:txBody>
          <a:bodyPr anchor="b"/>
          <a:lstStyle>
            <a:lvl1pPr marL="0" indent="0">
              <a:buNone/>
              <a:defRPr sz="12047" b="1"/>
            </a:lvl1pPr>
            <a:lvl2pPr marL="2288959" indent="0">
              <a:buNone/>
              <a:defRPr sz="9966" b="1"/>
            </a:lvl2pPr>
            <a:lvl3pPr marL="4577918" indent="0">
              <a:buNone/>
              <a:defRPr sz="8980" b="1"/>
            </a:lvl3pPr>
            <a:lvl4pPr marL="6866877" indent="0">
              <a:buNone/>
              <a:defRPr sz="7995" b="1"/>
            </a:lvl4pPr>
            <a:lvl5pPr marL="9155836" indent="0">
              <a:buNone/>
              <a:defRPr sz="7995" b="1"/>
            </a:lvl5pPr>
            <a:lvl6pPr marL="11444795" indent="0">
              <a:buNone/>
              <a:defRPr sz="7995" b="1"/>
            </a:lvl6pPr>
            <a:lvl7pPr marL="13733754" indent="0">
              <a:buNone/>
              <a:defRPr sz="7995" b="1"/>
            </a:lvl7pPr>
            <a:lvl8pPr marL="16022714" indent="0">
              <a:buNone/>
              <a:defRPr sz="7995" b="1"/>
            </a:lvl8pPr>
            <a:lvl9pPr marL="18311673" indent="0">
              <a:buNone/>
              <a:defRPr sz="79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367119" y="7503321"/>
            <a:ext cx="18592165" cy="13631943"/>
          </a:xfrm>
        </p:spPr>
        <p:txBody>
          <a:bodyPr/>
          <a:lstStyle>
            <a:lvl1pPr>
              <a:defRPr sz="12047"/>
            </a:lvl1pPr>
            <a:lvl2pPr>
              <a:defRPr sz="9966"/>
            </a:lvl2pPr>
            <a:lvl3pPr>
              <a:defRPr sz="8980"/>
            </a:lvl3pPr>
            <a:lvl4pPr>
              <a:defRPr sz="7995"/>
            </a:lvl4pPr>
            <a:lvl5pPr>
              <a:defRPr sz="7995"/>
            </a:lvl5pPr>
            <a:lvl6pPr>
              <a:defRPr sz="7995"/>
            </a:lvl6pPr>
            <a:lvl7pPr>
              <a:defRPr sz="7995"/>
            </a:lvl7pPr>
            <a:lvl8pPr>
              <a:defRPr sz="7995"/>
            </a:lvl8pPr>
            <a:lvl9pPr>
              <a:defRPr sz="79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62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4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0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7" y="942022"/>
            <a:ext cx="13838240" cy="4009073"/>
          </a:xfrm>
        </p:spPr>
        <p:txBody>
          <a:bodyPr anchor="b"/>
          <a:lstStyle>
            <a:lvl1pPr algn="l">
              <a:defRPr sz="99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45230" y="942027"/>
            <a:ext cx="23514050" cy="20193241"/>
          </a:xfrm>
        </p:spPr>
        <p:txBody>
          <a:bodyPr/>
          <a:lstStyle>
            <a:lvl1pPr>
              <a:defRPr sz="15989"/>
            </a:lvl1pPr>
            <a:lvl2pPr>
              <a:defRPr sz="14018"/>
            </a:lvl2pPr>
            <a:lvl3pPr>
              <a:defRPr sz="12047"/>
            </a:lvl3pPr>
            <a:lvl4pPr>
              <a:defRPr sz="9966"/>
            </a:lvl4pPr>
            <a:lvl5pPr>
              <a:defRPr sz="9966"/>
            </a:lvl5pPr>
            <a:lvl6pPr>
              <a:defRPr sz="9966"/>
            </a:lvl6pPr>
            <a:lvl7pPr>
              <a:defRPr sz="9966"/>
            </a:lvl7pPr>
            <a:lvl8pPr>
              <a:defRPr sz="9966"/>
            </a:lvl8pPr>
            <a:lvl9pPr>
              <a:defRPr sz="99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3127" y="4951099"/>
            <a:ext cx="13838240" cy="16184169"/>
          </a:xfrm>
        </p:spPr>
        <p:txBody>
          <a:bodyPr/>
          <a:lstStyle>
            <a:lvl1pPr marL="0" indent="0">
              <a:buNone/>
              <a:defRPr sz="7009"/>
            </a:lvl1pPr>
            <a:lvl2pPr marL="2288959" indent="0">
              <a:buNone/>
              <a:defRPr sz="6023"/>
            </a:lvl2pPr>
            <a:lvl3pPr marL="4577918" indent="0">
              <a:buNone/>
              <a:defRPr sz="5038"/>
            </a:lvl3pPr>
            <a:lvl4pPr marL="6866877" indent="0">
              <a:buNone/>
              <a:defRPr sz="4491"/>
            </a:lvl4pPr>
            <a:lvl5pPr marL="9155836" indent="0">
              <a:buNone/>
              <a:defRPr sz="4491"/>
            </a:lvl5pPr>
            <a:lvl6pPr marL="11444795" indent="0">
              <a:buNone/>
              <a:defRPr sz="4491"/>
            </a:lvl6pPr>
            <a:lvl7pPr marL="13733754" indent="0">
              <a:buNone/>
              <a:defRPr sz="4491"/>
            </a:lvl7pPr>
            <a:lvl8pPr marL="16022714" indent="0">
              <a:buNone/>
              <a:defRPr sz="4491"/>
            </a:lvl8pPr>
            <a:lvl9pPr marL="18311673" indent="0">
              <a:buNone/>
              <a:defRPr sz="44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50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44525" y="16562074"/>
            <a:ext cx="25237440" cy="1955247"/>
          </a:xfrm>
        </p:spPr>
        <p:txBody>
          <a:bodyPr anchor="b"/>
          <a:lstStyle>
            <a:lvl1pPr algn="l">
              <a:defRPr sz="99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244525" y="2114074"/>
            <a:ext cx="25237440" cy="14196060"/>
          </a:xfrm>
        </p:spPr>
        <p:txBody>
          <a:bodyPr/>
          <a:lstStyle>
            <a:lvl1pPr marL="0" indent="0">
              <a:buNone/>
              <a:defRPr sz="15989"/>
            </a:lvl1pPr>
            <a:lvl2pPr marL="2288959" indent="0">
              <a:buNone/>
              <a:defRPr sz="14018"/>
            </a:lvl2pPr>
            <a:lvl3pPr marL="4577918" indent="0">
              <a:buNone/>
              <a:defRPr sz="12047"/>
            </a:lvl3pPr>
            <a:lvl4pPr marL="6866877" indent="0">
              <a:buNone/>
              <a:defRPr sz="9966"/>
            </a:lvl4pPr>
            <a:lvl5pPr marL="9155836" indent="0">
              <a:buNone/>
              <a:defRPr sz="9966"/>
            </a:lvl5pPr>
            <a:lvl6pPr marL="11444795" indent="0">
              <a:buNone/>
              <a:defRPr sz="9966"/>
            </a:lvl6pPr>
            <a:lvl7pPr marL="13733754" indent="0">
              <a:buNone/>
              <a:defRPr sz="9966"/>
            </a:lvl7pPr>
            <a:lvl8pPr marL="16022714" indent="0">
              <a:buNone/>
              <a:defRPr sz="9966"/>
            </a:lvl8pPr>
            <a:lvl9pPr marL="18311673" indent="0">
              <a:buNone/>
              <a:defRPr sz="99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4525" y="18517318"/>
            <a:ext cx="25237440" cy="2776774"/>
          </a:xfrm>
        </p:spPr>
        <p:txBody>
          <a:bodyPr/>
          <a:lstStyle>
            <a:lvl1pPr marL="0" indent="0">
              <a:buNone/>
              <a:defRPr sz="7009"/>
            </a:lvl1pPr>
            <a:lvl2pPr marL="2288959" indent="0">
              <a:buNone/>
              <a:defRPr sz="6023"/>
            </a:lvl2pPr>
            <a:lvl3pPr marL="4577918" indent="0">
              <a:buNone/>
              <a:defRPr sz="5038"/>
            </a:lvl3pPr>
            <a:lvl4pPr marL="6866877" indent="0">
              <a:buNone/>
              <a:defRPr sz="4491"/>
            </a:lvl4pPr>
            <a:lvl5pPr marL="9155836" indent="0">
              <a:buNone/>
              <a:defRPr sz="4491"/>
            </a:lvl5pPr>
            <a:lvl6pPr marL="11444795" indent="0">
              <a:buNone/>
              <a:defRPr sz="4491"/>
            </a:lvl6pPr>
            <a:lvl7pPr marL="13733754" indent="0">
              <a:buNone/>
              <a:defRPr sz="4491"/>
            </a:lvl7pPr>
            <a:lvl8pPr marL="16022714" indent="0">
              <a:buNone/>
              <a:defRPr sz="4491"/>
            </a:lvl8pPr>
            <a:lvl9pPr marL="18311673" indent="0">
              <a:buNone/>
              <a:defRPr sz="44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7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6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495240" y="947505"/>
            <a:ext cx="9464040" cy="20187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3120" y="947505"/>
            <a:ext cx="27691080" cy="201877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4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3120" y="947501"/>
            <a:ext cx="37856160" cy="3943350"/>
          </a:xfrm>
          <a:prstGeom prst="rect">
            <a:avLst/>
          </a:prstGeom>
        </p:spPr>
        <p:txBody>
          <a:bodyPr vert="horz" lIns="418009" tIns="209004" rIns="418009" bIns="20900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3120" y="5520693"/>
            <a:ext cx="37856160" cy="15614572"/>
          </a:xfrm>
          <a:prstGeom prst="rect">
            <a:avLst/>
          </a:prstGeom>
        </p:spPr>
        <p:txBody>
          <a:bodyPr vert="horz" lIns="418009" tIns="209004" rIns="418009" bIns="20900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3120" y="21929412"/>
            <a:ext cx="9814560" cy="1259681"/>
          </a:xfrm>
          <a:prstGeom prst="rect">
            <a:avLst/>
          </a:prstGeom>
        </p:spPr>
        <p:txBody>
          <a:bodyPr vert="horz" lIns="418009" tIns="209004" rIns="418009" bIns="209004" rtlCol="0" anchor="ctr"/>
          <a:lstStyle>
            <a:lvl1pPr algn="l">
              <a:defRPr sz="60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65B8E-E196-472C-A9F8-02B9F3BA7D23}" type="datetimeFigureOut">
              <a:rPr lang="en-US" smtClean="0"/>
              <a:pPr/>
              <a:t>7/29/2022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71320" y="21929412"/>
            <a:ext cx="13319760" cy="1259681"/>
          </a:xfrm>
          <a:prstGeom prst="rect">
            <a:avLst/>
          </a:prstGeom>
        </p:spPr>
        <p:txBody>
          <a:bodyPr vert="horz" lIns="418009" tIns="209004" rIns="418009" bIns="209004" rtlCol="0" anchor="ctr"/>
          <a:lstStyle>
            <a:lvl1pPr algn="ctr">
              <a:defRPr sz="60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144720" y="21929412"/>
            <a:ext cx="9814560" cy="1259681"/>
          </a:xfrm>
          <a:prstGeom prst="rect">
            <a:avLst/>
          </a:prstGeom>
        </p:spPr>
        <p:txBody>
          <a:bodyPr vert="horz" lIns="418009" tIns="209004" rIns="418009" bIns="209004" rtlCol="0" anchor="ctr"/>
          <a:lstStyle>
            <a:lvl1pPr algn="r">
              <a:defRPr sz="60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4BD22-1D0A-4232-BA9F-9268E84F60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0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7918" rtl="0" eaLnBrk="1" latinLnBrk="0" hangingPunct="1">
        <a:spcBef>
          <a:spcPct val="0"/>
        </a:spcBef>
        <a:buNone/>
        <a:defRPr sz="220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6719" indent="-1716719" algn="l" defTabSz="457791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989" kern="1200">
          <a:solidFill>
            <a:schemeClr val="tx1"/>
          </a:solidFill>
          <a:latin typeface="+mn-lt"/>
          <a:ea typeface="+mn-ea"/>
          <a:cs typeface="+mn-cs"/>
        </a:defRPr>
      </a:lvl1pPr>
      <a:lvl2pPr marL="3719559" indent="-1430600" algn="l" defTabSz="4577918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18" kern="1200">
          <a:solidFill>
            <a:schemeClr val="tx1"/>
          </a:solidFill>
          <a:latin typeface="+mn-lt"/>
          <a:ea typeface="+mn-ea"/>
          <a:cs typeface="+mn-cs"/>
        </a:defRPr>
      </a:lvl2pPr>
      <a:lvl3pPr marL="5722397" indent="-1144480" algn="l" defTabSz="4577918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47" kern="1200">
          <a:solidFill>
            <a:schemeClr val="tx1"/>
          </a:solidFill>
          <a:latin typeface="+mn-lt"/>
          <a:ea typeface="+mn-ea"/>
          <a:cs typeface="+mn-cs"/>
        </a:defRPr>
      </a:lvl3pPr>
      <a:lvl4pPr marL="8011357" indent="-1144480" algn="l" defTabSz="4577918" rtl="0" eaLnBrk="1" latinLnBrk="0" hangingPunct="1">
        <a:spcBef>
          <a:spcPct val="20000"/>
        </a:spcBef>
        <a:buFont typeface="Arial" panose="020B0604020202020204" pitchFamily="34" charset="0"/>
        <a:buChar char="–"/>
        <a:defRPr sz="9966" kern="1200">
          <a:solidFill>
            <a:schemeClr val="tx1"/>
          </a:solidFill>
          <a:latin typeface="+mn-lt"/>
          <a:ea typeface="+mn-ea"/>
          <a:cs typeface="+mn-cs"/>
        </a:defRPr>
      </a:lvl4pPr>
      <a:lvl5pPr marL="10300315" indent="-1144480" algn="l" defTabSz="4577918" rtl="0" eaLnBrk="1" latinLnBrk="0" hangingPunct="1">
        <a:spcBef>
          <a:spcPct val="20000"/>
        </a:spcBef>
        <a:buFont typeface="Arial" panose="020B0604020202020204" pitchFamily="34" charset="0"/>
        <a:buChar char="»"/>
        <a:defRPr sz="9966" kern="1200">
          <a:solidFill>
            <a:schemeClr val="tx1"/>
          </a:solidFill>
          <a:latin typeface="+mn-lt"/>
          <a:ea typeface="+mn-ea"/>
          <a:cs typeface="+mn-cs"/>
        </a:defRPr>
      </a:lvl5pPr>
      <a:lvl6pPr marL="12589274" indent="-1144480" algn="l" defTabSz="45779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966" kern="1200">
          <a:solidFill>
            <a:schemeClr val="tx1"/>
          </a:solidFill>
          <a:latin typeface="+mn-lt"/>
          <a:ea typeface="+mn-ea"/>
          <a:cs typeface="+mn-cs"/>
        </a:defRPr>
      </a:lvl6pPr>
      <a:lvl7pPr marL="14878234" indent="-1144480" algn="l" defTabSz="45779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966" kern="1200">
          <a:solidFill>
            <a:schemeClr val="tx1"/>
          </a:solidFill>
          <a:latin typeface="+mn-lt"/>
          <a:ea typeface="+mn-ea"/>
          <a:cs typeface="+mn-cs"/>
        </a:defRPr>
      </a:lvl7pPr>
      <a:lvl8pPr marL="17167193" indent="-1144480" algn="l" defTabSz="45779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966" kern="1200">
          <a:solidFill>
            <a:schemeClr val="tx1"/>
          </a:solidFill>
          <a:latin typeface="+mn-lt"/>
          <a:ea typeface="+mn-ea"/>
          <a:cs typeface="+mn-cs"/>
        </a:defRPr>
      </a:lvl8pPr>
      <a:lvl9pPr marL="19456152" indent="-1144480" algn="l" defTabSz="4577918" rtl="0" eaLnBrk="1" latinLnBrk="0" hangingPunct="1">
        <a:spcBef>
          <a:spcPct val="20000"/>
        </a:spcBef>
        <a:buFont typeface="Arial" panose="020B0604020202020204" pitchFamily="34" charset="0"/>
        <a:buChar char="•"/>
        <a:defRPr sz="99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1pPr>
      <a:lvl2pPr marL="2288959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2pPr>
      <a:lvl3pPr marL="4577918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3pPr>
      <a:lvl4pPr marL="6866877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4pPr>
      <a:lvl5pPr marL="9155836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5pPr>
      <a:lvl6pPr marL="11444795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6pPr>
      <a:lvl7pPr marL="13733754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7pPr>
      <a:lvl8pPr marL="16022714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8pPr>
      <a:lvl9pPr marL="18311673" algn="l" defTabSz="4577918" rtl="0" eaLnBrk="1" latinLnBrk="0" hangingPunct="1">
        <a:defRPr sz="8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tmp"/><Relationship Id="rId11" Type="http://schemas.openxmlformats.org/officeDocument/2006/relationships/image" Target="../media/image9.png"/><Relationship Id="rId5" Type="http://schemas.openxmlformats.org/officeDocument/2006/relationships/image" Target="../media/image3.tmp"/><Relationship Id="rId10" Type="http://schemas.openxmlformats.org/officeDocument/2006/relationships/image" Target="../media/image8.tmp"/><Relationship Id="rId4" Type="http://schemas.openxmlformats.org/officeDocument/2006/relationships/image" Target="../media/image2.png"/><Relationship Id="rId9" Type="http://schemas.openxmlformats.org/officeDocument/2006/relationships/image" Target="../media/image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1504"/>
          <a:stretch/>
        </p:blipFill>
        <p:spPr bwMode="auto">
          <a:xfrm>
            <a:off x="-32252" y="775787"/>
            <a:ext cx="1049471" cy="2335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" name="AutoShape 8363"/>
          <p:cNvSpPr>
            <a:spLocks noChangeArrowheads="1"/>
          </p:cNvSpPr>
          <p:nvPr/>
        </p:nvSpPr>
        <p:spPr bwMode="auto">
          <a:xfrm>
            <a:off x="15029518" y="5251457"/>
            <a:ext cx="18430751" cy="1107629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4D95FF"/>
              </a:gs>
              <a:gs pos="100000">
                <a:srgbClr val="004FC2"/>
              </a:gs>
            </a:gsLst>
            <a:lin ang="5400000" scaled="1"/>
          </a:gradFill>
          <a:ln w="25400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94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Figures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1390625" y="6496050"/>
            <a:ext cx="7071732" cy="16692759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57155" tIns="28577" rIns="500743" bIns="500743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Red cell units have a typical shelf life of up to 42 days in the US.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Despite more than 10 million red cell transfusions per year, little has recently been published on the age of red cell units at transfusion (age distribution).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This age distribution may depend on red cell unit availability and the blood supply based on blood group antigen, such as ABO and RhD.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Most of the large database centered clinical transfusion medicine studies utilize primary data with linked research subjects, such as patient and blood donors.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/>
              <a:t>We wanted to compile data on the red cell distribution using the unlinked REDS-III </a:t>
            </a:r>
            <a:r>
              <a:rPr lang="en-US" sz="3000" dirty="0"/>
              <a:t>database, publicly available since Aug. 2019.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The Recipient Epidemiology and Donor Evaluation Study (REDS-III) database, developed and validated by NHLBI, consists of data collected from 4 geographically diverse blood centers across the US from mid-2012 to the end of 2016.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Consists of a linked, donor-component, transfusion-recipient database that includes data from</a:t>
            </a:r>
          </a:p>
          <a:p>
            <a:pPr marL="868362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blood donors and their donations, </a:t>
            </a:r>
          </a:p>
          <a:p>
            <a:pPr marL="868362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the components made from these donations, and</a:t>
            </a:r>
          </a:p>
          <a:p>
            <a:pPr marL="868362" lvl="1" indent="-457200">
              <a:buFont typeface="Arial" panose="020B0604020202020204" pitchFamily="34" charset="0"/>
              <a:buChar char="•"/>
            </a:pPr>
            <a:r>
              <a:rPr lang="en-US" sz="3000" dirty="0"/>
              <a:t>electronic medical records of the recipients of these components. </a:t>
            </a:r>
          </a:p>
        </p:txBody>
      </p:sp>
      <p:sp>
        <p:nvSpPr>
          <p:cNvPr id="353" name="AutoShape 8363"/>
          <p:cNvSpPr>
            <a:spLocks noChangeArrowheads="1"/>
          </p:cNvSpPr>
          <p:nvPr/>
        </p:nvSpPr>
        <p:spPr bwMode="auto">
          <a:xfrm>
            <a:off x="-32252" y="19050"/>
            <a:ext cx="42062400" cy="5115794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D95FF"/>
              </a:gs>
              <a:gs pos="100000">
                <a:srgbClr val="004FC2"/>
              </a:gs>
            </a:gsLst>
            <a:lin ang="5400000" scaled="1"/>
          </a:gradFill>
          <a:ln w="25400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endParaRPr lang="en-US" sz="8980"/>
          </a:p>
        </p:txBody>
      </p:sp>
      <p:sp>
        <p:nvSpPr>
          <p:cNvPr id="7" name="TextBox 6"/>
          <p:cNvSpPr txBox="1"/>
          <p:nvPr/>
        </p:nvSpPr>
        <p:spPr>
          <a:xfrm>
            <a:off x="7353234" y="206861"/>
            <a:ext cx="28340898" cy="4806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cell transfusion patterns among 1.5 million research subjects </a:t>
            </a:r>
            <a:b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public REDS-III database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95"/>
              </a:spcAft>
            </a:pP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David Perez-Suarez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1,2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Kshitij Srivastava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Willy A. Flegel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>
              <a:spcAft>
                <a:spcPts val="1095"/>
              </a:spcAft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Transfusion Medicine, NIH Clinical Center, National Institutes of Health, Bethesda, MD</a:t>
            </a:r>
          </a:p>
          <a:p>
            <a:pPr algn="ctr"/>
            <a:r>
              <a:rPr lang="en-US" sz="32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Statistics, University of Virginia, Charlottesville, VA.</a:t>
            </a:r>
          </a:p>
        </p:txBody>
      </p:sp>
      <p:sp>
        <p:nvSpPr>
          <p:cNvPr id="16" name="AutoShape 8363"/>
          <p:cNvSpPr>
            <a:spLocks noChangeArrowheads="1"/>
          </p:cNvSpPr>
          <p:nvPr/>
        </p:nvSpPr>
        <p:spPr bwMode="auto">
          <a:xfrm>
            <a:off x="34164115" y="5256383"/>
            <a:ext cx="7140273" cy="112023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4D95FF"/>
              </a:gs>
              <a:gs pos="100000">
                <a:srgbClr val="004FC2"/>
              </a:gs>
            </a:gsLst>
            <a:lin ang="5400000" scaled="1"/>
          </a:gradFill>
          <a:ln w="25400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94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Line 8361"/>
          <p:cNvSpPr>
            <a:spLocks noChangeShapeType="1"/>
          </p:cNvSpPr>
          <p:nvPr/>
        </p:nvSpPr>
        <p:spPr bwMode="auto">
          <a:xfrm flipH="1">
            <a:off x="1314450" y="28844875"/>
            <a:ext cx="403098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endParaRPr lang="en-US" sz="8980"/>
          </a:p>
        </p:txBody>
      </p:sp>
      <p:sp>
        <p:nvSpPr>
          <p:cNvPr id="24" name="AutoShape 8363"/>
          <p:cNvSpPr>
            <a:spLocks noChangeArrowheads="1"/>
          </p:cNvSpPr>
          <p:nvPr/>
        </p:nvSpPr>
        <p:spPr bwMode="auto">
          <a:xfrm>
            <a:off x="1391944" y="5362646"/>
            <a:ext cx="7070413" cy="111096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4D95FF"/>
              </a:gs>
              <a:gs pos="100000">
                <a:srgbClr val="004FC2"/>
              </a:gs>
            </a:gsLst>
            <a:lin ang="5400000" scaled="1"/>
          </a:gradFill>
          <a:ln w="25400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94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cxnSp>
        <p:nvCxnSpPr>
          <p:cNvPr id="310" name="Straight Connector 309"/>
          <p:cNvCxnSpPr/>
          <p:nvPr/>
        </p:nvCxnSpPr>
        <p:spPr>
          <a:xfrm flipV="1">
            <a:off x="16068178" y="23505142"/>
            <a:ext cx="19134785" cy="0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34600552" y="23505142"/>
            <a:ext cx="6910251" cy="0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/>
          <p:cNvCxnSpPr>
            <a:cxnSpLocks/>
          </p:cNvCxnSpPr>
          <p:nvPr/>
        </p:nvCxnSpPr>
        <p:spPr>
          <a:xfrm flipH="1">
            <a:off x="8646620" y="5671612"/>
            <a:ext cx="60744" cy="17869739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41730507" y="5283613"/>
            <a:ext cx="85860" cy="18257738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>
            <a:cxnSpLocks/>
          </p:cNvCxnSpPr>
          <p:nvPr/>
        </p:nvCxnSpPr>
        <p:spPr>
          <a:xfrm flipH="1">
            <a:off x="14665136" y="5700451"/>
            <a:ext cx="71511" cy="17775853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7" name="Table 2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370861"/>
              </p:ext>
            </p:extLst>
          </p:nvPr>
        </p:nvGraphicFramePr>
        <p:xfrm>
          <a:off x="31421615" y="9417299"/>
          <a:ext cx="228116" cy="1471748"/>
        </p:xfrm>
        <a:graphic>
          <a:graphicData uri="http://schemas.openxmlformats.org/drawingml/2006/table">
            <a:tbl>
              <a:tblPr/>
              <a:tblGrid>
                <a:gridCol w="228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8846">
                <a:tc>
                  <a:txBody>
                    <a:bodyPr/>
                    <a:lstStyle/>
                    <a:p>
                      <a:endParaRPr lang="en-US" sz="9000" dirty="0"/>
                    </a:p>
                  </a:txBody>
                  <a:tcPr marL="100149" marR="100149" marT="50074" marB="500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TextBox 78"/>
          <p:cNvSpPr txBox="1"/>
          <p:nvPr/>
        </p:nvSpPr>
        <p:spPr>
          <a:xfrm>
            <a:off x="14940895" y="6506642"/>
            <a:ext cx="7527164" cy="1634490"/>
          </a:xfrm>
          <a:prstGeom prst="roundRect">
            <a:avLst/>
          </a:prstGeom>
          <a:solidFill>
            <a:srgbClr val="A80000">
              <a:alpha val="1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rial"/>
                <a:cs typeface="Arial"/>
              </a:rPr>
              <a:t>Figure 1. Sankey plot of red cell transfusion pattern between Donors vs. Recipients based on ABO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2905179" y="6545244"/>
            <a:ext cx="10575815" cy="1634490"/>
          </a:xfrm>
          <a:prstGeom prst="roundRect">
            <a:avLst/>
          </a:prstGeom>
          <a:solidFill>
            <a:srgbClr val="A80000">
              <a:alpha val="1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rial"/>
                <a:cs typeface="Arial"/>
              </a:rPr>
              <a:t>Figure 3. Storage time of red cell unit at red cell transfusion between Donors and Recipients based on ABO and </a:t>
            </a:r>
            <a:r>
              <a:rPr lang="en-US" sz="3000" b="1" dirty="0" err="1">
                <a:latin typeface="Arial"/>
                <a:cs typeface="Arial"/>
              </a:rPr>
              <a:t>RhD</a:t>
            </a:r>
            <a:r>
              <a:rPr lang="en-US" sz="3000" b="1" dirty="0">
                <a:latin typeface="Arial"/>
                <a:cs typeface="Arial"/>
              </a:rPr>
              <a:t> factor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86" name="AutoShape 8363"/>
          <p:cNvSpPr>
            <a:spLocks noChangeArrowheads="1"/>
          </p:cNvSpPr>
          <p:nvPr/>
        </p:nvSpPr>
        <p:spPr bwMode="auto">
          <a:xfrm>
            <a:off x="33992272" y="17468387"/>
            <a:ext cx="7281995" cy="1041651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4D95FF"/>
              </a:gs>
              <a:gs pos="100000">
                <a:srgbClr val="004FC2"/>
              </a:gs>
            </a:gsLst>
            <a:lin ang="5400000" scaled="1"/>
          </a:gradFill>
          <a:ln w="25400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94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781060" y="15267229"/>
            <a:ext cx="16516389" cy="612934"/>
          </a:xfrm>
          <a:prstGeom prst="roundRect">
            <a:avLst/>
          </a:prstGeom>
          <a:solidFill>
            <a:srgbClr val="A80000">
              <a:alpha val="1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Arial"/>
                <a:cs typeface="Arial"/>
              </a:rPr>
              <a:t>Figure 2. Sankey plot between Donors vs Recipients based on ABO and </a:t>
            </a:r>
            <a:r>
              <a:rPr lang="en-US" sz="3000" b="1" dirty="0" err="1">
                <a:latin typeface="Arial"/>
                <a:cs typeface="Arial"/>
              </a:rPr>
              <a:t>RhD</a:t>
            </a:r>
            <a:r>
              <a:rPr lang="en-US" sz="3000" b="1" dirty="0">
                <a:latin typeface="Arial"/>
                <a:cs typeface="Arial"/>
              </a:rPr>
              <a:t> factor</a:t>
            </a:r>
            <a:endParaRPr lang="en-US" sz="3000" dirty="0">
              <a:latin typeface="Arial"/>
              <a:cs typeface="Arial"/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1330843" y="23505142"/>
            <a:ext cx="14737335" cy="0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 flipH="1">
            <a:off x="33727844" y="5276850"/>
            <a:ext cx="44724" cy="18228292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DB0AC3ED-A545-4807-AD7A-C24562A108C9}"/>
              </a:ext>
            </a:extLst>
          </p:cNvPr>
          <p:cNvGrpSpPr/>
          <p:nvPr/>
        </p:nvGrpSpPr>
        <p:grpSpPr>
          <a:xfrm>
            <a:off x="8941582" y="5382152"/>
            <a:ext cx="5500932" cy="6436944"/>
            <a:chOff x="8841446" y="18688050"/>
            <a:chExt cx="5500932" cy="6436944"/>
          </a:xfrm>
        </p:grpSpPr>
        <p:sp>
          <p:nvSpPr>
            <p:cNvPr id="52" name="AutoShape 8363">
              <a:extLst>
                <a:ext uri="{FF2B5EF4-FFF2-40B4-BE49-F238E27FC236}">
                  <a16:creationId xmlns:a16="http://schemas.microsoft.com/office/drawing/2014/main" id="{6D1A4852-582D-4117-BB3E-4E2923B7D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7750" y="18688050"/>
              <a:ext cx="5464628" cy="110762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4D95FF"/>
                </a:gs>
                <a:gs pos="100000">
                  <a:srgbClr val="004FC2"/>
                </a:gs>
              </a:gsLst>
              <a:lin ang="5400000" scaled="1"/>
            </a:gradFill>
            <a:ln w="25400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3940" b="1" dirty="0">
                  <a:solidFill>
                    <a:schemeClr val="bg1"/>
                  </a:solidFill>
                  <a:latin typeface="Arial"/>
                  <a:cs typeface="Arial"/>
                </a:rPr>
                <a:t>Goals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8AB448F-8FF3-4F45-9220-6B215B4CC8AC}"/>
                </a:ext>
              </a:extLst>
            </p:cNvPr>
            <p:cNvSpPr txBox="1"/>
            <p:nvPr/>
          </p:nvSpPr>
          <p:spPr>
            <a:xfrm>
              <a:off x="8841446" y="19954348"/>
              <a:ext cx="5430683" cy="51706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000" dirty="0"/>
                <a:t>Blood group O, A, B, and AB red cell unit use in blood group O, A, B, and AB recipients.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000" dirty="0" err="1"/>
                <a:t>RhD</a:t>
              </a:r>
              <a:r>
                <a:rPr lang="en-US" sz="3000" dirty="0"/>
                <a:t>-positive and </a:t>
              </a:r>
              <a:r>
                <a:rPr lang="en-US" sz="3000" dirty="0" err="1"/>
                <a:t>RhD</a:t>
              </a:r>
              <a:r>
                <a:rPr lang="en-US" sz="3000" dirty="0"/>
                <a:t>-negative red cell unit use in </a:t>
              </a:r>
              <a:r>
                <a:rPr lang="en-US" sz="3000" dirty="0" err="1"/>
                <a:t>RhD</a:t>
              </a:r>
              <a:r>
                <a:rPr lang="en-US" sz="3000" dirty="0"/>
                <a:t>-positive and </a:t>
              </a:r>
              <a:r>
                <a:rPr lang="en-US" sz="3000" dirty="0" err="1"/>
                <a:t>RhD</a:t>
              </a:r>
              <a:r>
                <a:rPr lang="en-US" sz="3000" dirty="0"/>
                <a:t>-negative recipients.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000" dirty="0"/>
                <a:t>Analyze the storage time of red cell unit at transfusion based on ABO and RhD factor.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ABBB3F3-8E0F-488F-AE90-1A77B7A18572}"/>
              </a:ext>
            </a:extLst>
          </p:cNvPr>
          <p:cNvGrpSpPr/>
          <p:nvPr/>
        </p:nvGrpSpPr>
        <p:grpSpPr>
          <a:xfrm>
            <a:off x="8842465" y="11895296"/>
            <a:ext cx="5687570" cy="3668554"/>
            <a:chOff x="1261264" y="19140005"/>
            <a:chExt cx="7273495" cy="3668554"/>
          </a:xfrm>
        </p:grpSpPr>
        <p:sp>
          <p:nvSpPr>
            <p:cNvPr id="143" name="AutoShape 8363"/>
            <p:cNvSpPr>
              <a:spLocks noChangeArrowheads="1"/>
            </p:cNvSpPr>
            <p:nvPr/>
          </p:nvSpPr>
          <p:spPr bwMode="auto">
            <a:xfrm>
              <a:off x="1391944" y="19140005"/>
              <a:ext cx="6941052" cy="110762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4D95FF"/>
                </a:gs>
                <a:gs pos="100000">
                  <a:srgbClr val="004FC2"/>
                </a:gs>
              </a:gsLst>
              <a:lin ang="5400000" scaled="1"/>
            </a:gradFill>
            <a:ln w="25400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3940" b="1" dirty="0">
                  <a:solidFill>
                    <a:schemeClr val="bg1"/>
                  </a:solidFill>
                  <a:latin typeface="Arial"/>
                  <a:cs typeface="Arial"/>
                </a:rPr>
                <a:t>Methods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1F8A483-EBDF-4BD7-A4E4-6BDB3CA1877E}"/>
                </a:ext>
              </a:extLst>
            </p:cNvPr>
            <p:cNvSpPr txBox="1"/>
            <p:nvPr/>
          </p:nvSpPr>
          <p:spPr>
            <a:xfrm>
              <a:off x="1261264" y="20407902"/>
              <a:ext cx="7273495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000" dirty="0"/>
                <a:t>Used the R statistical package to perform descriptive data analysis including the demographics, line plots and Sankey plots.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AAE54CF-A631-4F84-BA0E-A729091DF08A}"/>
              </a:ext>
            </a:extLst>
          </p:cNvPr>
          <p:cNvGrpSpPr/>
          <p:nvPr/>
        </p:nvGrpSpPr>
        <p:grpSpPr>
          <a:xfrm>
            <a:off x="8842466" y="15712153"/>
            <a:ext cx="5529800" cy="7471697"/>
            <a:chOff x="8842466" y="16373902"/>
            <a:chExt cx="5529800" cy="7471697"/>
          </a:xfrm>
        </p:grpSpPr>
        <p:sp>
          <p:nvSpPr>
            <p:cNvPr id="57" name="AutoShape 8363">
              <a:extLst>
                <a:ext uri="{FF2B5EF4-FFF2-40B4-BE49-F238E27FC236}">
                  <a16:creationId xmlns:a16="http://schemas.microsoft.com/office/drawing/2014/main" id="{9A5131F0-68C4-4E5A-BF15-D2C84BDD0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290" y="16373902"/>
              <a:ext cx="5464628" cy="110762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4D95FF"/>
                </a:gs>
                <a:gs pos="100000">
                  <a:srgbClr val="004FC2"/>
                </a:gs>
              </a:gsLst>
              <a:lin ang="5400000" scaled="1"/>
            </a:gradFill>
            <a:ln w="25400" algn="ctr">
              <a:solidFill>
                <a:srgbClr val="00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sz="3940" b="1" dirty="0">
                  <a:solidFill>
                    <a:schemeClr val="bg1"/>
                  </a:solidFill>
                  <a:latin typeface="Arial"/>
                  <a:cs typeface="Arial"/>
                </a:rPr>
                <a:t>Data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BBE65F5-2020-4434-A128-6945615B28B6}"/>
                </a:ext>
              </a:extLst>
            </p:cNvPr>
            <p:cNvSpPr txBox="1"/>
            <p:nvPr/>
          </p:nvSpPr>
          <p:spPr>
            <a:xfrm>
              <a:off x="8842466" y="17659290"/>
              <a:ext cx="5529800" cy="61863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000" dirty="0"/>
                <a:t>Out of the total 747,994 patients,118,648 patients receiving transfusion were analyzed.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000" dirty="0"/>
                <a:t>Out of the total 767,664 donors, 649,131 donors were able to successfully donate.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000" dirty="0"/>
                <a:t>65,368 patients were available with information about the product transfused.</a:t>
              </a:r>
            </a:p>
            <a:p>
              <a:endParaRPr lang="en-US" sz="2400" dirty="0"/>
            </a:p>
            <a:p>
              <a:pPr marL="412750" indent="-412750"/>
              <a:r>
                <a:rPr lang="en-US" sz="2400" dirty="0"/>
                <a:t> *	The analysis can be refined based on inclusion and exclusion criteria which may change the final numbers. </a:t>
              </a:r>
            </a:p>
          </p:txBody>
        </p:sp>
      </p:grpSp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99D7B0F9-9A95-4BA1-8E17-427850B8B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0023" y="737876"/>
            <a:ext cx="3988933" cy="39889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Picture 43" descr="Graphical user interface, chart&#10;&#10;Description automatically generated">
            <a:extLst>
              <a:ext uri="{FF2B5EF4-FFF2-40B4-BE49-F238E27FC236}">
                <a16:creationId xmlns:a16="http://schemas.microsoft.com/office/drawing/2014/main" id="{9D31898D-F543-40F5-9C0D-DF02E8C0AE7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6" t="17551" r="35826" b="15845"/>
          <a:stretch/>
        </p:blipFill>
        <p:spPr>
          <a:xfrm>
            <a:off x="15398695" y="16012214"/>
            <a:ext cx="7218096" cy="7051672"/>
          </a:xfrm>
          <a:prstGeom prst="rect">
            <a:avLst/>
          </a:prstGeom>
        </p:spPr>
      </p:pic>
      <p:pic>
        <p:nvPicPr>
          <p:cNvPr id="45" name="Picture 4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4A83116-2E34-4988-8AAB-4F248FD03A4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1" t="18124" r="35951" b="15831"/>
          <a:stretch/>
        </p:blipFill>
        <p:spPr>
          <a:xfrm>
            <a:off x="14964165" y="8304792"/>
            <a:ext cx="7381011" cy="6544969"/>
          </a:xfrm>
          <a:prstGeom prst="rect">
            <a:avLst/>
          </a:prstGeom>
        </p:spPr>
      </p:pic>
      <p:sp>
        <p:nvSpPr>
          <p:cNvPr id="46" name="AutoShape 8363">
            <a:extLst>
              <a:ext uri="{FF2B5EF4-FFF2-40B4-BE49-F238E27FC236}">
                <a16:creationId xmlns:a16="http://schemas.microsoft.com/office/drawing/2014/main" id="{CFF68F90-59E3-4091-9FDA-DE2CBA743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5974" y="12214277"/>
            <a:ext cx="7140273" cy="112023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4D95FF"/>
              </a:gs>
              <a:gs pos="100000">
                <a:srgbClr val="004FC2"/>
              </a:gs>
            </a:gsLst>
            <a:lin ang="5400000" scaled="1"/>
          </a:gradFill>
          <a:ln w="25400" algn="ctr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94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0DF28F-0796-46F8-9EA3-C035C9B3BD73}"/>
              </a:ext>
            </a:extLst>
          </p:cNvPr>
          <p:cNvSpPr txBox="1"/>
          <p:nvPr/>
        </p:nvSpPr>
        <p:spPr>
          <a:xfrm>
            <a:off x="33995190" y="18545825"/>
            <a:ext cx="778993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The analysis will be refined based on inclusion and exclusion criteria.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Analyze hemoglobin increment after transfusion based on ABO, RhD factor and age of red cell unit.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123E96-2E38-479A-9AC8-6EB407E25BC8}"/>
              </a:ext>
            </a:extLst>
          </p:cNvPr>
          <p:cNvSpPr txBox="1"/>
          <p:nvPr/>
        </p:nvSpPr>
        <p:spPr>
          <a:xfrm>
            <a:off x="33805470" y="13384131"/>
            <a:ext cx="77899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Transfusion recipients with blood group O receiving A and B red cell units may be due to them being transplanted (patients initially blood group O and after bone marrow transplant became blood group A or B).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Some </a:t>
            </a:r>
            <a:r>
              <a:rPr lang="en-US" sz="3000" dirty="0" err="1"/>
              <a:t>RhD</a:t>
            </a:r>
            <a:r>
              <a:rPr lang="en-US" sz="3000" dirty="0"/>
              <a:t>-negative recipients (1.73%) received </a:t>
            </a:r>
            <a:r>
              <a:rPr lang="en-US" sz="3000" dirty="0" err="1"/>
              <a:t>RhD</a:t>
            </a:r>
            <a:r>
              <a:rPr lang="en-US" sz="3000" dirty="0"/>
              <a:t>-positive red cell units possibly due to them being trauma patients.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338C58-60FD-4873-B8AA-598948ACB10E}"/>
              </a:ext>
            </a:extLst>
          </p:cNvPr>
          <p:cNvSpPr txBox="1"/>
          <p:nvPr/>
        </p:nvSpPr>
        <p:spPr>
          <a:xfrm>
            <a:off x="33824399" y="6502539"/>
            <a:ext cx="787519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1.22% of red cell units of blood groups A, B, and AB were transfused to patients with blood group O while 46.76% of red cell units of blood groups O, A and B were transfused to patients with blood group AB (Fig. 1)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46.12% of the </a:t>
            </a:r>
            <a:r>
              <a:rPr lang="en-US" sz="3000" dirty="0" err="1"/>
              <a:t>RhD</a:t>
            </a:r>
            <a:r>
              <a:rPr lang="en-US" sz="3000" dirty="0"/>
              <a:t>-negative red cell units were transfused to </a:t>
            </a:r>
            <a:r>
              <a:rPr lang="en-US" sz="3000" dirty="0" err="1"/>
              <a:t>RhD</a:t>
            </a:r>
            <a:r>
              <a:rPr lang="en-US" sz="3000" dirty="0"/>
              <a:t>-positive patients (Fig. 2). Similar patterns were observed for each of the 4 ABO blood types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Storage time for red cell units was longest for blood group O and shortest for blood group AB (Fig. 3)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132B6EF-8CD3-4E9A-A8E8-E73E91F9CAC9}"/>
              </a:ext>
            </a:extLst>
          </p:cNvPr>
          <p:cNvCxnSpPr>
            <a:cxnSpLocks/>
          </p:cNvCxnSpPr>
          <p:nvPr/>
        </p:nvCxnSpPr>
        <p:spPr>
          <a:xfrm flipH="1">
            <a:off x="14686998" y="14941767"/>
            <a:ext cx="18828048" cy="0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69F32B4-2992-4846-A8A7-02196CA1EDA8}"/>
              </a:ext>
            </a:extLst>
          </p:cNvPr>
          <p:cNvCxnSpPr>
            <a:cxnSpLocks/>
          </p:cNvCxnSpPr>
          <p:nvPr/>
        </p:nvCxnSpPr>
        <p:spPr>
          <a:xfrm>
            <a:off x="22682814" y="6729329"/>
            <a:ext cx="7255" cy="8212438"/>
          </a:xfrm>
          <a:prstGeom prst="line">
            <a:avLst/>
          </a:prstGeom>
          <a:ln w="571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9247BC5C-6516-4B4C-AECF-1E59803999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4600" y="21103702"/>
            <a:ext cx="1809188" cy="224942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F4CFA4D-7390-429D-8D96-007BA2B0A6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00" y="21103702"/>
            <a:ext cx="1810786" cy="2251410"/>
          </a:xfrm>
          <a:prstGeom prst="rect">
            <a:avLst/>
          </a:prstGeom>
        </p:spPr>
      </p:pic>
      <p:pic>
        <p:nvPicPr>
          <p:cNvPr id="62" name="Picture 61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FF4EE26E-0C49-481D-9BAE-6C90040305C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10" t="81032" r="5795" b="4813"/>
          <a:stretch/>
        </p:blipFill>
        <p:spPr>
          <a:xfrm>
            <a:off x="39090600" y="21103701"/>
            <a:ext cx="2340201" cy="22494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 descr="PowerPoint&#10;&#10;Description automatically generated with medium confidence">
            <a:extLst>
              <a:ext uri="{FF2B5EF4-FFF2-40B4-BE49-F238E27FC236}">
                <a16:creationId xmlns:a16="http://schemas.microsoft.com/office/drawing/2014/main" id="{881E2A89-5B40-44AF-BB0E-F19141372DD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8" t="19203" r="33263" b="15897"/>
          <a:stretch/>
        </p:blipFill>
        <p:spPr>
          <a:xfrm>
            <a:off x="23042910" y="16030193"/>
            <a:ext cx="9622923" cy="68362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10B4A01-D0F6-47F6-8CD3-F8962A87407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9301" t="18864" r="18699" b="19137"/>
          <a:stretch/>
        </p:blipFill>
        <p:spPr>
          <a:xfrm>
            <a:off x="813816" y="709374"/>
            <a:ext cx="3986784" cy="39867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9850856-8214-4FC2-9E1D-B214330CE65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9" t="13936" r="13825" b="11866"/>
          <a:stretch/>
        </p:blipFill>
        <p:spPr>
          <a:xfrm>
            <a:off x="22789436" y="8365892"/>
            <a:ext cx="10905506" cy="641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872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12978</TotalTime>
  <Words>645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Office Theme</vt:lpstr>
      <vt:lpstr>PowerPoint Presentation</vt:lpstr>
    </vt:vector>
  </TitlesOfParts>
  <Company>NIH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Srivastava, Kshitij (NIH/CC/DTM) [E]</cp:lastModifiedBy>
  <cp:revision>526</cp:revision>
  <cp:lastPrinted>2018-08-06T15:06:42Z</cp:lastPrinted>
  <dcterms:created xsi:type="dcterms:W3CDTF">2014-07-14T15:50:53Z</dcterms:created>
  <dcterms:modified xsi:type="dcterms:W3CDTF">2022-07-29T20:32:49Z</dcterms:modified>
</cp:coreProperties>
</file>