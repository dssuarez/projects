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Default Extension="fntdata" ContentType="application/x-fontdata"/>
  <Override PartName="/docProps/custom.xml" ContentType="application/vnd.openxmlformats-officedocument.custom-properties+xml"/>
  <Override PartName="/docProps/core.xml" ContentType="application/vnd.openxmlformats-package.core-properties+xml"/>
  <Override PartName="/docProps/app.xml" ContentType="application/vnd.openxmlformats-officedocument.extended-properti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_rels/slideMaster17.xml.rels" ContentType="application/vnd.openxmlformats-package.relationships+xml"/>
  <Override PartName="/ppt/slideMasters/_rels/slideMaster1.xml.rels" ContentType="application/vnd.openxmlformats-package.relationships+xml"/>
  <Override PartName="/ppt/slideMasters/_rels/slideMaster3.xml.rels" ContentType="application/vnd.openxmlformats-package.relationships+xml"/>
  <Override PartName="/ppt/slideMasters/_rels/slideMaster16.xml.rels" ContentType="application/vnd.openxmlformats-package.relationships+xml"/>
  <Override PartName="/ppt/slideMasters/_rels/slideMaster4.xml.rels" ContentType="application/vnd.openxmlformats-package.relationships+xml"/>
  <Override PartName="/ppt/slideMasters/slideMaster3.xml" ContentType="application/vnd.openxmlformats-officedocument.presentationml.slideMaster+xml"/>
  <Override PartName="/ppt/slideMasters/slideMaster16.xml" ContentType="application/vnd.openxmlformats-officedocument.presentationml.slideMaster+xml"/>
  <Override PartName="/ppt/slideMasters/slideMaster4.xml" ContentType="application/vnd.openxmlformats-officedocument.presentationml.slideMaster+xml"/>
  <Override PartName="/ppt/slideMasters/slideMaster17.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_rels/slideLayout1.xml.rels" ContentType="application/vnd.openxmlformats-package.relationships+xml"/>
  <Override PartName="/ppt/slideLayouts/_rels/slideLayout2.xml.rels" ContentType="application/vnd.openxmlformats-package.relationships+xml"/>
  <Override PartName="/ppt/slideLayouts/_rels/slideLayout3.xml.rels" ContentType="application/vnd.openxmlformats-package.relationships+xml"/>
  <Override PartName="/ppt/slideLayouts/_rels/slideLayout4.xml.rels" ContentType="application/vnd.openxmlformats-package.relationships+xml"/>
  <Override PartName="/ppt/slideLayouts/_rels/slideLayout5.xml.rels" ContentType="application/vnd.openxmlformats-package.relationships+xml"/>
  <Override PartName="/ppt/slideLayouts/_rels/slideLayout6.xml.rels" ContentType="application/vnd.openxmlformats-package.relationships+xml"/>
  <Override PartName="/ppt/slideLayouts/_rels/slideLayout7.xml.rels" ContentType="application/vnd.openxmlformats-package.relationships+xml"/>
  <Override PartName="/ppt/slideLayouts/_rels/slideLayout8.xml.rels" ContentType="application/vnd.openxmlformats-package.relationships+xml"/>
  <Override PartName="/ppt/slideLayouts/_rels/slideLayout9.xml.rels" ContentType="application/vnd.openxmlformats-package.relationships+xml"/>
  <Override PartName="/ppt/slideLayouts/_rels/slideLayout10.xml.rels" ContentType="application/vnd.openxmlformats-package.relationships+xml"/>
  <Override PartName="/ppt/slideLayouts/_rels/slideLayout11.xml.rels" ContentType="application/vnd.openxmlformats-package.relationships+xml"/>
  <Override PartName="/ppt/slideLayouts/_rels/slideLayout12.xml.rels" ContentType="application/vnd.openxmlformats-package.relationships+xml"/>
  <Override PartName="/ppt/slideLayouts/_rels/slideLayout13.xml.rels" ContentType="application/vnd.openxmlformats-package.relationships+xml"/>
  <Override PartName="/ppt/slideLayouts/_rels/slideLayout14.xml.rels" ContentType="application/vnd.openxmlformats-package.relationships+xml"/>
  <Override PartName="/ppt/slideLayouts/_rels/slideLayout15.xml.rels" ContentType="application/vnd.openxmlformats-package.relationships+xml"/>
  <Override PartName="/ppt/slideLayouts/_rels/slideLayout16.xml.rels" ContentType="application/vnd.openxmlformats-package.relationships+xml"/>
  <Override PartName="/ppt/slideLayouts/_rels/slideLayout17.xml.rels" ContentType="application/vnd.openxmlformats-package.relationships+xml"/>
  <Override PartName="/ppt/slideLayouts/_rels/slideLayout18.xml.rels" ContentType="application/vnd.openxmlformats-package.relationships+xml"/>
  <Override PartName="/ppt/presProps.xml" ContentType="application/vnd.openxmlformats-officedocument.presentationml.presProps+xml"/>
  <Override PartName="/ppt/media/image18.png" ContentType="image/png"/>
  <Override PartName="/ppt/media/image1.png" ContentType="image/png"/>
  <Override PartName="/ppt/media/image2.png" ContentType="image/png"/>
  <Override PartName="/ppt/media/image3.png" ContentType="image/png"/>
  <Override PartName="/ppt/media/image40.png" ContentType="image/png"/>
  <Override PartName="/ppt/media/image4.png" ContentType="image/png"/>
  <Override PartName="/ppt/media/image41.png" ContentType="image/png"/>
  <Override PartName="/ppt/media/image5.png" ContentType="image/png"/>
  <Override PartName="/ppt/media/image42.png" ContentType="image/png"/>
  <Override PartName="/ppt/media/image6.png" ContentType="image/png"/>
  <Override PartName="/ppt/media/image43.png" ContentType="image/png"/>
  <Override PartName="/ppt/media/image7.png" ContentType="image/png"/>
  <Override PartName="/ppt/media/image11.png" ContentType="image/png"/>
  <Override PartName="/ppt/media/image8.png" ContentType="image/png"/>
  <Override PartName="/ppt/media/image10.png" ContentType="image/png"/>
  <Override PartName="/ppt/media/image9.png" ContentType="image/png"/>
  <Override PartName="/ppt/media/image12.png" ContentType="image/png"/>
  <Override PartName="/ppt/media/image13.png" ContentType="image/png"/>
  <Override PartName="/ppt/media/image14.png" ContentType="image/png"/>
  <Override PartName="/ppt/media/image15.png" ContentType="image/png"/>
  <Override PartName="/ppt/media/image16.png" ContentType="image/png"/>
  <Override PartName="/ppt/media/image17.png" ContentType="image/png"/>
  <Override PartName="/ppt/media/image44.png" ContentType="image/png"/>
  <Override PartName="/ppt/media/image19.png" ContentType="image/png"/>
  <Override PartName="/ppt/media/image20.png" ContentType="image/png"/>
  <Override PartName="/ppt/media/image21.png" ContentType="image/png"/>
  <Override PartName="/ppt/media/image22.png" ContentType="image/png"/>
  <Override PartName="/ppt/media/image23.png" ContentType="image/png"/>
  <Override PartName="/ppt/media/image24.png" ContentType="image/png"/>
  <Override PartName="/ppt/media/image25.png" ContentType="image/png"/>
  <Override PartName="/ppt/media/image26.png" ContentType="image/png"/>
  <Override PartName="/ppt/media/image27.png" ContentType="image/png"/>
  <Override PartName="/ppt/media/image28.png" ContentType="image/png"/>
  <Override PartName="/ppt/media/image29.png" ContentType="image/png"/>
  <Override PartName="/ppt/media/image30.png" ContentType="image/png"/>
  <Override PartName="/ppt/media/image31.png" ContentType="image/png"/>
  <Override PartName="/ppt/media/image32.png" ContentType="image/png"/>
  <Override PartName="/ppt/media/image33.png" ContentType="image/png"/>
  <Override PartName="/ppt/media/image34.png" ContentType="image/png"/>
  <Override PartName="/ppt/media/image35.png" ContentType="image/png"/>
  <Override PartName="/ppt/media/image36.png" ContentType="image/png"/>
  <Override PartName="/ppt/media/image37.png" ContentType="image/png"/>
  <Override PartName="/ppt/media/image38.png" ContentType="image/png"/>
  <Override PartName="/ppt/media/image39.png" ContentType="image/png"/>
  <Override PartName="/ppt/slides/slide45.xml" ContentType="application/vnd.openxmlformats-officedocument.presentationml.slide+xml"/>
  <Override PartName="/ppt/slides/slide18.xml" ContentType="application/vnd.openxmlformats-officedocument.presentationml.slide+xml"/>
  <Override PartName="/ppt/slides/slide1.xml" ContentType="application/vnd.openxmlformats-officedocument.presentationml.slide+xml"/>
  <Override PartName="/ppt/slides/slide20.xml" ContentType="application/vnd.openxmlformats-officedocument.presentationml.slide+xml"/>
  <Override PartName="/ppt/slides/slide46.xml" ContentType="application/vnd.openxmlformats-officedocument.presentationml.slide+xml"/>
  <Override PartName="/ppt/slides/slide2.xml" ContentType="application/vnd.openxmlformats-officedocument.presentationml.slide+xml"/>
  <Override PartName="/ppt/slides/slide21.xml" ContentType="application/vnd.openxmlformats-officedocument.presentationml.slide+xml"/>
  <Override PartName="/ppt/slides/slide47.xml" ContentType="application/vnd.openxmlformats-officedocument.presentationml.slide+xml"/>
  <Override PartName="/ppt/slides/slide3.xml" ContentType="application/vnd.openxmlformats-officedocument.presentationml.slide+xml"/>
  <Override PartName="/ppt/slides/slide40.xml" ContentType="application/vnd.openxmlformats-officedocument.presentationml.slide+xml"/>
  <Override PartName="/ppt/slides/slide4.xml" ContentType="application/vnd.openxmlformats-officedocument.presentationml.slide+xml"/>
  <Override PartName="/ppt/slides/slide41.xml" ContentType="application/vnd.openxmlformats-officedocument.presentationml.slide+xml"/>
  <Override PartName="/ppt/slides/slide5.xml" ContentType="application/vnd.openxmlformats-officedocument.presentationml.slide+xml"/>
  <Override PartName="/ppt/slides/slide22.xml" ContentType="application/vnd.openxmlformats-officedocument.presentationml.slide+xml"/>
  <Override PartName="/ppt/slides/slide42.xml" ContentType="application/vnd.openxmlformats-officedocument.presentationml.slide+xml"/>
  <Override PartName="/ppt/slides/slide6.xml" ContentType="application/vnd.openxmlformats-officedocument.presentationml.slide+xml"/>
  <Override PartName="/ppt/slides/slide23.xml" ContentType="application/vnd.openxmlformats-officedocument.presentationml.slide+xml"/>
  <Override PartName="/ppt/slides/slide43.xml" ContentType="application/vnd.openxmlformats-officedocument.presentationml.slide+xml"/>
  <Override PartName="/ppt/slides/slide7.xml" ContentType="application/vnd.openxmlformats-officedocument.presentationml.slide+xml"/>
  <Override PartName="/ppt/slides/slide24.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25.xml" ContentType="application/vnd.openxmlformats-officedocument.presentationml.slide+xml"/>
  <Override PartName="/ppt/slides/slide10.xml" ContentType="application/vnd.openxmlformats-officedocument.presentationml.slide+xml"/>
  <Override PartName="/ppt/slides/slide9.xml" ContentType="application/vnd.openxmlformats-officedocument.presentationml.slide+xml"/>
  <Override PartName="/ppt/slides/slide26.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49.xml" ContentType="application/vnd.openxmlformats-officedocument.presentationml.slide+xml"/>
  <Override PartName="/ppt/slides/slide14.xml" ContentType="application/vnd.openxmlformats-officedocument.presentationml.slide+xml"/>
  <Override PartName="/ppt/slides/slide48.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44.xml" ContentType="application/vnd.openxmlformats-officedocument.presentationml.slide+xml"/>
  <Override PartName="/ppt/slides/slide19.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64.xml" ContentType="application/vnd.openxmlformats-officedocument.presentationml.slide+xml"/>
  <Override PartName="/ppt/slides/slide3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_rels/slide22.xml.rels" ContentType="application/vnd.openxmlformats-package.relationships+xml"/>
  <Override PartName="/ppt/slides/_rels/slide35.xml.rels" ContentType="application/vnd.openxmlformats-package.relationships+xml"/>
  <Override PartName="/ppt/slides/_rels/slide45.xml.rels" ContentType="application/vnd.openxmlformats-package.relationships+xml"/>
  <Override PartName="/ppt/slides/_rels/slide18.xml.rels" ContentType="application/vnd.openxmlformats-package.relationships+xml"/>
  <Override PartName="/ppt/slides/_rels/slide1.xml.rels" ContentType="application/vnd.openxmlformats-package.relationships+xml"/>
  <Override PartName="/ppt/slides/_rels/slide36.xml.rels" ContentType="application/vnd.openxmlformats-package.relationships+xml"/>
  <Override PartName="/ppt/slides/_rels/slide20.xml.rels" ContentType="application/vnd.openxmlformats-package.relationships+xml"/>
  <Override PartName="/ppt/slides/_rels/slide46.xml.rels" ContentType="application/vnd.openxmlformats-package.relationships+xml"/>
  <Override PartName="/ppt/slides/_rels/slide2.xml.rels" ContentType="application/vnd.openxmlformats-package.relationships+xml"/>
  <Override PartName="/ppt/slides/_rels/slide37.xml.rels" ContentType="application/vnd.openxmlformats-package.relationships+xml"/>
  <Override PartName="/ppt/slides/_rels/slide47.xml.rels" ContentType="application/vnd.openxmlformats-package.relationships+xml"/>
  <Override PartName="/ppt/slides/_rels/slide3.xml.rels" ContentType="application/vnd.openxmlformats-package.relationships+xml"/>
  <Override PartName="/ppt/slides/_rels/slide38.xml.rels" ContentType="application/vnd.openxmlformats-package.relationships+xml"/>
  <Override PartName="/ppt/slides/_rels/slide40.xml.rels" ContentType="application/vnd.openxmlformats-package.relationships+xml"/>
  <Override PartName="/ppt/slides/_rels/slide4.xml.rels" ContentType="application/vnd.openxmlformats-package.relationships+xml"/>
  <Override PartName="/ppt/slides/_rels/slide21.xml.rels" ContentType="application/vnd.openxmlformats-package.relationships+xml"/>
  <Override PartName="/ppt/slides/_rels/slide64.xml.rels" ContentType="application/vnd.openxmlformats-package.relationships+xml"/>
  <Override PartName="/ppt/slides/_rels/slide39.xml.rels" ContentType="application/vnd.openxmlformats-package.relationships+xml"/>
  <Override PartName="/ppt/slides/_rels/slide41.xml.rels" ContentType="application/vnd.openxmlformats-package.relationships+xml"/>
  <Override PartName="/ppt/slides/_rels/slide5.xml.rels" ContentType="application/vnd.openxmlformats-package.relationships+xml"/>
  <Override PartName="/ppt/slides/_rels/slide50.xml.rels" ContentType="application/vnd.openxmlformats-package.relationships+xml"/>
  <Override PartName="/ppt/slides/_rels/slide42.xml.rels" ContentType="application/vnd.openxmlformats-package.relationships+xml"/>
  <Override PartName="/ppt/slides/_rels/slide6.xml.rels" ContentType="application/vnd.openxmlformats-package.relationships+xml"/>
  <Override PartName="/ppt/slides/_rels/slide23.xml.rels" ContentType="application/vnd.openxmlformats-package.relationships+xml"/>
  <Override PartName="/ppt/slides/_rels/slide51.xml.rels" ContentType="application/vnd.openxmlformats-package.relationships+xml"/>
  <Override PartName="/ppt/slides/_rels/slide43.xml.rels" ContentType="application/vnd.openxmlformats-package.relationships+xml"/>
  <Override PartName="/ppt/slides/_rels/slide7.xml.rels" ContentType="application/vnd.openxmlformats-package.relationships+xml"/>
  <Override PartName="/ppt/slides/_rels/slide24.xml.rels" ContentType="application/vnd.openxmlformats-package.relationships+xml"/>
  <Override PartName="/ppt/slides/_rels/slide52.xml.rels" ContentType="application/vnd.openxmlformats-package.relationships+xml"/>
  <Override PartName="/ppt/slides/_rels/slide11.xml.rels" ContentType="application/vnd.openxmlformats-package.relationships+xml"/>
  <Override PartName="/ppt/slides/_rels/slide8.xml.rels" ContentType="application/vnd.openxmlformats-package.relationships+xml"/>
  <Override PartName="/ppt/slides/_rels/slide25.xml.rels" ContentType="application/vnd.openxmlformats-package.relationships+xml"/>
  <Override PartName="/ppt/slides/_rels/slide53.xml.rels" ContentType="application/vnd.openxmlformats-package.relationships+xml"/>
  <Override PartName="/ppt/slides/_rels/slide10.xml.rels" ContentType="application/vnd.openxmlformats-package.relationships+xml"/>
  <Override PartName="/ppt/slides/_rels/slide9.xml.rels" ContentType="application/vnd.openxmlformats-package.relationships+xml"/>
  <Override PartName="/ppt/slides/_rels/slide26.xml.rels" ContentType="application/vnd.openxmlformats-package.relationships+xml"/>
  <Override PartName="/ppt/slides/_rels/slide12.xml.rels" ContentType="application/vnd.openxmlformats-package.relationships+xml"/>
  <Override PartName="/ppt/slides/_rels/slide13.xml.rels" ContentType="application/vnd.openxmlformats-package.relationships+xml"/>
  <Override PartName="/ppt/slides/_rels/slide49.xml.rels" ContentType="application/vnd.openxmlformats-package.relationships+xml"/>
  <Override PartName="/ppt/slides/_rels/slide14.xml.rels" ContentType="application/vnd.openxmlformats-package.relationships+xml"/>
  <Override PartName="/ppt/slides/_rels/slide48.xml.rels" ContentType="application/vnd.openxmlformats-package.relationships+xml"/>
  <Override PartName="/ppt/slides/_rels/slide15.xml.rels" ContentType="application/vnd.openxmlformats-package.relationships+xml"/>
  <Override PartName="/ppt/slides/_rels/slide16.xml.rels" ContentType="application/vnd.openxmlformats-package.relationships+xml"/>
  <Override PartName="/ppt/slides/_rels/slide17.xml.rels" ContentType="application/vnd.openxmlformats-package.relationships+xml"/>
  <Override PartName="/ppt/slides/_rels/slide44.xml.rels" ContentType="application/vnd.openxmlformats-package.relationships+xml"/>
  <Override PartName="/ppt/slides/_rels/slide19.xml.rels" ContentType="application/vnd.openxmlformats-package.relationships+xml"/>
  <Override PartName="/ppt/slides/_rels/slide27.xml.rels" ContentType="application/vnd.openxmlformats-package.relationships+xml"/>
  <Override PartName="/ppt/slides/_rels/slide28.xml.rels" ContentType="application/vnd.openxmlformats-package.relationships+xml"/>
  <Override PartName="/ppt/slides/_rels/slide29.xml.rels" ContentType="application/vnd.openxmlformats-package.relationships+xml"/>
  <Override PartName="/ppt/slides/_rels/slide30.xml.rels" ContentType="application/vnd.openxmlformats-package.relationships+xml"/>
  <Override PartName="/ppt/slides/_rels/slide31.xml.rels" ContentType="application/vnd.openxmlformats-package.relationships+xml"/>
  <Override PartName="/ppt/slides/_rels/slide32.xml.rels" ContentType="application/vnd.openxmlformats-package.relationships+xml"/>
  <Override PartName="/ppt/slides/_rels/slide33.xml.rels" ContentType="application/vnd.openxmlformats-package.relationships+xml"/>
  <Override PartName="/ppt/slides/_rels/slide34.xml.rels" ContentType="application/vnd.openxmlformats-package.relationships+xml"/>
  <Override PartName="/ppt/slides/_rels/slide54.xml.rels" ContentType="application/vnd.openxmlformats-package.relationships+xml"/>
  <Override PartName="/ppt/slides/_rels/slide55.xml.rels" ContentType="application/vnd.openxmlformats-package.relationships+xml"/>
  <Override PartName="/ppt/slides/_rels/slide56.xml.rels" ContentType="application/vnd.openxmlformats-package.relationships+xml"/>
  <Override PartName="/ppt/slides/_rels/slide57.xml.rels" ContentType="application/vnd.openxmlformats-package.relationships+xml"/>
  <Override PartName="/ppt/slides/_rels/slide58.xml.rels" ContentType="application/vnd.openxmlformats-package.relationships+xml"/>
  <Override PartName="/ppt/slides/_rels/slide59.xml.rels" ContentType="application/vnd.openxmlformats-package.relationships+xml"/>
  <Override PartName="/ppt/slides/_rels/slide60.xml.rels" ContentType="application/vnd.openxmlformats-package.relationships+xml"/>
  <Override PartName="/ppt/slides/_rels/slide61.xml.rels" ContentType="application/vnd.openxmlformats-package.relationships+xml"/>
  <Override PartName="/ppt/slides/_rels/slide62.xml.rels" ContentType="application/vnd.openxmlformats-package.relationships+xml"/>
  <Override PartName="/ppt/slides/_rels/slide63.xml.rels" ContentType="application/vnd.openxmlformats-package.relationships+xml"/>
  <Override PartName="/ppt/slides/_rels/slide65.xml.rels" ContentType="application/vnd.openxmlformats-package.relationships+xml"/>
  <Override PartName="/ppt/slides/_rels/slide66.xml.rels" ContentType="application/vnd.openxmlformats-package.relationships+xml"/>
  <Override PartName="/ppt/slides/_rels/slide67.xml.rels" ContentType="application/vnd.openxmlformats-package.relationships+xml"/>
  <Override PartName="/ppt/slides/_rels/slide68.xml.rels" ContentType="application/vnd.openxmlformats-package.relationships+xml"/>
  <Override PartName="/ppt/slides/_rels/slide69.xml.rels" ContentType="application/vnd.openxmlformats-package.relationships+xml"/>
  <Override PartName="/ppt/slides/_rels/slide70.xml.rels" ContentType="application/vnd.openxmlformats-package.relationships+xml"/>
  <Override PartName="/ppt/slides/_rels/slide71.xml.rels" ContentType="application/vnd.openxmlformats-package.relationships+xml"/>
  <Override PartName="/ppt/slides/_rels/slide72.xml.rels" ContentType="application/vnd.openxmlformats-package.relationships+xml"/>
  <Override PartName="/ppt/slides/_rels/slide73.xml.rels" ContentType="application/vnd.openxmlformats-package.relationships+xml"/>
  <Override PartName="/ppt/slides/_rels/slide74.xml.rels" ContentType="application/vnd.openxmlformats-package.relationships+xml"/>
  <Override PartName="/ppt/slides/_rels/slide75.xml.rels" ContentType="application/vnd.openxmlformats-package.relationships+xml"/>
  <Override PartName="/ppt/slides/_rels/slide76.xml.rels" ContentType="application/vnd.openxmlformats-package.relationships+xml"/>
  <Override PartName="/ppt/slides/_rels/slide77.xml.rels" ContentType="application/vnd.openxmlformats-package.relationships+xml"/>
  <Override PartName="/ppt/slides/_rels/slide78.xml.rels" ContentType="application/vnd.openxmlformats-package.relationships+xml"/>
  <Override PartName="/ppt/slides/_rels/slide79.xml.rels" ContentType="application/vnd.openxmlformats-package.relationships+xml"/>
  <Override PartName="/ppt/slides/_rels/slide80.xml.rels" ContentType="application/vnd.openxmlformats-package.relationships+xml"/>
  <Override PartName="/ppt/slides/_rels/slide81.xml.rels" ContentType="application/vnd.openxmlformats-package.relationships+xml"/>
  <Override PartName="/ppt/slides/_rels/slide82.xml.rels" ContentType="application/vnd.openxmlformats-package.relationships+xml"/>
  <Override PartName="/ppt/slides/_rels/slide83.xml.rels" ContentType="application/vnd.openxmlformats-package.relationships+xml"/>
  <Override PartName="/ppt/slides/_rels/slide84.xml.rels" ContentType="application/vnd.openxmlformats-package.relationships+xml"/>
  <Override PartName="/ppt/slides/_rels/slide85.xml.rels" ContentType="application/vnd.openxmlformats-package.relationships+xml"/>
  <Override PartName="/ppt/slides/_rels/slide86.xml.rels" ContentType="application/vnd.openxmlformats-package.relationships+xml"/>
  <Override PartName="/ppt/_rels/presentation.xml.rels" ContentType="application/vnd.openxmlformats-package.relationships+xml"/>
  <Override PartName="/_rels/.rels" ContentType="application/vnd.openxmlformats-package.relationships+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1" r:id="rId3"/>
    <p:sldMasterId id="2147483653" r:id="rId4"/>
    <p:sldMasterId id="2147483667" r:id="rId5"/>
    <p:sldMasterId id="2147483669" r:id="rId6"/>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Lst>
  <p:sldSz cx="10080625" cy="5670550"/>
  <p:notesSz cx="7772400" cy="10058400"/>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3.xml"/><Relationship Id="rId4" Type="http://schemas.openxmlformats.org/officeDocument/2006/relationships/slideMaster" Target="slideMasters/slideMaster4.xml"/><Relationship Id="rId5" Type="http://schemas.openxmlformats.org/officeDocument/2006/relationships/slideMaster" Target="slideMasters/slideMaster16.xml"/><Relationship Id="rId6" Type="http://schemas.openxmlformats.org/officeDocument/2006/relationships/slideMaster" Target="slideMasters/slideMaster17.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16.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17.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Blue_Curve">
    <p:spTree>
      <p:nvGrpSpPr>
        <p:cNvPr id="1" name=""/>
        <p:cNvGrpSpPr/>
        <p:nvPr/>
      </p:nvGrpSpPr>
      <p:grpSpPr>
        <a:xfrm>
          <a:off x="0" y="0"/>
          <a:ext cx="0" cy="0"/>
          <a:chOff x="0" y="0"/>
          <a:chExt cx="0" cy="0"/>
        </a:xfrm>
      </p:grpSpPr>
      <p:sp>
        <p:nvSpPr>
          <p:cNvPr id="2" name="PlaceHolder 1"/>
          <p:cNvSpPr>
            <a:spLocks noGrp="1"/>
          </p:cNvSpPr>
          <p:nvPr>
            <p:ph type="title"/>
          </p:nvPr>
        </p:nvSpPr>
        <p:spPr>
          <a:xfrm>
            <a:off x="360000" y="275040"/>
            <a:ext cx="9342720" cy="274680"/>
          </a:xfrm>
          <a:prstGeom prst="rect">
            <a:avLst/>
          </a:prstGeom>
          <a:noFill/>
          <a:ln w="0">
            <a:noFill/>
          </a:ln>
        </p:spPr>
        <p:txBody>
          <a:bodyPr lIns="0" rIns="0" tIns="0" bIns="0" anchor="ctr">
            <a:spAutoFit/>
          </a:bodyPr>
          <a:p>
            <a:pPr indent="0">
              <a:lnSpc>
                <a:spcPct val="100000"/>
              </a:lnSpc>
              <a:buNone/>
              <a:tabLst>
                <a:tab algn="l" pos="0"/>
              </a:tabLst>
            </a:pPr>
            <a:r>
              <a:rPr b="0" lang="en-US" sz="1800" strike="noStrike" u="none">
                <a:solidFill>
                  <a:srgbClr val="000000"/>
                </a:solidFill>
                <a:effectLst/>
                <a:uFillTx/>
                <a:latin typeface="Arial"/>
              </a:rPr>
              <a:t>Click to edit the title text format</a:t>
            </a:r>
            <a:endParaRPr b="0" lang="en-US" sz="1800" strike="noStrike" u="none">
              <a:solidFill>
                <a:srgbClr val="000000"/>
              </a:solidFill>
              <a:effectLst/>
              <a:uFillTx/>
              <a:latin typeface="Arial"/>
            </a:endParaRPr>
          </a:p>
        </p:txBody>
      </p:sp>
      <p:sp>
        <p:nvSpPr>
          <p:cNvPr id="3" name="PlaceHolder 2"/>
          <p:cNvSpPr>
            <a:spLocks noGrp="1"/>
          </p:cNvSpPr>
          <p:nvPr>
            <p:ph type="ftr" idx="1"/>
          </p:nvPr>
        </p:nvSpPr>
        <p:spPr>
          <a:xfrm>
            <a:off x="3420000" y="5220000"/>
            <a:ext cx="3222720" cy="342720"/>
          </a:xfrm>
          <a:prstGeom prst="rect">
            <a:avLst/>
          </a:prstGeom>
          <a:noFill/>
          <a:ln w="0">
            <a:noFill/>
          </a:ln>
        </p:spPr>
        <p:txBody>
          <a:bodyPr lIns="0" rIns="0" tIns="0" bIns="0" anchor="t">
            <a:noAutofit/>
          </a:bodyPr>
          <a:lstStyle>
            <a:lvl1pPr indent="0" algn="ctr">
              <a:lnSpc>
                <a:spcPct val="100000"/>
              </a:lnSpc>
              <a:buNone/>
              <a:tabLst>
                <a:tab algn="l" pos="0"/>
              </a:tabLst>
              <a:defRPr b="0" lang="en-US" sz="1400" strike="noStrike" u="none">
                <a:solidFill>
                  <a:srgbClr val="ffffff"/>
                </a:solidFill>
                <a:effectLst/>
                <a:uFillTx/>
                <a:latin typeface="Arial"/>
              </a:defRPr>
            </a:lvl1pPr>
          </a:lstStyle>
          <a:p>
            <a:pPr indent="0" algn="ctr">
              <a:lnSpc>
                <a:spcPct val="100000"/>
              </a:lnSpc>
              <a:buNone/>
              <a:tabLst>
                <a:tab algn="l" pos="0"/>
              </a:tabLst>
            </a:pPr>
            <a:r>
              <a:rPr b="0" lang="en-US" sz="1400" strike="noStrike" u="none">
                <a:solidFill>
                  <a:srgbClr val="ffffff"/>
                </a:solidFill>
                <a:effectLst/>
                <a:uFillTx/>
                <a:latin typeface="Arial"/>
              </a:rPr>
              <a:t>&lt;footer&gt;</a:t>
            </a:r>
            <a:endParaRPr b="0" lang="en-US" sz="1400" strike="noStrike" u="none">
              <a:solidFill>
                <a:srgbClr val="000000"/>
              </a:solidFill>
              <a:effectLst/>
              <a:uFillTx/>
              <a:latin typeface="Times New Roman"/>
            </a:endParaRPr>
          </a:p>
        </p:txBody>
      </p:sp>
      <p:sp>
        <p:nvSpPr>
          <p:cNvPr id="4" name="PlaceHolder 3"/>
          <p:cNvSpPr>
            <a:spLocks noGrp="1"/>
          </p:cNvSpPr>
          <p:nvPr>
            <p:ph type="sldNum" idx="2"/>
          </p:nvPr>
        </p:nvSpPr>
        <p:spPr>
          <a:xfrm>
            <a:off x="7380000" y="5220000"/>
            <a:ext cx="2322720" cy="342720"/>
          </a:xfrm>
          <a:prstGeom prst="rect">
            <a:avLst/>
          </a:prstGeom>
          <a:noFill/>
          <a:ln w="0">
            <a:noFill/>
          </a:ln>
        </p:spPr>
        <p:txBody>
          <a:bodyPr lIns="0" rIns="0" tIns="0" bIns="0" anchor="t">
            <a:noAutofit/>
          </a:bodyPr>
          <a:lstStyle>
            <a:lvl1pPr indent="0" algn="r">
              <a:lnSpc>
                <a:spcPct val="100000"/>
              </a:lnSpc>
              <a:buNone/>
              <a:tabLst>
                <a:tab algn="l" pos="0"/>
              </a:tabLst>
              <a:defRPr b="0" lang="en-US" sz="1400" strike="noStrike" u="none">
                <a:solidFill>
                  <a:srgbClr val="ffffff"/>
                </a:solidFill>
                <a:effectLst/>
                <a:uFillTx/>
                <a:latin typeface="Arial"/>
              </a:defRPr>
            </a:lvl1pPr>
          </a:lstStyle>
          <a:p>
            <a:pPr indent="0" algn="r">
              <a:lnSpc>
                <a:spcPct val="100000"/>
              </a:lnSpc>
              <a:buNone/>
              <a:tabLst>
                <a:tab algn="l" pos="0"/>
              </a:tabLst>
            </a:pPr>
            <a:fld id="{0F31DA1D-ECE0-456D-97CA-A7D0DE769E74}" type="slidenum">
              <a:rPr b="0" lang="en-US" sz="1400" strike="noStrike" u="none">
                <a:solidFill>
                  <a:srgbClr val="ffffff"/>
                </a:solidFill>
                <a:effectLst/>
                <a:uFillTx/>
                <a:latin typeface="Arial"/>
              </a:rPr>
              <a:t>&lt;number&gt;</a:t>
            </a:fld>
            <a:endParaRPr b="0" lang="en-US" sz="1400" strike="noStrike" u="none">
              <a:solidFill>
                <a:srgbClr val="000000"/>
              </a:solidFill>
              <a:effectLst/>
              <a:uFillTx/>
              <a:latin typeface="Times New Roman"/>
            </a:endParaRPr>
          </a:p>
        </p:txBody>
      </p:sp>
      <p:sp>
        <p:nvSpPr>
          <p:cNvPr id="5" name="PlaceHolder 4"/>
          <p:cNvSpPr>
            <a:spLocks noGrp="1"/>
          </p:cNvSpPr>
          <p:nvPr>
            <p:ph type="dt" idx="3"/>
          </p:nvPr>
        </p:nvSpPr>
        <p:spPr>
          <a:xfrm>
            <a:off x="360000" y="5220000"/>
            <a:ext cx="2322720" cy="342720"/>
          </a:xfrm>
          <a:prstGeom prst="rect">
            <a:avLst/>
          </a:prstGeom>
          <a:noFill/>
          <a:ln w="0">
            <a:noFill/>
          </a:ln>
        </p:spPr>
        <p:txBody>
          <a:bodyPr lIns="0" rIns="0" tIns="0" bIns="0" anchor="t">
            <a:noAutofit/>
          </a:bodyPr>
          <a:lstStyle>
            <a:lvl1pPr indent="0">
              <a:lnSpc>
                <a:spcPct val="100000"/>
              </a:lnSpc>
              <a:buNone/>
              <a:tabLst>
                <a:tab algn="l" pos="0"/>
              </a:tabLst>
              <a:defRPr b="0" lang="en-US" sz="1400" strike="noStrike" u="none">
                <a:solidFill>
                  <a:srgbClr val="000000"/>
                </a:solidFill>
                <a:effectLst/>
                <a:uFillTx/>
                <a:latin typeface="Times New Roman"/>
              </a:defRPr>
            </a:lvl1pPr>
          </a:lstStyle>
          <a:p>
            <a:pPr indent="0">
              <a:lnSpc>
                <a:spcPct val="100000"/>
              </a:lnSpc>
              <a:buNone/>
              <a:tabLst>
                <a:tab algn="l" pos="0"/>
              </a:tabLst>
            </a:pPr>
            <a:r>
              <a:rPr b="0" lang="en-US" sz="1400" strike="noStrike" u="none">
                <a:solidFill>
                  <a:srgbClr val="000000"/>
                </a:solidFill>
                <a:effectLst/>
                <a:uFillTx/>
                <a:latin typeface="Times New Roman"/>
              </a:rPr>
              <a:t>&lt;date/time&gt;</a:t>
            </a:r>
            <a:endParaRPr b="0" lang="en-US" sz="1400" strike="noStrike" u="none">
              <a:solidFill>
                <a:srgbClr val="000000"/>
              </a:solidFill>
              <a:effectLst/>
              <a:uFillTx/>
              <a:latin typeface="Times New Roman"/>
            </a:endParaRPr>
          </a:p>
        </p:txBody>
      </p:sp>
      <p:sp>
        <p:nvSpPr>
          <p:cNvPr id="6" name="PlaceHolder 5"/>
          <p:cNvSpPr>
            <a:spLocks noGrp="1"/>
          </p:cNvSpPr>
          <p:nvPr>
            <p:ph type="body"/>
          </p:nvPr>
        </p:nvSpPr>
        <p:spPr>
          <a:xfrm>
            <a:off x="504000" y="1326600"/>
            <a:ext cx="9068040" cy="328464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b="0" lang="en-US" sz="3200" strike="noStrike" u="none">
                <a:solidFill>
                  <a:srgbClr val="000000"/>
                </a:solidFill>
                <a:effectLst/>
                <a:uFillTx/>
                <a:latin typeface="Arial"/>
              </a:rPr>
              <a:t>Click to edit the outline text format</a:t>
            </a:r>
            <a:endParaRPr b="0" lang="en-US" sz="3200" strike="noStrike" u="none">
              <a:solidFill>
                <a:srgbClr val="000000"/>
              </a:solidFill>
              <a:effectLst/>
              <a:uFillTx/>
              <a:latin typeface="Arial"/>
            </a:endParaRPr>
          </a:p>
          <a:p>
            <a:pPr lvl="1" marL="864000" indent="-324000">
              <a:lnSpc>
                <a:spcPct val="100000"/>
              </a:lnSpc>
              <a:spcBef>
                <a:spcPts val="1134"/>
              </a:spcBef>
              <a:buClr>
                <a:srgbClr val="000000"/>
              </a:buClr>
              <a:buSzPct val="75000"/>
              <a:buFont typeface="Symbol" charset="2"/>
              <a:buChar char=""/>
            </a:pPr>
            <a:r>
              <a:rPr b="0" lang="en-US" sz="2800" strike="noStrike" u="none">
                <a:solidFill>
                  <a:srgbClr val="000000"/>
                </a:solidFill>
                <a:effectLst/>
                <a:uFillTx/>
                <a:latin typeface="Arial"/>
              </a:rPr>
              <a:t>Second Outline Level</a:t>
            </a:r>
            <a:endParaRPr b="0" lang="en-US" sz="2800" strike="noStrike" u="none">
              <a:solidFill>
                <a:srgbClr val="000000"/>
              </a:solidFill>
              <a:effectLst/>
              <a:uFillTx/>
              <a:latin typeface="Arial"/>
            </a:endParaRPr>
          </a:p>
          <a:p>
            <a:pPr lvl="2" marL="1296000" indent="-288000">
              <a:lnSpc>
                <a:spcPct val="100000"/>
              </a:lnSpc>
              <a:spcBef>
                <a:spcPts val="850"/>
              </a:spcBef>
              <a:buClr>
                <a:srgbClr val="000000"/>
              </a:buClr>
              <a:buSzPct val="45000"/>
              <a:buFont typeface="Wingdings" charset="2"/>
              <a:buChar char=""/>
            </a:pPr>
            <a:r>
              <a:rPr b="0" lang="en-US" sz="2400" strike="noStrike" u="none">
                <a:solidFill>
                  <a:srgbClr val="000000"/>
                </a:solidFill>
                <a:effectLst/>
                <a:uFillTx/>
                <a:latin typeface="Arial"/>
              </a:rPr>
              <a:t>Third Outline Level</a:t>
            </a:r>
            <a:endParaRPr b="0" lang="en-US" sz="2400" strike="noStrike" u="none">
              <a:solidFill>
                <a:srgbClr val="000000"/>
              </a:solidFill>
              <a:effectLst/>
              <a:uFillTx/>
              <a:latin typeface="Arial"/>
            </a:endParaRPr>
          </a:p>
          <a:p>
            <a:pPr lvl="3" marL="1728000" indent="-216000">
              <a:lnSpc>
                <a:spcPct val="100000"/>
              </a:lnSpc>
              <a:spcBef>
                <a:spcPts val="567"/>
              </a:spcBef>
              <a:buClr>
                <a:srgbClr val="000000"/>
              </a:buClr>
              <a:buSzPct val="75000"/>
              <a:buFont typeface="Symbol" charset="2"/>
              <a:buChar char=""/>
            </a:pPr>
            <a:r>
              <a:rPr b="0" lang="en-US" sz="2000" strike="noStrike" u="none">
                <a:solidFill>
                  <a:srgbClr val="000000"/>
                </a:solidFill>
                <a:effectLst/>
                <a:uFillTx/>
                <a:latin typeface="Arial"/>
              </a:rPr>
              <a:t>Fourth Outline Level</a:t>
            </a:r>
            <a:endParaRPr b="0" lang="en-US" sz="2000" strike="noStrike" u="none">
              <a:solidFill>
                <a:srgbClr val="000000"/>
              </a:solidFill>
              <a:effectLst/>
              <a:uFillTx/>
              <a:latin typeface="Arial"/>
            </a:endParaRPr>
          </a:p>
          <a:p>
            <a:pPr lvl="4" marL="2160000" indent="-216000">
              <a:lnSpc>
                <a:spcPct val="100000"/>
              </a:lnSpc>
              <a:spcBef>
                <a:spcPts val="283"/>
              </a:spcBef>
              <a:buClr>
                <a:srgbClr val="000000"/>
              </a:buClr>
              <a:buSzPct val="45000"/>
              <a:buFont typeface="Wingdings" charset="2"/>
              <a:buChar char=""/>
            </a:pPr>
            <a:r>
              <a:rPr b="0" lang="en-US" sz="2000" strike="noStrike" u="none">
                <a:solidFill>
                  <a:srgbClr val="000000"/>
                </a:solidFill>
                <a:effectLst/>
                <a:uFillTx/>
                <a:latin typeface="Arial"/>
              </a:rPr>
              <a:t>Fifth Outline Level</a:t>
            </a:r>
            <a:endParaRPr b="0" lang="en-US" sz="2000" strike="noStrike" u="none">
              <a:solidFill>
                <a:srgbClr val="000000"/>
              </a:solidFill>
              <a:effectLst/>
              <a:uFillTx/>
              <a:latin typeface="Arial"/>
            </a:endParaRPr>
          </a:p>
          <a:p>
            <a:pPr lvl="5" marL="2592000" indent="-216000">
              <a:lnSpc>
                <a:spcPct val="100000"/>
              </a:lnSpc>
              <a:spcBef>
                <a:spcPts val="283"/>
              </a:spcBef>
              <a:buClr>
                <a:srgbClr val="000000"/>
              </a:buClr>
              <a:buSzPct val="45000"/>
              <a:buFont typeface="Wingdings" charset="2"/>
              <a:buChar char=""/>
            </a:pPr>
            <a:r>
              <a:rPr b="0" lang="en-US" sz="2000" strike="noStrike" u="none">
                <a:solidFill>
                  <a:srgbClr val="000000"/>
                </a:solidFill>
                <a:effectLst/>
                <a:uFillTx/>
                <a:latin typeface="Arial"/>
              </a:rPr>
              <a:t>Sixth Outline Level</a:t>
            </a:r>
            <a:endParaRPr b="0" lang="en-US" sz="2000" strike="noStrike" u="none">
              <a:solidFill>
                <a:srgbClr val="000000"/>
              </a:solidFill>
              <a:effectLst/>
              <a:uFillTx/>
              <a:latin typeface="Arial"/>
            </a:endParaRPr>
          </a:p>
          <a:p>
            <a:pPr lvl="6" marL="3024000" indent="-216000">
              <a:lnSpc>
                <a:spcPct val="100000"/>
              </a:lnSpc>
              <a:spcBef>
                <a:spcPts val="283"/>
              </a:spcBef>
              <a:buClr>
                <a:srgbClr val="000000"/>
              </a:buClr>
              <a:buSzPct val="45000"/>
              <a:buFont typeface="Wingdings" charset="2"/>
              <a:buChar char=""/>
            </a:pPr>
            <a:r>
              <a:rPr b="0" lang="en-US" sz="2000" strike="noStrike" u="none">
                <a:solidFill>
                  <a:srgbClr val="000000"/>
                </a:solidFill>
                <a:effectLst/>
                <a:uFillTx/>
                <a:latin typeface="Arial"/>
              </a:rPr>
              <a:t>Seventh Outline Level</a:t>
            </a:r>
            <a:endParaRPr b="0" lang="en-US" sz="2000" strike="noStrike" u="none">
              <a:solidFill>
                <a:srgbClr val="000000"/>
              </a:solidFill>
              <a:effectLst/>
              <a:uFillTx/>
              <a:latin typeface="Arial"/>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Default">
    <p:spTree>
      <p:nvGrpSpPr>
        <p:cNvPr id="1" name=""/>
        <p:cNvGrpSpPr/>
        <p:nvPr/>
      </p:nvGrpSpPr>
      <p:grpSpPr>
        <a:xfrm>
          <a:off x="0" y="0"/>
          <a:ext cx="0" cy="0"/>
          <a:chOff x="0" y="0"/>
          <a:chExt cx="0" cy="0"/>
        </a:xfrm>
      </p:grpSpPr>
      <p:sp>
        <p:nvSpPr>
          <p:cNvPr id="7" name="PlaceHolder 1"/>
          <p:cNvSpPr>
            <a:spLocks noGrp="1"/>
          </p:cNvSpPr>
          <p:nvPr>
            <p:ph type="title"/>
          </p:nvPr>
        </p:nvSpPr>
        <p:spPr>
          <a:xfrm>
            <a:off x="360000" y="275040"/>
            <a:ext cx="9342720" cy="274680"/>
          </a:xfrm>
          <a:prstGeom prst="rect">
            <a:avLst/>
          </a:prstGeom>
          <a:noFill/>
          <a:ln w="0">
            <a:noFill/>
          </a:ln>
        </p:spPr>
        <p:txBody>
          <a:bodyPr lIns="0" rIns="0" tIns="0" bIns="0" anchor="ctr">
            <a:spAutoFit/>
          </a:bodyPr>
          <a:p>
            <a:pPr indent="0">
              <a:lnSpc>
                <a:spcPct val="100000"/>
              </a:lnSpc>
              <a:buNone/>
              <a:tabLst>
                <a:tab algn="l" pos="0"/>
              </a:tabLst>
            </a:pPr>
            <a:r>
              <a:rPr b="0" lang="en-US" sz="1800" strike="noStrike" u="none">
                <a:solidFill>
                  <a:srgbClr val="000000"/>
                </a:solidFill>
                <a:effectLst/>
                <a:uFillTx/>
                <a:latin typeface="Arial"/>
              </a:rPr>
              <a:t>Click to edit the title text format</a:t>
            </a:r>
            <a:endParaRPr b="0" lang="en-US" sz="1800" strike="noStrike" u="none">
              <a:solidFill>
                <a:srgbClr val="000000"/>
              </a:solidFill>
              <a:effectLst/>
              <a:uFillTx/>
              <a:latin typeface="Arial"/>
            </a:endParaRPr>
          </a:p>
        </p:txBody>
      </p:sp>
      <p:sp>
        <p:nvSpPr>
          <p:cNvPr id="8" name="PlaceHolder 2"/>
          <p:cNvSpPr>
            <a:spLocks noGrp="1"/>
          </p:cNvSpPr>
          <p:nvPr>
            <p:ph type="body"/>
          </p:nvPr>
        </p:nvSpPr>
        <p:spPr>
          <a:xfrm>
            <a:off x="360000" y="1080000"/>
            <a:ext cx="9342720" cy="358272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lnSpc>
                <a:spcPct val="100000"/>
              </a:lnSpc>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lnSpc>
                <a:spcPct val="100000"/>
              </a:lnSpc>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lnSpc>
                <a:spcPct val="100000"/>
              </a:lnSpc>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lnSpc>
                <a:spcPct val="100000"/>
              </a:lnSpc>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lnSpc>
                <a:spcPct val="100000"/>
              </a:lnSpc>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lnSpc>
                <a:spcPct val="100000"/>
              </a:lnSpc>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9" name="PlaceHolder 3"/>
          <p:cNvSpPr>
            <a:spLocks noGrp="1"/>
          </p:cNvSpPr>
          <p:nvPr>
            <p:ph type="ftr" idx="4"/>
          </p:nvPr>
        </p:nvSpPr>
        <p:spPr>
          <a:xfrm>
            <a:off x="3420000" y="5220000"/>
            <a:ext cx="3222720" cy="342720"/>
          </a:xfrm>
          <a:prstGeom prst="rect">
            <a:avLst/>
          </a:prstGeom>
          <a:noFill/>
          <a:ln w="0">
            <a:noFill/>
          </a:ln>
        </p:spPr>
        <p:txBody>
          <a:bodyPr lIns="0" rIns="0" tIns="0" bIns="0" anchor="t">
            <a:noAutofit/>
          </a:bodyPr>
          <a:lstStyle>
            <a:lvl1pPr indent="0" algn="ctr">
              <a:lnSpc>
                <a:spcPct val="100000"/>
              </a:lnSpc>
              <a:buNone/>
              <a:tabLst>
                <a:tab algn="l" pos="0"/>
              </a:tabLst>
              <a:defRPr b="0" lang="en-US" sz="1400" strike="noStrike" u="none">
                <a:solidFill>
                  <a:srgbClr val="ffffff"/>
                </a:solidFill>
                <a:effectLst/>
                <a:uFillTx/>
                <a:latin typeface="Arial"/>
              </a:defRPr>
            </a:lvl1pPr>
          </a:lstStyle>
          <a:p>
            <a:pPr indent="0" algn="ctr">
              <a:lnSpc>
                <a:spcPct val="100000"/>
              </a:lnSpc>
              <a:buNone/>
              <a:tabLst>
                <a:tab algn="l" pos="0"/>
              </a:tabLst>
            </a:pPr>
            <a:r>
              <a:rPr b="0" lang="en-US" sz="1400" strike="noStrike" u="none">
                <a:solidFill>
                  <a:srgbClr val="ffffff"/>
                </a:solidFill>
                <a:effectLst/>
                <a:uFillTx/>
                <a:latin typeface="Arial"/>
              </a:rPr>
              <a:t>&lt;footer&gt;</a:t>
            </a:r>
            <a:endParaRPr b="0" lang="en-US" sz="1400" strike="noStrike" u="none">
              <a:solidFill>
                <a:srgbClr val="000000"/>
              </a:solidFill>
              <a:effectLst/>
              <a:uFillTx/>
              <a:latin typeface="Times New Roman"/>
            </a:endParaRPr>
          </a:p>
        </p:txBody>
      </p:sp>
      <p:sp>
        <p:nvSpPr>
          <p:cNvPr id="10" name="PlaceHolder 4"/>
          <p:cNvSpPr>
            <a:spLocks noGrp="1"/>
          </p:cNvSpPr>
          <p:nvPr>
            <p:ph type="sldNum" idx="5"/>
          </p:nvPr>
        </p:nvSpPr>
        <p:spPr>
          <a:xfrm>
            <a:off x="7380000" y="5220000"/>
            <a:ext cx="2322720" cy="342720"/>
          </a:xfrm>
          <a:prstGeom prst="rect">
            <a:avLst/>
          </a:prstGeom>
          <a:noFill/>
          <a:ln w="0">
            <a:noFill/>
          </a:ln>
        </p:spPr>
        <p:txBody>
          <a:bodyPr lIns="0" rIns="0" tIns="0" bIns="0" anchor="t">
            <a:noAutofit/>
          </a:bodyPr>
          <a:lstStyle>
            <a:lvl1pPr indent="0" algn="r">
              <a:lnSpc>
                <a:spcPct val="100000"/>
              </a:lnSpc>
              <a:buNone/>
              <a:tabLst>
                <a:tab algn="l" pos="0"/>
              </a:tabLst>
              <a:defRPr b="0" lang="en-US" sz="1400" strike="noStrike" u="none">
                <a:solidFill>
                  <a:srgbClr val="ffffff"/>
                </a:solidFill>
                <a:effectLst/>
                <a:uFillTx/>
                <a:latin typeface="Arial"/>
              </a:defRPr>
            </a:lvl1pPr>
          </a:lstStyle>
          <a:p>
            <a:pPr indent="0" algn="r">
              <a:lnSpc>
                <a:spcPct val="100000"/>
              </a:lnSpc>
              <a:buNone/>
              <a:tabLst>
                <a:tab algn="l" pos="0"/>
              </a:tabLst>
            </a:pPr>
            <a:fld id="{CF218B5C-2E5B-4258-B656-B78B33A4CC58}" type="slidenum">
              <a:rPr b="0" lang="en-US" sz="1400" strike="noStrike" u="none">
                <a:solidFill>
                  <a:srgbClr val="ffffff"/>
                </a:solidFill>
                <a:effectLst/>
                <a:uFillTx/>
                <a:latin typeface="Arial"/>
              </a:rPr>
              <a:t>&lt;number&gt;</a:t>
            </a:fld>
            <a:endParaRPr b="0" lang="en-US" sz="1400" strike="noStrike" u="none">
              <a:solidFill>
                <a:srgbClr val="000000"/>
              </a:solidFill>
              <a:effectLst/>
              <a:uFillTx/>
              <a:latin typeface="Times New Roman"/>
            </a:endParaRPr>
          </a:p>
        </p:txBody>
      </p:sp>
      <p:sp>
        <p:nvSpPr>
          <p:cNvPr id="11" name="PlaceHolder 5"/>
          <p:cNvSpPr>
            <a:spLocks noGrp="1"/>
          </p:cNvSpPr>
          <p:nvPr>
            <p:ph type="dt" idx="6"/>
          </p:nvPr>
        </p:nvSpPr>
        <p:spPr>
          <a:xfrm>
            <a:off x="360000" y="5220000"/>
            <a:ext cx="2322720" cy="342720"/>
          </a:xfrm>
          <a:prstGeom prst="rect">
            <a:avLst/>
          </a:prstGeom>
          <a:noFill/>
          <a:ln w="0">
            <a:noFill/>
          </a:ln>
        </p:spPr>
        <p:txBody>
          <a:bodyPr lIns="0" rIns="0" tIns="0" bIns="0" anchor="t">
            <a:noAutofit/>
          </a:bodyPr>
          <a:lstStyle>
            <a:lvl1pPr indent="0">
              <a:lnSpc>
                <a:spcPct val="100000"/>
              </a:lnSpc>
              <a:buNone/>
              <a:tabLst>
                <a:tab algn="l" pos="0"/>
              </a:tabLst>
              <a:defRPr b="0" lang="en-US" sz="1400" strike="noStrike" u="none">
                <a:solidFill>
                  <a:srgbClr val="000000"/>
                </a:solidFill>
                <a:effectLst/>
                <a:uFillTx/>
                <a:latin typeface="Times New Roman"/>
              </a:defRPr>
            </a:lvl1pPr>
          </a:lstStyle>
          <a:p>
            <a:pPr indent="0">
              <a:lnSpc>
                <a:spcPct val="100000"/>
              </a:lnSpc>
              <a:buNone/>
              <a:tabLst>
                <a:tab algn="l" pos="0"/>
              </a:tabLst>
            </a:pPr>
            <a:r>
              <a:rPr b="0" lang="en-US" sz="1400" strike="noStrike" u="none">
                <a:solidFill>
                  <a:srgbClr val="000000"/>
                </a:solidFill>
                <a:effectLst/>
                <a:uFillTx/>
                <a:latin typeface="Times New Roman"/>
              </a:rPr>
              <a:t>&lt;date/time&gt;</a:t>
            </a:r>
            <a:endParaRPr b="0" lang="en-US" sz="1400" strike="noStrike" u="none">
              <a:solidFill>
                <a:srgbClr val="000000"/>
              </a:solidFill>
              <a:effectLst/>
              <a:uFillTx/>
              <a:latin typeface="Times New Roman"/>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Default 1">
    <p:spTree>
      <p:nvGrpSpPr>
        <p:cNvPr id="1" name=""/>
        <p:cNvGrpSpPr/>
        <p:nvPr/>
      </p:nvGrpSpPr>
      <p:grpSpPr>
        <a:xfrm>
          <a:off x="0" y="0"/>
          <a:ext cx="0" cy="0"/>
          <a:chOff x="0" y="0"/>
          <a:chExt cx="0" cy="0"/>
        </a:xfrm>
      </p:grpSpPr>
      <p:sp>
        <p:nvSpPr>
          <p:cNvPr id="18" name="PlaceHolder 1"/>
          <p:cNvSpPr>
            <a:spLocks noGrp="1"/>
          </p:cNvSpPr>
          <p:nvPr>
            <p:ph type="title"/>
          </p:nvPr>
        </p:nvSpPr>
        <p:spPr>
          <a:xfrm>
            <a:off x="360000" y="99360"/>
            <a:ext cx="9342720" cy="625320"/>
          </a:xfrm>
          <a:prstGeom prst="rect">
            <a:avLst/>
          </a:prstGeom>
          <a:noFill/>
          <a:ln w="0">
            <a:noFill/>
          </a:ln>
        </p:spPr>
        <p:txBody>
          <a:bodyPr lIns="0" rIns="0" tIns="0" bIns="0" anchor="ctr">
            <a:spAutoFit/>
          </a:bodyPr>
          <a:p>
            <a:pPr indent="0" algn="ctr">
              <a:buNone/>
            </a:pPr>
            <a:endParaRPr b="0" lang="en-US" sz="4400" strike="noStrike" u="none">
              <a:solidFill>
                <a:srgbClr val="000000"/>
              </a:solidFill>
              <a:effectLst/>
              <a:uFillTx/>
              <a:latin typeface="Arial"/>
            </a:endParaRPr>
          </a:p>
        </p:txBody>
      </p:sp>
      <p:sp>
        <p:nvSpPr>
          <p:cNvPr id="19" name="PlaceHolder 2"/>
          <p:cNvSpPr>
            <a:spLocks noGrp="1"/>
          </p:cNvSpPr>
          <p:nvPr>
            <p:ph/>
          </p:nvPr>
        </p:nvSpPr>
        <p:spPr>
          <a:xfrm>
            <a:off x="360000" y="1080000"/>
            <a:ext cx="9342720" cy="3582720"/>
          </a:xfrm>
          <a:prstGeom prst="rect">
            <a:avLst/>
          </a:prstGeom>
          <a:noFill/>
          <a:ln w="0">
            <a:noFill/>
          </a:ln>
        </p:spPr>
        <p:txBody>
          <a:bodyPr lIns="0" rIns="0" tIns="0" bIns="0" anchor="t">
            <a:normAutofit/>
          </a:bodyPr>
          <a:p>
            <a:pPr indent="0">
              <a:spcBef>
                <a:spcPts val="1417"/>
              </a:spcBef>
              <a:buNone/>
            </a:pPr>
            <a:endParaRPr b="0" lang="en-US" sz="3200" strike="noStrike" u="none">
              <a:solidFill>
                <a:srgbClr val="000000"/>
              </a:solidFill>
              <a:effectLst/>
              <a:uFillTx/>
              <a:latin typeface="Arial"/>
            </a:endParaRPr>
          </a:p>
        </p:txBody>
      </p:sp>
      <p:sp>
        <p:nvSpPr>
          <p:cNvPr id="4" name="PlaceHolder 3"/>
          <p:cNvSpPr>
            <a:spLocks noGrp="1"/>
          </p:cNvSpPr>
          <p:nvPr>
            <p:ph type="ftr" idx="7"/>
          </p:nvPr>
        </p:nvSpPr>
        <p:spPr/>
        <p:txBody>
          <a:bodyPr/>
          <a:p>
            <a:r>
              <a:t>Footer</a:t>
            </a:r>
          </a:p>
        </p:txBody>
      </p:sp>
      <p:sp>
        <p:nvSpPr>
          <p:cNvPr id="5" name="PlaceHolder 4"/>
          <p:cNvSpPr>
            <a:spLocks noGrp="1"/>
          </p:cNvSpPr>
          <p:nvPr>
            <p:ph type="sldNum" idx="8"/>
          </p:nvPr>
        </p:nvSpPr>
        <p:spPr/>
        <p:txBody>
          <a:bodyPr/>
          <a:p>
            <a:fld id="{DF5ACC7B-18ED-4A1F-B57C-19F3BDCF025E}" type="slidenum">
              <a:t>&lt;#&gt;</a:t>
            </a:fld>
          </a:p>
        </p:txBody>
      </p:sp>
      <p:sp>
        <p:nvSpPr>
          <p:cNvPr id="6" name="PlaceHolder 5"/>
          <p:cNvSpPr>
            <a:spLocks noGrp="1"/>
          </p:cNvSpPr>
          <p:nvPr>
            <p:ph type="dt" idx="9"/>
          </p:nvPr>
        </p:nvSpPr>
        <p:spPr/>
        <p:txBody>
          <a:bodyPr/>
          <a:p>
            <a:r>
              <a:rPr lang="en-US"/>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2">
    <p:spTree>
      <p:nvGrpSpPr>
        <p:cNvPr id="1" name=""/>
        <p:cNvGrpSpPr/>
        <p:nvPr/>
      </p:nvGrpSpPr>
      <p:grpSpPr>
        <a:xfrm>
          <a:off x="0" y="0"/>
          <a:ext cx="0" cy="0"/>
          <a:chOff x="0" y="0"/>
          <a:chExt cx="0" cy="0"/>
        </a:xfrm>
      </p:grpSpPr>
      <p:sp>
        <p:nvSpPr>
          <p:cNvPr id="20" name=""/>
          <p:cNvSpPr/>
          <p:nvPr/>
        </p:nvSpPr>
        <p:spPr>
          <a:xfrm>
            <a:off x="0" y="0"/>
            <a:ext cx="10059480" cy="702720"/>
          </a:xfrm>
          <a:prstGeom prst="rect">
            <a:avLst/>
          </a:prstGeom>
          <a:gradFill rotWithShape="0">
            <a:gsLst>
              <a:gs pos="2000">
                <a:srgbClr val="77caee"/>
              </a:gs>
              <a:gs pos="2000">
                <a:srgbClr val="75c9ee"/>
              </a:gs>
              <a:gs pos="3555">
                <a:srgbClr val="75c9ee"/>
              </a:gs>
              <a:gs pos="3555">
                <a:srgbClr val="73c9ed"/>
              </a:gs>
              <a:gs pos="5111">
                <a:srgbClr val="73c9ed"/>
              </a:gs>
              <a:gs pos="5111">
                <a:srgbClr val="71c8ed"/>
              </a:gs>
              <a:gs pos="6666">
                <a:srgbClr val="71c8ed"/>
              </a:gs>
              <a:gs pos="6666">
                <a:srgbClr val="6fc7ed"/>
              </a:gs>
              <a:gs pos="8222">
                <a:srgbClr val="6fc7ed"/>
              </a:gs>
              <a:gs pos="8222">
                <a:srgbClr val="6ec6ed"/>
              </a:gs>
              <a:gs pos="9777">
                <a:srgbClr val="6ec6ed"/>
              </a:gs>
              <a:gs pos="9777">
                <a:srgbClr val="6cc6ec"/>
              </a:gs>
              <a:gs pos="11333">
                <a:srgbClr val="6cc6ec"/>
              </a:gs>
              <a:gs pos="11333">
                <a:srgbClr val="6ac5ec"/>
              </a:gs>
              <a:gs pos="12888">
                <a:srgbClr val="6ac5ec"/>
              </a:gs>
              <a:gs pos="12888">
                <a:srgbClr val="68c4ec"/>
              </a:gs>
              <a:gs pos="14445">
                <a:srgbClr val="68c4ec"/>
              </a:gs>
              <a:gs pos="14445">
                <a:srgbClr val="66c3ec"/>
              </a:gs>
              <a:gs pos="16000">
                <a:srgbClr val="66c3ec"/>
              </a:gs>
              <a:gs pos="16000">
                <a:srgbClr val="64c3eb"/>
              </a:gs>
              <a:gs pos="17556">
                <a:srgbClr val="64c3eb"/>
              </a:gs>
              <a:gs pos="17556">
                <a:srgbClr val="62c2eb"/>
              </a:gs>
              <a:gs pos="19111">
                <a:srgbClr val="62c2eb"/>
              </a:gs>
              <a:gs pos="19111">
                <a:srgbClr val="60c1eb"/>
              </a:gs>
              <a:gs pos="20667">
                <a:srgbClr val="60c1eb"/>
              </a:gs>
              <a:gs pos="20667">
                <a:srgbClr val="5ec0ea"/>
              </a:gs>
              <a:gs pos="22222">
                <a:srgbClr val="5ec0ea"/>
              </a:gs>
              <a:gs pos="22222">
                <a:srgbClr val="5dc0ea"/>
              </a:gs>
              <a:gs pos="23778">
                <a:srgbClr val="5dc0ea"/>
              </a:gs>
              <a:gs pos="23778">
                <a:srgbClr val="5bbfea"/>
              </a:gs>
              <a:gs pos="25333">
                <a:srgbClr val="5bbfea"/>
              </a:gs>
              <a:gs pos="25333">
                <a:srgbClr val="59beea"/>
              </a:gs>
              <a:gs pos="26889">
                <a:srgbClr val="59beea"/>
              </a:gs>
              <a:gs pos="26889">
                <a:srgbClr val="57bde9"/>
              </a:gs>
              <a:gs pos="28444">
                <a:srgbClr val="57bde9"/>
              </a:gs>
              <a:gs pos="28444">
                <a:srgbClr val="55bde9"/>
              </a:gs>
              <a:gs pos="30000">
                <a:srgbClr val="55bde9"/>
              </a:gs>
              <a:gs pos="30000">
                <a:srgbClr val="53bce9"/>
              </a:gs>
              <a:gs pos="31555">
                <a:srgbClr val="53bce9"/>
              </a:gs>
              <a:gs pos="31555">
                <a:srgbClr val="51bbe9"/>
              </a:gs>
              <a:gs pos="33111">
                <a:srgbClr val="51bbe9"/>
              </a:gs>
              <a:gs pos="33111">
                <a:srgbClr val="4fbae8"/>
              </a:gs>
              <a:gs pos="34666">
                <a:srgbClr val="4fbae8"/>
              </a:gs>
              <a:gs pos="34666">
                <a:srgbClr val="4dbae8"/>
              </a:gs>
              <a:gs pos="36222">
                <a:srgbClr val="4dbae8"/>
              </a:gs>
              <a:gs pos="36222">
                <a:srgbClr val="4cb9e8"/>
              </a:gs>
              <a:gs pos="37777">
                <a:srgbClr val="4cb9e8"/>
              </a:gs>
              <a:gs pos="37777">
                <a:srgbClr val="4ab8e8"/>
              </a:gs>
              <a:gs pos="39334">
                <a:srgbClr val="4ab8e8"/>
              </a:gs>
              <a:gs pos="39334">
                <a:srgbClr val="48b7e7"/>
              </a:gs>
              <a:gs pos="40889">
                <a:srgbClr val="48b7e7"/>
              </a:gs>
              <a:gs pos="40889">
                <a:srgbClr val="46b7e7"/>
              </a:gs>
              <a:gs pos="42445">
                <a:srgbClr val="46b7e7"/>
              </a:gs>
              <a:gs pos="42445">
                <a:srgbClr val="44b6e7"/>
              </a:gs>
              <a:gs pos="44000">
                <a:srgbClr val="44b6e7"/>
              </a:gs>
              <a:gs pos="44000">
                <a:srgbClr val="42b5e6"/>
              </a:gs>
              <a:gs pos="45556">
                <a:srgbClr val="42b5e6"/>
              </a:gs>
              <a:gs pos="45556">
                <a:srgbClr val="40b4e6"/>
              </a:gs>
              <a:gs pos="47111">
                <a:srgbClr val="40b4e6"/>
              </a:gs>
              <a:gs pos="47111">
                <a:srgbClr val="3eb4e6"/>
              </a:gs>
              <a:gs pos="48667">
                <a:srgbClr val="3eb4e6"/>
              </a:gs>
              <a:gs pos="48667">
                <a:srgbClr val="3cb3e6"/>
              </a:gs>
              <a:gs pos="50222">
                <a:srgbClr val="3cb3e6"/>
              </a:gs>
              <a:gs pos="50222">
                <a:srgbClr val="3bb2e5"/>
              </a:gs>
              <a:gs pos="51778">
                <a:srgbClr val="3bb2e5"/>
              </a:gs>
              <a:gs pos="51778">
                <a:srgbClr val="39b1e5"/>
              </a:gs>
              <a:gs pos="53333">
                <a:srgbClr val="39b1e5"/>
              </a:gs>
              <a:gs pos="53333">
                <a:srgbClr val="37b1e5"/>
              </a:gs>
              <a:gs pos="54889">
                <a:srgbClr val="37b1e5"/>
              </a:gs>
              <a:gs pos="54889">
                <a:srgbClr val="35b0e5"/>
              </a:gs>
              <a:gs pos="56444">
                <a:srgbClr val="35b0e5"/>
              </a:gs>
              <a:gs pos="56444">
                <a:srgbClr val="33afe4"/>
              </a:gs>
              <a:gs pos="58000">
                <a:srgbClr val="33afe4"/>
              </a:gs>
              <a:gs pos="58000">
                <a:srgbClr val="31aee4"/>
              </a:gs>
              <a:gs pos="59555">
                <a:srgbClr val="31aee4"/>
              </a:gs>
              <a:gs pos="59555">
                <a:srgbClr val="2faee4"/>
              </a:gs>
              <a:gs pos="61111">
                <a:srgbClr val="2faee4"/>
              </a:gs>
              <a:gs pos="61111">
                <a:srgbClr val="2dade3"/>
              </a:gs>
              <a:gs pos="62666">
                <a:srgbClr val="2dade3"/>
              </a:gs>
              <a:gs pos="62666">
                <a:srgbClr val="2bace3"/>
              </a:gs>
              <a:gs pos="64223">
                <a:srgbClr val="2bace3"/>
              </a:gs>
              <a:gs pos="64223">
                <a:srgbClr val="2aabe3"/>
              </a:gs>
              <a:gs pos="65778">
                <a:srgbClr val="2aabe3"/>
              </a:gs>
              <a:gs pos="65778">
                <a:srgbClr val="28abe3"/>
              </a:gs>
              <a:gs pos="67334">
                <a:srgbClr val="28abe3"/>
              </a:gs>
              <a:gs pos="67334">
                <a:srgbClr val="26aae2"/>
              </a:gs>
              <a:gs pos="68889">
                <a:srgbClr val="26aae2"/>
              </a:gs>
              <a:gs pos="68889">
                <a:srgbClr val="24a9e2"/>
              </a:gs>
              <a:gs pos="70445">
                <a:srgbClr val="24a9e2"/>
              </a:gs>
              <a:gs pos="70445">
                <a:srgbClr val="22a8e2"/>
              </a:gs>
              <a:gs pos="72000">
                <a:srgbClr val="22a8e2"/>
              </a:gs>
              <a:gs pos="72000">
                <a:srgbClr val="20a8e2"/>
              </a:gs>
              <a:gs pos="73556">
                <a:srgbClr val="20a8e2"/>
              </a:gs>
              <a:gs pos="73556">
                <a:srgbClr val="1ea7e1"/>
              </a:gs>
              <a:gs pos="75111">
                <a:srgbClr val="1ea7e1"/>
              </a:gs>
              <a:gs pos="75111">
                <a:srgbClr val="1ca6e1"/>
              </a:gs>
              <a:gs pos="76667">
                <a:srgbClr val="1ca6e1"/>
              </a:gs>
              <a:gs pos="76667">
                <a:srgbClr val="1aa5e1"/>
              </a:gs>
              <a:gs pos="78222">
                <a:srgbClr val="1aa5e1"/>
              </a:gs>
              <a:gs pos="78222">
                <a:srgbClr val="19a5e1"/>
              </a:gs>
              <a:gs pos="79778">
                <a:srgbClr val="19a5e1"/>
              </a:gs>
              <a:gs pos="79778">
                <a:srgbClr val="17a4e0"/>
              </a:gs>
              <a:gs pos="81333">
                <a:srgbClr val="17a4e0"/>
              </a:gs>
              <a:gs pos="81333">
                <a:srgbClr val="15a3e0"/>
              </a:gs>
              <a:gs pos="82889">
                <a:srgbClr val="15a3e0"/>
              </a:gs>
              <a:gs pos="82889">
                <a:srgbClr val="13a2e0"/>
              </a:gs>
              <a:gs pos="84444">
                <a:srgbClr val="13a2e0"/>
              </a:gs>
              <a:gs pos="84444">
                <a:srgbClr val="11a2df"/>
              </a:gs>
              <a:gs pos="86000">
                <a:srgbClr val="11a2df"/>
              </a:gs>
              <a:gs pos="86000">
                <a:srgbClr val="0fa1df"/>
              </a:gs>
              <a:gs pos="87555">
                <a:srgbClr val="0fa1df"/>
              </a:gs>
              <a:gs pos="87555">
                <a:srgbClr val="0da0df"/>
              </a:gs>
              <a:gs pos="89112">
                <a:srgbClr val="0da0df"/>
              </a:gs>
              <a:gs pos="89112">
                <a:srgbClr val="0b9fdf"/>
              </a:gs>
              <a:gs pos="90667">
                <a:srgbClr val="0b9fdf"/>
              </a:gs>
              <a:gs pos="90667">
                <a:srgbClr val="099fde"/>
              </a:gs>
              <a:gs pos="92223">
                <a:srgbClr val="099fde"/>
              </a:gs>
              <a:gs pos="92223">
                <a:srgbClr val="089ede"/>
              </a:gs>
              <a:gs pos="93778">
                <a:srgbClr val="089ede"/>
              </a:gs>
              <a:gs pos="93778">
                <a:srgbClr val="069dde"/>
              </a:gs>
              <a:gs pos="95334">
                <a:srgbClr val="069dde"/>
              </a:gs>
              <a:gs pos="95334">
                <a:srgbClr val="049cde"/>
              </a:gs>
              <a:gs pos="96889">
                <a:srgbClr val="049cde"/>
              </a:gs>
              <a:gs pos="96889">
                <a:srgbClr val="029cdd"/>
              </a:gs>
              <a:gs pos="98445">
                <a:srgbClr val="029cdd"/>
              </a:gs>
              <a:gs pos="98445">
                <a:srgbClr val="009bdd"/>
              </a:gs>
              <a:gs pos="100000">
                <a:srgbClr val="009bdd"/>
              </a:gs>
            </a:gsLst>
            <a:lin ang="10800000"/>
          </a:gradFill>
          <a:ln w="18000">
            <a:noFill/>
          </a:ln>
          <a:effectLst>
            <a:outerShdw blurRad="0" dir="5400000" dist="10800" rotWithShape="0">
              <a:srgbClr val="009bdd"/>
            </a:outerShdw>
          </a:effectLst>
        </p:spPr>
        <p:style>
          <a:lnRef idx="0"/>
          <a:fillRef idx="0"/>
          <a:effectRef idx="0"/>
          <a:fontRef idx="minor"/>
        </p:style>
        <p:txBody>
          <a:bodyPr wrap="none" lIns="90000" rIns="90000" tIns="45000" bIns="45000" anchor="ctr">
            <a:noAutofit/>
          </a:bodyPr>
          <a:p>
            <a:pPr>
              <a:lnSpc>
                <a:spcPct val="100000"/>
              </a:lnSpc>
            </a:pPr>
            <a:endParaRPr b="0" lang="en-US" sz="1800" strike="noStrike" u="none">
              <a:solidFill>
                <a:srgbClr val="000000"/>
              </a:solidFill>
              <a:effectLst/>
              <a:uFillTx/>
              <a:latin typeface="Arial"/>
              <a:ea typeface="DejaVu Sans"/>
            </a:endParaRPr>
          </a:p>
        </p:txBody>
      </p:sp>
      <p:sp>
        <p:nvSpPr>
          <p:cNvPr id="21" name="PlaceHolder 1"/>
          <p:cNvSpPr>
            <a:spLocks noGrp="1"/>
          </p:cNvSpPr>
          <p:nvPr>
            <p:ph type="title"/>
          </p:nvPr>
        </p:nvSpPr>
        <p:spPr>
          <a:xfrm>
            <a:off x="360000" y="274680"/>
            <a:ext cx="9342720" cy="274680"/>
          </a:xfrm>
          <a:prstGeom prst="rect">
            <a:avLst/>
          </a:prstGeom>
          <a:noFill/>
          <a:ln w="0">
            <a:noFill/>
          </a:ln>
        </p:spPr>
        <p:txBody>
          <a:bodyPr lIns="0" rIns="0" tIns="0" bIns="0" anchor="ctr">
            <a:spAutoFit/>
          </a:bodyPr>
          <a:p>
            <a:pPr indent="0">
              <a:lnSpc>
                <a:spcPct val="100000"/>
              </a:lnSpc>
              <a:buNone/>
              <a:tabLst>
                <a:tab algn="l" pos="0"/>
              </a:tabLst>
            </a:pPr>
            <a:r>
              <a:rPr b="0" lang="en-US" sz="1800" strike="noStrike" u="none">
                <a:solidFill>
                  <a:srgbClr val="000000"/>
                </a:solidFill>
                <a:effectLst/>
                <a:uFillTx/>
                <a:latin typeface="Arial"/>
              </a:rPr>
              <a:t>Click to edit the title text format</a:t>
            </a:r>
            <a:endParaRPr b="0" lang="en-US" sz="1800" strike="noStrike" u="none">
              <a:solidFill>
                <a:srgbClr val="000000"/>
              </a:solidFill>
              <a:effectLst/>
              <a:uFillTx/>
              <a:latin typeface="Arial"/>
            </a:endParaRPr>
          </a:p>
        </p:txBody>
      </p:sp>
      <p:sp>
        <p:nvSpPr>
          <p:cNvPr id="22" name="PlaceHolder 2"/>
          <p:cNvSpPr>
            <a:spLocks noGrp="1"/>
          </p:cNvSpPr>
          <p:nvPr>
            <p:ph type="body"/>
          </p:nvPr>
        </p:nvSpPr>
        <p:spPr>
          <a:xfrm>
            <a:off x="360000" y="1080000"/>
            <a:ext cx="9342720" cy="358272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lnSpc>
                <a:spcPct val="100000"/>
              </a:lnSpc>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lnSpc>
                <a:spcPct val="100000"/>
              </a:lnSpc>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lnSpc>
                <a:spcPct val="100000"/>
              </a:lnSpc>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lnSpc>
                <a:spcPct val="100000"/>
              </a:lnSpc>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lnSpc>
                <a:spcPct val="100000"/>
              </a:lnSpc>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lnSpc>
                <a:spcPct val="100000"/>
              </a:lnSpc>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23" name="PlaceHolder 3"/>
          <p:cNvSpPr>
            <a:spLocks noGrp="1"/>
          </p:cNvSpPr>
          <p:nvPr>
            <p:ph type="ftr" idx="10"/>
          </p:nvPr>
        </p:nvSpPr>
        <p:spPr>
          <a:xfrm>
            <a:off x="3420000" y="5220000"/>
            <a:ext cx="3222720" cy="342720"/>
          </a:xfrm>
          <a:prstGeom prst="rect">
            <a:avLst/>
          </a:prstGeom>
          <a:noFill/>
          <a:ln w="0">
            <a:noFill/>
          </a:ln>
        </p:spPr>
        <p:txBody>
          <a:bodyPr lIns="0" rIns="0" tIns="0" bIns="0" anchor="t">
            <a:noAutofit/>
          </a:bodyPr>
          <a:lstStyle>
            <a:lvl1pPr indent="0" algn="ctr">
              <a:lnSpc>
                <a:spcPct val="100000"/>
              </a:lnSpc>
              <a:buNone/>
              <a:tabLst>
                <a:tab algn="l" pos="0"/>
              </a:tabLst>
              <a:defRPr b="0" lang="en-US" sz="1400" strike="noStrike" u="none">
                <a:solidFill>
                  <a:srgbClr val="ffffff"/>
                </a:solidFill>
                <a:effectLst/>
                <a:uFillTx/>
                <a:latin typeface="Arial"/>
              </a:defRPr>
            </a:lvl1pPr>
          </a:lstStyle>
          <a:p>
            <a:pPr indent="0" algn="ctr">
              <a:lnSpc>
                <a:spcPct val="100000"/>
              </a:lnSpc>
              <a:buNone/>
              <a:tabLst>
                <a:tab algn="l" pos="0"/>
              </a:tabLst>
            </a:pPr>
            <a:r>
              <a:rPr b="0" lang="en-US" sz="1400" strike="noStrike" u="none">
                <a:solidFill>
                  <a:srgbClr val="ffffff"/>
                </a:solidFill>
                <a:effectLst/>
                <a:uFillTx/>
                <a:latin typeface="Arial"/>
              </a:rPr>
              <a:t>&lt;footer&gt;</a:t>
            </a:r>
            <a:endParaRPr b="0" lang="en-US" sz="1400" strike="noStrike" u="none">
              <a:solidFill>
                <a:srgbClr val="000000"/>
              </a:solidFill>
              <a:effectLst/>
              <a:uFillTx/>
              <a:latin typeface="Times New Roman"/>
            </a:endParaRPr>
          </a:p>
        </p:txBody>
      </p:sp>
      <p:sp>
        <p:nvSpPr>
          <p:cNvPr id="24" name="PlaceHolder 4"/>
          <p:cNvSpPr>
            <a:spLocks noGrp="1"/>
          </p:cNvSpPr>
          <p:nvPr>
            <p:ph type="sldNum" idx="11"/>
          </p:nvPr>
        </p:nvSpPr>
        <p:spPr>
          <a:xfrm>
            <a:off x="7380000" y="5220000"/>
            <a:ext cx="2322720" cy="342720"/>
          </a:xfrm>
          <a:prstGeom prst="rect">
            <a:avLst/>
          </a:prstGeom>
          <a:noFill/>
          <a:ln w="0">
            <a:noFill/>
          </a:ln>
        </p:spPr>
        <p:txBody>
          <a:bodyPr lIns="0" rIns="0" tIns="0" bIns="0" anchor="t">
            <a:noAutofit/>
          </a:bodyPr>
          <a:lstStyle>
            <a:lvl1pPr indent="0" algn="r">
              <a:lnSpc>
                <a:spcPct val="100000"/>
              </a:lnSpc>
              <a:buNone/>
              <a:tabLst>
                <a:tab algn="l" pos="0"/>
              </a:tabLst>
              <a:defRPr b="0" lang="en-US" sz="1400" strike="noStrike" u="none">
                <a:solidFill>
                  <a:srgbClr val="ffffff"/>
                </a:solidFill>
                <a:effectLst/>
                <a:uFillTx/>
                <a:latin typeface="Arial"/>
              </a:defRPr>
            </a:lvl1pPr>
          </a:lstStyle>
          <a:p>
            <a:pPr indent="0" algn="r">
              <a:lnSpc>
                <a:spcPct val="100000"/>
              </a:lnSpc>
              <a:buNone/>
              <a:tabLst>
                <a:tab algn="l" pos="0"/>
              </a:tabLst>
            </a:pPr>
            <a:fld id="{C9DA6530-683C-4B63-946D-DD160D0AA760}" type="slidenum">
              <a:rPr b="0" lang="en-US" sz="1400" strike="noStrike" u="none">
                <a:solidFill>
                  <a:srgbClr val="ffffff"/>
                </a:solidFill>
                <a:effectLst/>
                <a:uFillTx/>
                <a:latin typeface="Arial"/>
              </a:rPr>
              <a:t>&lt;number&gt;</a:t>
            </a:fld>
            <a:endParaRPr b="0" lang="en-US" sz="1400" strike="noStrike" u="none">
              <a:solidFill>
                <a:srgbClr val="000000"/>
              </a:solidFill>
              <a:effectLst/>
              <a:uFillTx/>
              <a:latin typeface="Times New Roman"/>
            </a:endParaRPr>
          </a:p>
        </p:txBody>
      </p:sp>
      <p:sp>
        <p:nvSpPr>
          <p:cNvPr id="25" name="PlaceHolder 5"/>
          <p:cNvSpPr>
            <a:spLocks noGrp="1"/>
          </p:cNvSpPr>
          <p:nvPr>
            <p:ph type="dt" idx="12"/>
          </p:nvPr>
        </p:nvSpPr>
        <p:spPr>
          <a:xfrm>
            <a:off x="360000" y="5220000"/>
            <a:ext cx="2322720" cy="342720"/>
          </a:xfrm>
          <a:prstGeom prst="rect">
            <a:avLst/>
          </a:prstGeom>
          <a:noFill/>
          <a:ln w="0">
            <a:noFill/>
          </a:ln>
        </p:spPr>
        <p:txBody>
          <a:bodyPr lIns="0" rIns="0" tIns="0" bIns="0" anchor="t">
            <a:noAutofit/>
          </a:bodyPr>
          <a:lstStyle>
            <a:lvl1pPr indent="0">
              <a:lnSpc>
                <a:spcPct val="100000"/>
              </a:lnSpc>
              <a:buNone/>
              <a:tabLst>
                <a:tab algn="l" pos="0"/>
              </a:tabLst>
              <a:defRPr b="0" lang="en-US" sz="1400" strike="noStrike" u="none">
                <a:solidFill>
                  <a:srgbClr val="000000"/>
                </a:solidFill>
                <a:effectLst/>
                <a:uFillTx/>
                <a:latin typeface="Times New Roman"/>
              </a:defRPr>
            </a:lvl1pPr>
          </a:lstStyle>
          <a:p>
            <a:pPr indent="0">
              <a:lnSpc>
                <a:spcPct val="100000"/>
              </a:lnSpc>
              <a:buNone/>
              <a:tabLst>
                <a:tab algn="l" pos="0"/>
              </a:tabLst>
            </a:pPr>
            <a:r>
              <a:rPr b="0" lang="en-US" sz="1400" strike="noStrike" u="none">
                <a:solidFill>
                  <a:srgbClr val="000000"/>
                </a:solidFill>
                <a:effectLst/>
                <a:uFillTx/>
                <a:latin typeface="Times New Roman"/>
              </a:rPr>
              <a:t>&lt;date/time&gt;</a:t>
            </a:r>
            <a:endParaRPr b="0" lang="en-US" sz="1400" strike="noStrike" u="none">
              <a:solidFill>
                <a:srgbClr val="000000"/>
              </a:solidFill>
              <a:effectLst/>
              <a:uFillTx/>
              <a:latin typeface="Times New Roman"/>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3">
    <p:spTree>
      <p:nvGrpSpPr>
        <p:cNvPr id="1" name=""/>
        <p:cNvGrpSpPr/>
        <p:nvPr/>
      </p:nvGrpSpPr>
      <p:grpSpPr>
        <a:xfrm>
          <a:off x="0" y="0"/>
          <a:ext cx="0" cy="0"/>
          <a:chOff x="0" y="0"/>
          <a:chExt cx="0" cy="0"/>
        </a:xfrm>
      </p:grpSpPr>
      <p:sp>
        <p:nvSpPr>
          <p:cNvPr id="26" name=""/>
          <p:cNvSpPr/>
          <p:nvPr/>
        </p:nvSpPr>
        <p:spPr>
          <a:xfrm>
            <a:off x="0" y="0"/>
            <a:ext cx="10059480" cy="702720"/>
          </a:xfrm>
          <a:prstGeom prst="rect">
            <a:avLst/>
          </a:prstGeom>
          <a:gradFill rotWithShape="0">
            <a:gsLst>
              <a:gs pos="2000">
                <a:srgbClr val="77caee"/>
              </a:gs>
              <a:gs pos="2000">
                <a:srgbClr val="75c9ee"/>
              </a:gs>
              <a:gs pos="3555">
                <a:srgbClr val="75c9ee"/>
              </a:gs>
              <a:gs pos="3555">
                <a:srgbClr val="73c9ed"/>
              </a:gs>
              <a:gs pos="5111">
                <a:srgbClr val="73c9ed"/>
              </a:gs>
              <a:gs pos="5111">
                <a:srgbClr val="71c8ed"/>
              </a:gs>
              <a:gs pos="6666">
                <a:srgbClr val="71c8ed"/>
              </a:gs>
              <a:gs pos="6666">
                <a:srgbClr val="6fc7ed"/>
              </a:gs>
              <a:gs pos="8222">
                <a:srgbClr val="6fc7ed"/>
              </a:gs>
              <a:gs pos="8222">
                <a:srgbClr val="6ec6ed"/>
              </a:gs>
              <a:gs pos="9777">
                <a:srgbClr val="6ec6ed"/>
              </a:gs>
              <a:gs pos="9777">
                <a:srgbClr val="6cc6ec"/>
              </a:gs>
              <a:gs pos="11333">
                <a:srgbClr val="6cc6ec"/>
              </a:gs>
              <a:gs pos="11333">
                <a:srgbClr val="6ac5ec"/>
              </a:gs>
              <a:gs pos="12888">
                <a:srgbClr val="6ac5ec"/>
              </a:gs>
              <a:gs pos="12888">
                <a:srgbClr val="68c4ec"/>
              </a:gs>
              <a:gs pos="14445">
                <a:srgbClr val="68c4ec"/>
              </a:gs>
              <a:gs pos="14445">
                <a:srgbClr val="66c3ec"/>
              </a:gs>
              <a:gs pos="16000">
                <a:srgbClr val="66c3ec"/>
              </a:gs>
              <a:gs pos="16000">
                <a:srgbClr val="64c3eb"/>
              </a:gs>
              <a:gs pos="17556">
                <a:srgbClr val="64c3eb"/>
              </a:gs>
              <a:gs pos="17556">
                <a:srgbClr val="62c2eb"/>
              </a:gs>
              <a:gs pos="19111">
                <a:srgbClr val="62c2eb"/>
              </a:gs>
              <a:gs pos="19111">
                <a:srgbClr val="60c1eb"/>
              </a:gs>
              <a:gs pos="20667">
                <a:srgbClr val="60c1eb"/>
              </a:gs>
              <a:gs pos="20667">
                <a:srgbClr val="5ec0ea"/>
              </a:gs>
              <a:gs pos="22222">
                <a:srgbClr val="5ec0ea"/>
              </a:gs>
              <a:gs pos="22222">
                <a:srgbClr val="5dc0ea"/>
              </a:gs>
              <a:gs pos="23778">
                <a:srgbClr val="5dc0ea"/>
              </a:gs>
              <a:gs pos="23778">
                <a:srgbClr val="5bbfea"/>
              </a:gs>
              <a:gs pos="25333">
                <a:srgbClr val="5bbfea"/>
              </a:gs>
              <a:gs pos="25333">
                <a:srgbClr val="59beea"/>
              </a:gs>
              <a:gs pos="26889">
                <a:srgbClr val="59beea"/>
              </a:gs>
              <a:gs pos="26889">
                <a:srgbClr val="57bde9"/>
              </a:gs>
              <a:gs pos="28444">
                <a:srgbClr val="57bde9"/>
              </a:gs>
              <a:gs pos="28444">
                <a:srgbClr val="55bde9"/>
              </a:gs>
              <a:gs pos="30000">
                <a:srgbClr val="55bde9"/>
              </a:gs>
              <a:gs pos="30000">
                <a:srgbClr val="53bce9"/>
              </a:gs>
              <a:gs pos="31555">
                <a:srgbClr val="53bce9"/>
              </a:gs>
              <a:gs pos="31555">
                <a:srgbClr val="51bbe9"/>
              </a:gs>
              <a:gs pos="33111">
                <a:srgbClr val="51bbe9"/>
              </a:gs>
              <a:gs pos="33111">
                <a:srgbClr val="4fbae8"/>
              </a:gs>
              <a:gs pos="34666">
                <a:srgbClr val="4fbae8"/>
              </a:gs>
              <a:gs pos="34666">
                <a:srgbClr val="4dbae8"/>
              </a:gs>
              <a:gs pos="36222">
                <a:srgbClr val="4dbae8"/>
              </a:gs>
              <a:gs pos="36222">
                <a:srgbClr val="4cb9e8"/>
              </a:gs>
              <a:gs pos="37777">
                <a:srgbClr val="4cb9e8"/>
              </a:gs>
              <a:gs pos="37777">
                <a:srgbClr val="4ab8e8"/>
              </a:gs>
              <a:gs pos="39334">
                <a:srgbClr val="4ab8e8"/>
              </a:gs>
              <a:gs pos="39334">
                <a:srgbClr val="48b7e7"/>
              </a:gs>
              <a:gs pos="40889">
                <a:srgbClr val="48b7e7"/>
              </a:gs>
              <a:gs pos="40889">
                <a:srgbClr val="46b7e7"/>
              </a:gs>
              <a:gs pos="42445">
                <a:srgbClr val="46b7e7"/>
              </a:gs>
              <a:gs pos="42445">
                <a:srgbClr val="44b6e7"/>
              </a:gs>
              <a:gs pos="44000">
                <a:srgbClr val="44b6e7"/>
              </a:gs>
              <a:gs pos="44000">
                <a:srgbClr val="42b5e6"/>
              </a:gs>
              <a:gs pos="45556">
                <a:srgbClr val="42b5e6"/>
              </a:gs>
              <a:gs pos="45556">
                <a:srgbClr val="40b4e6"/>
              </a:gs>
              <a:gs pos="47111">
                <a:srgbClr val="40b4e6"/>
              </a:gs>
              <a:gs pos="47111">
                <a:srgbClr val="3eb4e6"/>
              </a:gs>
              <a:gs pos="48667">
                <a:srgbClr val="3eb4e6"/>
              </a:gs>
              <a:gs pos="48667">
                <a:srgbClr val="3cb3e6"/>
              </a:gs>
              <a:gs pos="50222">
                <a:srgbClr val="3cb3e6"/>
              </a:gs>
              <a:gs pos="50222">
                <a:srgbClr val="3bb2e5"/>
              </a:gs>
              <a:gs pos="51778">
                <a:srgbClr val="3bb2e5"/>
              </a:gs>
              <a:gs pos="51778">
                <a:srgbClr val="39b1e5"/>
              </a:gs>
              <a:gs pos="53333">
                <a:srgbClr val="39b1e5"/>
              </a:gs>
              <a:gs pos="53333">
                <a:srgbClr val="37b1e5"/>
              </a:gs>
              <a:gs pos="54889">
                <a:srgbClr val="37b1e5"/>
              </a:gs>
              <a:gs pos="54889">
                <a:srgbClr val="35b0e5"/>
              </a:gs>
              <a:gs pos="56444">
                <a:srgbClr val="35b0e5"/>
              </a:gs>
              <a:gs pos="56444">
                <a:srgbClr val="33afe4"/>
              </a:gs>
              <a:gs pos="58000">
                <a:srgbClr val="33afe4"/>
              </a:gs>
              <a:gs pos="58000">
                <a:srgbClr val="31aee4"/>
              </a:gs>
              <a:gs pos="59555">
                <a:srgbClr val="31aee4"/>
              </a:gs>
              <a:gs pos="59555">
                <a:srgbClr val="2faee4"/>
              </a:gs>
              <a:gs pos="61111">
                <a:srgbClr val="2faee4"/>
              </a:gs>
              <a:gs pos="61111">
                <a:srgbClr val="2dade3"/>
              </a:gs>
              <a:gs pos="62666">
                <a:srgbClr val="2dade3"/>
              </a:gs>
              <a:gs pos="62666">
                <a:srgbClr val="2bace3"/>
              </a:gs>
              <a:gs pos="64223">
                <a:srgbClr val="2bace3"/>
              </a:gs>
              <a:gs pos="64223">
                <a:srgbClr val="2aabe3"/>
              </a:gs>
              <a:gs pos="65778">
                <a:srgbClr val="2aabe3"/>
              </a:gs>
              <a:gs pos="65778">
                <a:srgbClr val="28abe3"/>
              </a:gs>
              <a:gs pos="67334">
                <a:srgbClr val="28abe3"/>
              </a:gs>
              <a:gs pos="67334">
                <a:srgbClr val="26aae2"/>
              </a:gs>
              <a:gs pos="68889">
                <a:srgbClr val="26aae2"/>
              </a:gs>
              <a:gs pos="68889">
                <a:srgbClr val="24a9e2"/>
              </a:gs>
              <a:gs pos="70445">
                <a:srgbClr val="24a9e2"/>
              </a:gs>
              <a:gs pos="70445">
                <a:srgbClr val="22a8e2"/>
              </a:gs>
              <a:gs pos="72000">
                <a:srgbClr val="22a8e2"/>
              </a:gs>
              <a:gs pos="72000">
                <a:srgbClr val="20a8e2"/>
              </a:gs>
              <a:gs pos="73556">
                <a:srgbClr val="20a8e2"/>
              </a:gs>
              <a:gs pos="73556">
                <a:srgbClr val="1ea7e1"/>
              </a:gs>
              <a:gs pos="75111">
                <a:srgbClr val="1ea7e1"/>
              </a:gs>
              <a:gs pos="75111">
                <a:srgbClr val="1ca6e1"/>
              </a:gs>
              <a:gs pos="76667">
                <a:srgbClr val="1ca6e1"/>
              </a:gs>
              <a:gs pos="76667">
                <a:srgbClr val="1aa5e1"/>
              </a:gs>
              <a:gs pos="78222">
                <a:srgbClr val="1aa5e1"/>
              </a:gs>
              <a:gs pos="78222">
                <a:srgbClr val="19a5e1"/>
              </a:gs>
              <a:gs pos="79778">
                <a:srgbClr val="19a5e1"/>
              </a:gs>
              <a:gs pos="79778">
                <a:srgbClr val="17a4e0"/>
              </a:gs>
              <a:gs pos="81333">
                <a:srgbClr val="17a4e0"/>
              </a:gs>
              <a:gs pos="81333">
                <a:srgbClr val="15a3e0"/>
              </a:gs>
              <a:gs pos="82889">
                <a:srgbClr val="15a3e0"/>
              </a:gs>
              <a:gs pos="82889">
                <a:srgbClr val="13a2e0"/>
              </a:gs>
              <a:gs pos="84444">
                <a:srgbClr val="13a2e0"/>
              </a:gs>
              <a:gs pos="84444">
                <a:srgbClr val="11a2df"/>
              </a:gs>
              <a:gs pos="86000">
                <a:srgbClr val="11a2df"/>
              </a:gs>
              <a:gs pos="86000">
                <a:srgbClr val="0fa1df"/>
              </a:gs>
              <a:gs pos="87555">
                <a:srgbClr val="0fa1df"/>
              </a:gs>
              <a:gs pos="87555">
                <a:srgbClr val="0da0df"/>
              </a:gs>
              <a:gs pos="89112">
                <a:srgbClr val="0da0df"/>
              </a:gs>
              <a:gs pos="89112">
                <a:srgbClr val="0b9fdf"/>
              </a:gs>
              <a:gs pos="90667">
                <a:srgbClr val="0b9fdf"/>
              </a:gs>
              <a:gs pos="90667">
                <a:srgbClr val="099fde"/>
              </a:gs>
              <a:gs pos="92223">
                <a:srgbClr val="099fde"/>
              </a:gs>
              <a:gs pos="92223">
                <a:srgbClr val="089ede"/>
              </a:gs>
              <a:gs pos="93778">
                <a:srgbClr val="089ede"/>
              </a:gs>
              <a:gs pos="93778">
                <a:srgbClr val="069dde"/>
              </a:gs>
              <a:gs pos="95334">
                <a:srgbClr val="069dde"/>
              </a:gs>
              <a:gs pos="95334">
                <a:srgbClr val="049cde"/>
              </a:gs>
              <a:gs pos="96889">
                <a:srgbClr val="049cde"/>
              </a:gs>
              <a:gs pos="96889">
                <a:srgbClr val="029cdd"/>
              </a:gs>
              <a:gs pos="98445">
                <a:srgbClr val="029cdd"/>
              </a:gs>
              <a:gs pos="98445">
                <a:srgbClr val="009bdd"/>
              </a:gs>
              <a:gs pos="100000">
                <a:srgbClr val="009bdd"/>
              </a:gs>
            </a:gsLst>
            <a:lin ang="10800000"/>
          </a:gradFill>
          <a:ln w="18000">
            <a:noFill/>
          </a:ln>
          <a:effectLst>
            <a:outerShdw blurRad="0" dir="5400000" dist="10800" rotWithShape="0">
              <a:srgbClr val="009bdd"/>
            </a:outerShdw>
          </a:effectLst>
        </p:spPr>
        <p:style>
          <a:lnRef idx="0"/>
          <a:fillRef idx="0"/>
          <a:effectRef idx="0"/>
          <a:fontRef idx="minor"/>
        </p:style>
        <p:txBody>
          <a:bodyPr wrap="none" lIns="90000" rIns="90000" tIns="45000" bIns="45000" anchor="ctr">
            <a:noAutofit/>
          </a:bodyPr>
          <a:p>
            <a:pPr>
              <a:lnSpc>
                <a:spcPct val="100000"/>
              </a:lnSpc>
            </a:pPr>
            <a:endParaRPr b="0" lang="en-US" sz="1800" strike="noStrike" u="none">
              <a:solidFill>
                <a:srgbClr val="000000"/>
              </a:solidFill>
              <a:effectLst/>
              <a:uFillTx/>
              <a:latin typeface="Arial"/>
              <a:ea typeface="DejaVu Sans"/>
            </a:endParaRPr>
          </a:p>
        </p:txBody>
      </p:sp>
      <p:sp>
        <p:nvSpPr>
          <p:cNvPr id="27" name="PlaceHolder 1"/>
          <p:cNvSpPr>
            <a:spLocks noGrp="1"/>
          </p:cNvSpPr>
          <p:nvPr>
            <p:ph type="title"/>
          </p:nvPr>
        </p:nvSpPr>
        <p:spPr>
          <a:xfrm>
            <a:off x="360000" y="274680"/>
            <a:ext cx="9342720" cy="274680"/>
          </a:xfrm>
          <a:prstGeom prst="rect">
            <a:avLst/>
          </a:prstGeom>
          <a:noFill/>
          <a:ln w="0">
            <a:noFill/>
          </a:ln>
        </p:spPr>
        <p:txBody>
          <a:bodyPr lIns="0" rIns="0" tIns="0" bIns="0" anchor="ctr">
            <a:spAutoFit/>
          </a:bodyPr>
          <a:p>
            <a:pPr indent="0">
              <a:lnSpc>
                <a:spcPct val="100000"/>
              </a:lnSpc>
              <a:buNone/>
              <a:tabLst>
                <a:tab algn="l" pos="0"/>
              </a:tabLst>
            </a:pPr>
            <a:r>
              <a:rPr b="0" lang="en-US" sz="1800" strike="noStrike" u="none">
                <a:solidFill>
                  <a:srgbClr val="000000"/>
                </a:solidFill>
                <a:effectLst/>
                <a:uFillTx/>
                <a:latin typeface="Arial"/>
              </a:rPr>
              <a:t>Click to edit the title text format</a:t>
            </a:r>
            <a:endParaRPr b="0" lang="en-US" sz="1800" strike="noStrike" u="none">
              <a:solidFill>
                <a:srgbClr val="000000"/>
              </a:solidFill>
              <a:effectLst/>
              <a:uFillTx/>
              <a:latin typeface="Arial"/>
            </a:endParaRPr>
          </a:p>
        </p:txBody>
      </p:sp>
      <p:sp>
        <p:nvSpPr>
          <p:cNvPr id="28" name="PlaceHolder 2"/>
          <p:cNvSpPr>
            <a:spLocks noGrp="1"/>
          </p:cNvSpPr>
          <p:nvPr>
            <p:ph type="body"/>
          </p:nvPr>
        </p:nvSpPr>
        <p:spPr>
          <a:xfrm>
            <a:off x="360000" y="1080000"/>
            <a:ext cx="9342720" cy="358272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lnSpc>
                <a:spcPct val="100000"/>
              </a:lnSpc>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lnSpc>
                <a:spcPct val="100000"/>
              </a:lnSpc>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lnSpc>
                <a:spcPct val="100000"/>
              </a:lnSpc>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lnSpc>
                <a:spcPct val="100000"/>
              </a:lnSpc>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lnSpc>
                <a:spcPct val="100000"/>
              </a:lnSpc>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lnSpc>
                <a:spcPct val="100000"/>
              </a:lnSpc>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29" name="PlaceHolder 3"/>
          <p:cNvSpPr>
            <a:spLocks noGrp="1"/>
          </p:cNvSpPr>
          <p:nvPr>
            <p:ph type="ftr" idx="13"/>
          </p:nvPr>
        </p:nvSpPr>
        <p:spPr>
          <a:xfrm>
            <a:off x="3420000" y="5220000"/>
            <a:ext cx="3222720" cy="342720"/>
          </a:xfrm>
          <a:prstGeom prst="rect">
            <a:avLst/>
          </a:prstGeom>
          <a:noFill/>
          <a:ln w="0">
            <a:noFill/>
          </a:ln>
        </p:spPr>
        <p:txBody>
          <a:bodyPr lIns="0" rIns="0" tIns="0" bIns="0" anchor="t">
            <a:noAutofit/>
          </a:bodyPr>
          <a:lstStyle>
            <a:lvl1pPr indent="0" algn="ctr">
              <a:lnSpc>
                <a:spcPct val="100000"/>
              </a:lnSpc>
              <a:buNone/>
              <a:tabLst>
                <a:tab algn="l" pos="0"/>
              </a:tabLst>
              <a:defRPr b="0" lang="en-US" sz="1400" strike="noStrike" u="none">
                <a:solidFill>
                  <a:srgbClr val="ffffff"/>
                </a:solidFill>
                <a:effectLst/>
                <a:uFillTx/>
                <a:latin typeface="Arial"/>
              </a:defRPr>
            </a:lvl1pPr>
          </a:lstStyle>
          <a:p>
            <a:pPr indent="0" algn="ctr">
              <a:lnSpc>
                <a:spcPct val="100000"/>
              </a:lnSpc>
              <a:buNone/>
              <a:tabLst>
                <a:tab algn="l" pos="0"/>
              </a:tabLst>
            </a:pPr>
            <a:r>
              <a:rPr b="0" lang="en-US" sz="1400" strike="noStrike" u="none">
                <a:solidFill>
                  <a:srgbClr val="ffffff"/>
                </a:solidFill>
                <a:effectLst/>
                <a:uFillTx/>
                <a:latin typeface="Arial"/>
              </a:rPr>
              <a:t>&lt;footer&gt;</a:t>
            </a:r>
            <a:endParaRPr b="0" lang="en-US" sz="1400" strike="noStrike" u="none">
              <a:solidFill>
                <a:srgbClr val="000000"/>
              </a:solidFill>
              <a:effectLst/>
              <a:uFillTx/>
              <a:latin typeface="Times New Roman"/>
            </a:endParaRPr>
          </a:p>
        </p:txBody>
      </p:sp>
      <p:sp>
        <p:nvSpPr>
          <p:cNvPr id="30" name="PlaceHolder 4"/>
          <p:cNvSpPr>
            <a:spLocks noGrp="1"/>
          </p:cNvSpPr>
          <p:nvPr>
            <p:ph type="sldNum" idx="14"/>
          </p:nvPr>
        </p:nvSpPr>
        <p:spPr>
          <a:xfrm>
            <a:off x="7380000" y="5220000"/>
            <a:ext cx="2322720" cy="342720"/>
          </a:xfrm>
          <a:prstGeom prst="rect">
            <a:avLst/>
          </a:prstGeom>
          <a:noFill/>
          <a:ln w="0">
            <a:noFill/>
          </a:ln>
        </p:spPr>
        <p:txBody>
          <a:bodyPr lIns="0" rIns="0" tIns="0" bIns="0" anchor="t">
            <a:noAutofit/>
          </a:bodyPr>
          <a:lstStyle>
            <a:lvl1pPr indent="0" algn="r">
              <a:lnSpc>
                <a:spcPct val="100000"/>
              </a:lnSpc>
              <a:buNone/>
              <a:tabLst>
                <a:tab algn="l" pos="0"/>
              </a:tabLst>
              <a:defRPr b="0" lang="en-US" sz="1400" strike="noStrike" u="none">
                <a:solidFill>
                  <a:srgbClr val="ffffff"/>
                </a:solidFill>
                <a:effectLst/>
                <a:uFillTx/>
                <a:latin typeface="Arial"/>
              </a:defRPr>
            </a:lvl1pPr>
          </a:lstStyle>
          <a:p>
            <a:pPr indent="0" algn="r">
              <a:lnSpc>
                <a:spcPct val="100000"/>
              </a:lnSpc>
              <a:buNone/>
              <a:tabLst>
                <a:tab algn="l" pos="0"/>
              </a:tabLst>
            </a:pPr>
            <a:fld id="{6E41BA4F-815D-4818-87F9-34DFC698CD96}" type="slidenum">
              <a:rPr b="0" lang="en-US" sz="1400" strike="noStrike" u="none">
                <a:solidFill>
                  <a:srgbClr val="ffffff"/>
                </a:solidFill>
                <a:effectLst/>
                <a:uFillTx/>
                <a:latin typeface="Arial"/>
              </a:rPr>
              <a:t>&lt;number&gt;</a:t>
            </a:fld>
            <a:endParaRPr b="0" lang="en-US" sz="1400" strike="noStrike" u="none">
              <a:solidFill>
                <a:srgbClr val="000000"/>
              </a:solidFill>
              <a:effectLst/>
              <a:uFillTx/>
              <a:latin typeface="Times New Roman"/>
            </a:endParaRPr>
          </a:p>
        </p:txBody>
      </p:sp>
      <p:sp>
        <p:nvSpPr>
          <p:cNvPr id="31" name="PlaceHolder 5"/>
          <p:cNvSpPr>
            <a:spLocks noGrp="1"/>
          </p:cNvSpPr>
          <p:nvPr>
            <p:ph type="dt" idx="15"/>
          </p:nvPr>
        </p:nvSpPr>
        <p:spPr>
          <a:xfrm>
            <a:off x="360000" y="5220000"/>
            <a:ext cx="2322720" cy="342720"/>
          </a:xfrm>
          <a:prstGeom prst="rect">
            <a:avLst/>
          </a:prstGeom>
          <a:noFill/>
          <a:ln w="0">
            <a:noFill/>
          </a:ln>
        </p:spPr>
        <p:txBody>
          <a:bodyPr lIns="0" rIns="0" tIns="0" bIns="0" anchor="t">
            <a:noAutofit/>
          </a:bodyPr>
          <a:lstStyle>
            <a:lvl1pPr indent="0">
              <a:lnSpc>
                <a:spcPct val="100000"/>
              </a:lnSpc>
              <a:buNone/>
              <a:tabLst>
                <a:tab algn="l" pos="0"/>
              </a:tabLst>
              <a:defRPr b="0" lang="en-US" sz="1400" strike="noStrike" u="none">
                <a:solidFill>
                  <a:srgbClr val="000000"/>
                </a:solidFill>
                <a:effectLst/>
                <a:uFillTx/>
                <a:latin typeface="Times New Roman"/>
              </a:defRPr>
            </a:lvl1pPr>
          </a:lstStyle>
          <a:p>
            <a:pPr indent="0">
              <a:lnSpc>
                <a:spcPct val="100000"/>
              </a:lnSpc>
              <a:buNone/>
              <a:tabLst>
                <a:tab algn="l" pos="0"/>
              </a:tabLst>
            </a:pPr>
            <a:r>
              <a:rPr b="0" lang="en-US" sz="1400" strike="noStrike" u="none">
                <a:solidFill>
                  <a:srgbClr val="000000"/>
                </a:solidFill>
                <a:effectLst/>
                <a:uFillTx/>
                <a:latin typeface="Times New Roman"/>
              </a:rPr>
              <a:t>&lt;date/time&gt;</a:t>
            </a:r>
            <a:endParaRPr b="0" lang="en-US" sz="1400" strike="noStrike" u="none">
              <a:solidFill>
                <a:srgbClr val="000000"/>
              </a:solidFill>
              <a:effectLst/>
              <a:uFillTx/>
              <a:latin typeface="Times New Roman"/>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4">
    <p:spTree>
      <p:nvGrpSpPr>
        <p:cNvPr id="1" name=""/>
        <p:cNvGrpSpPr/>
        <p:nvPr/>
      </p:nvGrpSpPr>
      <p:grpSpPr>
        <a:xfrm>
          <a:off x="0" y="0"/>
          <a:ext cx="0" cy="0"/>
          <a:chOff x="0" y="0"/>
          <a:chExt cx="0" cy="0"/>
        </a:xfrm>
      </p:grpSpPr>
      <p:sp>
        <p:nvSpPr>
          <p:cNvPr id="32" name=""/>
          <p:cNvSpPr/>
          <p:nvPr/>
        </p:nvSpPr>
        <p:spPr>
          <a:xfrm>
            <a:off x="0" y="0"/>
            <a:ext cx="10059480" cy="702720"/>
          </a:xfrm>
          <a:prstGeom prst="rect">
            <a:avLst/>
          </a:prstGeom>
          <a:gradFill rotWithShape="0">
            <a:gsLst>
              <a:gs pos="2000">
                <a:srgbClr val="77caee"/>
              </a:gs>
              <a:gs pos="2000">
                <a:srgbClr val="75c9ee"/>
              </a:gs>
              <a:gs pos="3555">
                <a:srgbClr val="75c9ee"/>
              </a:gs>
              <a:gs pos="3555">
                <a:srgbClr val="73c9ed"/>
              </a:gs>
              <a:gs pos="5111">
                <a:srgbClr val="73c9ed"/>
              </a:gs>
              <a:gs pos="5111">
                <a:srgbClr val="71c8ed"/>
              </a:gs>
              <a:gs pos="6666">
                <a:srgbClr val="71c8ed"/>
              </a:gs>
              <a:gs pos="6666">
                <a:srgbClr val="6fc7ed"/>
              </a:gs>
              <a:gs pos="8222">
                <a:srgbClr val="6fc7ed"/>
              </a:gs>
              <a:gs pos="8222">
                <a:srgbClr val="6ec6ed"/>
              </a:gs>
              <a:gs pos="9777">
                <a:srgbClr val="6ec6ed"/>
              </a:gs>
              <a:gs pos="9777">
                <a:srgbClr val="6cc6ec"/>
              </a:gs>
              <a:gs pos="11333">
                <a:srgbClr val="6cc6ec"/>
              </a:gs>
              <a:gs pos="11333">
                <a:srgbClr val="6ac5ec"/>
              </a:gs>
              <a:gs pos="12888">
                <a:srgbClr val="6ac5ec"/>
              </a:gs>
              <a:gs pos="12888">
                <a:srgbClr val="68c4ec"/>
              </a:gs>
              <a:gs pos="14445">
                <a:srgbClr val="68c4ec"/>
              </a:gs>
              <a:gs pos="14445">
                <a:srgbClr val="66c3ec"/>
              </a:gs>
              <a:gs pos="16000">
                <a:srgbClr val="66c3ec"/>
              </a:gs>
              <a:gs pos="16000">
                <a:srgbClr val="64c3eb"/>
              </a:gs>
              <a:gs pos="17556">
                <a:srgbClr val="64c3eb"/>
              </a:gs>
              <a:gs pos="17556">
                <a:srgbClr val="62c2eb"/>
              </a:gs>
              <a:gs pos="19111">
                <a:srgbClr val="62c2eb"/>
              </a:gs>
              <a:gs pos="19111">
                <a:srgbClr val="60c1eb"/>
              </a:gs>
              <a:gs pos="20667">
                <a:srgbClr val="60c1eb"/>
              </a:gs>
              <a:gs pos="20667">
                <a:srgbClr val="5ec0ea"/>
              </a:gs>
              <a:gs pos="22222">
                <a:srgbClr val="5ec0ea"/>
              </a:gs>
              <a:gs pos="22222">
                <a:srgbClr val="5dc0ea"/>
              </a:gs>
              <a:gs pos="23778">
                <a:srgbClr val="5dc0ea"/>
              </a:gs>
              <a:gs pos="23778">
                <a:srgbClr val="5bbfea"/>
              </a:gs>
              <a:gs pos="25333">
                <a:srgbClr val="5bbfea"/>
              </a:gs>
              <a:gs pos="25333">
                <a:srgbClr val="59beea"/>
              </a:gs>
              <a:gs pos="26889">
                <a:srgbClr val="59beea"/>
              </a:gs>
              <a:gs pos="26889">
                <a:srgbClr val="57bde9"/>
              </a:gs>
              <a:gs pos="28444">
                <a:srgbClr val="57bde9"/>
              </a:gs>
              <a:gs pos="28444">
                <a:srgbClr val="55bde9"/>
              </a:gs>
              <a:gs pos="30000">
                <a:srgbClr val="55bde9"/>
              </a:gs>
              <a:gs pos="30000">
                <a:srgbClr val="53bce9"/>
              </a:gs>
              <a:gs pos="31555">
                <a:srgbClr val="53bce9"/>
              </a:gs>
              <a:gs pos="31555">
                <a:srgbClr val="51bbe9"/>
              </a:gs>
              <a:gs pos="33111">
                <a:srgbClr val="51bbe9"/>
              </a:gs>
              <a:gs pos="33111">
                <a:srgbClr val="4fbae8"/>
              </a:gs>
              <a:gs pos="34666">
                <a:srgbClr val="4fbae8"/>
              </a:gs>
              <a:gs pos="34666">
                <a:srgbClr val="4dbae8"/>
              </a:gs>
              <a:gs pos="36222">
                <a:srgbClr val="4dbae8"/>
              </a:gs>
              <a:gs pos="36222">
                <a:srgbClr val="4cb9e8"/>
              </a:gs>
              <a:gs pos="37777">
                <a:srgbClr val="4cb9e8"/>
              </a:gs>
              <a:gs pos="37777">
                <a:srgbClr val="4ab8e8"/>
              </a:gs>
              <a:gs pos="39334">
                <a:srgbClr val="4ab8e8"/>
              </a:gs>
              <a:gs pos="39334">
                <a:srgbClr val="48b7e7"/>
              </a:gs>
              <a:gs pos="40889">
                <a:srgbClr val="48b7e7"/>
              </a:gs>
              <a:gs pos="40889">
                <a:srgbClr val="46b7e7"/>
              </a:gs>
              <a:gs pos="42445">
                <a:srgbClr val="46b7e7"/>
              </a:gs>
              <a:gs pos="42445">
                <a:srgbClr val="44b6e7"/>
              </a:gs>
              <a:gs pos="44000">
                <a:srgbClr val="44b6e7"/>
              </a:gs>
              <a:gs pos="44000">
                <a:srgbClr val="42b5e6"/>
              </a:gs>
              <a:gs pos="45556">
                <a:srgbClr val="42b5e6"/>
              </a:gs>
              <a:gs pos="45556">
                <a:srgbClr val="40b4e6"/>
              </a:gs>
              <a:gs pos="47111">
                <a:srgbClr val="40b4e6"/>
              </a:gs>
              <a:gs pos="47111">
                <a:srgbClr val="3eb4e6"/>
              </a:gs>
              <a:gs pos="48667">
                <a:srgbClr val="3eb4e6"/>
              </a:gs>
              <a:gs pos="48667">
                <a:srgbClr val="3cb3e6"/>
              </a:gs>
              <a:gs pos="50222">
                <a:srgbClr val="3cb3e6"/>
              </a:gs>
              <a:gs pos="50222">
                <a:srgbClr val="3bb2e5"/>
              </a:gs>
              <a:gs pos="51778">
                <a:srgbClr val="3bb2e5"/>
              </a:gs>
              <a:gs pos="51778">
                <a:srgbClr val="39b1e5"/>
              </a:gs>
              <a:gs pos="53333">
                <a:srgbClr val="39b1e5"/>
              </a:gs>
              <a:gs pos="53333">
                <a:srgbClr val="37b1e5"/>
              </a:gs>
              <a:gs pos="54889">
                <a:srgbClr val="37b1e5"/>
              </a:gs>
              <a:gs pos="54889">
                <a:srgbClr val="35b0e5"/>
              </a:gs>
              <a:gs pos="56444">
                <a:srgbClr val="35b0e5"/>
              </a:gs>
              <a:gs pos="56444">
                <a:srgbClr val="33afe4"/>
              </a:gs>
              <a:gs pos="58000">
                <a:srgbClr val="33afe4"/>
              </a:gs>
              <a:gs pos="58000">
                <a:srgbClr val="31aee4"/>
              </a:gs>
              <a:gs pos="59555">
                <a:srgbClr val="31aee4"/>
              </a:gs>
              <a:gs pos="59555">
                <a:srgbClr val="2faee4"/>
              </a:gs>
              <a:gs pos="61111">
                <a:srgbClr val="2faee4"/>
              </a:gs>
              <a:gs pos="61111">
                <a:srgbClr val="2dade3"/>
              </a:gs>
              <a:gs pos="62666">
                <a:srgbClr val="2dade3"/>
              </a:gs>
              <a:gs pos="62666">
                <a:srgbClr val="2bace3"/>
              </a:gs>
              <a:gs pos="64223">
                <a:srgbClr val="2bace3"/>
              </a:gs>
              <a:gs pos="64223">
                <a:srgbClr val="2aabe3"/>
              </a:gs>
              <a:gs pos="65778">
                <a:srgbClr val="2aabe3"/>
              </a:gs>
              <a:gs pos="65778">
                <a:srgbClr val="28abe3"/>
              </a:gs>
              <a:gs pos="67334">
                <a:srgbClr val="28abe3"/>
              </a:gs>
              <a:gs pos="67334">
                <a:srgbClr val="26aae2"/>
              </a:gs>
              <a:gs pos="68889">
                <a:srgbClr val="26aae2"/>
              </a:gs>
              <a:gs pos="68889">
                <a:srgbClr val="24a9e2"/>
              </a:gs>
              <a:gs pos="70445">
                <a:srgbClr val="24a9e2"/>
              </a:gs>
              <a:gs pos="70445">
                <a:srgbClr val="22a8e2"/>
              </a:gs>
              <a:gs pos="72000">
                <a:srgbClr val="22a8e2"/>
              </a:gs>
              <a:gs pos="72000">
                <a:srgbClr val="20a8e2"/>
              </a:gs>
              <a:gs pos="73556">
                <a:srgbClr val="20a8e2"/>
              </a:gs>
              <a:gs pos="73556">
                <a:srgbClr val="1ea7e1"/>
              </a:gs>
              <a:gs pos="75111">
                <a:srgbClr val="1ea7e1"/>
              </a:gs>
              <a:gs pos="75111">
                <a:srgbClr val="1ca6e1"/>
              </a:gs>
              <a:gs pos="76667">
                <a:srgbClr val="1ca6e1"/>
              </a:gs>
              <a:gs pos="76667">
                <a:srgbClr val="1aa5e1"/>
              </a:gs>
              <a:gs pos="78222">
                <a:srgbClr val="1aa5e1"/>
              </a:gs>
              <a:gs pos="78222">
                <a:srgbClr val="19a5e1"/>
              </a:gs>
              <a:gs pos="79778">
                <a:srgbClr val="19a5e1"/>
              </a:gs>
              <a:gs pos="79778">
                <a:srgbClr val="17a4e0"/>
              </a:gs>
              <a:gs pos="81333">
                <a:srgbClr val="17a4e0"/>
              </a:gs>
              <a:gs pos="81333">
                <a:srgbClr val="15a3e0"/>
              </a:gs>
              <a:gs pos="82889">
                <a:srgbClr val="15a3e0"/>
              </a:gs>
              <a:gs pos="82889">
                <a:srgbClr val="13a2e0"/>
              </a:gs>
              <a:gs pos="84444">
                <a:srgbClr val="13a2e0"/>
              </a:gs>
              <a:gs pos="84444">
                <a:srgbClr val="11a2df"/>
              </a:gs>
              <a:gs pos="86000">
                <a:srgbClr val="11a2df"/>
              </a:gs>
              <a:gs pos="86000">
                <a:srgbClr val="0fa1df"/>
              </a:gs>
              <a:gs pos="87555">
                <a:srgbClr val="0fa1df"/>
              </a:gs>
              <a:gs pos="87555">
                <a:srgbClr val="0da0df"/>
              </a:gs>
              <a:gs pos="89112">
                <a:srgbClr val="0da0df"/>
              </a:gs>
              <a:gs pos="89112">
                <a:srgbClr val="0b9fdf"/>
              </a:gs>
              <a:gs pos="90667">
                <a:srgbClr val="0b9fdf"/>
              </a:gs>
              <a:gs pos="90667">
                <a:srgbClr val="099fde"/>
              </a:gs>
              <a:gs pos="92223">
                <a:srgbClr val="099fde"/>
              </a:gs>
              <a:gs pos="92223">
                <a:srgbClr val="089ede"/>
              </a:gs>
              <a:gs pos="93778">
                <a:srgbClr val="089ede"/>
              </a:gs>
              <a:gs pos="93778">
                <a:srgbClr val="069dde"/>
              </a:gs>
              <a:gs pos="95334">
                <a:srgbClr val="069dde"/>
              </a:gs>
              <a:gs pos="95334">
                <a:srgbClr val="049cde"/>
              </a:gs>
              <a:gs pos="96889">
                <a:srgbClr val="049cde"/>
              </a:gs>
              <a:gs pos="96889">
                <a:srgbClr val="029cdd"/>
              </a:gs>
              <a:gs pos="98445">
                <a:srgbClr val="029cdd"/>
              </a:gs>
              <a:gs pos="98445">
                <a:srgbClr val="009bdd"/>
              </a:gs>
              <a:gs pos="100000">
                <a:srgbClr val="009bdd"/>
              </a:gs>
            </a:gsLst>
            <a:lin ang="10800000"/>
          </a:gradFill>
          <a:ln w="18000">
            <a:noFill/>
          </a:ln>
          <a:effectLst>
            <a:outerShdw blurRad="0" dir="5400000" dist="10800" rotWithShape="0">
              <a:srgbClr val="009bdd"/>
            </a:outerShdw>
          </a:effectLst>
        </p:spPr>
        <p:style>
          <a:lnRef idx="0"/>
          <a:fillRef idx="0"/>
          <a:effectRef idx="0"/>
          <a:fontRef idx="minor"/>
        </p:style>
        <p:txBody>
          <a:bodyPr wrap="none" lIns="90000" rIns="90000" tIns="45000" bIns="45000" anchor="ctr">
            <a:noAutofit/>
          </a:bodyPr>
          <a:p>
            <a:pPr>
              <a:lnSpc>
                <a:spcPct val="100000"/>
              </a:lnSpc>
            </a:pPr>
            <a:endParaRPr b="0" lang="en-US" sz="1800" strike="noStrike" u="none">
              <a:solidFill>
                <a:srgbClr val="000000"/>
              </a:solidFill>
              <a:effectLst/>
              <a:uFillTx/>
              <a:latin typeface="Arial"/>
              <a:ea typeface="DejaVu Sans"/>
            </a:endParaRPr>
          </a:p>
        </p:txBody>
      </p:sp>
      <p:sp>
        <p:nvSpPr>
          <p:cNvPr id="33" name="PlaceHolder 1"/>
          <p:cNvSpPr>
            <a:spLocks noGrp="1"/>
          </p:cNvSpPr>
          <p:nvPr>
            <p:ph type="title"/>
          </p:nvPr>
        </p:nvSpPr>
        <p:spPr>
          <a:xfrm>
            <a:off x="360000" y="274680"/>
            <a:ext cx="9342720" cy="274680"/>
          </a:xfrm>
          <a:prstGeom prst="rect">
            <a:avLst/>
          </a:prstGeom>
          <a:noFill/>
          <a:ln w="0">
            <a:noFill/>
          </a:ln>
        </p:spPr>
        <p:txBody>
          <a:bodyPr lIns="0" rIns="0" tIns="0" bIns="0" anchor="ctr">
            <a:spAutoFit/>
          </a:bodyPr>
          <a:p>
            <a:pPr indent="0">
              <a:lnSpc>
                <a:spcPct val="100000"/>
              </a:lnSpc>
              <a:buNone/>
              <a:tabLst>
                <a:tab algn="l" pos="0"/>
              </a:tabLst>
            </a:pPr>
            <a:r>
              <a:rPr b="0" lang="en-US" sz="1800" strike="noStrike" u="none">
                <a:solidFill>
                  <a:srgbClr val="000000"/>
                </a:solidFill>
                <a:effectLst/>
                <a:uFillTx/>
                <a:latin typeface="Arial"/>
              </a:rPr>
              <a:t>Click to edit the title text format</a:t>
            </a:r>
            <a:endParaRPr b="0" lang="en-US" sz="1800" strike="noStrike" u="none">
              <a:solidFill>
                <a:srgbClr val="000000"/>
              </a:solidFill>
              <a:effectLst/>
              <a:uFillTx/>
              <a:latin typeface="Arial"/>
            </a:endParaRPr>
          </a:p>
        </p:txBody>
      </p:sp>
      <p:sp>
        <p:nvSpPr>
          <p:cNvPr id="34" name="PlaceHolder 2"/>
          <p:cNvSpPr>
            <a:spLocks noGrp="1"/>
          </p:cNvSpPr>
          <p:nvPr>
            <p:ph type="body"/>
          </p:nvPr>
        </p:nvSpPr>
        <p:spPr>
          <a:xfrm>
            <a:off x="360000" y="1080000"/>
            <a:ext cx="9342720" cy="358272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lnSpc>
                <a:spcPct val="100000"/>
              </a:lnSpc>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lnSpc>
                <a:spcPct val="100000"/>
              </a:lnSpc>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lnSpc>
                <a:spcPct val="100000"/>
              </a:lnSpc>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lnSpc>
                <a:spcPct val="100000"/>
              </a:lnSpc>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lnSpc>
                <a:spcPct val="100000"/>
              </a:lnSpc>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lnSpc>
                <a:spcPct val="100000"/>
              </a:lnSpc>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35" name="PlaceHolder 3"/>
          <p:cNvSpPr>
            <a:spLocks noGrp="1"/>
          </p:cNvSpPr>
          <p:nvPr>
            <p:ph type="ftr" idx="16"/>
          </p:nvPr>
        </p:nvSpPr>
        <p:spPr>
          <a:xfrm>
            <a:off x="3420000" y="5220000"/>
            <a:ext cx="3222720" cy="342720"/>
          </a:xfrm>
          <a:prstGeom prst="rect">
            <a:avLst/>
          </a:prstGeom>
          <a:noFill/>
          <a:ln w="0">
            <a:noFill/>
          </a:ln>
        </p:spPr>
        <p:txBody>
          <a:bodyPr lIns="0" rIns="0" tIns="0" bIns="0" anchor="t">
            <a:noAutofit/>
          </a:bodyPr>
          <a:lstStyle>
            <a:lvl1pPr indent="0" algn="ctr">
              <a:lnSpc>
                <a:spcPct val="100000"/>
              </a:lnSpc>
              <a:buNone/>
              <a:tabLst>
                <a:tab algn="l" pos="0"/>
              </a:tabLst>
              <a:defRPr b="0" lang="en-US" sz="1400" strike="noStrike" u="none">
                <a:solidFill>
                  <a:srgbClr val="ffffff"/>
                </a:solidFill>
                <a:effectLst/>
                <a:uFillTx/>
                <a:latin typeface="Arial"/>
              </a:defRPr>
            </a:lvl1pPr>
          </a:lstStyle>
          <a:p>
            <a:pPr indent="0" algn="ctr">
              <a:lnSpc>
                <a:spcPct val="100000"/>
              </a:lnSpc>
              <a:buNone/>
              <a:tabLst>
                <a:tab algn="l" pos="0"/>
              </a:tabLst>
            </a:pPr>
            <a:r>
              <a:rPr b="0" lang="en-US" sz="1400" strike="noStrike" u="none">
                <a:solidFill>
                  <a:srgbClr val="ffffff"/>
                </a:solidFill>
                <a:effectLst/>
                <a:uFillTx/>
                <a:latin typeface="Arial"/>
              </a:rPr>
              <a:t>&lt;footer&gt;</a:t>
            </a:r>
            <a:endParaRPr b="0" lang="en-US" sz="1400" strike="noStrike" u="none">
              <a:solidFill>
                <a:srgbClr val="000000"/>
              </a:solidFill>
              <a:effectLst/>
              <a:uFillTx/>
              <a:latin typeface="Times New Roman"/>
            </a:endParaRPr>
          </a:p>
        </p:txBody>
      </p:sp>
      <p:sp>
        <p:nvSpPr>
          <p:cNvPr id="36" name="PlaceHolder 4"/>
          <p:cNvSpPr>
            <a:spLocks noGrp="1"/>
          </p:cNvSpPr>
          <p:nvPr>
            <p:ph type="sldNum" idx="17"/>
          </p:nvPr>
        </p:nvSpPr>
        <p:spPr>
          <a:xfrm>
            <a:off x="7380000" y="5220000"/>
            <a:ext cx="2322720" cy="342720"/>
          </a:xfrm>
          <a:prstGeom prst="rect">
            <a:avLst/>
          </a:prstGeom>
          <a:noFill/>
          <a:ln w="0">
            <a:noFill/>
          </a:ln>
        </p:spPr>
        <p:txBody>
          <a:bodyPr lIns="0" rIns="0" tIns="0" bIns="0" anchor="t">
            <a:noAutofit/>
          </a:bodyPr>
          <a:lstStyle>
            <a:lvl1pPr indent="0" algn="r">
              <a:lnSpc>
                <a:spcPct val="100000"/>
              </a:lnSpc>
              <a:buNone/>
              <a:tabLst>
                <a:tab algn="l" pos="0"/>
              </a:tabLst>
              <a:defRPr b="0" lang="en-US" sz="1400" strike="noStrike" u="none">
                <a:solidFill>
                  <a:srgbClr val="ffffff"/>
                </a:solidFill>
                <a:effectLst/>
                <a:uFillTx/>
                <a:latin typeface="Arial"/>
              </a:defRPr>
            </a:lvl1pPr>
          </a:lstStyle>
          <a:p>
            <a:pPr indent="0" algn="r">
              <a:lnSpc>
                <a:spcPct val="100000"/>
              </a:lnSpc>
              <a:buNone/>
              <a:tabLst>
                <a:tab algn="l" pos="0"/>
              </a:tabLst>
            </a:pPr>
            <a:fld id="{CD6AA2BC-EE36-4B79-A12E-0D5442C032C9}" type="slidenum">
              <a:rPr b="0" lang="en-US" sz="1400" strike="noStrike" u="none">
                <a:solidFill>
                  <a:srgbClr val="ffffff"/>
                </a:solidFill>
                <a:effectLst/>
                <a:uFillTx/>
                <a:latin typeface="Arial"/>
              </a:rPr>
              <a:t>&lt;number&gt;</a:t>
            </a:fld>
            <a:endParaRPr b="0" lang="en-US" sz="1400" strike="noStrike" u="none">
              <a:solidFill>
                <a:srgbClr val="000000"/>
              </a:solidFill>
              <a:effectLst/>
              <a:uFillTx/>
              <a:latin typeface="Times New Roman"/>
            </a:endParaRPr>
          </a:p>
        </p:txBody>
      </p:sp>
      <p:sp>
        <p:nvSpPr>
          <p:cNvPr id="37" name="PlaceHolder 5"/>
          <p:cNvSpPr>
            <a:spLocks noGrp="1"/>
          </p:cNvSpPr>
          <p:nvPr>
            <p:ph type="dt" idx="18"/>
          </p:nvPr>
        </p:nvSpPr>
        <p:spPr>
          <a:xfrm>
            <a:off x="360000" y="5220000"/>
            <a:ext cx="2322720" cy="342720"/>
          </a:xfrm>
          <a:prstGeom prst="rect">
            <a:avLst/>
          </a:prstGeom>
          <a:noFill/>
          <a:ln w="0">
            <a:noFill/>
          </a:ln>
        </p:spPr>
        <p:txBody>
          <a:bodyPr lIns="0" rIns="0" tIns="0" bIns="0" anchor="t">
            <a:noAutofit/>
          </a:bodyPr>
          <a:lstStyle>
            <a:lvl1pPr indent="0">
              <a:lnSpc>
                <a:spcPct val="100000"/>
              </a:lnSpc>
              <a:buNone/>
              <a:tabLst>
                <a:tab algn="l" pos="0"/>
              </a:tabLst>
              <a:defRPr b="0" lang="en-US" sz="1400" strike="noStrike" u="none">
                <a:solidFill>
                  <a:srgbClr val="000000"/>
                </a:solidFill>
                <a:effectLst/>
                <a:uFillTx/>
                <a:latin typeface="Times New Roman"/>
              </a:defRPr>
            </a:lvl1pPr>
          </a:lstStyle>
          <a:p>
            <a:pPr indent="0">
              <a:lnSpc>
                <a:spcPct val="100000"/>
              </a:lnSpc>
              <a:buNone/>
              <a:tabLst>
                <a:tab algn="l" pos="0"/>
              </a:tabLst>
            </a:pPr>
            <a:r>
              <a:rPr b="0" lang="en-US" sz="1400" strike="noStrike" u="none">
                <a:solidFill>
                  <a:srgbClr val="000000"/>
                </a:solidFill>
                <a:effectLst/>
                <a:uFillTx/>
                <a:latin typeface="Times New Roman"/>
              </a:rPr>
              <a:t>&lt;date/time&gt;</a:t>
            </a:r>
            <a:endParaRPr b="0" lang="en-US" sz="1400" strike="noStrike" u="none">
              <a:solidFill>
                <a:srgbClr val="000000"/>
              </a:solidFill>
              <a:effectLst/>
              <a:uFillTx/>
              <a:latin typeface="Times New Roman"/>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11">
    <p:spTree>
      <p:nvGrpSpPr>
        <p:cNvPr id="1" name=""/>
        <p:cNvGrpSpPr/>
        <p:nvPr/>
      </p:nvGrpSpPr>
      <p:grpSpPr>
        <a:xfrm>
          <a:off x="0" y="0"/>
          <a:ext cx="0" cy="0"/>
          <a:chOff x="0" y="0"/>
          <a:chExt cx="0" cy="0"/>
        </a:xfrm>
      </p:grpSpPr>
      <p:sp>
        <p:nvSpPr>
          <p:cNvPr id="38" name=""/>
          <p:cNvSpPr/>
          <p:nvPr/>
        </p:nvSpPr>
        <p:spPr>
          <a:xfrm>
            <a:off x="0" y="0"/>
            <a:ext cx="10059480" cy="702720"/>
          </a:xfrm>
          <a:prstGeom prst="rect">
            <a:avLst/>
          </a:prstGeom>
          <a:gradFill rotWithShape="0">
            <a:gsLst>
              <a:gs pos="2000">
                <a:srgbClr val="77caee"/>
              </a:gs>
              <a:gs pos="2000">
                <a:srgbClr val="75c9ee"/>
              </a:gs>
              <a:gs pos="3555">
                <a:srgbClr val="75c9ee"/>
              </a:gs>
              <a:gs pos="3555">
                <a:srgbClr val="73c9ed"/>
              </a:gs>
              <a:gs pos="5111">
                <a:srgbClr val="73c9ed"/>
              </a:gs>
              <a:gs pos="5111">
                <a:srgbClr val="71c8ed"/>
              </a:gs>
              <a:gs pos="6666">
                <a:srgbClr val="71c8ed"/>
              </a:gs>
              <a:gs pos="6666">
                <a:srgbClr val="6fc7ed"/>
              </a:gs>
              <a:gs pos="8222">
                <a:srgbClr val="6fc7ed"/>
              </a:gs>
              <a:gs pos="8222">
                <a:srgbClr val="6ec6ed"/>
              </a:gs>
              <a:gs pos="9777">
                <a:srgbClr val="6ec6ed"/>
              </a:gs>
              <a:gs pos="9777">
                <a:srgbClr val="6cc6ec"/>
              </a:gs>
              <a:gs pos="11333">
                <a:srgbClr val="6cc6ec"/>
              </a:gs>
              <a:gs pos="11333">
                <a:srgbClr val="6ac5ec"/>
              </a:gs>
              <a:gs pos="12888">
                <a:srgbClr val="6ac5ec"/>
              </a:gs>
              <a:gs pos="12888">
                <a:srgbClr val="68c4ec"/>
              </a:gs>
              <a:gs pos="14445">
                <a:srgbClr val="68c4ec"/>
              </a:gs>
              <a:gs pos="14445">
                <a:srgbClr val="66c3ec"/>
              </a:gs>
              <a:gs pos="16000">
                <a:srgbClr val="66c3ec"/>
              </a:gs>
              <a:gs pos="16000">
                <a:srgbClr val="64c3eb"/>
              </a:gs>
              <a:gs pos="17556">
                <a:srgbClr val="64c3eb"/>
              </a:gs>
              <a:gs pos="17556">
                <a:srgbClr val="62c2eb"/>
              </a:gs>
              <a:gs pos="19111">
                <a:srgbClr val="62c2eb"/>
              </a:gs>
              <a:gs pos="19111">
                <a:srgbClr val="60c1eb"/>
              </a:gs>
              <a:gs pos="20667">
                <a:srgbClr val="60c1eb"/>
              </a:gs>
              <a:gs pos="20667">
                <a:srgbClr val="5ec0ea"/>
              </a:gs>
              <a:gs pos="22222">
                <a:srgbClr val="5ec0ea"/>
              </a:gs>
              <a:gs pos="22222">
                <a:srgbClr val="5dc0ea"/>
              </a:gs>
              <a:gs pos="23778">
                <a:srgbClr val="5dc0ea"/>
              </a:gs>
              <a:gs pos="23778">
                <a:srgbClr val="5bbfea"/>
              </a:gs>
              <a:gs pos="25333">
                <a:srgbClr val="5bbfea"/>
              </a:gs>
              <a:gs pos="25333">
                <a:srgbClr val="59beea"/>
              </a:gs>
              <a:gs pos="26889">
                <a:srgbClr val="59beea"/>
              </a:gs>
              <a:gs pos="26889">
                <a:srgbClr val="57bde9"/>
              </a:gs>
              <a:gs pos="28444">
                <a:srgbClr val="57bde9"/>
              </a:gs>
              <a:gs pos="28444">
                <a:srgbClr val="55bde9"/>
              </a:gs>
              <a:gs pos="30000">
                <a:srgbClr val="55bde9"/>
              </a:gs>
              <a:gs pos="30000">
                <a:srgbClr val="53bce9"/>
              </a:gs>
              <a:gs pos="31555">
                <a:srgbClr val="53bce9"/>
              </a:gs>
              <a:gs pos="31555">
                <a:srgbClr val="51bbe9"/>
              </a:gs>
              <a:gs pos="33111">
                <a:srgbClr val="51bbe9"/>
              </a:gs>
              <a:gs pos="33111">
                <a:srgbClr val="4fbae8"/>
              </a:gs>
              <a:gs pos="34666">
                <a:srgbClr val="4fbae8"/>
              </a:gs>
              <a:gs pos="34666">
                <a:srgbClr val="4dbae8"/>
              </a:gs>
              <a:gs pos="36222">
                <a:srgbClr val="4dbae8"/>
              </a:gs>
              <a:gs pos="36222">
                <a:srgbClr val="4cb9e8"/>
              </a:gs>
              <a:gs pos="37777">
                <a:srgbClr val="4cb9e8"/>
              </a:gs>
              <a:gs pos="37777">
                <a:srgbClr val="4ab8e8"/>
              </a:gs>
              <a:gs pos="39334">
                <a:srgbClr val="4ab8e8"/>
              </a:gs>
              <a:gs pos="39334">
                <a:srgbClr val="48b7e7"/>
              </a:gs>
              <a:gs pos="40889">
                <a:srgbClr val="48b7e7"/>
              </a:gs>
              <a:gs pos="40889">
                <a:srgbClr val="46b7e7"/>
              </a:gs>
              <a:gs pos="42445">
                <a:srgbClr val="46b7e7"/>
              </a:gs>
              <a:gs pos="42445">
                <a:srgbClr val="44b6e7"/>
              </a:gs>
              <a:gs pos="44000">
                <a:srgbClr val="44b6e7"/>
              </a:gs>
              <a:gs pos="44000">
                <a:srgbClr val="42b5e6"/>
              </a:gs>
              <a:gs pos="45556">
                <a:srgbClr val="42b5e6"/>
              </a:gs>
              <a:gs pos="45556">
                <a:srgbClr val="40b4e6"/>
              </a:gs>
              <a:gs pos="47111">
                <a:srgbClr val="40b4e6"/>
              </a:gs>
              <a:gs pos="47111">
                <a:srgbClr val="3eb4e6"/>
              </a:gs>
              <a:gs pos="48667">
                <a:srgbClr val="3eb4e6"/>
              </a:gs>
              <a:gs pos="48667">
                <a:srgbClr val="3cb3e6"/>
              </a:gs>
              <a:gs pos="50222">
                <a:srgbClr val="3cb3e6"/>
              </a:gs>
              <a:gs pos="50222">
                <a:srgbClr val="3bb2e5"/>
              </a:gs>
              <a:gs pos="51778">
                <a:srgbClr val="3bb2e5"/>
              </a:gs>
              <a:gs pos="51778">
                <a:srgbClr val="39b1e5"/>
              </a:gs>
              <a:gs pos="53333">
                <a:srgbClr val="39b1e5"/>
              </a:gs>
              <a:gs pos="53333">
                <a:srgbClr val="37b1e5"/>
              </a:gs>
              <a:gs pos="54889">
                <a:srgbClr val="37b1e5"/>
              </a:gs>
              <a:gs pos="54889">
                <a:srgbClr val="35b0e5"/>
              </a:gs>
              <a:gs pos="56444">
                <a:srgbClr val="35b0e5"/>
              </a:gs>
              <a:gs pos="56444">
                <a:srgbClr val="33afe4"/>
              </a:gs>
              <a:gs pos="58000">
                <a:srgbClr val="33afe4"/>
              </a:gs>
              <a:gs pos="58000">
                <a:srgbClr val="31aee4"/>
              </a:gs>
              <a:gs pos="59555">
                <a:srgbClr val="31aee4"/>
              </a:gs>
              <a:gs pos="59555">
                <a:srgbClr val="2faee4"/>
              </a:gs>
              <a:gs pos="61111">
                <a:srgbClr val="2faee4"/>
              </a:gs>
              <a:gs pos="61111">
                <a:srgbClr val="2dade3"/>
              </a:gs>
              <a:gs pos="62666">
                <a:srgbClr val="2dade3"/>
              </a:gs>
              <a:gs pos="62666">
                <a:srgbClr val="2bace3"/>
              </a:gs>
              <a:gs pos="64223">
                <a:srgbClr val="2bace3"/>
              </a:gs>
              <a:gs pos="64223">
                <a:srgbClr val="2aabe3"/>
              </a:gs>
              <a:gs pos="65778">
                <a:srgbClr val="2aabe3"/>
              </a:gs>
              <a:gs pos="65778">
                <a:srgbClr val="28abe3"/>
              </a:gs>
              <a:gs pos="67334">
                <a:srgbClr val="28abe3"/>
              </a:gs>
              <a:gs pos="67334">
                <a:srgbClr val="26aae2"/>
              </a:gs>
              <a:gs pos="68889">
                <a:srgbClr val="26aae2"/>
              </a:gs>
              <a:gs pos="68889">
                <a:srgbClr val="24a9e2"/>
              </a:gs>
              <a:gs pos="70445">
                <a:srgbClr val="24a9e2"/>
              </a:gs>
              <a:gs pos="70445">
                <a:srgbClr val="22a8e2"/>
              </a:gs>
              <a:gs pos="72000">
                <a:srgbClr val="22a8e2"/>
              </a:gs>
              <a:gs pos="72000">
                <a:srgbClr val="20a8e2"/>
              </a:gs>
              <a:gs pos="73556">
                <a:srgbClr val="20a8e2"/>
              </a:gs>
              <a:gs pos="73556">
                <a:srgbClr val="1ea7e1"/>
              </a:gs>
              <a:gs pos="75111">
                <a:srgbClr val="1ea7e1"/>
              </a:gs>
              <a:gs pos="75111">
                <a:srgbClr val="1ca6e1"/>
              </a:gs>
              <a:gs pos="76667">
                <a:srgbClr val="1ca6e1"/>
              </a:gs>
              <a:gs pos="76667">
                <a:srgbClr val="1aa5e1"/>
              </a:gs>
              <a:gs pos="78222">
                <a:srgbClr val="1aa5e1"/>
              </a:gs>
              <a:gs pos="78222">
                <a:srgbClr val="19a5e1"/>
              </a:gs>
              <a:gs pos="79778">
                <a:srgbClr val="19a5e1"/>
              </a:gs>
              <a:gs pos="79778">
                <a:srgbClr val="17a4e0"/>
              </a:gs>
              <a:gs pos="81333">
                <a:srgbClr val="17a4e0"/>
              </a:gs>
              <a:gs pos="81333">
                <a:srgbClr val="15a3e0"/>
              </a:gs>
              <a:gs pos="82889">
                <a:srgbClr val="15a3e0"/>
              </a:gs>
              <a:gs pos="82889">
                <a:srgbClr val="13a2e0"/>
              </a:gs>
              <a:gs pos="84444">
                <a:srgbClr val="13a2e0"/>
              </a:gs>
              <a:gs pos="84444">
                <a:srgbClr val="11a2df"/>
              </a:gs>
              <a:gs pos="86000">
                <a:srgbClr val="11a2df"/>
              </a:gs>
              <a:gs pos="86000">
                <a:srgbClr val="0fa1df"/>
              </a:gs>
              <a:gs pos="87555">
                <a:srgbClr val="0fa1df"/>
              </a:gs>
              <a:gs pos="87555">
                <a:srgbClr val="0da0df"/>
              </a:gs>
              <a:gs pos="89112">
                <a:srgbClr val="0da0df"/>
              </a:gs>
              <a:gs pos="89112">
                <a:srgbClr val="0b9fdf"/>
              </a:gs>
              <a:gs pos="90667">
                <a:srgbClr val="0b9fdf"/>
              </a:gs>
              <a:gs pos="90667">
                <a:srgbClr val="099fde"/>
              </a:gs>
              <a:gs pos="92223">
                <a:srgbClr val="099fde"/>
              </a:gs>
              <a:gs pos="92223">
                <a:srgbClr val="089ede"/>
              </a:gs>
              <a:gs pos="93778">
                <a:srgbClr val="089ede"/>
              </a:gs>
              <a:gs pos="93778">
                <a:srgbClr val="069dde"/>
              </a:gs>
              <a:gs pos="95334">
                <a:srgbClr val="069dde"/>
              </a:gs>
              <a:gs pos="95334">
                <a:srgbClr val="049cde"/>
              </a:gs>
              <a:gs pos="96889">
                <a:srgbClr val="049cde"/>
              </a:gs>
              <a:gs pos="96889">
                <a:srgbClr val="029cdd"/>
              </a:gs>
              <a:gs pos="98445">
                <a:srgbClr val="029cdd"/>
              </a:gs>
              <a:gs pos="98445">
                <a:srgbClr val="009bdd"/>
              </a:gs>
              <a:gs pos="100000">
                <a:srgbClr val="009bdd"/>
              </a:gs>
            </a:gsLst>
            <a:lin ang="10800000"/>
          </a:gradFill>
          <a:ln w="18000">
            <a:noFill/>
          </a:ln>
          <a:effectLst>
            <a:outerShdw blurRad="0" dir="5400000" dist="10800" rotWithShape="0">
              <a:srgbClr val="009bdd"/>
            </a:outerShdw>
          </a:effectLst>
        </p:spPr>
        <p:style>
          <a:lnRef idx="0"/>
          <a:fillRef idx="0"/>
          <a:effectRef idx="0"/>
          <a:fontRef idx="minor"/>
        </p:style>
        <p:txBody>
          <a:bodyPr wrap="none" lIns="90000" rIns="90000" tIns="45000" bIns="45000" anchor="ctr">
            <a:noAutofit/>
          </a:bodyPr>
          <a:p>
            <a:pPr>
              <a:lnSpc>
                <a:spcPct val="100000"/>
              </a:lnSpc>
            </a:pPr>
            <a:endParaRPr b="0" lang="en-US" sz="1800" strike="noStrike" u="none">
              <a:solidFill>
                <a:srgbClr val="000000"/>
              </a:solidFill>
              <a:effectLst/>
              <a:uFillTx/>
              <a:latin typeface="Arial"/>
              <a:ea typeface="DejaVu Sans"/>
            </a:endParaRPr>
          </a:p>
        </p:txBody>
      </p:sp>
      <p:sp>
        <p:nvSpPr>
          <p:cNvPr id="39" name="PlaceHolder 1"/>
          <p:cNvSpPr>
            <a:spLocks noGrp="1"/>
          </p:cNvSpPr>
          <p:nvPr>
            <p:ph type="title"/>
          </p:nvPr>
        </p:nvSpPr>
        <p:spPr>
          <a:xfrm>
            <a:off x="360000" y="274680"/>
            <a:ext cx="9342720" cy="274680"/>
          </a:xfrm>
          <a:prstGeom prst="rect">
            <a:avLst/>
          </a:prstGeom>
          <a:noFill/>
          <a:ln w="0">
            <a:noFill/>
          </a:ln>
        </p:spPr>
        <p:txBody>
          <a:bodyPr lIns="0" rIns="0" tIns="0" bIns="0" anchor="ctr">
            <a:spAutoFit/>
          </a:bodyPr>
          <a:p>
            <a:pPr indent="0">
              <a:lnSpc>
                <a:spcPct val="100000"/>
              </a:lnSpc>
              <a:buNone/>
              <a:tabLst>
                <a:tab algn="l" pos="0"/>
              </a:tabLst>
            </a:pPr>
            <a:r>
              <a:rPr b="0" lang="en-US" sz="1800" strike="noStrike" u="none">
                <a:solidFill>
                  <a:srgbClr val="000000"/>
                </a:solidFill>
                <a:effectLst/>
                <a:uFillTx/>
                <a:latin typeface="Arial"/>
              </a:rPr>
              <a:t>Click to edit the title text format</a:t>
            </a:r>
            <a:endParaRPr b="0" lang="en-US" sz="1800" strike="noStrike" u="none">
              <a:solidFill>
                <a:srgbClr val="000000"/>
              </a:solidFill>
              <a:effectLst/>
              <a:uFillTx/>
              <a:latin typeface="Arial"/>
            </a:endParaRPr>
          </a:p>
        </p:txBody>
      </p:sp>
      <p:sp>
        <p:nvSpPr>
          <p:cNvPr id="40" name="PlaceHolder 2"/>
          <p:cNvSpPr>
            <a:spLocks noGrp="1"/>
          </p:cNvSpPr>
          <p:nvPr>
            <p:ph type="body"/>
          </p:nvPr>
        </p:nvSpPr>
        <p:spPr>
          <a:xfrm>
            <a:off x="360000" y="1080000"/>
            <a:ext cx="9342720" cy="358272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lnSpc>
                <a:spcPct val="100000"/>
              </a:lnSpc>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lnSpc>
                <a:spcPct val="100000"/>
              </a:lnSpc>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lnSpc>
                <a:spcPct val="100000"/>
              </a:lnSpc>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lnSpc>
                <a:spcPct val="100000"/>
              </a:lnSpc>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lnSpc>
                <a:spcPct val="100000"/>
              </a:lnSpc>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lnSpc>
                <a:spcPct val="100000"/>
              </a:lnSpc>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41" name="PlaceHolder 3"/>
          <p:cNvSpPr>
            <a:spLocks noGrp="1"/>
          </p:cNvSpPr>
          <p:nvPr>
            <p:ph type="ftr" idx="19"/>
          </p:nvPr>
        </p:nvSpPr>
        <p:spPr>
          <a:xfrm>
            <a:off x="3420000" y="5220000"/>
            <a:ext cx="3222720" cy="342720"/>
          </a:xfrm>
          <a:prstGeom prst="rect">
            <a:avLst/>
          </a:prstGeom>
          <a:noFill/>
          <a:ln w="0">
            <a:noFill/>
          </a:ln>
        </p:spPr>
        <p:txBody>
          <a:bodyPr lIns="0" rIns="0" tIns="0" bIns="0" anchor="t">
            <a:noAutofit/>
          </a:bodyPr>
          <a:lstStyle>
            <a:lvl1pPr indent="0" algn="ctr">
              <a:lnSpc>
                <a:spcPct val="100000"/>
              </a:lnSpc>
              <a:buNone/>
              <a:tabLst>
                <a:tab algn="l" pos="0"/>
              </a:tabLst>
              <a:defRPr b="0" lang="en-US" sz="1400" strike="noStrike" u="none">
                <a:solidFill>
                  <a:srgbClr val="ffffff"/>
                </a:solidFill>
                <a:effectLst/>
                <a:uFillTx/>
                <a:latin typeface="Arial"/>
              </a:defRPr>
            </a:lvl1pPr>
          </a:lstStyle>
          <a:p>
            <a:pPr indent="0" algn="ctr">
              <a:lnSpc>
                <a:spcPct val="100000"/>
              </a:lnSpc>
              <a:buNone/>
              <a:tabLst>
                <a:tab algn="l" pos="0"/>
              </a:tabLst>
            </a:pPr>
            <a:r>
              <a:rPr b="0" lang="en-US" sz="1400" strike="noStrike" u="none">
                <a:solidFill>
                  <a:srgbClr val="ffffff"/>
                </a:solidFill>
                <a:effectLst/>
                <a:uFillTx/>
                <a:latin typeface="Arial"/>
              </a:rPr>
              <a:t>&lt;footer&gt;</a:t>
            </a:r>
            <a:endParaRPr b="0" lang="en-US" sz="1400" strike="noStrike" u="none">
              <a:solidFill>
                <a:srgbClr val="000000"/>
              </a:solidFill>
              <a:effectLst/>
              <a:uFillTx/>
              <a:latin typeface="Times New Roman"/>
            </a:endParaRPr>
          </a:p>
        </p:txBody>
      </p:sp>
      <p:sp>
        <p:nvSpPr>
          <p:cNvPr id="42" name="PlaceHolder 4"/>
          <p:cNvSpPr>
            <a:spLocks noGrp="1"/>
          </p:cNvSpPr>
          <p:nvPr>
            <p:ph type="sldNum" idx="20"/>
          </p:nvPr>
        </p:nvSpPr>
        <p:spPr>
          <a:xfrm>
            <a:off x="7380000" y="5220000"/>
            <a:ext cx="2322720" cy="342720"/>
          </a:xfrm>
          <a:prstGeom prst="rect">
            <a:avLst/>
          </a:prstGeom>
          <a:noFill/>
          <a:ln w="0">
            <a:noFill/>
          </a:ln>
        </p:spPr>
        <p:txBody>
          <a:bodyPr lIns="0" rIns="0" tIns="0" bIns="0" anchor="t">
            <a:noAutofit/>
          </a:bodyPr>
          <a:lstStyle>
            <a:lvl1pPr indent="0" algn="r">
              <a:lnSpc>
                <a:spcPct val="100000"/>
              </a:lnSpc>
              <a:buNone/>
              <a:tabLst>
                <a:tab algn="l" pos="0"/>
              </a:tabLst>
              <a:defRPr b="0" lang="en-US" sz="1400" strike="noStrike" u="none">
                <a:solidFill>
                  <a:srgbClr val="ffffff"/>
                </a:solidFill>
                <a:effectLst/>
                <a:uFillTx/>
                <a:latin typeface="Arial"/>
              </a:defRPr>
            </a:lvl1pPr>
          </a:lstStyle>
          <a:p>
            <a:pPr indent="0" algn="r">
              <a:lnSpc>
                <a:spcPct val="100000"/>
              </a:lnSpc>
              <a:buNone/>
              <a:tabLst>
                <a:tab algn="l" pos="0"/>
              </a:tabLst>
            </a:pPr>
            <a:fld id="{F59663B8-19A1-43B0-921B-63F865CE5797}" type="slidenum">
              <a:rPr b="0" lang="en-US" sz="1400" strike="noStrike" u="none">
                <a:solidFill>
                  <a:srgbClr val="ffffff"/>
                </a:solidFill>
                <a:effectLst/>
                <a:uFillTx/>
                <a:latin typeface="Arial"/>
              </a:rPr>
              <a:t>&lt;number&gt;</a:t>
            </a:fld>
            <a:endParaRPr b="0" lang="en-US" sz="1400" strike="noStrike" u="none">
              <a:solidFill>
                <a:srgbClr val="000000"/>
              </a:solidFill>
              <a:effectLst/>
              <a:uFillTx/>
              <a:latin typeface="Times New Roman"/>
            </a:endParaRPr>
          </a:p>
        </p:txBody>
      </p:sp>
      <p:sp>
        <p:nvSpPr>
          <p:cNvPr id="43" name="PlaceHolder 5"/>
          <p:cNvSpPr>
            <a:spLocks noGrp="1"/>
          </p:cNvSpPr>
          <p:nvPr>
            <p:ph type="dt" idx="21"/>
          </p:nvPr>
        </p:nvSpPr>
        <p:spPr>
          <a:xfrm>
            <a:off x="360000" y="5220000"/>
            <a:ext cx="2322720" cy="342720"/>
          </a:xfrm>
          <a:prstGeom prst="rect">
            <a:avLst/>
          </a:prstGeom>
          <a:noFill/>
          <a:ln w="0">
            <a:noFill/>
          </a:ln>
        </p:spPr>
        <p:txBody>
          <a:bodyPr lIns="0" rIns="0" tIns="0" bIns="0" anchor="t">
            <a:noAutofit/>
          </a:bodyPr>
          <a:lstStyle>
            <a:lvl1pPr indent="0">
              <a:lnSpc>
                <a:spcPct val="100000"/>
              </a:lnSpc>
              <a:buNone/>
              <a:tabLst>
                <a:tab algn="l" pos="0"/>
              </a:tabLst>
              <a:defRPr b="0" lang="en-US" sz="1400" strike="noStrike" u="none">
                <a:solidFill>
                  <a:srgbClr val="000000"/>
                </a:solidFill>
                <a:effectLst/>
                <a:uFillTx/>
                <a:latin typeface="Times New Roman"/>
              </a:defRPr>
            </a:lvl1pPr>
          </a:lstStyle>
          <a:p>
            <a:pPr indent="0">
              <a:lnSpc>
                <a:spcPct val="100000"/>
              </a:lnSpc>
              <a:buNone/>
              <a:tabLst>
                <a:tab algn="l" pos="0"/>
              </a:tabLst>
            </a:pPr>
            <a:r>
              <a:rPr b="0" lang="en-US" sz="1400" strike="noStrike" u="none">
                <a:solidFill>
                  <a:srgbClr val="000000"/>
                </a:solidFill>
                <a:effectLst/>
                <a:uFillTx/>
                <a:latin typeface="Times New Roman"/>
              </a:rPr>
              <a:t>&lt;date/time&gt;</a:t>
            </a:r>
            <a:endParaRPr b="0" lang="en-US" sz="1400" strike="noStrike" u="none">
              <a:solidFill>
                <a:srgbClr val="000000"/>
              </a:solidFill>
              <a:effectLst/>
              <a:uFillTx/>
              <a:latin typeface="Times New Roman"/>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5">
    <p:spTree>
      <p:nvGrpSpPr>
        <p:cNvPr id="1" name=""/>
        <p:cNvGrpSpPr/>
        <p:nvPr/>
      </p:nvGrpSpPr>
      <p:grpSpPr>
        <a:xfrm>
          <a:off x="0" y="0"/>
          <a:ext cx="0" cy="0"/>
          <a:chOff x="0" y="0"/>
          <a:chExt cx="0" cy="0"/>
        </a:xfrm>
      </p:grpSpPr>
      <p:sp>
        <p:nvSpPr>
          <p:cNvPr id="44" name=""/>
          <p:cNvSpPr/>
          <p:nvPr/>
        </p:nvSpPr>
        <p:spPr>
          <a:xfrm>
            <a:off x="0" y="0"/>
            <a:ext cx="10059480" cy="702720"/>
          </a:xfrm>
          <a:prstGeom prst="rect">
            <a:avLst/>
          </a:prstGeom>
          <a:gradFill rotWithShape="0">
            <a:gsLst>
              <a:gs pos="2000">
                <a:srgbClr val="77caee"/>
              </a:gs>
              <a:gs pos="2000">
                <a:srgbClr val="75c9ee"/>
              </a:gs>
              <a:gs pos="3555">
                <a:srgbClr val="75c9ee"/>
              </a:gs>
              <a:gs pos="3555">
                <a:srgbClr val="73c9ed"/>
              </a:gs>
              <a:gs pos="5111">
                <a:srgbClr val="73c9ed"/>
              </a:gs>
              <a:gs pos="5111">
                <a:srgbClr val="71c8ed"/>
              </a:gs>
              <a:gs pos="6666">
                <a:srgbClr val="71c8ed"/>
              </a:gs>
              <a:gs pos="6666">
                <a:srgbClr val="6fc7ed"/>
              </a:gs>
              <a:gs pos="8222">
                <a:srgbClr val="6fc7ed"/>
              </a:gs>
              <a:gs pos="8222">
                <a:srgbClr val="6ec6ed"/>
              </a:gs>
              <a:gs pos="9777">
                <a:srgbClr val="6ec6ed"/>
              </a:gs>
              <a:gs pos="9777">
                <a:srgbClr val="6cc6ec"/>
              </a:gs>
              <a:gs pos="11333">
                <a:srgbClr val="6cc6ec"/>
              </a:gs>
              <a:gs pos="11333">
                <a:srgbClr val="6ac5ec"/>
              </a:gs>
              <a:gs pos="12888">
                <a:srgbClr val="6ac5ec"/>
              </a:gs>
              <a:gs pos="12888">
                <a:srgbClr val="68c4ec"/>
              </a:gs>
              <a:gs pos="14445">
                <a:srgbClr val="68c4ec"/>
              </a:gs>
              <a:gs pos="14445">
                <a:srgbClr val="66c3ec"/>
              </a:gs>
              <a:gs pos="16000">
                <a:srgbClr val="66c3ec"/>
              </a:gs>
              <a:gs pos="16000">
                <a:srgbClr val="64c3eb"/>
              </a:gs>
              <a:gs pos="17556">
                <a:srgbClr val="64c3eb"/>
              </a:gs>
              <a:gs pos="17556">
                <a:srgbClr val="62c2eb"/>
              </a:gs>
              <a:gs pos="19111">
                <a:srgbClr val="62c2eb"/>
              </a:gs>
              <a:gs pos="19111">
                <a:srgbClr val="60c1eb"/>
              </a:gs>
              <a:gs pos="20667">
                <a:srgbClr val="60c1eb"/>
              </a:gs>
              <a:gs pos="20667">
                <a:srgbClr val="5ec0ea"/>
              </a:gs>
              <a:gs pos="22222">
                <a:srgbClr val="5ec0ea"/>
              </a:gs>
              <a:gs pos="22222">
                <a:srgbClr val="5dc0ea"/>
              </a:gs>
              <a:gs pos="23778">
                <a:srgbClr val="5dc0ea"/>
              </a:gs>
              <a:gs pos="23778">
                <a:srgbClr val="5bbfea"/>
              </a:gs>
              <a:gs pos="25333">
                <a:srgbClr val="5bbfea"/>
              </a:gs>
              <a:gs pos="25333">
                <a:srgbClr val="59beea"/>
              </a:gs>
              <a:gs pos="26889">
                <a:srgbClr val="59beea"/>
              </a:gs>
              <a:gs pos="26889">
                <a:srgbClr val="57bde9"/>
              </a:gs>
              <a:gs pos="28444">
                <a:srgbClr val="57bde9"/>
              </a:gs>
              <a:gs pos="28444">
                <a:srgbClr val="55bde9"/>
              </a:gs>
              <a:gs pos="30000">
                <a:srgbClr val="55bde9"/>
              </a:gs>
              <a:gs pos="30000">
                <a:srgbClr val="53bce9"/>
              </a:gs>
              <a:gs pos="31555">
                <a:srgbClr val="53bce9"/>
              </a:gs>
              <a:gs pos="31555">
                <a:srgbClr val="51bbe9"/>
              </a:gs>
              <a:gs pos="33111">
                <a:srgbClr val="51bbe9"/>
              </a:gs>
              <a:gs pos="33111">
                <a:srgbClr val="4fbae8"/>
              </a:gs>
              <a:gs pos="34666">
                <a:srgbClr val="4fbae8"/>
              </a:gs>
              <a:gs pos="34666">
                <a:srgbClr val="4dbae8"/>
              </a:gs>
              <a:gs pos="36222">
                <a:srgbClr val="4dbae8"/>
              </a:gs>
              <a:gs pos="36222">
                <a:srgbClr val="4cb9e8"/>
              </a:gs>
              <a:gs pos="37777">
                <a:srgbClr val="4cb9e8"/>
              </a:gs>
              <a:gs pos="37777">
                <a:srgbClr val="4ab8e8"/>
              </a:gs>
              <a:gs pos="39334">
                <a:srgbClr val="4ab8e8"/>
              </a:gs>
              <a:gs pos="39334">
                <a:srgbClr val="48b7e7"/>
              </a:gs>
              <a:gs pos="40889">
                <a:srgbClr val="48b7e7"/>
              </a:gs>
              <a:gs pos="40889">
                <a:srgbClr val="46b7e7"/>
              </a:gs>
              <a:gs pos="42445">
                <a:srgbClr val="46b7e7"/>
              </a:gs>
              <a:gs pos="42445">
                <a:srgbClr val="44b6e7"/>
              </a:gs>
              <a:gs pos="44000">
                <a:srgbClr val="44b6e7"/>
              </a:gs>
              <a:gs pos="44000">
                <a:srgbClr val="42b5e6"/>
              </a:gs>
              <a:gs pos="45556">
                <a:srgbClr val="42b5e6"/>
              </a:gs>
              <a:gs pos="45556">
                <a:srgbClr val="40b4e6"/>
              </a:gs>
              <a:gs pos="47111">
                <a:srgbClr val="40b4e6"/>
              </a:gs>
              <a:gs pos="47111">
                <a:srgbClr val="3eb4e6"/>
              </a:gs>
              <a:gs pos="48667">
                <a:srgbClr val="3eb4e6"/>
              </a:gs>
              <a:gs pos="48667">
                <a:srgbClr val="3cb3e6"/>
              </a:gs>
              <a:gs pos="50222">
                <a:srgbClr val="3cb3e6"/>
              </a:gs>
              <a:gs pos="50222">
                <a:srgbClr val="3bb2e5"/>
              </a:gs>
              <a:gs pos="51778">
                <a:srgbClr val="3bb2e5"/>
              </a:gs>
              <a:gs pos="51778">
                <a:srgbClr val="39b1e5"/>
              </a:gs>
              <a:gs pos="53333">
                <a:srgbClr val="39b1e5"/>
              </a:gs>
              <a:gs pos="53333">
                <a:srgbClr val="37b1e5"/>
              </a:gs>
              <a:gs pos="54889">
                <a:srgbClr val="37b1e5"/>
              </a:gs>
              <a:gs pos="54889">
                <a:srgbClr val="35b0e5"/>
              </a:gs>
              <a:gs pos="56444">
                <a:srgbClr val="35b0e5"/>
              </a:gs>
              <a:gs pos="56444">
                <a:srgbClr val="33afe4"/>
              </a:gs>
              <a:gs pos="58000">
                <a:srgbClr val="33afe4"/>
              </a:gs>
              <a:gs pos="58000">
                <a:srgbClr val="31aee4"/>
              </a:gs>
              <a:gs pos="59555">
                <a:srgbClr val="31aee4"/>
              </a:gs>
              <a:gs pos="59555">
                <a:srgbClr val="2faee4"/>
              </a:gs>
              <a:gs pos="61111">
                <a:srgbClr val="2faee4"/>
              </a:gs>
              <a:gs pos="61111">
                <a:srgbClr val="2dade3"/>
              </a:gs>
              <a:gs pos="62666">
                <a:srgbClr val="2dade3"/>
              </a:gs>
              <a:gs pos="62666">
                <a:srgbClr val="2bace3"/>
              </a:gs>
              <a:gs pos="64223">
                <a:srgbClr val="2bace3"/>
              </a:gs>
              <a:gs pos="64223">
                <a:srgbClr val="2aabe3"/>
              </a:gs>
              <a:gs pos="65778">
                <a:srgbClr val="2aabe3"/>
              </a:gs>
              <a:gs pos="65778">
                <a:srgbClr val="28abe3"/>
              </a:gs>
              <a:gs pos="67334">
                <a:srgbClr val="28abe3"/>
              </a:gs>
              <a:gs pos="67334">
                <a:srgbClr val="26aae2"/>
              </a:gs>
              <a:gs pos="68889">
                <a:srgbClr val="26aae2"/>
              </a:gs>
              <a:gs pos="68889">
                <a:srgbClr val="24a9e2"/>
              </a:gs>
              <a:gs pos="70445">
                <a:srgbClr val="24a9e2"/>
              </a:gs>
              <a:gs pos="70445">
                <a:srgbClr val="22a8e2"/>
              </a:gs>
              <a:gs pos="72000">
                <a:srgbClr val="22a8e2"/>
              </a:gs>
              <a:gs pos="72000">
                <a:srgbClr val="20a8e2"/>
              </a:gs>
              <a:gs pos="73556">
                <a:srgbClr val="20a8e2"/>
              </a:gs>
              <a:gs pos="73556">
                <a:srgbClr val="1ea7e1"/>
              </a:gs>
              <a:gs pos="75111">
                <a:srgbClr val="1ea7e1"/>
              </a:gs>
              <a:gs pos="75111">
                <a:srgbClr val="1ca6e1"/>
              </a:gs>
              <a:gs pos="76667">
                <a:srgbClr val="1ca6e1"/>
              </a:gs>
              <a:gs pos="76667">
                <a:srgbClr val="1aa5e1"/>
              </a:gs>
              <a:gs pos="78222">
                <a:srgbClr val="1aa5e1"/>
              </a:gs>
              <a:gs pos="78222">
                <a:srgbClr val="19a5e1"/>
              </a:gs>
              <a:gs pos="79778">
                <a:srgbClr val="19a5e1"/>
              </a:gs>
              <a:gs pos="79778">
                <a:srgbClr val="17a4e0"/>
              </a:gs>
              <a:gs pos="81333">
                <a:srgbClr val="17a4e0"/>
              </a:gs>
              <a:gs pos="81333">
                <a:srgbClr val="15a3e0"/>
              </a:gs>
              <a:gs pos="82889">
                <a:srgbClr val="15a3e0"/>
              </a:gs>
              <a:gs pos="82889">
                <a:srgbClr val="13a2e0"/>
              </a:gs>
              <a:gs pos="84444">
                <a:srgbClr val="13a2e0"/>
              </a:gs>
              <a:gs pos="84444">
                <a:srgbClr val="11a2df"/>
              </a:gs>
              <a:gs pos="86000">
                <a:srgbClr val="11a2df"/>
              </a:gs>
              <a:gs pos="86000">
                <a:srgbClr val="0fa1df"/>
              </a:gs>
              <a:gs pos="87555">
                <a:srgbClr val="0fa1df"/>
              </a:gs>
              <a:gs pos="87555">
                <a:srgbClr val="0da0df"/>
              </a:gs>
              <a:gs pos="89112">
                <a:srgbClr val="0da0df"/>
              </a:gs>
              <a:gs pos="89112">
                <a:srgbClr val="0b9fdf"/>
              </a:gs>
              <a:gs pos="90667">
                <a:srgbClr val="0b9fdf"/>
              </a:gs>
              <a:gs pos="90667">
                <a:srgbClr val="099fde"/>
              </a:gs>
              <a:gs pos="92223">
                <a:srgbClr val="099fde"/>
              </a:gs>
              <a:gs pos="92223">
                <a:srgbClr val="089ede"/>
              </a:gs>
              <a:gs pos="93778">
                <a:srgbClr val="089ede"/>
              </a:gs>
              <a:gs pos="93778">
                <a:srgbClr val="069dde"/>
              </a:gs>
              <a:gs pos="95334">
                <a:srgbClr val="069dde"/>
              </a:gs>
              <a:gs pos="95334">
                <a:srgbClr val="049cde"/>
              </a:gs>
              <a:gs pos="96889">
                <a:srgbClr val="049cde"/>
              </a:gs>
              <a:gs pos="96889">
                <a:srgbClr val="029cdd"/>
              </a:gs>
              <a:gs pos="98445">
                <a:srgbClr val="029cdd"/>
              </a:gs>
              <a:gs pos="98445">
                <a:srgbClr val="009bdd"/>
              </a:gs>
              <a:gs pos="100000">
                <a:srgbClr val="009bdd"/>
              </a:gs>
            </a:gsLst>
            <a:lin ang="10800000"/>
          </a:gradFill>
          <a:ln w="18000">
            <a:noFill/>
          </a:ln>
          <a:effectLst>
            <a:outerShdw blurRad="0" dir="5400000" dist="10800" rotWithShape="0">
              <a:srgbClr val="009bdd"/>
            </a:outerShdw>
          </a:effectLst>
        </p:spPr>
        <p:style>
          <a:lnRef idx="0"/>
          <a:fillRef idx="0"/>
          <a:effectRef idx="0"/>
          <a:fontRef idx="minor"/>
        </p:style>
        <p:txBody>
          <a:bodyPr wrap="none" lIns="90000" rIns="90000" tIns="45000" bIns="45000" anchor="ctr">
            <a:noAutofit/>
          </a:bodyPr>
          <a:p>
            <a:pPr>
              <a:lnSpc>
                <a:spcPct val="100000"/>
              </a:lnSpc>
            </a:pPr>
            <a:endParaRPr b="0" lang="en-US" sz="1800" strike="noStrike" u="none">
              <a:solidFill>
                <a:srgbClr val="000000"/>
              </a:solidFill>
              <a:effectLst/>
              <a:uFillTx/>
              <a:latin typeface="Arial"/>
              <a:ea typeface="DejaVu Sans"/>
            </a:endParaRPr>
          </a:p>
        </p:txBody>
      </p:sp>
      <p:sp>
        <p:nvSpPr>
          <p:cNvPr id="45" name="PlaceHolder 1"/>
          <p:cNvSpPr>
            <a:spLocks noGrp="1"/>
          </p:cNvSpPr>
          <p:nvPr>
            <p:ph type="title"/>
          </p:nvPr>
        </p:nvSpPr>
        <p:spPr>
          <a:xfrm>
            <a:off x="360000" y="274680"/>
            <a:ext cx="9342720" cy="274680"/>
          </a:xfrm>
          <a:prstGeom prst="rect">
            <a:avLst/>
          </a:prstGeom>
          <a:noFill/>
          <a:ln w="0">
            <a:noFill/>
          </a:ln>
        </p:spPr>
        <p:txBody>
          <a:bodyPr lIns="0" rIns="0" tIns="0" bIns="0" anchor="ctr">
            <a:spAutoFit/>
          </a:bodyPr>
          <a:p>
            <a:pPr indent="0">
              <a:lnSpc>
                <a:spcPct val="100000"/>
              </a:lnSpc>
              <a:buNone/>
              <a:tabLst>
                <a:tab algn="l" pos="0"/>
              </a:tabLst>
            </a:pPr>
            <a:r>
              <a:rPr b="0" lang="en-US" sz="1800" strike="noStrike" u="none">
                <a:solidFill>
                  <a:srgbClr val="000000"/>
                </a:solidFill>
                <a:effectLst/>
                <a:uFillTx/>
                <a:latin typeface="Arial"/>
              </a:rPr>
              <a:t>Click to edit the title text format</a:t>
            </a:r>
            <a:endParaRPr b="0" lang="en-US" sz="1800" strike="noStrike" u="none">
              <a:solidFill>
                <a:srgbClr val="000000"/>
              </a:solidFill>
              <a:effectLst/>
              <a:uFillTx/>
              <a:latin typeface="Arial"/>
            </a:endParaRPr>
          </a:p>
        </p:txBody>
      </p:sp>
      <p:sp>
        <p:nvSpPr>
          <p:cNvPr id="46" name="PlaceHolder 2"/>
          <p:cNvSpPr>
            <a:spLocks noGrp="1"/>
          </p:cNvSpPr>
          <p:nvPr>
            <p:ph type="body"/>
          </p:nvPr>
        </p:nvSpPr>
        <p:spPr>
          <a:xfrm>
            <a:off x="360000" y="1080000"/>
            <a:ext cx="9342720" cy="358272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lnSpc>
                <a:spcPct val="100000"/>
              </a:lnSpc>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lnSpc>
                <a:spcPct val="100000"/>
              </a:lnSpc>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lnSpc>
                <a:spcPct val="100000"/>
              </a:lnSpc>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lnSpc>
                <a:spcPct val="100000"/>
              </a:lnSpc>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lnSpc>
                <a:spcPct val="100000"/>
              </a:lnSpc>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lnSpc>
                <a:spcPct val="100000"/>
              </a:lnSpc>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47" name="PlaceHolder 3"/>
          <p:cNvSpPr>
            <a:spLocks noGrp="1"/>
          </p:cNvSpPr>
          <p:nvPr>
            <p:ph type="ftr" idx="22"/>
          </p:nvPr>
        </p:nvSpPr>
        <p:spPr>
          <a:xfrm>
            <a:off x="3420000" y="5220000"/>
            <a:ext cx="3222720" cy="342720"/>
          </a:xfrm>
          <a:prstGeom prst="rect">
            <a:avLst/>
          </a:prstGeom>
          <a:noFill/>
          <a:ln w="0">
            <a:noFill/>
          </a:ln>
        </p:spPr>
        <p:txBody>
          <a:bodyPr lIns="0" rIns="0" tIns="0" bIns="0" anchor="t">
            <a:noAutofit/>
          </a:bodyPr>
          <a:lstStyle>
            <a:lvl1pPr indent="0" algn="ctr">
              <a:lnSpc>
                <a:spcPct val="100000"/>
              </a:lnSpc>
              <a:buNone/>
              <a:tabLst>
                <a:tab algn="l" pos="0"/>
              </a:tabLst>
              <a:defRPr b="0" lang="en-US" sz="1400" strike="noStrike" u="none">
                <a:solidFill>
                  <a:srgbClr val="ffffff"/>
                </a:solidFill>
                <a:effectLst/>
                <a:uFillTx/>
                <a:latin typeface="Arial"/>
              </a:defRPr>
            </a:lvl1pPr>
          </a:lstStyle>
          <a:p>
            <a:pPr indent="0" algn="ctr">
              <a:lnSpc>
                <a:spcPct val="100000"/>
              </a:lnSpc>
              <a:buNone/>
              <a:tabLst>
                <a:tab algn="l" pos="0"/>
              </a:tabLst>
            </a:pPr>
            <a:r>
              <a:rPr b="0" lang="en-US" sz="1400" strike="noStrike" u="none">
                <a:solidFill>
                  <a:srgbClr val="ffffff"/>
                </a:solidFill>
                <a:effectLst/>
                <a:uFillTx/>
                <a:latin typeface="Arial"/>
              </a:rPr>
              <a:t>&lt;footer&gt;</a:t>
            </a:r>
            <a:endParaRPr b="0" lang="en-US" sz="1400" strike="noStrike" u="none">
              <a:solidFill>
                <a:srgbClr val="000000"/>
              </a:solidFill>
              <a:effectLst/>
              <a:uFillTx/>
              <a:latin typeface="Times New Roman"/>
            </a:endParaRPr>
          </a:p>
        </p:txBody>
      </p:sp>
      <p:sp>
        <p:nvSpPr>
          <p:cNvPr id="48" name="PlaceHolder 4"/>
          <p:cNvSpPr>
            <a:spLocks noGrp="1"/>
          </p:cNvSpPr>
          <p:nvPr>
            <p:ph type="sldNum" idx="23"/>
          </p:nvPr>
        </p:nvSpPr>
        <p:spPr>
          <a:xfrm>
            <a:off x="7380000" y="5220000"/>
            <a:ext cx="2322720" cy="342720"/>
          </a:xfrm>
          <a:prstGeom prst="rect">
            <a:avLst/>
          </a:prstGeom>
          <a:noFill/>
          <a:ln w="0">
            <a:noFill/>
          </a:ln>
        </p:spPr>
        <p:txBody>
          <a:bodyPr lIns="0" rIns="0" tIns="0" bIns="0" anchor="t">
            <a:noAutofit/>
          </a:bodyPr>
          <a:lstStyle>
            <a:lvl1pPr indent="0" algn="r">
              <a:lnSpc>
                <a:spcPct val="100000"/>
              </a:lnSpc>
              <a:buNone/>
              <a:tabLst>
                <a:tab algn="l" pos="0"/>
              </a:tabLst>
              <a:defRPr b="0" lang="en-US" sz="1400" strike="noStrike" u="none">
                <a:solidFill>
                  <a:srgbClr val="ffffff"/>
                </a:solidFill>
                <a:effectLst/>
                <a:uFillTx/>
                <a:latin typeface="Arial"/>
              </a:defRPr>
            </a:lvl1pPr>
          </a:lstStyle>
          <a:p>
            <a:pPr indent="0" algn="r">
              <a:lnSpc>
                <a:spcPct val="100000"/>
              </a:lnSpc>
              <a:buNone/>
              <a:tabLst>
                <a:tab algn="l" pos="0"/>
              </a:tabLst>
            </a:pPr>
            <a:fld id="{996CADAB-AB43-4770-BD67-80DB3C74BFBB}" type="slidenum">
              <a:rPr b="0" lang="en-US" sz="1400" strike="noStrike" u="none">
                <a:solidFill>
                  <a:srgbClr val="ffffff"/>
                </a:solidFill>
                <a:effectLst/>
                <a:uFillTx/>
                <a:latin typeface="Arial"/>
              </a:rPr>
              <a:t>&lt;number&gt;</a:t>
            </a:fld>
            <a:endParaRPr b="0" lang="en-US" sz="1400" strike="noStrike" u="none">
              <a:solidFill>
                <a:srgbClr val="000000"/>
              </a:solidFill>
              <a:effectLst/>
              <a:uFillTx/>
              <a:latin typeface="Times New Roman"/>
            </a:endParaRPr>
          </a:p>
        </p:txBody>
      </p:sp>
      <p:sp>
        <p:nvSpPr>
          <p:cNvPr id="49" name="PlaceHolder 5"/>
          <p:cNvSpPr>
            <a:spLocks noGrp="1"/>
          </p:cNvSpPr>
          <p:nvPr>
            <p:ph type="dt" idx="24"/>
          </p:nvPr>
        </p:nvSpPr>
        <p:spPr>
          <a:xfrm>
            <a:off x="360000" y="5220000"/>
            <a:ext cx="2322720" cy="342720"/>
          </a:xfrm>
          <a:prstGeom prst="rect">
            <a:avLst/>
          </a:prstGeom>
          <a:noFill/>
          <a:ln w="0">
            <a:noFill/>
          </a:ln>
        </p:spPr>
        <p:txBody>
          <a:bodyPr lIns="0" rIns="0" tIns="0" bIns="0" anchor="t">
            <a:noAutofit/>
          </a:bodyPr>
          <a:lstStyle>
            <a:lvl1pPr indent="0">
              <a:lnSpc>
                <a:spcPct val="100000"/>
              </a:lnSpc>
              <a:buNone/>
              <a:tabLst>
                <a:tab algn="l" pos="0"/>
              </a:tabLst>
              <a:defRPr b="0" lang="en-US" sz="1400" strike="noStrike" u="none">
                <a:solidFill>
                  <a:srgbClr val="000000"/>
                </a:solidFill>
                <a:effectLst/>
                <a:uFillTx/>
                <a:latin typeface="Times New Roman"/>
              </a:defRPr>
            </a:lvl1pPr>
          </a:lstStyle>
          <a:p>
            <a:pPr indent="0">
              <a:lnSpc>
                <a:spcPct val="100000"/>
              </a:lnSpc>
              <a:buNone/>
              <a:tabLst>
                <a:tab algn="l" pos="0"/>
              </a:tabLst>
            </a:pPr>
            <a:r>
              <a:rPr b="0" lang="en-US" sz="1400" strike="noStrike" u="none">
                <a:solidFill>
                  <a:srgbClr val="000000"/>
                </a:solidFill>
                <a:effectLst/>
                <a:uFillTx/>
                <a:latin typeface="Times New Roman"/>
              </a:rPr>
              <a:t>&lt;date/time&gt;</a:t>
            </a:r>
            <a:endParaRPr b="0" lang="en-US" sz="1400" strike="noStrike" u="none">
              <a:solidFill>
                <a:srgbClr val="000000"/>
              </a:solidFill>
              <a:effectLst/>
              <a:uFillTx/>
              <a:latin typeface="Times New Roman"/>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6">
    <p:spTree>
      <p:nvGrpSpPr>
        <p:cNvPr id="1" name=""/>
        <p:cNvGrpSpPr/>
        <p:nvPr/>
      </p:nvGrpSpPr>
      <p:grpSpPr>
        <a:xfrm>
          <a:off x="0" y="0"/>
          <a:ext cx="0" cy="0"/>
          <a:chOff x="0" y="0"/>
          <a:chExt cx="0" cy="0"/>
        </a:xfrm>
      </p:grpSpPr>
      <p:sp>
        <p:nvSpPr>
          <p:cNvPr id="50" name=""/>
          <p:cNvSpPr/>
          <p:nvPr/>
        </p:nvSpPr>
        <p:spPr>
          <a:xfrm>
            <a:off x="0" y="0"/>
            <a:ext cx="10059480" cy="702720"/>
          </a:xfrm>
          <a:prstGeom prst="rect">
            <a:avLst/>
          </a:prstGeom>
          <a:gradFill rotWithShape="0">
            <a:gsLst>
              <a:gs pos="2000">
                <a:srgbClr val="77caee"/>
              </a:gs>
              <a:gs pos="2000">
                <a:srgbClr val="75c9ee"/>
              </a:gs>
              <a:gs pos="3555">
                <a:srgbClr val="75c9ee"/>
              </a:gs>
              <a:gs pos="3555">
                <a:srgbClr val="73c9ed"/>
              </a:gs>
              <a:gs pos="5111">
                <a:srgbClr val="73c9ed"/>
              </a:gs>
              <a:gs pos="5111">
                <a:srgbClr val="71c8ed"/>
              </a:gs>
              <a:gs pos="6666">
                <a:srgbClr val="71c8ed"/>
              </a:gs>
              <a:gs pos="6666">
                <a:srgbClr val="6fc7ed"/>
              </a:gs>
              <a:gs pos="8222">
                <a:srgbClr val="6fc7ed"/>
              </a:gs>
              <a:gs pos="8222">
                <a:srgbClr val="6ec6ed"/>
              </a:gs>
              <a:gs pos="9777">
                <a:srgbClr val="6ec6ed"/>
              </a:gs>
              <a:gs pos="9777">
                <a:srgbClr val="6cc6ec"/>
              </a:gs>
              <a:gs pos="11333">
                <a:srgbClr val="6cc6ec"/>
              </a:gs>
              <a:gs pos="11333">
                <a:srgbClr val="6ac5ec"/>
              </a:gs>
              <a:gs pos="12888">
                <a:srgbClr val="6ac5ec"/>
              </a:gs>
              <a:gs pos="12888">
                <a:srgbClr val="68c4ec"/>
              </a:gs>
              <a:gs pos="14445">
                <a:srgbClr val="68c4ec"/>
              </a:gs>
              <a:gs pos="14445">
                <a:srgbClr val="66c3ec"/>
              </a:gs>
              <a:gs pos="16000">
                <a:srgbClr val="66c3ec"/>
              </a:gs>
              <a:gs pos="16000">
                <a:srgbClr val="64c3eb"/>
              </a:gs>
              <a:gs pos="17556">
                <a:srgbClr val="64c3eb"/>
              </a:gs>
              <a:gs pos="17556">
                <a:srgbClr val="62c2eb"/>
              </a:gs>
              <a:gs pos="19111">
                <a:srgbClr val="62c2eb"/>
              </a:gs>
              <a:gs pos="19111">
                <a:srgbClr val="60c1eb"/>
              </a:gs>
              <a:gs pos="20667">
                <a:srgbClr val="60c1eb"/>
              </a:gs>
              <a:gs pos="20667">
                <a:srgbClr val="5ec0ea"/>
              </a:gs>
              <a:gs pos="22222">
                <a:srgbClr val="5ec0ea"/>
              </a:gs>
              <a:gs pos="22222">
                <a:srgbClr val="5dc0ea"/>
              </a:gs>
              <a:gs pos="23778">
                <a:srgbClr val="5dc0ea"/>
              </a:gs>
              <a:gs pos="23778">
                <a:srgbClr val="5bbfea"/>
              </a:gs>
              <a:gs pos="25333">
                <a:srgbClr val="5bbfea"/>
              </a:gs>
              <a:gs pos="25333">
                <a:srgbClr val="59beea"/>
              </a:gs>
              <a:gs pos="26889">
                <a:srgbClr val="59beea"/>
              </a:gs>
              <a:gs pos="26889">
                <a:srgbClr val="57bde9"/>
              </a:gs>
              <a:gs pos="28444">
                <a:srgbClr val="57bde9"/>
              </a:gs>
              <a:gs pos="28444">
                <a:srgbClr val="55bde9"/>
              </a:gs>
              <a:gs pos="30000">
                <a:srgbClr val="55bde9"/>
              </a:gs>
              <a:gs pos="30000">
                <a:srgbClr val="53bce9"/>
              </a:gs>
              <a:gs pos="31555">
                <a:srgbClr val="53bce9"/>
              </a:gs>
              <a:gs pos="31555">
                <a:srgbClr val="51bbe9"/>
              </a:gs>
              <a:gs pos="33111">
                <a:srgbClr val="51bbe9"/>
              </a:gs>
              <a:gs pos="33111">
                <a:srgbClr val="4fbae8"/>
              </a:gs>
              <a:gs pos="34666">
                <a:srgbClr val="4fbae8"/>
              </a:gs>
              <a:gs pos="34666">
                <a:srgbClr val="4dbae8"/>
              </a:gs>
              <a:gs pos="36222">
                <a:srgbClr val="4dbae8"/>
              </a:gs>
              <a:gs pos="36222">
                <a:srgbClr val="4cb9e8"/>
              </a:gs>
              <a:gs pos="37777">
                <a:srgbClr val="4cb9e8"/>
              </a:gs>
              <a:gs pos="37777">
                <a:srgbClr val="4ab8e8"/>
              </a:gs>
              <a:gs pos="39334">
                <a:srgbClr val="4ab8e8"/>
              </a:gs>
              <a:gs pos="39334">
                <a:srgbClr val="48b7e7"/>
              </a:gs>
              <a:gs pos="40889">
                <a:srgbClr val="48b7e7"/>
              </a:gs>
              <a:gs pos="40889">
                <a:srgbClr val="46b7e7"/>
              </a:gs>
              <a:gs pos="42445">
                <a:srgbClr val="46b7e7"/>
              </a:gs>
              <a:gs pos="42445">
                <a:srgbClr val="44b6e7"/>
              </a:gs>
              <a:gs pos="44000">
                <a:srgbClr val="44b6e7"/>
              </a:gs>
              <a:gs pos="44000">
                <a:srgbClr val="42b5e6"/>
              </a:gs>
              <a:gs pos="45556">
                <a:srgbClr val="42b5e6"/>
              </a:gs>
              <a:gs pos="45556">
                <a:srgbClr val="40b4e6"/>
              </a:gs>
              <a:gs pos="47111">
                <a:srgbClr val="40b4e6"/>
              </a:gs>
              <a:gs pos="47111">
                <a:srgbClr val="3eb4e6"/>
              </a:gs>
              <a:gs pos="48667">
                <a:srgbClr val="3eb4e6"/>
              </a:gs>
              <a:gs pos="48667">
                <a:srgbClr val="3cb3e6"/>
              </a:gs>
              <a:gs pos="50222">
                <a:srgbClr val="3cb3e6"/>
              </a:gs>
              <a:gs pos="50222">
                <a:srgbClr val="3bb2e5"/>
              </a:gs>
              <a:gs pos="51778">
                <a:srgbClr val="3bb2e5"/>
              </a:gs>
              <a:gs pos="51778">
                <a:srgbClr val="39b1e5"/>
              </a:gs>
              <a:gs pos="53333">
                <a:srgbClr val="39b1e5"/>
              </a:gs>
              <a:gs pos="53333">
                <a:srgbClr val="37b1e5"/>
              </a:gs>
              <a:gs pos="54889">
                <a:srgbClr val="37b1e5"/>
              </a:gs>
              <a:gs pos="54889">
                <a:srgbClr val="35b0e5"/>
              </a:gs>
              <a:gs pos="56444">
                <a:srgbClr val="35b0e5"/>
              </a:gs>
              <a:gs pos="56444">
                <a:srgbClr val="33afe4"/>
              </a:gs>
              <a:gs pos="58000">
                <a:srgbClr val="33afe4"/>
              </a:gs>
              <a:gs pos="58000">
                <a:srgbClr val="31aee4"/>
              </a:gs>
              <a:gs pos="59555">
                <a:srgbClr val="31aee4"/>
              </a:gs>
              <a:gs pos="59555">
                <a:srgbClr val="2faee4"/>
              </a:gs>
              <a:gs pos="61111">
                <a:srgbClr val="2faee4"/>
              </a:gs>
              <a:gs pos="61111">
                <a:srgbClr val="2dade3"/>
              </a:gs>
              <a:gs pos="62666">
                <a:srgbClr val="2dade3"/>
              </a:gs>
              <a:gs pos="62666">
                <a:srgbClr val="2bace3"/>
              </a:gs>
              <a:gs pos="64223">
                <a:srgbClr val="2bace3"/>
              </a:gs>
              <a:gs pos="64223">
                <a:srgbClr val="2aabe3"/>
              </a:gs>
              <a:gs pos="65778">
                <a:srgbClr val="2aabe3"/>
              </a:gs>
              <a:gs pos="65778">
                <a:srgbClr val="28abe3"/>
              </a:gs>
              <a:gs pos="67334">
                <a:srgbClr val="28abe3"/>
              </a:gs>
              <a:gs pos="67334">
                <a:srgbClr val="26aae2"/>
              </a:gs>
              <a:gs pos="68889">
                <a:srgbClr val="26aae2"/>
              </a:gs>
              <a:gs pos="68889">
                <a:srgbClr val="24a9e2"/>
              </a:gs>
              <a:gs pos="70445">
                <a:srgbClr val="24a9e2"/>
              </a:gs>
              <a:gs pos="70445">
                <a:srgbClr val="22a8e2"/>
              </a:gs>
              <a:gs pos="72000">
                <a:srgbClr val="22a8e2"/>
              </a:gs>
              <a:gs pos="72000">
                <a:srgbClr val="20a8e2"/>
              </a:gs>
              <a:gs pos="73556">
                <a:srgbClr val="20a8e2"/>
              </a:gs>
              <a:gs pos="73556">
                <a:srgbClr val="1ea7e1"/>
              </a:gs>
              <a:gs pos="75111">
                <a:srgbClr val="1ea7e1"/>
              </a:gs>
              <a:gs pos="75111">
                <a:srgbClr val="1ca6e1"/>
              </a:gs>
              <a:gs pos="76667">
                <a:srgbClr val="1ca6e1"/>
              </a:gs>
              <a:gs pos="76667">
                <a:srgbClr val="1aa5e1"/>
              </a:gs>
              <a:gs pos="78222">
                <a:srgbClr val="1aa5e1"/>
              </a:gs>
              <a:gs pos="78222">
                <a:srgbClr val="19a5e1"/>
              </a:gs>
              <a:gs pos="79778">
                <a:srgbClr val="19a5e1"/>
              </a:gs>
              <a:gs pos="79778">
                <a:srgbClr val="17a4e0"/>
              </a:gs>
              <a:gs pos="81333">
                <a:srgbClr val="17a4e0"/>
              </a:gs>
              <a:gs pos="81333">
                <a:srgbClr val="15a3e0"/>
              </a:gs>
              <a:gs pos="82889">
                <a:srgbClr val="15a3e0"/>
              </a:gs>
              <a:gs pos="82889">
                <a:srgbClr val="13a2e0"/>
              </a:gs>
              <a:gs pos="84444">
                <a:srgbClr val="13a2e0"/>
              </a:gs>
              <a:gs pos="84444">
                <a:srgbClr val="11a2df"/>
              </a:gs>
              <a:gs pos="86000">
                <a:srgbClr val="11a2df"/>
              </a:gs>
              <a:gs pos="86000">
                <a:srgbClr val="0fa1df"/>
              </a:gs>
              <a:gs pos="87555">
                <a:srgbClr val="0fa1df"/>
              </a:gs>
              <a:gs pos="87555">
                <a:srgbClr val="0da0df"/>
              </a:gs>
              <a:gs pos="89112">
                <a:srgbClr val="0da0df"/>
              </a:gs>
              <a:gs pos="89112">
                <a:srgbClr val="0b9fdf"/>
              </a:gs>
              <a:gs pos="90667">
                <a:srgbClr val="0b9fdf"/>
              </a:gs>
              <a:gs pos="90667">
                <a:srgbClr val="099fde"/>
              </a:gs>
              <a:gs pos="92223">
                <a:srgbClr val="099fde"/>
              </a:gs>
              <a:gs pos="92223">
                <a:srgbClr val="089ede"/>
              </a:gs>
              <a:gs pos="93778">
                <a:srgbClr val="089ede"/>
              </a:gs>
              <a:gs pos="93778">
                <a:srgbClr val="069dde"/>
              </a:gs>
              <a:gs pos="95334">
                <a:srgbClr val="069dde"/>
              </a:gs>
              <a:gs pos="95334">
                <a:srgbClr val="049cde"/>
              </a:gs>
              <a:gs pos="96889">
                <a:srgbClr val="049cde"/>
              </a:gs>
              <a:gs pos="96889">
                <a:srgbClr val="029cdd"/>
              </a:gs>
              <a:gs pos="98445">
                <a:srgbClr val="029cdd"/>
              </a:gs>
              <a:gs pos="98445">
                <a:srgbClr val="009bdd"/>
              </a:gs>
              <a:gs pos="100000">
                <a:srgbClr val="009bdd"/>
              </a:gs>
            </a:gsLst>
            <a:lin ang="10800000"/>
          </a:gradFill>
          <a:ln w="18000">
            <a:noFill/>
          </a:ln>
          <a:effectLst>
            <a:outerShdw blurRad="0" dir="5400000" dist="10800" rotWithShape="0">
              <a:srgbClr val="009bdd"/>
            </a:outerShdw>
          </a:effectLst>
        </p:spPr>
        <p:style>
          <a:lnRef idx="0"/>
          <a:fillRef idx="0"/>
          <a:effectRef idx="0"/>
          <a:fontRef idx="minor"/>
        </p:style>
        <p:txBody>
          <a:bodyPr wrap="none" lIns="90000" rIns="90000" tIns="45000" bIns="45000" anchor="ctr">
            <a:noAutofit/>
          </a:bodyPr>
          <a:p>
            <a:pPr>
              <a:lnSpc>
                <a:spcPct val="100000"/>
              </a:lnSpc>
            </a:pPr>
            <a:endParaRPr b="0" lang="en-US" sz="1800" strike="noStrike" u="none">
              <a:solidFill>
                <a:srgbClr val="000000"/>
              </a:solidFill>
              <a:effectLst/>
              <a:uFillTx/>
              <a:latin typeface="Arial"/>
              <a:ea typeface="DejaVu Sans"/>
            </a:endParaRPr>
          </a:p>
        </p:txBody>
      </p:sp>
      <p:sp>
        <p:nvSpPr>
          <p:cNvPr id="51" name="PlaceHolder 1"/>
          <p:cNvSpPr>
            <a:spLocks noGrp="1"/>
          </p:cNvSpPr>
          <p:nvPr>
            <p:ph type="title"/>
          </p:nvPr>
        </p:nvSpPr>
        <p:spPr>
          <a:xfrm>
            <a:off x="360000" y="274680"/>
            <a:ext cx="9342720" cy="274680"/>
          </a:xfrm>
          <a:prstGeom prst="rect">
            <a:avLst/>
          </a:prstGeom>
          <a:noFill/>
          <a:ln w="0">
            <a:noFill/>
          </a:ln>
        </p:spPr>
        <p:txBody>
          <a:bodyPr lIns="0" rIns="0" tIns="0" bIns="0" anchor="ctr">
            <a:spAutoFit/>
          </a:bodyPr>
          <a:p>
            <a:pPr indent="0">
              <a:lnSpc>
                <a:spcPct val="100000"/>
              </a:lnSpc>
              <a:buNone/>
              <a:tabLst>
                <a:tab algn="l" pos="0"/>
              </a:tabLst>
            </a:pPr>
            <a:r>
              <a:rPr b="0" lang="en-US" sz="1800" strike="noStrike" u="none">
                <a:solidFill>
                  <a:srgbClr val="000000"/>
                </a:solidFill>
                <a:effectLst/>
                <a:uFillTx/>
                <a:latin typeface="Arial"/>
              </a:rPr>
              <a:t>Click to edit the title text format</a:t>
            </a:r>
            <a:endParaRPr b="0" lang="en-US" sz="1800" strike="noStrike" u="none">
              <a:solidFill>
                <a:srgbClr val="000000"/>
              </a:solidFill>
              <a:effectLst/>
              <a:uFillTx/>
              <a:latin typeface="Arial"/>
            </a:endParaRPr>
          </a:p>
        </p:txBody>
      </p:sp>
      <p:sp>
        <p:nvSpPr>
          <p:cNvPr id="52" name="PlaceHolder 2"/>
          <p:cNvSpPr>
            <a:spLocks noGrp="1"/>
          </p:cNvSpPr>
          <p:nvPr>
            <p:ph type="body"/>
          </p:nvPr>
        </p:nvSpPr>
        <p:spPr>
          <a:xfrm>
            <a:off x="360000" y="1080000"/>
            <a:ext cx="9342720" cy="358272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lnSpc>
                <a:spcPct val="100000"/>
              </a:lnSpc>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lnSpc>
                <a:spcPct val="100000"/>
              </a:lnSpc>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lnSpc>
                <a:spcPct val="100000"/>
              </a:lnSpc>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lnSpc>
                <a:spcPct val="100000"/>
              </a:lnSpc>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lnSpc>
                <a:spcPct val="100000"/>
              </a:lnSpc>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lnSpc>
                <a:spcPct val="100000"/>
              </a:lnSpc>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53" name="PlaceHolder 3"/>
          <p:cNvSpPr>
            <a:spLocks noGrp="1"/>
          </p:cNvSpPr>
          <p:nvPr>
            <p:ph type="ftr" idx="25"/>
          </p:nvPr>
        </p:nvSpPr>
        <p:spPr>
          <a:xfrm>
            <a:off x="3420000" y="5220000"/>
            <a:ext cx="3222720" cy="342720"/>
          </a:xfrm>
          <a:prstGeom prst="rect">
            <a:avLst/>
          </a:prstGeom>
          <a:noFill/>
          <a:ln w="0">
            <a:noFill/>
          </a:ln>
        </p:spPr>
        <p:txBody>
          <a:bodyPr lIns="0" rIns="0" tIns="0" bIns="0" anchor="t">
            <a:noAutofit/>
          </a:bodyPr>
          <a:lstStyle>
            <a:lvl1pPr indent="0" algn="ctr">
              <a:lnSpc>
                <a:spcPct val="100000"/>
              </a:lnSpc>
              <a:buNone/>
              <a:tabLst>
                <a:tab algn="l" pos="0"/>
              </a:tabLst>
              <a:defRPr b="0" lang="en-US" sz="1400" strike="noStrike" u="none">
                <a:solidFill>
                  <a:srgbClr val="ffffff"/>
                </a:solidFill>
                <a:effectLst/>
                <a:uFillTx/>
                <a:latin typeface="Arial"/>
              </a:defRPr>
            </a:lvl1pPr>
          </a:lstStyle>
          <a:p>
            <a:pPr indent="0" algn="ctr">
              <a:lnSpc>
                <a:spcPct val="100000"/>
              </a:lnSpc>
              <a:buNone/>
              <a:tabLst>
                <a:tab algn="l" pos="0"/>
              </a:tabLst>
            </a:pPr>
            <a:r>
              <a:rPr b="0" lang="en-US" sz="1400" strike="noStrike" u="none">
                <a:solidFill>
                  <a:srgbClr val="ffffff"/>
                </a:solidFill>
                <a:effectLst/>
                <a:uFillTx/>
                <a:latin typeface="Arial"/>
              </a:rPr>
              <a:t>&lt;footer&gt;</a:t>
            </a:r>
            <a:endParaRPr b="0" lang="en-US" sz="1400" strike="noStrike" u="none">
              <a:solidFill>
                <a:srgbClr val="000000"/>
              </a:solidFill>
              <a:effectLst/>
              <a:uFillTx/>
              <a:latin typeface="Times New Roman"/>
            </a:endParaRPr>
          </a:p>
        </p:txBody>
      </p:sp>
      <p:sp>
        <p:nvSpPr>
          <p:cNvPr id="54" name="PlaceHolder 4"/>
          <p:cNvSpPr>
            <a:spLocks noGrp="1"/>
          </p:cNvSpPr>
          <p:nvPr>
            <p:ph type="sldNum" idx="26"/>
          </p:nvPr>
        </p:nvSpPr>
        <p:spPr>
          <a:xfrm>
            <a:off x="7380000" y="5220000"/>
            <a:ext cx="2322720" cy="342720"/>
          </a:xfrm>
          <a:prstGeom prst="rect">
            <a:avLst/>
          </a:prstGeom>
          <a:noFill/>
          <a:ln w="0">
            <a:noFill/>
          </a:ln>
        </p:spPr>
        <p:txBody>
          <a:bodyPr lIns="0" rIns="0" tIns="0" bIns="0" anchor="t">
            <a:noAutofit/>
          </a:bodyPr>
          <a:lstStyle>
            <a:lvl1pPr indent="0" algn="r">
              <a:lnSpc>
                <a:spcPct val="100000"/>
              </a:lnSpc>
              <a:buNone/>
              <a:tabLst>
                <a:tab algn="l" pos="0"/>
              </a:tabLst>
              <a:defRPr b="0" lang="en-US" sz="1400" strike="noStrike" u="none">
                <a:solidFill>
                  <a:srgbClr val="ffffff"/>
                </a:solidFill>
                <a:effectLst/>
                <a:uFillTx/>
                <a:latin typeface="Arial"/>
              </a:defRPr>
            </a:lvl1pPr>
          </a:lstStyle>
          <a:p>
            <a:pPr indent="0" algn="r">
              <a:lnSpc>
                <a:spcPct val="100000"/>
              </a:lnSpc>
              <a:buNone/>
              <a:tabLst>
                <a:tab algn="l" pos="0"/>
              </a:tabLst>
            </a:pPr>
            <a:fld id="{CEB597A9-7129-42CE-BB58-F2BAE3E56F5D}" type="slidenum">
              <a:rPr b="0" lang="en-US" sz="1400" strike="noStrike" u="none">
                <a:solidFill>
                  <a:srgbClr val="ffffff"/>
                </a:solidFill>
                <a:effectLst/>
                <a:uFillTx/>
                <a:latin typeface="Arial"/>
              </a:rPr>
              <a:t>&lt;number&gt;</a:t>
            </a:fld>
            <a:endParaRPr b="0" lang="en-US" sz="1400" strike="noStrike" u="none">
              <a:solidFill>
                <a:srgbClr val="000000"/>
              </a:solidFill>
              <a:effectLst/>
              <a:uFillTx/>
              <a:latin typeface="Times New Roman"/>
            </a:endParaRPr>
          </a:p>
        </p:txBody>
      </p:sp>
      <p:sp>
        <p:nvSpPr>
          <p:cNvPr id="55" name="PlaceHolder 5"/>
          <p:cNvSpPr>
            <a:spLocks noGrp="1"/>
          </p:cNvSpPr>
          <p:nvPr>
            <p:ph type="dt" idx="27"/>
          </p:nvPr>
        </p:nvSpPr>
        <p:spPr>
          <a:xfrm>
            <a:off x="360000" y="5220000"/>
            <a:ext cx="2322720" cy="342720"/>
          </a:xfrm>
          <a:prstGeom prst="rect">
            <a:avLst/>
          </a:prstGeom>
          <a:noFill/>
          <a:ln w="0">
            <a:noFill/>
          </a:ln>
        </p:spPr>
        <p:txBody>
          <a:bodyPr lIns="0" rIns="0" tIns="0" bIns="0" anchor="t">
            <a:noAutofit/>
          </a:bodyPr>
          <a:lstStyle>
            <a:lvl1pPr indent="0">
              <a:lnSpc>
                <a:spcPct val="100000"/>
              </a:lnSpc>
              <a:buNone/>
              <a:tabLst>
                <a:tab algn="l" pos="0"/>
              </a:tabLst>
              <a:defRPr b="0" lang="en-US" sz="1400" strike="noStrike" u="none">
                <a:solidFill>
                  <a:srgbClr val="000000"/>
                </a:solidFill>
                <a:effectLst/>
                <a:uFillTx/>
                <a:latin typeface="Times New Roman"/>
              </a:defRPr>
            </a:lvl1pPr>
          </a:lstStyle>
          <a:p>
            <a:pPr indent="0">
              <a:lnSpc>
                <a:spcPct val="100000"/>
              </a:lnSpc>
              <a:buNone/>
              <a:tabLst>
                <a:tab algn="l" pos="0"/>
              </a:tabLst>
            </a:pPr>
            <a:r>
              <a:rPr b="0" lang="en-US" sz="1400" strike="noStrike" u="none">
                <a:solidFill>
                  <a:srgbClr val="000000"/>
                </a:solidFill>
                <a:effectLst/>
                <a:uFillTx/>
                <a:latin typeface="Times New Roman"/>
              </a:rPr>
              <a:t>&lt;date/time&gt;</a:t>
            </a:r>
            <a:endParaRPr b="0" lang="en-US" sz="1400" strike="noStrike" u="none">
              <a:solidFill>
                <a:srgbClr val="000000"/>
              </a:solidFill>
              <a:effectLst/>
              <a:uFillTx/>
              <a:latin typeface="Times New Roman"/>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10">
    <p:spTree>
      <p:nvGrpSpPr>
        <p:cNvPr id="1" name=""/>
        <p:cNvGrpSpPr/>
        <p:nvPr/>
      </p:nvGrpSpPr>
      <p:grpSpPr>
        <a:xfrm>
          <a:off x="0" y="0"/>
          <a:ext cx="0" cy="0"/>
          <a:chOff x="0" y="0"/>
          <a:chExt cx="0" cy="0"/>
        </a:xfrm>
      </p:grpSpPr>
      <p:sp>
        <p:nvSpPr>
          <p:cNvPr id="56" name=""/>
          <p:cNvSpPr/>
          <p:nvPr/>
        </p:nvSpPr>
        <p:spPr>
          <a:xfrm>
            <a:off x="0" y="0"/>
            <a:ext cx="10059480" cy="702720"/>
          </a:xfrm>
          <a:prstGeom prst="rect">
            <a:avLst/>
          </a:prstGeom>
          <a:gradFill rotWithShape="0">
            <a:gsLst>
              <a:gs pos="2000">
                <a:srgbClr val="77caee"/>
              </a:gs>
              <a:gs pos="2000">
                <a:srgbClr val="75c9ee"/>
              </a:gs>
              <a:gs pos="3555">
                <a:srgbClr val="75c9ee"/>
              </a:gs>
              <a:gs pos="3555">
                <a:srgbClr val="73c9ed"/>
              </a:gs>
              <a:gs pos="5111">
                <a:srgbClr val="73c9ed"/>
              </a:gs>
              <a:gs pos="5111">
                <a:srgbClr val="71c8ed"/>
              </a:gs>
              <a:gs pos="6666">
                <a:srgbClr val="71c8ed"/>
              </a:gs>
              <a:gs pos="6666">
                <a:srgbClr val="6fc7ed"/>
              </a:gs>
              <a:gs pos="8222">
                <a:srgbClr val="6fc7ed"/>
              </a:gs>
              <a:gs pos="8222">
                <a:srgbClr val="6ec6ed"/>
              </a:gs>
              <a:gs pos="9777">
                <a:srgbClr val="6ec6ed"/>
              </a:gs>
              <a:gs pos="9777">
                <a:srgbClr val="6cc6ec"/>
              </a:gs>
              <a:gs pos="11333">
                <a:srgbClr val="6cc6ec"/>
              </a:gs>
              <a:gs pos="11333">
                <a:srgbClr val="6ac5ec"/>
              </a:gs>
              <a:gs pos="12888">
                <a:srgbClr val="6ac5ec"/>
              </a:gs>
              <a:gs pos="12888">
                <a:srgbClr val="68c4ec"/>
              </a:gs>
              <a:gs pos="14445">
                <a:srgbClr val="68c4ec"/>
              </a:gs>
              <a:gs pos="14445">
                <a:srgbClr val="66c3ec"/>
              </a:gs>
              <a:gs pos="16000">
                <a:srgbClr val="66c3ec"/>
              </a:gs>
              <a:gs pos="16000">
                <a:srgbClr val="64c3eb"/>
              </a:gs>
              <a:gs pos="17556">
                <a:srgbClr val="64c3eb"/>
              </a:gs>
              <a:gs pos="17556">
                <a:srgbClr val="62c2eb"/>
              </a:gs>
              <a:gs pos="19111">
                <a:srgbClr val="62c2eb"/>
              </a:gs>
              <a:gs pos="19111">
                <a:srgbClr val="60c1eb"/>
              </a:gs>
              <a:gs pos="20667">
                <a:srgbClr val="60c1eb"/>
              </a:gs>
              <a:gs pos="20667">
                <a:srgbClr val="5ec0ea"/>
              </a:gs>
              <a:gs pos="22222">
                <a:srgbClr val="5ec0ea"/>
              </a:gs>
              <a:gs pos="22222">
                <a:srgbClr val="5dc0ea"/>
              </a:gs>
              <a:gs pos="23778">
                <a:srgbClr val="5dc0ea"/>
              </a:gs>
              <a:gs pos="23778">
                <a:srgbClr val="5bbfea"/>
              </a:gs>
              <a:gs pos="25333">
                <a:srgbClr val="5bbfea"/>
              </a:gs>
              <a:gs pos="25333">
                <a:srgbClr val="59beea"/>
              </a:gs>
              <a:gs pos="26889">
                <a:srgbClr val="59beea"/>
              </a:gs>
              <a:gs pos="26889">
                <a:srgbClr val="57bde9"/>
              </a:gs>
              <a:gs pos="28444">
                <a:srgbClr val="57bde9"/>
              </a:gs>
              <a:gs pos="28444">
                <a:srgbClr val="55bde9"/>
              </a:gs>
              <a:gs pos="30000">
                <a:srgbClr val="55bde9"/>
              </a:gs>
              <a:gs pos="30000">
                <a:srgbClr val="53bce9"/>
              </a:gs>
              <a:gs pos="31555">
                <a:srgbClr val="53bce9"/>
              </a:gs>
              <a:gs pos="31555">
                <a:srgbClr val="51bbe9"/>
              </a:gs>
              <a:gs pos="33111">
                <a:srgbClr val="51bbe9"/>
              </a:gs>
              <a:gs pos="33111">
                <a:srgbClr val="4fbae8"/>
              </a:gs>
              <a:gs pos="34666">
                <a:srgbClr val="4fbae8"/>
              </a:gs>
              <a:gs pos="34666">
                <a:srgbClr val="4dbae8"/>
              </a:gs>
              <a:gs pos="36222">
                <a:srgbClr val="4dbae8"/>
              </a:gs>
              <a:gs pos="36222">
                <a:srgbClr val="4cb9e8"/>
              </a:gs>
              <a:gs pos="37777">
                <a:srgbClr val="4cb9e8"/>
              </a:gs>
              <a:gs pos="37777">
                <a:srgbClr val="4ab8e8"/>
              </a:gs>
              <a:gs pos="39334">
                <a:srgbClr val="4ab8e8"/>
              </a:gs>
              <a:gs pos="39334">
                <a:srgbClr val="48b7e7"/>
              </a:gs>
              <a:gs pos="40889">
                <a:srgbClr val="48b7e7"/>
              </a:gs>
              <a:gs pos="40889">
                <a:srgbClr val="46b7e7"/>
              </a:gs>
              <a:gs pos="42445">
                <a:srgbClr val="46b7e7"/>
              </a:gs>
              <a:gs pos="42445">
                <a:srgbClr val="44b6e7"/>
              </a:gs>
              <a:gs pos="44000">
                <a:srgbClr val="44b6e7"/>
              </a:gs>
              <a:gs pos="44000">
                <a:srgbClr val="42b5e6"/>
              </a:gs>
              <a:gs pos="45556">
                <a:srgbClr val="42b5e6"/>
              </a:gs>
              <a:gs pos="45556">
                <a:srgbClr val="40b4e6"/>
              </a:gs>
              <a:gs pos="47111">
                <a:srgbClr val="40b4e6"/>
              </a:gs>
              <a:gs pos="47111">
                <a:srgbClr val="3eb4e6"/>
              </a:gs>
              <a:gs pos="48667">
                <a:srgbClr val="3eb4e6"/>
              </a:gs>
              <a:gs pos="48667">
                <a:srgbClr val="3cb3e6"/>
              </a:gs>
              <a:gs pos="50222">
                <a:srgbClr val="3cb3e6"/>
              </a:gs>
              <a:gs pos="50222">
                <a:srgbClr val="3bb2e5"/>
              </a:gs>
              <a:gs pos="51778">
                <a:srgbClr val="3bb2e5"/>
              </a:gs>
              <a:gs pos="51778">
                <a:srgbClr val="39b1e5"/>
              </a:gs>
              <a:gs pos="53333">
                <a:srgbClr val="39b1e5"/>
              </a:gs>
              <a:gs pos="53333">
                <a:srgbClr val="37b1e5"/>
              </a:gs>
              <a:gs pos="54889">
                <a:srgbClr val="37b1e5"/>
              </a:gs>
              <a:gs pos="54889">
                <a:srgbClr val="35b0e5"/>
              </a:gs>
              <a:gs pos="56444">
                <a:srgbClr val="35b0e5"/>
              </a:gs>
              <a:gs pos="56444">
                <a:srgbClr val="33afe4"/>
              </a:gs>
              <a:gs pos="58000">
                <a:srgbClr val="33afe4"/>
              </a:gs>
              <a:gs pos="58000">
                <a:srgbClr val="31aee4"/>
              </a:gs>
              <a:gs pos="59555">
                <a:srgbClr val="31aee4"/>
              </a:gs>
              <a:gs pos="59555">
                <a:srgbClr val="2faee4"/>
              </a:gs>
              <a:gs pos="61111">
                <a:srgbClr val="2faee4"/>
              </a:gs>
              <a:gs pos="61111">
                <a:srgbClr val="2dade3"/>
              </a:gs>
              <a:gs pos="62666">
                <a:srgbClr val="2dade3"/>
              </a:gs>
              <a:gs pos="62666">
                <a:srgbClr val="2bace3"/>
              </a:gs>
              <a:gs pos="64223">
                <a:srgbClr val="2bace3"/>
              </a:gs>
              <a:gs pos="64223">
                <a:srgbClr val="2aabe3"/>
              </a:gs>
              <a:gs pos="65778">
                <a:srgbClr val="2aabe3"/>
              </a:gs>
              <a:gs pos="65778">
                <a:srgbClr val="28abe3"/>
              </a:gs>
              <a:gs pos="67334">
                <a:srgbClr val="28abe3"/>
              </a:gs>
              <a:gs pos="67334">
                <a:srgbClr val="26aae2"/>
              </a:gs>
              <a:gs pos="68889">
                <a:srgbClr val="26aae2"/>
              </a:gs>
              <a:gs pos="68889">
                <a:srgbClr val="24a9e2"/>
              </a:gs>
              <a:gs pos="70445">
                <a:srgbClr val="24a9e2"/>
              </a:gs>
              <a:gs pos="70445">
                <a:srgbClr val="22a8e2"/>
              </a:gs>
              <a:gs pos="72000">
                <a:srgbClr val="22a8e2"/>
              </a:gs>
              <a:gs pos="72000">
                <a:srgbClr val="20a8e2"/>
              </a:gs>
              <a:gs pos="73556">
                <a:srgbClr val="20a8e2"/>
              </a:gs>
              <a:gs pos="73556">
                <a:srgbClr val="1ea7e1"/>
              </a:gs>
              <a:gs pos="75111">
                <a:srgbClr val="1ea7e1"/>
              </a:gs>
              <a:gs pos="75111">
                <a:srgbClr val="1ca6e1"/>
              </a:gs>
              <a:gs pos="76667">
                <a:srgbClr val="1ca6e1"/>
              </a:gs>
              <a:gs pos="76667">
                <a:srgbClr val="1aa5e1"/>
              </a:gs>
              <a:gs pos="78222">
                <a:srgbClr val="1aa5e1"/>
              </a:gs>
              <a:gs pos="78222">
                <a:srgbClr val="19a5e1"/>
              </a:gs>
              <a:gs pos="79778">
                <a:srgbClr val="19a5e1"/>
              </a:gs>
              <a:gs pos="79778">
                <a:srgbClr val="17a4e0"/>
              </a:gs>
              <a:gs pos="81333">
                <a:srgbClr val="17a4e0"/>
              </a:gs>
              <a:gs pos="81333">
                <a:srgbClr val="15a3e0"/>
              </a:gs>
              <a:gs pos="82889">
                <a:srgbClr val="15a3e0"/>
              </a:gs>
              <a:gs pos="82889">
                <a:srgbClr val="13a2e0"/>
              </a:gs>
              <a:gs pos="84444">
                <a:srgbClr val="13a2e0"/>
              </a:gs>
              <a:gs pos="84444">
                <a:srgbClr val="11a2df"/>
              </a:gs>
              <a:gs pos="86000">
                <a:srgbClr val="11a2df"/>
              </a:gs>
              <a:gs pos="86000">
                <a:srgbClr val="0fa1df"/>
              </a:gs>
              <a:gs pos="87555">
                <a:srgbClr val="0fa1df"/>
              </a:gs>
              <a:gs pos="87555">
                <a:srgbClr val="0da0df"/>
              </a:gs>
              <a:gs pos="89112">
                <a:srgbClr val="0da0df"/>
              </a:gs>
              <a:gs pos="89112">
                <a:srgbClr val="0b9fdf"/>
              </a:gs>
              <a:gs pos="90667">
                <a:srgbClr val="0b9fdf"/>
              </a:gs>
              <a:gs pos="90667">
                <a:srgbClr val="099fde"/>
              </a:gs>
              <a:gs pos="92223">
                <a:srgbClr val="099fde"/>
              </a:gs>
              <a:gs pos="92223">
                <a:srgbClr val="089ede"/>
              </a:gs>
              <a:gs pos="93778">
                <a:srgbClr val="089ede"/>
              </a:gs>
              <a:gs pos="93778">
                <a:srgbClr val="069dde"/>
              </a:gs>
              <a:gs pos="95334">
                <a:srgbClr val="069dde"/>
              </a:gs>
              <a:gs pos="95334">
                <a:srgbClr val="049cde"/>
              </a:gs>
              <a:gs pos="96889">
                <a:srgbClr val="049cde"/>
              </a:gs>
              <a:gs pos="96889">
                <a:srgbClr val="029cdd"/>
              </a:gs>
              <a:gs pos="98445">
                <a:srgbClr val="029cdd"/>
              </a:gs>
              <a:gs pos="98445">
                <a:srgbClr val="009bdd"/>
              </a:gs>
              <a:gs pos="100000">
                <a:srgbClr val="009bdd"/>
              </a:gs>
            </a:gsLst>
            <a:lin ang="10800000"/>
          </a:gradFill>
          <a:ln w="18000">
            <a:noFill/>
          </a:ln>
          <a:effectLst>
            <a:outerShdw blurRad="0" dir="5400000" dist="10800" rotWithShape="0">
              <a:srgbClr val="009bdd"/>
            </a:outerShdw>
          </a:effectLst>
        </p:spPr>
        <p:style>
          <a:lnRef idx="0"/>
          <a:fillRef idx="0"/>
          <a:effectRef idx="0"/>
          <a:fontRef idx="minor"/>
        </p:style>
        <p:txBody>
          <a:bodyPr wrap="none" lIns="90000" rIns="90000" tIns="45000" bIns="45000" anchor="ctr">
            <a:noAutofit/>
          </a:bodyPr>
          <a:p>
            <a:pPr>
              <a:lnSpc>
                <a:spcPct val="100000"/>
              </a:lnSpc>
            </a:pPr>
            <a:endParaRPr b="0" lang="en-US" sz="1800" strike="noStrike" u="none">
              <a:solidFill>
                <a:srgbClr val="000000"/>
              </a:solidFill>
              <a:effectLst/>
              <a:uFillTx/>
              <a:latin typeface="Arial"/>
              <a:ea typeface="DejaVu Sans"/>
            </a:endParaRPr>
          </a:p>
        </p:txBody>
      </p:sp>
      <p:sp>
        <p:nvSpPr>
          <p:cNvPr id="57" name="PlaceHolder 1"/>
          <p:cNvSpPr>
            <a:spLocks noGrp="1"/>
          </p:cNvSpPr>
          <p:nvPr>
            <p:ph type="title"/>
          </p:nvPr>
        </p:nvSpPr>
        <p:spPr>
          <a:xfrm>
            <a:off x="360000" y="274680"/>
            <a:ext cx="9342720" cy="274680"/>
          </a:xfrm>
          <a:prstGeom prst="rect">
            <a:avLst/>
          </a:prstGeom>
          <a:noFill/>
          <a:ln w="0">
            <a:noFill/>
          </a:ln>
        </p:spPr>
        <p:txBody>
          <a:bodyPr lIns="0" rIns="0" tIns="0" bIns="0" anchor="ctr">
            <a:spAutoFit/>
          </a:bodyPr>
          <a:p>
            <a:pPr indent="0">
              <a:lnSpc>
                <a:spcPct val="100000"/>
              </a:lnSpc>
              <a:buNone/>
              <a:tabLst>
                <a:tab algn="l" pos="0"/>
              </a:tabLst>
            </a:pPr>
            <a:r>
              <a:rPr b="0" lang="en-US" sz="1800" strike="noStrike" u="none">
                <a:solidFill>
                  <a:srgbClr val="000000"/>
                </a:solidFill>
                <a:effectLst/>
                <a:uFillTx/>
                <a:latin typeface="Arial"/>
              </a:rPr>
              <a:t>Click to edit the title text format</a:t>
            </a:r>
            <a:endParaRPr b="0" lang="en-US" sz="1800" strike="noStrike" u="none">
              <a:solidFill>
                <a:srgbClr val="000000"/>
              </a:solidFill>
              <a:effectLst/>
              <a:uFillTx/>
              <a:latin typeface="Arial"/>
            </a:endParaRPr>
          </a:p>
        </p:txBody>
      </p:sp>
      <p:sp>
        <p:nvSpPr>
          <p:cNvPr id="58" name="PlaceHolder 2"/>
          <p:cNvSpPr>
            <a:spLocks noGrp="1"/>
          </p:cNvSpPr>
          <p:nvPr>
            <p:ph type="body"/>
          </p:nvPr>
        </p:nvSpPr>
        <p:spPr>
          <a:xfrm>
            <a:off x="360000" y="1080000"/>
            <a:ext cx="9342720" cy="358272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lnSpc>
                <a:spcPct val="100000"/>
              </a:lnSpc>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lnSpc>
                <a:spcPct val="100000"/>
              </a:lnSpc>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lnSpc>
                <a:spcPct val="100000"/>
              </a:lnSpc>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lnSpc>
                <a:spcPct val="100000"/>
              </a:lnSpc>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lnSpc>
                <a:spcPct val="100000"/>
              </a:lnSpc>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lnSpc>
                <a:spcPct val="100000"/>
              </a:lnSpc>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59" name="PlaceHolder 3"/>
          <p:cNvSpPr>
            <a:spLocks noGrp="1"/>
          </p:cNvSpPr>
          <p:nvPr>
            <p:ph type="ftr" idx="28"/>
          </p:nvPr>
        </p:nvSpPr>
        <p:spPr>
          <a:xfrm>
            <a:off x="3420000" y="5220000"/>
            <a:ext cx="3222720" cy="342720"/>
          </a:xfrm>
          <a:prstGeom prst="rect">
            <a:avLst/>
          </a:prstGeom>
          <a:noFill/>
          <a:ln w="0">
            <a:noFill/>
          </a:ln>
        </p:spPr>
        <p:txBody>
          <a:bodyPr lIns="0" rIns="0" tIns="0" bIns="0" anchor="t">
            <a:noAutofit/>
          </a:bodyPr>
          <a:lstStyle>
            <a:lvl1pPr indent="0" algn="ctr">
              <a:lnSpc>
                <a:spcPct val="100000"/>
              </a:lnSpc>
              <a:buNone/>
              <a:tabLst>
                <a:tab algn="l" pos="0"/>
              </a:tabLst>
              <a:defRPr b="0" lang="en-US" sz="1400" strike="noStrike" u="none">
                <a:solidFill>
                  <a:srgbClr val="ffffff"/>
                </a:solidFill>
                <a:effectLst/>
                <a:uFillTx/>
                <a:latin typeface="Arial"/>
              </a:defRPr>
            </a:lvl1pPr>
          </a:lstStyle>
          <a:p>
            <a:pPr indent="0" algn="ctr">
              <a:lnSpc>
                <a:spcPct val="100000"/>
              </a:lnSpc>
              <a:buNone/>
              <a:tabLst>
                <a:tab algn="l" pos="0"/>
              </a:tabLst>
            </a:pPr>
            <a:r>
              <a:rPr b="0" lang="en-US" sz="1400" strike="noStrike" u="none">
                <a:solidFill>
                  <a:srgbClr val="ffffff"/>
                </a:solidFill>
                <a:effectLst/>
                <a:uFillTx/>
                <a:latin typeface="Arial"/>
              </a:rPr>
              <a:t>&lt;footer&gt;</a:t>
            </a:r>
            <a:endParaRPr b="0" lang="en-US" sz="1400" strike="noStrike" u="none">
              <a:solidFill>
                <a:srgbClr val="000000"/>
              </a:solidFill>
              <a:effectLst/>
              <a:uFillTx/>
              <a:latin typeface="Times New Roman"/>
            </a:endParaRPr>
          </a:p>
        </p:txBody>
      </p:sp>
      <p:sp>
        <p:nvSpPr>
          <p:cNvPr id="60" name="PlaceHolder 4"/>
          <p:cNvSpPr>
            <a:spLocks noGrp="1"/>
          </p:cNvSpPr>
          <p:nvPr>
            <p:ph type="sldNum" idx="29"/>
          </p:nvPr>
        </p:nvSpPr>
        <p:spPr>
          <a:xfrm>
            <a:off x="7380000" y="5220000"/>
            <a:ext cx="2322720" cy="342720"/>
          </a:xfrm>
          <a:prstGeom prst="rect">
            <a:avLst/>
          </a:prstGeom>
          <a:noFill/>
          <a:ln w="0">
            <a:noFill/>
          </a:ln>
        </p:spPr>
        <p:txBody>
          <a:bodyPr lIns="0" rIns="0" tIns="0" bIns="0" anchor="t">
            <a:noAutofit/>
          </a:bodyPr>
          <a:lstStyle>
            <a:lvl1pPr indent="0" algn="r">
              <a:lnSpc>
                <a:spcPct val="100000"/>
              </a:lnSpc>
              <a:buNone/>
              <a:tabLst>
                <a:tab algn="l" pos="0"/>
              </a:tabLst>
              <a:defRPr b="0" lang="en-US" sz="1400" strike="noStrike" u="none">
                <a:solidFill>
                  <a:srgbClr val="ffffff"/>
                </a:solidFill>
                <a:effectLst/>
                <a:uFillTx/>
                <a:latin typeface="Arial"/>
              </a:defRPr>
            </a:lvl1pPr>
          </a:lstStyle>
          <a:p>
            <a:pPr indent="0" algn="r">
              <a:lnSpc>
                <a:spcPct val="100000"/>
              </a:lnSpc>
              <a:buNone/>
              <a:tabLst>
                <a:tab algn="l" pos="0"/>
              </a:tabLst>
            </a:pPr>
            <a:fld id="{D1592C0E-6739-44BB-8500-2EE6CEC7B88A}" type="slidenum">
              <a:rPr b="0" lang="en-US" sz="1400" strike="noStrike" u="none">
                <a:solidFill>
                  <a:srgbClr val="ffffff"/>
                </a:solidFill>
                <a:effectLst/>
                <a:uFillTx/>
                <a:latin typeface="Arial"/>
              </a:rPr>
              <a:t>&lt;number&gt;</a:t>
            </a:fld>
            <a:endParaRPr b="0" lang="en-US" sz="1400" strike="noStrike" u="none">
              <a:solidFill>
                <a:srgbClr val="000000"/>
              </a:solidFill>
              <a:effectLst/>
              <a:uFillTx/>
              <a:latin typeface="Times New Roman"/>
            </a:endParaRPr>
          </a:p>
        </p:txBody>
      </p:sp>
      <p:sp>
        <p:nvSpPr>
          <p:cNvPr id="61" name="PlaceHolder 5"/>
          <p:cNvSpPr>
            <a:spLocks noGrp="1"/>
          </p:cNvSpPr>
          <p:nvPr>
            <p:ph type="dt" idx="30"/>
          </p:nvPr>
        </p:nvSpPr>
        <p:spPr>
          <a:xfrm>
            <a:off x="360000" y="5220000"/>
            <a:ext cx="2322720" cy="342720"/>
          </a:xfrm>
          <a:prstGeom prst="rect">
            <a:avLst/>
          </a:prstGeom>
          <a:noFill/>
          <a:ln w="0">
            <a:noFill/>
          </a:ln>
        </p:spPr>
        <p:txBody>
          <a:bodyPr lIns="0" rIns="0" tIns="0" bIns="0" anchor="t">
            <a:noAutofit/>
          </a:bodyPr>
          <a:lstStyle>
            <a:lvl1pPr indent="0">
              <a:lnSpc>
                <a:spcPct val="100000"/>
              </a:lnSpc>
              <a:buNone/>
              <a:tabLst>
                <a:tab algn="l" pos="0"/>
              </a:tabLst>
              <a:defRPr b="0" lang="en-US" sz="1400" strike="noStrike" u="none">
                <a:solidFill>
                  <a:srgbClr val="000000"/>
                </a:solidFill>
                <a:effectLst/>
                <a:uFillTx/>
                <a:latin typeface="Times New Roman"/>
              </a:defRPr>
            </a:lvl1pPr>
          </a:lstStyle>
          <a:p>
            <a:pPr indent="0">
              <a:lnSpc>
                <a:spcPct val="100000"/>
              </a:lnSpc>
              <a:buNone/>
              <a:tabLst>
                <a:tab algn="l" pos="0"/>
              </a:tabLst>
            </a:pPr>
            <a:r>
              <a:rPr b="0" lang="en-US" sz="1400" strike="noStrike" u="none">
                <a:solidFill>
                  <a:srgbClr val="000000"/>
                </a:solidFill>
                <a:effectLst/>
                <a:uFillTx/>
                <a:latin typeface="Times New Roman"/>
              </a:rPr>
              <a:t>&lt;date/time&gt;</a:t>
            </a:r>
            <a:endParaRPr b="0" lang="en-US" sz="1400" strike="noStrike" u="none">
              <a:solidFill>
                <a:srgbClr val="000000"/>
              </a:solidFill>
              <a:effectLst/>
              <a:uFillTx/>
              <a:latin typeface="Times New Roman"/>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7">
    <p:spTree>
      <p:nvGrpSpPr>
        <p:cNvPr id="1" name=""/>
        <p:cNvGrpSpPr/>
        <p:nvPr/>
      </p:nvGrpSpPr>
      <p:grpSpPr>
        <a:xfrm>
          <a:off x="0" y="0"/>
          <a:ext cx="0" cy="0"/>
          <a:chOff x="0" y="0"/>
          <a:chExt cx="0" cy="0"/>
        </a:xfrm>
      </p:grpSpPr>
      <p:sp>
        <p:nvSpPr>
          <p:cNvPr id="62" name=""/>
          <p:cNvSpPr/>
          <p:nvPr/>
        </p:nvSpPr>
        <p:spPr>
          <a:xfrm>
            <a:off x="0" y="0"/>
            <a:ext cx="10059480" cy="702720"/>
          </a:xfrm>
          <a:prstGeom prst="rect">
            <a:avLst/>
          </a:prstGeom>
          <a:gradFill rotWithShape="0">
            <a:gsLst>
              <a:gs pos="2000">
                <a:srgbClr val="77caee"/>
              </a:gs>
              <a:gs pos="2000">
                <a:srgbClr val="75c9ee"/>
              </a:gs>
              <a:gs pos="3555">
                <a:srgbClr val="75c9ee"/>
              </a:gs>
              <a:gs pos="3555">
                <a:srgbClr val="73c9ed"/>
              </a:gs>
              <a:gs pos="5111">
                <a:srgbClr val="73c9ed"/>
              </a:gs>
              <a:gs pos="5111">
                <a:srgbClr val="71c8ed"/>
              </a:gs>
              <a:gs pos="6666">
                <a:srgbClr val="71c8ed"/>
              </a:gs>
              <a:gs pos="6666">
                <a:srgbClr val="6fc7ed"/>
              </a:gs>
              <a:gs pos="8222">
                <a:srgbClr val="6fc7ed"/>
              </a:gs>
              <a:gs pos="8222">
                <a:srgbClr val="6ec6ed"/>
              </a:gs>
              <a:gs pos="9777">
                <a:srgbClr val="6ec6ed"/>
              </a:gs>
              <a:gs pos="9777">
                <a:srgbClr val="6cc6ec"/>
              </a:gs>
              <a:gs pos="11333">
                <a:srgbClr val="6cc6ec"/>
              </a:gs>
              <a:gs pos="11333">
                <a:srgbClr val="6ac5ec"/>
              </a:gs>
              <a:gs pos="12888">
                <a:srgbClr val="6ac5ec"/>
              </a:gs>
              <a:gs pos="12888">
                <a:srgbClr val="68c4ec"/>
              </a:gs>
              <a:gs pos="14445">
                <a:srgbClr val="68c4ec"/>
              </a:gs>
              <a:gs pos="14445">
                <a:srgbClr val="66c3ec"/>
              </a:gs>
              <a:gs pos="16000">
                <a:srgbClr val="66c3ec"/>
              </a:gs>
              <a:gs pos="16000">
                <a:srgbClr val="64c3eb"/>
              </a:gs>
              <a:gs pos="17556">
                <a:srgbClr val="64c3eb"/>
              </a:gs>
              <a:gs pos="17556">
                <a:srgbClr val="62c2eb"/>
              </a:gs>
              <a:gs pos="19111">
                <a:srgbClr val="62c2eb"/>
              </a:gs>
              <a:gs pos="19111">
                <a:srgbClr val="60c1eb"/>
              </a:gs>
              <a:gs pos="20667">
                <a:srgbClr val="60c1eb"/>
              </a:gs>
              <a:gs pos="20667">
                <a:srgbClr val="5ec0ea"/>
              </a:gs>
              <a:gs pos="22222">
                <a:srgbClr val="5ec0ea"/>
              </a:gs>
              <a:gs pos="22222">
                <a:srgbClr val="5dc0ea"/>
              </a:gs>
              <a:gs pos="23778">
                <a:srgbClr val="5dc0ea"/>
              </a:gs>
              <a:gs pos="23778">
                <a:srgbClr val="5bbfea"/>
              </a:gs>
              <a:gs pos="25333">
                <a:srgbClr val="5bbfea"/>
              </a:gs>
              <a:gs pos="25333">
                <a:srgbClr val="59beea"/>
              </a:gs>
              <a:gs pos="26889">
                <a:srgbClr val="59beea"/>
              </a:gs>
              <a:gs pos="26889">
                <a:srgbClr val="57bde9"/>
              </a:gs>
              <a:gs pos="28444">
                <a:srgbClr val="57bde9"/>
              </a:gs>
              <a:gs pos="28444">
                <a:srgbClr val="55bde9"/>
              </a:gs>
              <a:gs pos="30000">
                <a:srgbClr val="55bde9"/>
              </a:gs>
              <a:gs pos="30000">
                <a:srgbClr val="53bce9"/>
              </a:gs>
              <a:gs pos="31555">
                <a:srgbClr val="53bce9"/>
              </a:gs>
              <a:gs pos="31555">
                <a:srgbClr val="51bbe9"/>
              </a:gs>
              <a:gs pos="33111">
                <a:srgbClr val="51bbe9"/>
              </a:gs>
              <a:gs pos="33111">
                <a:srgbClr val="4fbae8"/>
              </a:gs>
              <a:gs pos="34666">
                <a:srgbClr val="4fbae8"/>
              </a:gs>
              <a:gs pos="34666">
                <a:srgbClr val="4dbae8"/>
              </a:gs>
              <a:gs pos="36222">
                <a:srgbClr val="4dbae8"/>
              </a:gs>
              <a:gs pos="36222">
                <a:srgbClr val="4cb9e8"/>
              </a:gs>
              <a:gs pos="37777">
                <a:srgbClr val="4cb9e8"/>
              </a:gs>
              <a:gs pos="37777">
                <a:srgbClr val="4ab8e8"/>
              </a:gs>
              <a:gs pos="39334">
                <a:srgbClr val="4ab8e8"/>
              </a:gs>
              <a:gs pos="39334">
                <a:srgbClr val="48b7e7"/>
              </a:gs>
              <a:gs pos="40889">
                <a:srgbClr val="48b7e7"/>
              </a:gs>
              <a:gs pos="40889">
                <a:srgbClr val="46b7e7"/>
              </a:gs>
              <a:gs pos="42445">
                <a:srgbClr val="46b7e7"/>
              </a:gs>
              <a:gs pos="42445">
                <a:srgbClr val="44b6e7"/>
              </a:gs>
              <a:gs pos="44000">
                <a:srgbClr val="44b6e7"/>
              </a:gs>
              <a:gs pos="44000">
                <a:srgbClr val="42b5e6"/>
              </a:gs>
              <a:gs pos="45556">
                <a:srgbClr val="42b5e6"/>
              </a:gs>
              <a:gs pos="45556">
                <a:srgbClr val="40b4e6"/>
              </a:gs>
              <a:gs pos="47111">
                <a:srgbClr val="40b4e6"/>
              </a:gs>
              <a:gs pos="47111">
                <a:srgbClr val="3eb4e6"/>
              </a:gs>
              <a:gs pos="48667">
                <a:srgbClr val="3eb4e6"/>
              </a:gs>
              <a:gs pos="48667">
                <a:srgbClr val="3cb3e6"/>
              </a:gs>
              <a:gs pos="50222">
                <a:srgbClr val="3cb3e6"/>
              </a:gs>
              <a:gs pos="50222">
                <a:srgbClr val="3bb2e5"/>
              </a:gs>
              <a:gs pos="51778">
                <a:srgbClr val="3bb2e5"/>
              </a:gs>
              <a:gs pos="51778">
                <a:srgbClr val="39b1e5"/>
              </a:gs>
              <a:gs pos="53333">
                <a:srgbClr val="39b1e5"/>
              </a:gs>
              <a:gs pos="53333">
                <a:srgbClr val="37b1e5"/>
              </a:gs>
              <a:gs pos="54889">
                <a:srgbClr val="37b1e5"/>
              </a:gs>
              <a:gs pos="54889">
                <a:srgbClr val="35b0e5"/>
              </a:gs>
              <a:gs pos="56444">
                <a:srgbClr val="35b0e5"/>
              </a:gs>
              <a:gs pos="56444">
                <a:srgbClr val="33afe4"/>
              </a:gs>
              <a:gs pos="58000">
                <a:srgbClr val="33afe4"/>
              </a:gs>
              <a:gs pos="58000">
                <a:srgbClr val="31aee4"/>
              </a:gs>
              <a:gs pos="59555">
                <a:srgbClr val="31aee4"/>
              </a:gs>
              <a:gs pos="59555">
                <a:srgbClr val="2faee4"/>
              </a:gs>
              <a:gs pos="61111">
                <a:srgbClr val="2faee4"/>
              </a:gs>
              <a:gs pos="61111">
                <a:srgbClr val="2dade3"/>
              </a:gs>
              <a:gs pos="62666">
                <a:srgbClr val="2dade3"/>
              </a:gs>
              <a:gs pos="62666">
                <a:srgbClr val="2bace3"/>
              </a:gs>
              <a:gs pos="64223">
                <a:srgbClr val="2bace3"/>
              </a:gs>
              <a:gs pos="64223">
                <a:srgbClr val="2aabe3"/>
              </a:gs>
              <a:gs pos="65778">
                <a:srgbClr val="2aabe3"/>
              </a:gs>
              <a:gs pos="65778">
                <a:srgbClr val="28abe3"/>
              </a:gs>
              <a:gs pos="67334">
                <a:srgbClr val="28abe3"/>
              </a:gs>
              <a:gs pos="67334">
                <a:srgbClr val="26aae2"/>
              </a:gs>
              <a:gs pos="68889">
                <a:srgbClr val="26aae2"/>
              </a:gs>
              <a:gs pos="68889">
                <a:srgbClr val="24a9e2"/>
              </a:gs>
              <a:gs pos="70445">
                <a:srgbClr val="24a9e2"/>
              </a:gs>
              <a:gs pos="70445">
                <a:srgbClr val="22a8e2"/>
              </a:gs>
              <a:gs pos="72000">
                <a:srgbClr val="22a8e2"/>
              </a:gs>
              <a:gs pos="72000">
                <a:srgbClr val="20a8e2"/>
              </a:gs>
              <a:gs pos="73556">
                <a:srgbClr val="20a8e2"/>
              </a:gs>
              <a:gs pos="73556">
                <a:srgbClr val="1ea7e1"/>
              </a:gs>
              <a:gs pos="75111">
                <a:srgbClr val="1ea7e1"/>
              </a:gs>
              <a:gs pos="75111">
                <a:srgbClr val="1ca6e1"/>
              </a:gs>
              <a:gs pos="76667">
                <a:srgbClr val="1ca6e1"/>
              </a:gs>
              <a:gs pos="76667">
                <a:srgbClr val="1aa5e1"/>
              </a:gs>
              <a:gs pos="78222">
                <a:srgbClr val="1aa5e1"/>
              </a:gs>
              <a:gs pos="78222">
                <a:srgbClr val="19a5e1"/>
              </a:gs>
              <a:gs pos="79778">
                <a:srgbClr val="19a5e1"/>
              </a:gs>
              <a:gs pos="79778">
                <a:srgbClr val="17a4e0"/>
              </a:gs>
              <a:gs pos="81333">
                <a:srgbClr val="17a4e0"/>
              </a:gs>
              <a:gs pos="81333">
                <a:srgbClr val="15a3e0"/>
              </a:gs>
              <a:gs pos="82889">
                <a:srgbClr val="15a3e0"/>
              </a:gs>
              <a:gs pos="82889">
                <a:srgbClr val="13a2e0"/>
              </a:gs>
              <a:gs pos="84444">
                <a:srgbClr val="13a2e0"/>
              </a:gs>
              <a:gs pos="84444">
                <a:srgbClr val="11a2df"/>
              </a:gs>
              <a:gs pos="86000">
                <a:srgbClr val="11a2df"/>
              </a:gs>
              <a:gs pos="86000">
                <a:srgbClr val="0fa1df"/>
              </a:gs>
              <a:gs pos="87555">
                <a:srgbClr val="0fa1df"/>
              </a:gs>
              <a:gs pos="87555">
                <a:srgbClr val="0da0df"/>
              </a:gs>
              <a:gs pos="89112">
                <a:srgbClr val="0da0df"/>
              </a:gs>
              <a:gs pos="89112">
                <a:srgbClr val="0b9fdf"/>
              </a:gs>
              <a:gs pos="90667">
                <a:srgbClr val="0b9fdf"/>
              </a:gs>
              <a:gs pos="90667">
                <a:srgbClr val="099fde"/>
              </a:gs>
              <a:gs pos="92223">
                <a:srgbClr val="099fde"/>
              </a:gs>
              <a:gs pos="92223">
                <a:srgbClr val="089ede"/>
              </a:gs>
              <a:gs pos="93778">
                <a:srgbClr val="089ede"/>
              </a:gs>
              <a:gs pos="93778">
                <a:srgbClr val="069dde"/>
              </a:gs>
              <a:gs pos="95334">
                <a:srgbClr val="069dde"/>
              </a:gs>
              <a:gs pos="95334">
                <a:srgbClr val="049cde"/>
              </a:gs>
              <a:gs pos="96889">
                <a:srgbClr val="049cde"/>
              </a:gs>
              <a:gs pos="96889">
                <a:srgbClr val="029cdd"/>
              </a:gs>
              <a:gs pos="98445">
                <a:srgbClr val="029cdd"/>
              </a:gs>
              <a:gs pos="98445">
                <a:srgbClr val="009bdd"/>
              </a:gs>
              <a:gs pos="100000">
                <a:srgbClr val="009bdd"/>
              </a:gs>
            </a:gsLst>
            <a:lin ang="10800000"/>
          </a:gradFill>
          <a:ln w="18000">
            <a:noFill/>
          </a:ln>
          <a:effectLst>
            <a:outerShdw blurRad="0" dir="5400000" dist="10800" rotWithShape="0">
              <a:srgbClr val="009bdd"/>
            </a:outerShdw>
          </a:effectLst>
        </p:spPr>
        <p:style>
          <a:lnRef idx="0"/>
          <a:fillRef idx="0"/>
          <a:effectRef idx="0"/>
          <a:fontRef idx="minor"/>
        </p:style>
        <p:txBody>
          <a:bodyPr wrap="none" lIns="90000" rIns="90000" tIns="45000" bIns="45000" anchor="ctr">
            <a:noAutofit/>
          </a:bodyPr>
          <a:p>
            <a:pPr>
              <a:lnSpc>
                <a:spcPct val="100000"/>
              </a:lnSpc>
            </a:pPr>
            <a:endParaRPr b="0" lang="en-US" sz="1800" strike="noStrike" u="none">
              <a:solidFill>
                <a:srgbClr val="000000"/>
              </a:solidFill>
              <a:effectLst/>
              <a:uFillTx/>
              <a:latin typeface="Arial"/>
              <a:ea typeface="DejaVu Sans"/>
            </a:endParaRPr>
          </a:p>
        </p:txBody>
      </p:sp>
      <p:sp>
        <p:nvSpPr>
          <p:cNvPr id="63" name="PlaceHolder 1"/>
          <p:cNvSpPr>
            <a:spLocks noGrp="1"/>
          </p:cNvSpPr>
          <p:nvPr>
            <p:ph type="title"/>
          </p:nvPr>
        </p:nvSpPr>
        <p:spPr>
          <a:xfrm>
            <a:off x="360000" y="274680"/>
            <a:ext cx="9342720" cy="274680"/>
          </a:xfrm>
          <a:prstGeom prst="rect">
            <a:avLst/>
          </a:prstGeom>
          <a:noFill/>
          <a:ln w="0">
            <a:noFill/>
          </a:ln>
        </p:spPr>
        <p:txBody>
          <a:bodyPr lIns="0" rIns="0" tIns="0" bIns="0" anchor="ctr">
            <a:spAutoFit/>
          </a:bodyPr>
          <a:p>
            <a:pPr indent="0">
              <a:lnSpc>
                <a:spcPct val="100000"/>
              </a:lnSpc>
              <a:buNone/>
              <a:tabLst>
                <a:tab algn="l" pos="0"/>
              </a:tabLst>
            </a:pPr>
            <a:r>
              <a:rPr b="0" lang="en-US" sz="1800" strike="noStrike" u="none">
                <a:solidFill>
                  <a:srgbClr val="000000"/>
                </a:solidFill>
                <a:effectLst/>
                <a:uFillTx/>
                <a:latin typeface="Arial"/>
              </a:rPr>
              <a:t>Click to edit the title text format</a:t>
            </a:r>
            <a:endParaRPr b="0" lang="en-US" sz="1800" strike="noStrike" u="none">
              <a:solidFill>
                <a:srgbClr val="000000"/>
              </a:solidFill>
              <a:effectLst/>
              <a:uFillTx/>
              <a:latin typeface="Arial"/>
            </a:endParaRPr>
          </a:p>
        </p:txBody>
      </p:sp>
      <p:sp>
        <p:nvSpPr>
          <p:cNvPr id="64" name="PlaceHolder 2"/>
          <p:cNvSpPr>
            <a:spLocks noGrp="1"/>
          </p:cNvSpPr>
          <p:nvPr>
            <p:ph type="body"/>
          </p:nvPr>
        </p:nvSpPr>
        <p:spPr>
          <a:xfrm>
            <a:off x="360000" y="1080000"/>
            <a:ext cx="9342720" cy="358272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lnSpc>
                <a:spcPct val="100000"/>
              </a:lnSpc>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lnSpc>
                <a:spcPct val="100000"/>
              </a:lnSpc>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lnSpc>
                <a:spcPct val="100000"/>
              </a:lnSpc>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lnSpc>
                <a:spcPct val="100000"/>
              </a:lnSpc>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lnSpc>
                <a:spcPct val="100000"/>
              </a:lnSpc>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lnSpc>
                <a:spcPct val="100000"/>
              </a:lnSpc>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65" name="PlaceHolder 3"/>
          <p:cNvSpPr>
            <a:spLocks noGrp="1"/>
          </p:cNvSpPr>
          <p:nvPr>
            <p:ph type="ftr" idx="31"/>
          </p:nvPr>
        </p:nvSpPr>
        <p:spPr>
          <a:xfrm>
            <a:off x="3420000" y="5220000"/>
            <a:ext cx="3222720" cy="342720"/>
          </a:xfrm>
          <a:prstGeom prst="rect">
            <a:avLst/>
          </a:prstGeom>
          <a:noFill/>
          <a:ln w="0">
            <a:noFill/>
          </a:ln>
        </p:spPr>
        <p:txBody>
          <a:bodyPr lIns="0" rIns="0" tIns="0" bIns="0" anchor="t">
            <a:noAutofit/>
          </a:bodyPr>
          <a:lstStyle>
            <a:lvl1pPr indent="0" algn="ctr">
              <a:lnSpc>
                <a:spcPct val="100000"/>
              </a:lnSpc>
              <a:buNone/>
              <a:tabLst>
                <a:tab algn="l" pos="0"/>
              </a:tabLst>
              <a:defRPr b="0" lang="en-US" sz="1400" strike="noStrike" u="none">
                <a:solidFill>
                  <a:srgbClr val="ffffff"/>
                </a:solidFill>
                <a:effectLst/>
                <a:uFillTx/>
                <a:latin typeface="Arial"/>
              </a:defRPr>
            </a:lvl1pPr>
          </a:lstStyle>
          <a:p>
            <a:pPr indent="0" algn="ctr">
              <a:lnSpc>
                <a:spcPct val="100000"/>
              </a:lnSpc>
              <a:buNone/>
              <a:tabLst>
                <a:tab algn="l" pos="0"/>
              </a:tabLst>
            </a:pPr>
            <a:r>
              <a:rPr b="0" lang="en-US" sz="1400" strike="noStrike" u="none">
                <a:solidFill>
                  <a:srgbClr val="ffffff"/>
                </a:solidFill>
                <a:effectLst/>
                <a:uFillTx/>
                <a:latin typeface="Arial"/>
              </a:rPr>
              <a:t>&lt;footer&gt;</a:t>
            </a:r>
            <a:endParaRPr b="0" lang="en-US" sz="1400" strike="noStrike" u="none">
              <a:solidFill>
                <a:srgbClr val="000000"/>
              </a:solidFill>
              <a:effectLst/>
              <a:uFillTx/>
              <a:latin typeface="Times New Roman"/>
            </a:endParaRPr>
          </a:p>
        </p:txBody>
      </p:sp>
      <p:sp>
        <p:nvSpPr>
          <p:cNvPr id="66" name="PlaceHolder 4"/>
          <p:cNvSpPr>
            <a:spLocks noGrp="1"/>
          </p:cNvSpPr>
          <p:nvPr>
            <p:ph type="sldNum" idx="32"/>
          </p:nvPr>
        </p:nvSpPr>
        <p:spPr>
          <a:xfrm>
            <a:off x="7380000" y="5220000"/>
            <a:ext cx="2322720" cy="342720"/>
          </a:xfrm>
          <a:prstGeom prst="rect">
            <a:avLst/>
          </a:prstGeom>
          <a:noFill/>
          <a:ln w="0">
            <a:noFill/>
          </a:ln>
        </p:spPr>
        <p:txBody>
          <a:bodyPr lIns="0" rIns="0" tIns="0" bIns="0" anchor="t">
            <a:noAutofit/>
          </a:bodyPr>
          <a:lstStyle>
            <a:lvl1pPr indent="0" algn="r">
              <a:lnSpc>
                <a:spcPct val="100000"/>
              </a:lnSpc>
              <a:buNone/>
              <a:tabLst>
                <a:tab algn="l" pos="0"/>
              </a:tabLst>
              <a:defRPr b="0" lang="en-US" sz="1400" strike="noStrike" u="none">
                <a:solidFill>
                  <a:srgbClr val="ffffff"/>
                </a:solidFill>
                <a:effectLst/>
                <a:uFillTx/>
                <a:latin typeface="Arial"/>
              </a:defRPr>
            </a:lvl1pPr>
          </a:lstStyle>
          <a:p>
            <a:pPr indent="0" algn="r">
              <a:lnSpc>
                <a:spcPct val="100000"/>
              </a:lnSpc>
              <a:buNone/>
              <a:tabLst>
                <a:tab algn="l" pos="0"/>
              </a:tabLst>
            </a:pPr>
            <a:fld id="{9C7EF719-B83B-44D2-9F7E-69BC0A37D598}" type="slidenum">
              <a:rPr b="0" lang="en-US" sz="1400" strike="noStrike" u="none">
                <a:solidFill>
                  <a:srgbClr val="ffffff"/>
                </a:solidFill>
                <a:effectLst/>
                <a:uFillTx/>
                <a:latin typeface="Arial"/>
              </a:rPr>
              <a:t>&lt;number&gt;</a:t>
            </a:fld>
            <a:endParaRPr b="0" lang="en-US" sz="1400" strike="noStrike" u="none">
              <a:solidFill>
                <a:srgbClr val="000000"/>
              </a:solidFill>
              <a:effectLst/>
              <a:uFillTx/>
              <a:latin typeface="Times New Roman"/>
            </a:endParaRPr>
          </a:p>
        </p:txBody>
      </p:sp>
      <p:sp>
        <p:nvSpPr>
          <p:cNvPr id="67" name="PlaceHolder 5"/>
          <p:cNvSpPr>
            <a:spLocks noGrp="1"/>
          </p:cNvSpPr>
          <p:nvPr>
            <p:ph type="dt" idx="33"/>
          </p:nvPr>
        </p:nvSpPr>
        <p:spPr>
          <a:xfrm>
            <a:off x="360000" y="5220000"/>
            <a:ext cx="2322720" cy="342720"/>
          </a:xfrm>
          <a:prstGeom prst="rect">
            <a:avLst/>
          </a:prstGeom>
          <a:noFill/>
          <a:ln w="0">
            <a:noFill/>
          </a:ln>
        </p:spPr>
        <p:txBody>
          <a:bodyPr lIns="0" rIns="0" tIns="0" bIns="0" anchor="t">
            <a:noAutofit/>
          </a:bodyPr>
          <a:lstStyle>
            <a:lvl1pPr indent="0">
              <a:lnSpc>
                <a:spcPct val="100000"/>
              </a:lnSpc>
              <a:buNone/>
              <a:tabLst>
                <a:tab algn="l" pos="0"/>
              </a:tabLst>
              <a:defRPr b="0" lang="en-US" sz="1400" strike="noStrike" u="none">
                <a:solidFill>
                  <a:srgbClr val="000000"/>
                </a:solidFill>
                <a:effectLst/>
                <a:uFillTx/>
                <a:latin typeface="Times New Roman"/>
              </a:defRPr>
            </a:lvl1pPr>
          </a:lstStyle>
          <a:p>
            <a:pPr indent="0">
              <a:lnSpc>
                <a:spcPct val="100000"/>
              </a:lnSpc>
              <a:buNone/>
              <a:tabLst>
                <a:tab algn="l" pos="0"/>
              </a:tabLst>
            </a:pPr>
            <a:r>
              <a:rPr b="0" lang="en-US" sz="1400" strike="noStrike" u="none">
                <a:solidFill>
                  <a:srgbClr val="000000"/>
                </a:solidFill>
                <a:effectLst/>
                <a:uFillTx/>
                <a:latin typeface="Times New Roman"/>
              </a:rPr>
              <a:t>&lt;date/time&gt;</a:t>
            </a:r>
            <a:endParaRPr b="0" lang="en-US" sz="1400" strike="noStrike" u="none">
              <a:solidFill>
                <a:srgbClr val="000000"/>
              </a:solidFill>
              <a:effectLst/>
              <a:uFillTx/>
              <a:latin typeface="Times New Roman"/>
            </a:endParaRP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9">
    <p:spTree>
      <p:nvGrpSpPr>
        <p:cNvPr id="1" name=""/>
        <p:cNvGrpSpPr/>
        <p:nvPr/>
      </p:nvGrpSpPr>
      <p:grpSpPr>
        <a:xfrm>
          <a:off x="0" y="0"/>
          <a:ext cx="0" cy="0"/>
          <a:chOff x="0" y="0"/>
          <a:chExt cx="0" cy="0"/>
        </a:xfrm>
      </p:grpSpPr>
      <p:sp>
        <p:nvSpPr>
          <p:cNvPr id="68" name=""/>
          <p:cNvSpPr/>
          <p:nvPr/>
        </p:nvSpPr>
        <p:spPr>
          <a:xfrm>
            <a:off x="0" y="0"/>
            <a:ext cx="10059480" cy="702720"/>
          </a:xfrm>
          <a:prstGeom prst="rect">
            <a:avLst/>
          </a:prstGeom>
          <a:gradFill rotWithShape="0">
            <a:gsLst>
              <a:gs pos="2000">
                <a:srgbClr val="77caee"/>
              </a:gs>
              <a:gs pos="2000">
                <a:srgbClr val="75c9ee"/>
              </a:gs>
              <a:gs pos="3555">
                <a:srgbClr val="75c9ee"/>
              </a:gs>
              <a:gs pos="3555">
                <a:srgbClr val="73c9ed"/>
              </a:gs>
              <a:gs pos="5111">
                <a:srgbClr val="73c9ed"/>
              </a:gs>
              <a:gs pos="5111">
                <a:srgbClr val="71c8ed"/>
              </a:gs>
              <a:gs pos="6666">
                <a:srgbClr val="71c8ed"/>
              </a:gs>
              <a:gs pos="6666">
                <a:srgbClr val="6fc7ed"/>
              </a:gs>
              <a:gs pos="8222">
                <a:srgbClr val="6fc7ed"/>
              </a:gs>
              <a:gs pos="8222">
                <a:srgbClr val="6ec6ed"/>
              </a:gs>
              <a:gs pos="9777">
                <a:srgbClr val="6ec6ed"/>
              </a:gs>
              <a:gs pos="9777">
                <a:srgbClr val="6cc6ec"/>
              </a:gs>
              <a:gs pos="11333">
                <a:srgbClr val="6cc6ec"/>
              </a:gs>
              <a:gs pos="11333">
                <a:srgbClr val="6ac5ec"/>
              </a:gs>
              <a:gs pos="12888">
                <a:srgbClr val="6ac5ec"/>
              </a:gs>
              <a:gs pos="12888">
                <a:srgbClr val="68c4ec"/>
              </a:gs>
              <a:gs pos="14445">
                <a:srgbClr val="68c4ec"/>
              </a:gs>
              <a:gs pos="14445">
                <a:srgbClr val="66c3ec"/>
              </a:gs>
              <a:gs pos="16000">
                <a:srgbClr val="66c3ec"/>
              </a:gs>
              <a:gs pos="16000">
                <a:srgbClr val="64c3eb"/>
              </a:gs>
              <a:gs pos="17556">
                <a:srgbClr val="64c3eb"/>
              </a:gs>
              <a:gs pos="17556">
                <a:srgbClr val="62c2eb"/>
              </a:gs>
              <a:gs pos="19111">
                <a:srgbClr val="62c2eb"/>
              </a:gs>
              <a:gs pos="19111">
                <a:srgbClr val="60c1eb"/>
              </a:gs>
              <a:gs pos="20667">
                <a:srgbClr val="60c1eb"/>
              </a:gs>
              <a:gs pos="20667">
                <a:srgbClr val="5ec0ea"/>
              </a:gs>
              <a:gs pos="22222">
                <a:srgbClr val="5ec0ea"/>
              </a:gs>
              <a:gs pos="22222">
                <a:srgbClr val="5dc0ea"/>
              </a:gs>
              <a:gs pos="23778">
                <a:srgbClr val="5dc0ea"/>
              </a:gs>
              <a:gs pos="23778">
                <a:srgbClr val="5bbfea"/>
              </a:gs>
              <a:gs pos="25333">
                <a:srgbClr val="5bbfea"/>
              </a:gs>
              <a:gs pos="25333">
                <a:srgbClr val="59beea"/>
              </a:gs>
              <a:gs pos="26889">
                <a:srgbClr val="59beea"/>
              </a:gs>
              <a:gs pos="26889">
                <a:srgbClr val="57bde9"/>
              </a:gs>
              <a:gs pos="28444">
                <a:srgbClr val="57bde9"/>
              </a:gs>
              <a:gs pos="28444">
                <a:srgbClr val="55bde9"/>
              </a:gs>
              <a:gs pos="30000">
                <a:srgbClr val="55bde9"/>
              </a:gs>
              <a:gs pos="30000">
                <a:srgbClr val="53bce9"/>
              </a:gs>
              <a:gs pos="31555">
                <a:srgbClr val="53bce9"/>
              </a:gs>
              <a:gs pos="31555">
                <a:srgbClr val="51bbe9"/>
              </a:gs>
              <a:gs pos="33111">
                <a:srgbClr val="51bbe9"/>
              </a:gs>
              <a:gs pos="33111">
                <a:srgbClr val="4fbae8"/>
              </a:gs>
              <a:gs pos="34666">
                <a:srgbClr val="4fbae8"/>
              </a:gs>
              <a:gs pos="34666">
                <a:srgbClr val="4dbae8"/>
              </a:gs>
              <a:gs pos="36222">
                <a:srgbClr val="4dbae8"/>
              </a:gs>
              <a:gs pos="36222">
                <a:srgbClr val="4cb9e8"/>
              </a:gs>
              <a:gs pos="37777">
                <a:srgbClr val="4cb9e8"/>
              </a:gs>
              <a:gs pos="37777">
                <a:srgbClr val="4ab8e8"/>
              </a:gs>
              <a:gs pos="39334">
                <a:srgbClr val="4ab8e8"/>
              </a:gs>
              <a:gs pos="39334">
                <a:srgbClr val="48b7e7"/>
              </a:gs>
              <a:gs pos="40889">
                <a:srgbClr val="48b7e7"/>
              </a:gs>
              <a:gs pos="40889">
                <a:srgbClr val="46b7e7"/>
              </a:gs>
              <a:gs pos="42445">
                <a:srgbClr val="46b7e7"/>
              </a:gs>
              <a:gs pos="42445">
                <a:srgbClr val="44b6e7"/>
              </a:gs>
              <a:gs pos="44000">
                <a:srgbClr val="44b6e7"/>
              </a:gs>
              <a:gs pos="44000">
                <a:srgbClr val="42b5e6"/>
              </a:gs>
              <a:gs pos="45556">
                <a:srgbClr val="42b5e6"/>
              </a:gs>
              <a:gs pos="45556">
                <a:srgbClr val="40b4e6"/>
              </a:gs>
              <a:gs pos="47111">
                <a:srgbClr val="40b4e6"/>
              </a:gs>
              <a:gs pos="47111">
                <a:srgbClr val="3eb4e6"/>
              </a:gs>
              <a:gs pos="48667">
                <a:srgbClr val="3eb4e6"/>
              </a:gs>
              <a:gs pos="48667">
                <a:srgbClr val="3cb3e6"/>
              </a:gs>
              <a:gs pos="50222">
                <a:srgbClr val="3cb3e6"/>
              </a:gs>
              <a:gs pos="50222">
                <a:srgbClr val="3bb2e5"/>
              </a:gs>
              <a:gs pos="51778">
                <a:srgbClr val="3bb2e5"/>
              </a:gs>
              <a:gs pos="51778">
                <a:srgbClr val="39b1e5"/>
              </a:gs>
              <a:gs pos="53333">
                <a:srgbClr val="39b1e5"/>
              </a:gs>
              <a:gs pos="53333">
                <a:srgbClr val="37b1e5"/>
              </a:gs>
              <a:gs pos="54889">
                <a:srgbClr val="37b1e5"/>
              </a:gs>
              <a:gs pos="54889">
                <a:srgbClr val="35b0e5"/>
              </a:gs>
              <a:gs pos="56444">
                <a:srgbClr val="35b0e5"/>
              </a:gs>
              <a:gs pos="56444">
                <a:srgbClr val="33afe4"/>
              </a:gs>
              <a:gs pos="58000">
                <a:srgbClr val="33afe4"/>
              </a:gs>
              <a:gs pos="58000">
                <a:srgbClr val="31aee4"/>
              </a:gs>
              <a:gs pos="59555">
                <a:srgbClr val="31aee4"/>
              </a:gs>
              <a:gs pos="59555">
                <a:srgbClr val="2faee4"/>
              </a:gs>
              <a:gs pos="61111">
                <a:srgbClr val="2faee4"/>
              </a:gs>
              <a:gs pos="61111">
                <a:srgbClr val="2dade3"/>
              </a:gs>
              <a:gs pos="62666">
                <a:srgbClr val="2dade3"/>
              </a:gs>
              <a:gs pos="62666">
                <a:srgbClr val="2bace3"/>
              </a:gs>
              <a:gs pos="64223">
                <a:srgbClr val="2bace3"/>
              </a:gs>
              <a:gs pos="64223">
                <a:srgbClr val="2aabe3"/>
              </a:gs>
              <a:gs pos="65778">
                <a:srgbClr val="2aabe3"/>
              </a:gs>
              <a:gs pos="65778">
                <a:srgbClr val="28abe3"/>
              </a:gs>
              <a:gs pos="67334">
                <a:srgbClr val="28abe3"/>
              </a:gs>
              <a:gs pos="67334">
                <a:srgbClr val="26aae2"/>
              </a:gs>
              <a:gs pos="68889">
                <a:srgbClr val="26aae2"/>
              </a:gs>
              <a:gs pos="68889">
                <a:srgbClr val="24a9e2"/>
              </a:gs>
              <a:gs pos="70445">
                <a:srgbClr val="24a9e2"/>
              </a:gs>
              <a:gs pos="70445">
                <a:srgbClr val="22a8e2"/>
              </a:gs>
              <a:gs pos="72000">
                <a:srgbClr val="22a8e2"/>
              </a:gs>
              <a:gs pos="72000">
                <a:srgbClr val="20a8e2"/>
              </a:gs>
              <a:gs pos="73556">
                <a:srgbClr val="20a8e2"/>
              </a:gs>
              <a:gs pos="73556">
                <a:srgbClr val="1ea7e1"/>
              </a:gs>
              <a:gs pos="75111">
                <a:srgbClr val="1ea7e1"/>
              </a:gs>
              <a:gs pos="75111">
                <a:srgbClr val="1ca6e1"/>
              </a:gs>
              <a:gs pos="76667">
                <a:srgbClr val="1ca6e1"/>
              </a:gs>
              <a:gs pos="76667">
                <a:srgbClr val="1aa5e1"/>
              </a:gs>
              <a:gs pos="78222">
                <a:srgbClr val="1aa5e1"/>
              </a:gs>
              <a:gs pos="78222">
                <a:srgbClr val="19a5e1"/>
              </a:gs>
              <a:gs pos="79778">
                <a:srgbClr val="19a5e1"/>
              </a:gs>
              <a:gs pos="79778">
                <a:srgbClr val="17a4e0"/>
              </a:gs>
              <a:gs pos="81333">
                <a:srgbClr val="17a4e0"/>
              </a:gs>
              <a:gs pos="81333">
                <a:srgbClr val="15a3e0"/>
              </a:gs>
              <a:gs pos="82889">
                <a:srgbClr val="15a3e0"/>
              </a:gs>
              <a:gs pos="82889">
                <a:srgbClr val="13a2e0"/>
              </a:gs>
              <a:gs pos="84444">
                <a:srgbClr val="13a2e0"/>
              </a:gs>
              <a:gs pos="84444">
                <a:srgbClr val="11a2df"/>
              </a:gs>
              <a:gs pos="86000">
                <a:srgbClr val="11a2df"/>
              </a:gs>
              <a:gs pos="86000">
                <a:srgbClr val="0fa1df"/>
              </a:gs>
              <a:gs pos="87555">
                <a:srgbClr val="0fa1df"/>
              </a:gs>
              <a:gs pos="87555">
                <a:srgbClr val="0da0df"/>
              </a:gs>
              <a:gs pos="89112">
                <a:srgbClr val="0da0df"/>
              </a:gs>
              <a:gs pos="89112">
                <a:srgbClr val="0b9fdf"/>
              </a:gs>
              <a:gs pos="90667">
                <a:srgbClr val="0b9fdf"/>
              </a:gs>
              <a:gs pos="90667">
                <a:srgbClr val="099fde"/>
              </a:gs>
              <a:gs pos="92223">
                <a:srgbClr val="099fde"/>
              </a:gs>
              <a:gs pos="92223">
                <a:srgbClr val="089ede"/>
              </a:gs>
              <a:gs pos="93778">
                <a:srgbClr val="089ede"/>
              </a:gs>
              <a:gs pos="93778">
                <a:srgbClr val="069dde"/>
              </a:gs>
              <a:gs pos="95334">
                <a:srgbClr val="069dde"/>
              </a:gs>
              <a:gs pos="95334">
                <a:srgbClr val="049cde"/>
              </a:gs>
              <a:gs pos="96889">
                <a:srgbClr val="049cde"/>
              </a:gs>
              <a:gs pos="96889">
                <a:srgbClr val="029cdd"/>
              </a:gs>
              <a:gs pos="98445">
                <a:srgbClr val="029cdd"/>
              </a:gs>
              <a:gs pos="98445">
                <a:srgbClr val="009bdd"/>
              </a:gs>
              <a:gs pos="100000">
                <a:srgbClr val="009bdd"/>
              </a:gs>
            </a:gsLst>
            <a:lin ang="10800000"/>
          </a:gradFill>
          <a:ln w="18000">
            <a:noFill/>
          </a:ln>
          <a:effectLst>
            <a:outerShdw blurRad="0" dir="5400000" dist="10800" rotWithShape="0">
              <a:srgbClr val="009bdd"/>
            </a:outerShdw>
          </a:effectLst>
        </p:spPr>
        <p:style>
          <a:lnRef idx="0"/>
          <a:fillRef idx="0"/>
          <a:effectRef idx="0"/>
          <a:fontRef idx="minor"/>
        </p:style>
        <p:txBody>
          <a:bodyPr wrap="none" lIns="90000" rIns="90000" tIns="45000" bIns="45000" anchor="ctr">
            <a:noAutofit/>
          </a:bodyPr>
          <a:p>
            <a:pPr>
              <a:lnSpc>
                <a:spcPct val="100000"/>
              </a:lnSpc>
            </a:pPr>
            <a:endParaRPr b="0" lang="en-US" sz="1800" strike="noStrike" u="none">
              <a:solidFill>
                <a:srgbClr val="000000"/>
              </a:solidFill>
              <a:effectLst/>
              <a:uFillTx/>
              <a:latin typeface="Arial"/>
              <a:ea typeface="DejaVu Sans"/>
            </a:endParaRPr>
          </a:p>
        </p:txBody>
      </p:sp>
      <p:sp>
        <p:nvSpPr>
          <p:cNvPr id="69" name="PlaceHolder 1"/>
          <p:cNvSpPr>
            <a:spLocks noGrp="1"/>
          </p:cNvSpPr>
          <p:nvPr>
            <p:ph type="title"/>
          </p:nvPr>
        </p:nvSpPr>
        <p:spPr>
          <a:xfrm>
            <a:off x="360000" y="274680"/>
            <a:ext cx="9342720" cy="274680"/>
          </a:xfrm>
          <a:prstGeom prst="rect">
            <a:avLst/>
          </a:prstGeom>
          <a:noFill/>
          <a:ln w="0">
            <a:noFill/>
          </a:ln>
        </p:spPr>
        <p:txBody>
          <a:bodyPr lIns="0" rIns="0" tIns="0" bIns="0" anchor="ctr">
            <a:spAutoFit/>
          </a:bodyPr>
          <a:p>
            <a:pPr indent="0">
              <a:lnSpc>
                <a:spcPct val="100000"/>
              </a:lnSpc>
              <a:buNone/>
              <a:tabLst>
                <a:tab algn="l" pos="0"/>
              </a:tabLst>
            </a:pPr>
            <a:r>
              <a:rPr b="0" lang="en-US" sz="1800" strike="noStrike" u="none">
                <a:solidFill>
                  <a:srgbClr val="000000"/>
                </a:solidFill>
                <a:effectLst/>
                <a:uFillTx/>
                <a:latin typeface="Arial"/>
              </a:rPr>
              <a:t>Click to edit the title text format</a:t>
            </a:r>
            <a:endParaRPr b="0" lang="en-US" sz="1800" strike="noStrike" u="none">
              <a:solidFill>
                <a:srgbClr val="000000"/>
              </a:solidFill>
              <a:effectLst/>
              <a:uFillTx/>
              <a:latin typeface="Arial"/>
            </a:endParaRPr>
          </a:p>
        </p:txBody>
      </p:sp>
      <p:sp>
        <p:nvSpPr>
          <p:cNvPr id="70" name="PlaceHolder 2"/>
          <p:cNvSpPr>
            <a:spLocks noGrp="1"/>
          </p:cNvSpPr>
          <p:nvPr>
            <p:ph type="body"/>
          </p:nvPr>
        </p:nvSpPr>
        <p:spPr>
          <a:xfrm>
            <a:off x="360000" y="1080000"/>
            <a:ext cx="9342720" cy="358272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lnSpc>
                <a:spcPct val="100000"/>
              </a:lnSpc>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lnSpc>
                <a:spcPct val="100000"/>
              </a:lnSpc>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lnSpc>
                <a:spcPct val="100000"/>
              </a:lnSpc>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lnSpc>
                <a:spcPct val="100000"/>
              </a:lnSpc>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lnSpc>
                <a:spcPct val="100000"/>
              </a:lnSpc>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lnSpc>
                <a:spcPct val="100000"/>
              </a:lnSpc>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71" name="PlaceHolder 3"/>
          <p:cNvSpPr>
            <a:spLocks noGrp="1"/>
          </p:cNvSpPr>
          <p:nvPr>
            <p:ph type="ftr" idx="34"/>
          </p:nvPr>
        </p:nvSpPr>
        <p:spPr>
          <a:xfrm>
            <a:off x="3420000" y="5220000"/>
            <a:ext cx="3222720" cy="342720"/>
          </a:xfrm>
          <a:prstGeom prst="rect">
            <a:avLst/>
          </a:prstGeom>
          <a:noFill/>
          <a:ln w="0">
            <a:noFill/>
          </a:ln>
        </p:spPr>
        <p:txBody>
          <a:bodyPr lIns="0" rIns="0" tIns="0" bIns="0" anchor="t">
            <a:noAutofit/>
          </a:bodyPr>
          <a:lstStyle>
            <a:lvl1pPr indent="0" algn="ctr">
              <a:lnSpc>
                <a:spcPct val="100000"/>
              </a:lnSpc>
              <a:buNone/>
              <a:tabLst>
                <a:tab algn="l" pos="0"/>
              </a:tabLst>
              <a:defRPr b="0" lang="en-US" sz="1400" strike="noStrike" u="none">
                <a:solidFill>
                  <a:srgbClr val="ffffff"/>
                </a:solidFill>
                <a:effectLst/>
                <a:uFillTx/>
                <a:latin typeface="Arial"/>
              </a:defRPr>
            </a:lvl1pPr>
          </a:lstStyle>
          <a:p>
            <a:pPr indent="0" algn="ctr">
              <a:lnSpc>
                <a:spcPct val="100000"/>
              </a:lnSpc>
              <a:buNone/>
              <a:tabLst>
                <a:tab algn="l" pos="0"/>
              </a:tabLst>
            </a:pPr>
            <a:r>
              <a:rPr b="0" lang="en-US" sz="1400" strike="noStrike" u="none">
                <a:solidFill>
                  <a:srgbClr val="ffffff"/>
                </a:solidFill>
                <a:effectLst/>
                <a:uFillTx/>
                <a:latin typeface="Arial"/>
              </a:rPr>
              <a:t>&lt;footer&gt;</a:t>
            </a:r>
            <a:endParaRPr b="0" lang="en-US" sz="1400" strike="noStrike" u="none">
              <a:solidFill>
                <a:srgbClr val="000000"/>
              </a:solidFill>
              <a:effectLst/>
              <a:uFillTx/>
              <a:latin typeface="Times New Roman"/>
            </a:endParaRPr>
          </a:p>
        </p:txBody>
      </p:sp>
      <p:sp>
        <p:nvSpPr>
          <p:cNvPr id="72" name="PlaceHolder 4"/>
          <p:cNvSpPr>
            <a:spLocks noGrp="1"/>
          </p:cNvSpPr>
          <p:nvPr>
            <p:ph type="sldNum" idx="35"/>
          </p:nvPr>
        </p:nvSpPr>
        <p:spPr>
          <a:xfrm>
            <a:off x="7380000" y="5220000"/>
            <a:ext cx="2322720" cy="342720"/>
          </a:xfrm>
          <a:prstGeom prst="rect">
            <a:avLst/>
          </a:prstGeom>
          <a:noFill/>
          <a:ln w="0">
            <a:noFill/>
          </a:ln>
        </p:spPr>
        <p:txBody>
          <a:bodyPr lIns="0" rIns="0" tIns="0" bIns="0" anchor="t">
            <a:noAutofit/>
          </a:bodyPr>
          <a:lstStyle>
            <a:lvl1pPr indent="0" algn="r">
              <a:lnSpc>
                <a:spcPct val="100000"/>
              </a:lnSpc>
              <a:buNone/>
              <a:tabLst>
                <a:tab algn="l" pos="0"/>
              </a:tabLst>
              <a:defRPr b="0" lang="en-US" sz="1400" strike="noStrike" u="none">
                <a:solidFill>
                  <a:srgbClr val="ffffff"/>
                </a:solidFill>
                <a:effectLst/>
                <a:uFillTx/>
                <a:latin typeface="Arial"/>
              </a:defRPr>
            </a:lvl1pPr>
          </a:lstStyle>
          <a:p>
            <a:pPr indent="0" algn="r">
              <a:lnSpc>
                <a:spcPct val="100000"/>
              </a:lnSpc>
              <a:buNone/>
              <a:tabLst>
                <a:tab algn="l" pos="0"/>
              </a:tabLst>
            </a:pPr>
            <a:fld id="{D046FC87-2E98-4F35-A0CF-87FAB525E3E8}" type="slidenum">
              <a:rPr b="0" lang="en-US" sz="1400" strike="noStrike" u="none">
                <a:solidFill>
                  <a:srgbClr val="ffffff"/>
                </a:solidFill>
                <a:effectLst/>
                <a:uFillTx/>
                <a:latin typeface="Arial"/>
              </a:rPr>
              <a:t>&lt;number&gt;</a:t>
            </a:fld>
            <a:endParaRPr b="0" lang="en-US" sz="1400" strike="noStrike" u="none">
              <a:solidFill>
                <a:srgbClr val="000000"/>
              </a:solidFill>
              <a:effectLst/>
              <a:uFillTx/>
              <a:latin typeface="Times New Roman"/>
            </a:endParaRPr>
          </a:p>
        </p:txBody>
      </p:sp>
      <p:sp>
        <p:nvSpPr>
          <p:cNvPr id="73" name="PlaceHolder 5"/>
          <p:cNvSpPr>
            <a:spLocks noGrp="1"/>
          </p:cNvSpPr>
          <p:nvPr>
            <p:ph type="dt" idx="36"/>
          </p:nvPr>
        </p:nvSpPr>
        <p:spPr>
          <a:xfrm>
            <a:off x="360000" y="5220000"/>
            <a:ext cx="2322720" cy="342720"/>
          </a:xfrm>
          <a:prstGeom prst="rect">
            <a:avLst/>
          </a:prstGeom>
          <a:noFill/>
          <a:ln w="0">
            <a:noFill/>
          </a:ln>
        </p:spPr>
        <p:txBody>
          <a:bodyPr lIns="0" rIns="0" tIns="0" bIns="0" anchor="t">
            <a:noAutofit/>
          </a:bodyPr>
          <a:lstStyle>
            <a:lvl1pPr indent="0">
              <a:lnSpc>
                <a:spcPct val="100000"/>
              </a:lnSpc>
              <a:buNone/>
              <a:tabLst>
                <a:tab algn="l" pos="0"/>
              </a:tabLst>
              <a:defRPr b="0" lang="en-US" sz="1400" strike="noStrike" u="none">
                <a:solidFill>
                  <a:srgbClr val="000000"/>
                </a:solidFill>
                <a:effectLst/>
                <a:uFillTx/>
                <a:latin typeface="Times New Roman"/>
              </a:defRPr>
            </a:lvl1pPr>
          </a:lstStyle>
          <a:p>
            <a:pPr indent="0">
              <a:lnSpc>
                <a:spcPct val="100000"/>
              </a:lnSpc>
              <a:buNone/>
              <a:tabLst>
                <a:tab algn="l" pos="0"/>
              </a:tabLst>
            </a:pPr>
            <a:r>
              <a:rPr b="0" lang="en-US" sz="1400" strike="noStrike" u="none">
                <a:solidFill>
                  <a:srgbClr val="000000"/>
                </a:solidFill>
                <a:effectLst/>
                <a:uFillTx/>
                <a:latin typeface="Times New Roman"/>
              </a:rPr>
              <a:t>&lt;date/time&gt;</a:t>
            </a:r>
            <a:endParaRPr b="0" lang="en-US" sz="1400" strike="noStrike" u="none">
              <a:solidFill>
                <a:srgbClr val="000000"/>
              </a:solidFill>
              <a:effectLst/>
              <a:uFillTx/>
              <a:latin typeface="Times New Roman"/>
            </a:endParaRP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8">
    <p:spTree>
      <p:nvGrpSpPr>
        <p:cNvPr id="1" name=""/>
        <p:cNvGrpSpPr/>
        <p:nvPr/>
      </p:nvGrpSpPr>
      <p:grpSpPr>
        <a:xfrm>
          <a:off x="0" y="0"/>
          <a:ext cx="0" cy="0"/>
          <a:chOff x="0" y="0"/>
          <a:chExt cx="0" cy="0"/>
        </a:xfrm>
      </p:grpSpPr>
      <p:sp>
        <p:nvSpPr>
          <p:cNvPr id="74" name=""/>
          <p:cNvSpPr/>
          <p:nvPr/>
        </p:nvSpPr>
        <p:spPr>
          <a:xfrm>
            <a:off x="0" y="0"/>
            <a:ext cx="10059480" cy="702720"/>
          </a:xfrm>
          <a:prstGeom prst="rect">
            <a:avLst/>
          </a:prstGeom>
          <a:gradFill rotWithShape="0">
            <a:gsLst>
              <a:gs pos="2000">
                <a:srgbClr val="77caee"/>
              </a:gs>
              <a:gs pos="2000">
                <a:srgbClr val="75c9ee"/>
              </a:gs>
              <a:gs pos="3555">
                <a:srgbClr val="75c9ee"/>
              </a:gs>
              <a:gs pos="3555">
                <a:srgbClr val="73c9ed"/>
              </a:gs>
              <a:gs pos="5111">
                <a:srgbClr val="73c9ed"/>
              </a:gs>
              <a:gs pos="5111">
                <a:srgbClr val="71c8ed"/>
              </a:gs>
              <a:gs pos="6666">
                <a:srgbClr val="71c8ed"/>
              </a:gs>
              <a:gs pos="6666">
                <a:srgbClr val="6fc7ed"/>
              </a:gs>
              <a:gs pos="8222">
                <a:srgbClr val="6fc7ed"/>
              </a:gs>
              <a:gs pos="8222">
                <a:srgbClr val="6ec6ed"/>
              </a:gs>
              <a:gs pos="9777">
                <a:srgbClr val="6ec6ed"/>
              </a:gs>
              <a:gs pos="9777">
                <a:srgbClr val="6cc6ec"/>
              </a:gs>
              <a:gs pos="11333">
                <a:srgbClr val="6cc6ec"/>
              </a:gs>
              <a:gs pos="11333">
                <a:srgbClr val="6ac5ec"/>
              </a:gs>
              <a:gs pos="12888">
                <a:srgbClr val="6ac5ec"/>
              </a:gs>
              <a:gs pos="12888">
                <a:srgbClr val="68c4ec"/>
              </a:gs>
              <a:gs pos="14445">
                <a:srgbClr val="68c4ec"/>
              </a:gs>
              <a:gs pos="14445">
                <a:srgbClr val="66c3ec"/>
              </a:gs>
              <a:gs pos="16000">
                <a:srgbClr val="66c3ec"/>
              </a:gs>
              <a:gs pos="16000">
                <a:srgbClr val="64c3eb"/>
              </a:gs>
              <a:gs pos="17556">
                <a:srgbClr val="64c3eb"/>
              </a:gs>
              <a:gs pos="17556">
                <a:srgbClr val="62c2eb"/>
              </a:gs>
              <a:gs pos="19111">
                <a:srgbClr val="62c2eb"/>
              </a:gs>
              <a:gs pos="19111">
                <a:srgbClr val="60c1eb"/>
              </a:gs>
              <a:gs pos="20667">
                <a:srgbClr val="60c1eb"/>
              </a:gs>
              <a:gs pos="20667">
                <a:srgbClr val="5ec0ea"/>
              </a:gs>
              <a:gs pos="22222">
                <a:srgbClr val="5ec0ea"/>
              </a:gs>
              <a:gs pos="22222">
                <a:srgbClr val="5dc0ea"/>
              </a:gs>
              <a:gs pos="23778">
                <a:srgbClr val="5dc0ea"/>
              </a:gs>
              <a:gs pos="23778">
                <a:srgbClr val="5bbfea"/>
              </a:gs>
              <a:gs pos="25333">
                <a:srgbClr val="5bbfea"/>
              </a:gs>
              <a:gs pos="25333">
                <a:srgbClr val="59beea"/>
              </a:gs>
              <a:gs pos="26889">
                <a:srgbClr val="59beea"/>
              </a:gs>
              <a:gs pos="26889">
                <a:srgbClr val="57bde9"/>
              </a:gs>
              <a:gs pos="28444">
                <a:srgbClr val="57bde9"/>
              </a:gs>
              <a:gs pos="28444">
                <a:srgbClr val="55bde9"/>
              </a:gs>
              <a:gs pos="30000">
                <a:srgbClr val="55bde9"/>
              </a:gs>
              <a:gs pos="30000">
                <a:srgbClr val="53bce9"/>
              </a:gs>
              <a:gs pos="31555">
                <a:srgbClr val="53bce9"/>
              </a:gs>
              <a:gs pos="31555">
                <a:srgbClr val="51bbe9"/>
              </a:gs>
              <a:gs pos="33111">
                <a:srgbClr val="51bbe9"/>
              </a:gs>
              <a:gs pos="33111">
                <a:srgbClr val="4fbae8"/>
              </a:gs>
              <a:gs pos="34666">
                <a:srgbClr val="4fbae8"/>
              </a:gs>
              <a:gs pos="34666">
                <a:srgbClr val="4dbae8"/>
              </a:gs>
              <a:gs pos="36222">
                <a:srgbClr val="4dbae8"/>
              </a:gs>
              <a:gs pos="36222">
                <a:srgbClr val="4cb9e8"/>
              </a:gs>
              <a:gs pos="37777">
                <a:srgbClr val="4cb9e8"/>
              </a:gs>
              <a:gs pos="37777">
                <a:srgbClr val="4ab8e8"/>
              </a:gs>
              <a:gs pos="39334">
                <a:srgbClr val="4ab8e8"/>
              </a:gs>
              <a:gs pos="39334">
                <a:srgbClr val="48b7e7"/>
              </a:gs>
              <a:gs pos="40889">
                <a:srgbClr val="48b7e7"/>
              </a:gs>
              <a:gs pos="40889">
                <a:srgbClr val="46b7e7"/>
              </a:gs>
              <a:gs pos="42445">
                <a:srgbClr val="46b7e7"/>
              </a:gs>
              <a:gs pos="42445">
                <a:srgbClr val="44b6e7"/>
              </a:gs>
              <a:gs pos="44000">
                <a:srgbClr val="44b6e7"/>
              </a:gs>
              <a:gs pos="44000">
                <a:srgbClr val="42b5e6"/>
              </a:gs>
              <a:gs pos="45556">
                <a:srgbClr val="42b5e6"/>
              </a:gs>
              <a:gs pos="45556">
                <a:srgbClr val="40b4e6"/>
              </a:gs>
              <a:gs pos="47111">
                <a:srgbClr val="40b4e6"/>
              </a:gs>
              <a:gs pos="47111">
                <a:srgbClr val="3eb4e6"/>
              </a:gs>
              <a:gs pos="48667">
                <a:srgbClr val="3eb4e6"/>
              </a:gs>
              <a:gs pos="48667">
                <a:srgbClr val="3cb3e6"/>
              </a:gs>
              <a:gs pos="50222">
                <a:srgbClr val="3cb3e6"/>
              </a:gs>
              <a:gs pos="50222">
                <a:srgbClr val="3bb2e5"/>
              </a:gs>
              <a:gs pos="51778">
                <a:srgbClr val="3bb2e5"/>
              </a:gs>
              <a:gs pos="51778">
                <a:srgbClr val="39b1e5"/>
              </a:gs>
              <a:gs pos="53333">
                <a:srgbClr val="39b1e5"/>
              </a:gs>
              <a:gs pos="53333">
                <a:srgbClr val="37b1e5"/>
              </a:gs>
              <a:gs pos="54889">
                <a:srgbClr val="37b1e5"/>
              </a:gs>
              <a:gs pos="54889">
                <a:srgbClr val="35b0e5"/>
              </a:gs>
              <a:gs pos="56444">
                <a:srgbClr val="35b0e5"/>
              </a:gs>
              <a:gs pos="56444">
                <a:srgbClr val="33afe4"/>
              </a:gs>
              <a:gs pos="58000">
                <a:srgbClr val="33afe4"/>
              </a:gs>
              <a:gs pos="58000">
                <a:srgbClr val="31aee4"/>
              </a:gs>
              <a:gs pos="59555">
                <a:srgbClr val="31aee4"/>
              </a:gs>
              <a:gs pos="59555">
                <a:srgbClr val="2faee4"/>
              </a:gs>
              <a:gs pos="61111">
                <a:srgbClr val="2faee4"/>
              </a:gs>
              <a:gs pos="61111">
                <a:srgbClr val="2dade3"/>
              </a:gs>
              <a:gs pos="62666">
                <a:srgbClr val="2dade3"/>
              </a:gs>
              <a:gs pos="62666">
                <a:srgbClr val="2bace3"/>
              </a:gs>
              <a:gs pos="64223">
                <a:srgbClr val="2bace3"/>
              </a:gs>
              <a:gs pos="64223">
                <a:srgbClr val="2aabe3"/>
              </a:gs>
              <a:gs pos="65778">
                <a:srgbClr val="2aabe3"/>
              </a:gs>
              <a:gs pos="65778">
                <a:srgbClr val="28abe3"/>
              </a:gs>
              <a:gs pos="67334">
                <a:srgbClr val="28abe3"/>
              </a:gs>
              <a:gs pos="67334">
                <a:srgbClr val="26aae2"/>
              </a:gs>
              <a:gs pos="68889">
                <a:srgbClr val="26aae2"/>
              </a:gs>
              <a:gs pos="68889">
                <a:srgbClr val="24a9e2"/>
              </a:gs>
              <a:gs pos="70445">
                <a:srgbClr val="24a9e2"/>
              </a:gs>
              <a:gs pos="70445">
                <a:srgbClr val="22a8e2"/>
              </a:gs>
              <a:gs pos="72000">
                <a:srgbClr val="22a8e2"/>
              </a:gs>
              <a:gs pos="72000">
                <a:srgbClr val="20a8e2"/>
              </a:gs>
              <a:gs pos="73556">
                <a:srgbClr val="20a8e2"/>
              </a:gs>
              <a:gs pos="73556">
                <a:srgbClr val="1ea7e1"/>
              </a:gs>
              <a:gs pos="75111">
                <a:srgbClr val="1ea7e1"/>
              </a:gs>
              <a:gs pos="75111">
                <a:srgbClr val="1ca6e1"/>
              </a:gs>
              <a:gs pos="76667">
                <a:srgbClr val="1ca6e1"/>
              </a:gs>
              <a:gs pos="76667">
                <a:srgbClr val="1aa5e1"/>
              </a:gs>
              <a:gs pos="78222">
                <a:srgbClr val="1aa5e1"/>
              </a:gs>
              <a:gs pos="78222">
                <a:srgbClr val="19a5e1"/>
              </a:gs>
              <a:gs pos="79778">
                <a:srgbClr val="19a5e1"/>
              </a:gs>
              <a:gs pos="79778">
                <a:srgbClr val="17a4e0"/>
              </a:gs>
              <a:gs pos="81333">
                <a:srgbClr val="17a4e0"/>
              </a:gs>
              <a:gs pos="81333">
                <a:srgbClr val="15a3e0"/>
              </a:gs>
              <a:gs pos="82889">
                <a:srgbClr val="15a3e0"/>
              </a:gs>
              <a:gs pos="82889">
                <a:srgbClr val="13a2e0"/>
              </a:gs>
              <a:gs pos="84444">
                <a:srgbClr val="13a2e0"/>
              </a:gs>
              <a:gs pos="84444">
                <a:srgbClr val="11a2df"/>
              </a:gs>
              <a:gs pos="86000">
                <a:srgbClr val="11a2df"/>
              </a:gs>
              <a:gs pos="86000">
                <a:srgbClr val="0fa1df"/>
              </a:gs>
              <a:gs pos="87555">
                <a:srgbClr val="0fa1df"/>
              </a:gs>
              <a:gs pos="87555">
                <a:srgbClr val="0da0df"/>
              </a:gs>
              <a:gs pos="89112">
                <a:srgbClr val="0da0df"/>
              </a:gs>
              <a:gs pos="89112">
                <a:srgbClr val="0b9fdf"/>
              </a:gs>
              <a:gs pos="90667">
                <a:srgbClr val="0b9fdf"/>
              </a:gs>
              <a:gs pos="90667">
                <a:srgbClr val="099fde"/>
              </a:gs>
              <a:gs pos="92223">
                <a:srgbClr val="099fde"/>
              </a:gs>
              <a:gs pos="92223">
                <a:srgbClr val="089ede"/>
              </a:gs>
              <a:gs pos="93778">
                <a:srgbClr val="089ede"/>
              </a:gs>
              <a:gs pos="93778">
                <a:srgbClr val="069dde"/>
              </a:gs>
              <a:gs pos="95334">
                <a:srgbClr val="069dde"/>
              </a:gs>
              <a:gs pos="95334">
                <a:srgbClr val="049cde"/>
              </a:gs>
              <a:gs pos="96889">
                <a:srgbClr val="049cde"/>
              </a:gs>
              <a:gs pos="96889">
                <a:srgbClr val="029cdd"/>
              </a:gs>
              <a:gs pos="98445">
                <a:srgbClr val="029cdd"/>
              </a:gs>
              <a:gs pos="98445">
                <a:srgbClr val="009bdd"/>
              </a:gs>
              <a:gs pos="100000">
                <a:srgbClr val="009bdd"/>
              </a:gs>
            </a:gsLst>
            <a:lin ang="10800000"/>
          </a:gradFill>
          <a:ln w="18000">
            <a:noFill/>
          </a:ln>
          <a:effectLst>
            <a:outerShdw blurRad="0" dir="5400000" dist="10800" rotWithShape="0">
              <a:srgbClr val="009bdd"/>
            </a:outerShdw>
          </a:effectLst>
        </p:spPr>
        <p:style>
          <a:lnRef idx="0"/>
          <a:fillRef idx="0"/>
          <a:effectRef idx="0"/>
          <a:fontRef idx="minor"/>
        </p:style>
        <p:txBody>
          <a:bodyPr wrap="none" lIns="90000" rIns="90000" tIns="45000" bIns="45000" anchor="ctr">
            <a:noAutofit/>
          </a:bodyPr>
          <a:p>
            <a:pPr>
              <a:lnSpc>
                <a:spcPct val="100000"/>
              </a:lnSpc>
            </a:pPr>
            <a:endParaRPr b="0" lang="en-US" sz="1800" strike="noStrike" u="none">
              <a:solidFill>
                <a:srgbClr val="000000"/>
              </a:solidFill>
              <a:effectLst/>
              <a:uFillTx/>
              <a:latin typeface="Arial"/>
              <a:ea typeface="DejaVu Sans"/>
            </a:endParaRPr>
          </a:p>
        </p:txBody>
      </p:sp>
      <p:sp>
        <p:nvSpPr>
          <p:cNvPr id="75" name="PlaceHolder 1"/>
          <p:cNvSpPr>
            <a:spLocks noGrp="1"/>
          </p:cNvSpPr>
          <p:nvPr>
            <p:ph type="ftr" idx="37"/>
          </p:nvPr>
        </p:nvSpPr>
        <p:spPr>
          <a:xfrm>
            <a:off x="3420000" y="5220000"/>
            <a:ext cx="3222720" cy="342720"/>
          </a:xfrm>
          <a:prstGeom prst="rect">
            <a:avLst/>
          </a:prstGeom>
          <a:noFill/>
          <a:ln w="0">
            <a:noFill/>
          </a:ln>
        </p:spPr>
        <p:txBody>
          <a:bodyPr lIns="0" rIns="0" tIns="0" bIns="0" anchor="t">
            <a:noAutofit/>
          </a:bodyPr>
          <a:lstStyle>
            <a:lvl1pPr indent="0" algn="ctr">
              <a:lnSpc>
                <a:spcPct val="100000"/>
              </a:lnSpc>
              <a:buNone/>
              <a:tabLst>
                <a:tab algn="l" pos="0"/>
              </a:tabLst>
              <a:defRPr b="0" lang="en-US" sz="1400" strike="noStrike" u="none">
                <a:solidFill>
                  <a:srgbClr val="ffffff"/>
                </a:solidFill>
                <a:effectLst/>
                <a:uFillTx/>
                <a:latin typeface="Arial"/>
              </a:defRPr>
            </a:lvl1pPr>
          </a:lstStyle>
          <a:p>
            <a:pPr indent="0" algn="ctr">
              <a:lnSpc>
                <a:spcPct val="100000"/>
              </a:lnSpc>
              <a:buNone/>
              <a:tabLst>
                <a:tab algn="l" pos="0"/>
              </a:tabLst>
            </a:pPr>
            <a:r>
              <a:rPr b="0" lang="en-US" sz="1400" strike="noStrike" u="none">
                <a:solidFill>
                  <a:srgbClr val="ffffff"/>
                </a:solidFill>
                <a:effectLst/>
                <a:uFillTx/>
                <a:latin typeface="Arial"/>
              </a:rPr>
              <a:t>&lt;footer&gt;</a:t>
            </a:r>
            <a:endParaRPr b="0" lang="en-US" sz="1400" strike="noStrike" u="none">
              <a:solidFill>
                <a:srgbClr val="000000"/>
              </a:solidFill>
              <a:effectLst/>
              <a:uFillTx/>
              <a:latin typeface="Times New Roman"/>
            </a:endParaRPr>
          </a:p>
        </p:txBody>
      </p:sp>
      <p:sp>
        <p:nvSpPr>
          <p:cNvPr id="76" name="PlaceHolder 2"/>
          <p:cNvSpPr>
            <a:spLocks noGrp="1"/>
          </p:cNvSpPr>
          <p:nvPr>
            <p:ph type="sldNum" idx="38"/>
          </p:nvPr>
        </p:nvSpPr>
        <p:spPr>
          <a:xfrm>
            <a:off x="7380000" y="5220000"/>
            <a:ext cx="2322720" cy="342720"/>
          </a:xfrm>
          <a:prstGeom prst="rect">
            <a:avLst/>
          </a:prstGeom>
          <a:noFill/>
          <a:ln w="0">
            <a:noFill/>
          </a:ln>
        </p:spPr>
        <p:txBody>
          <a:bodyPr lIns="0" rIns="0" tIns="0" bIns="0" anchor="t">
            <a:noAutofit/>
          </a:bodyPr>
          <a:lstStyle>
            <a:lvl1pPr indent="0" algn="r">
              <a:lnSpc>
                <a:spcPct val="100000"/>
              </a:lnSpc>
              <a:buNone/>
              <a:tabLst>
                <a:tab algn="l" pos="0"/>
              </a:tabLst>
              <a:defRPr b="0" lang="en-US" sz="1400" strike="noStrike" u="none">
                <a:solidFill>
                  <a:srgbClr val="ffffff"/>
                </a:solidFill>
                <a:effectLst/>
                <a:uFillTx/>
                <a:latin typeface="Arial"/>
              </a:defRPr>
            </a:lvl1pPr>
          </a:lstStyle>
          <a:p>
            <a:pPr indent="0" algn="r">
              <a:lnSpc>
                <a:spcPct val="100000"/>
              </a:lnSpc>
              <a:buNone/>
              <a:tabLst>
                <a:tab algn="l" pos="0"/>
              </a:tabLst>
            </a:pPr>
            <a:fld id="{CFCCD124-D963-4C52-BD48-175B8CE09103}" type="slidenum">
              <a:rPr b="0" lang="en-US" sz="1400" strike="noStrike" u="none">
                <a:solidFill>
                  <a:srgbClr val="ffffff"/>
                </a:solidFill>
                <a:effectLst/>
                <a:uFillTx/>
                <a:latin typeface="Arial"/>
              </a:rPr>
              <a:t>&lt;number&gt;</a:t>
            </a:fld>
            <a:endParaRPr b="0" lang="en-US" sz="1400" strike="noStrike" u="none">
              <a:solidFill>
                <a:srgbClr val="000000"/>
              </a:solidFill>
              <a:effectLst/>
              <a:uFillTx/>
              <a:latin typeface="Times New Roman"/>
            </a:endParaRPr>
          </a:p>
        </p:txBody>
      </p:sp>
      <p:sp>
        <p:nvSpPr>
          <p:cNvPr id="77" name="PlaceHolder 3"/>
          <p:cNvSpPr>
            <a:spLocks noGrp="1"/>
          </p:cNvSpPr>
          <p:nvPr>
            <p:ph type="dt" idx="39"/>
          </p:nvPr>
        </p:nvSpPr>
        <p:spPr>
          <a:xfrm>
            <a:off x="360000" y="5220000"/>
            <a:ext cx="2322720" cy="342720"/>
          </a:xfrm>
          <a:prstGeom prst="rect">
            <a:avLst/>
          </a:prstGeom>
          <a:noFill/>
          <a:ln w="0">
            <a:noFill/>
          </a:ln>
        </p:spPr>
        <p:txBody>
          <a:bodyPr lIns="0" rIns="0" tIns="0" bIns="0" anchor="t">
            <a:noAutofit/>
          </a:bodyPr>
          <a:lstStyle>
            <a:lvl1pPr indent="0">
              <a:lnSpc>
                <a:spcPct val="100000"/>
              </a:lnSpc>
              <a:buNone/>
              <a:tabLst>
                <a:tab algn="l" pos="0"/>
              </a:tabLst>
              <a:defRPr b="0" lang="en-US" sz="1400" strike="noStrike" u="none">
                <a:solidFill>
                  <a:srgbClr val="000000"/>
                </a:solidFill>
                <a:effectLst/>
                <a:uFillTx/>
                <a:latin typeface="Times New Roman"/>
              </a:defRPr>
            </a:lvl1pPr>
          </a:lstStyle>
          <a:p>
            <a:pPr indent="0">
              <a:lnSpc>
                <a:spcPct val="100000"/>
              </a:lnSpc>
              <a:buNone/>
              <a:tabLst>
                <a:tab algn="l" pos="0"/>
              </a:tabLst>
            </a:pPr>
            <a:r>
              <a:rPr b="0" lang="en-US" sz="1400" strike="noStrike" u="none">
                <a:solidFill>
                  <a:srgbClr val="000000"/>
                </a:solidFill>
                <a:effectLst/>
                <a:uFillTx/>
                <a:latin typeface="Times New Roman"/>
              </a:rPr>
              <a:t>&lt;date/time&gt;</a:t>
            </a:r>
            <a:endParaRPr b="0" lang="en-US" sz="1400" strike="noStrike" u="none">
              <a:solidFill>
                <a:srgbClr val="000000"/>
              </a:solidFill>
              <a:effectLst/>
              <a:uFillTx/>
              <a:latin typeface="Times New Roman"/>
            </a:endParaRPr>
          </a:p>
        </p:txBody>
      </p:sp>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Blue_Curve1">
    <p:spTree>
      <p:nvGrpSpPr>
        <p:cNvPr id="1" name=""/>
        <p:cNvGrpSpPr/>
        <p:nvPr/>
      </p:nvGrpSpPr>
      <p:grpSpPr>
        <a:xfrm>
          <a:off x="0" y="0"/>
          <a:ext cx="0" cy="0"/>
          <a:chOff x="0" y="0"/>
          <a:chExt cx="0" cy="0"/>
        </a:xfrm>
      </p:grpSpPr>
      <p:sp>
        <p:nvSpPr>
          <p:cNvPr id="78" name=""/>
          <p:cNvSpPr/>
          <p:nvPr/>
        </p:nvSpPr>
        <p:spPr>
          <a:xfrm>
            <a:off x="0" y="0"/>
            <a:ext cx="10059480" cy="702720"/>
          </a:xfrm>
          <a:prstGeom prst="rect">
            <a:avLst/>
          </a:prstGeom>
          <a:gradFill rotWithShape="0">
            <a:gsLst>
              <a:gs pos="2000">
                <a:srgbClr val="77caee"/>
              </a:gs>
              <a:gs pos="2000">
                <a:srgbClr val="75c9ee"/>
              </a:gs>
              <a:gs pos="3555">
                <a:srgbClr val="75c9ee"/>
              </a:gs>
              <a:gs pos="3555">
                <a:srgbClr val="73c9ed"/>
              </a:gs>
              <a:gs pos="5111">
                <a:srgbClr val="73c9ed"/>
              </a:gs>
              <a:gs pos="5111">
                <a:srgbClr val="71c8ed"/>
              </a:gs>
              <a:gs pos="6666">
                <a:srgbClr val="71c8ed"/>
              </a:gs>
              <a:gs pos="6666">
                <a:srgbClr val="6fc7ed"/>
              </a:gs>
              <a:gs pos="8222">
                <a:srgbClr val="6fc7ed"/>
              </a:gs>
              <a:gs pos="8222">
                <a:srgbClr val="6ec6ed"/>
              </a:gs>
              <a:gs pos="9777">
                <a:srgbClr val="6ec6ed"/>
              </a:gs>
              <a:gs pos="9777">
                <a:srgbClr val="6cc6ec"/>
              </a:gs>
              <a:gs pos="11333">
                <a:srgbClr val="6cc6ec"/>
              </a:gs>
              <a:gs pos="11333">
                <a:srgbClr val="6ac5ec"/>
              </a:gs>
              <a:gs pos="12888">
                <a:srgbClr val="6ac5ec"/>
              </a:gs>
              <a:gs pos="12888">
                <a:srgbClr val="68c4ec"/>
              </a:gs>
              <a:gs pos="14445">
                <a:srgbClr val="68c4ec"/>
              </a:gs>
              <a:gs pos="14445">
                <a:srgbClr val="66c3ec"/>
              </a:gs>
              <a:gs pos="16000">
                <a:srgbClr val="66c3ec"/>
              </a:gs>
              <a:gs pos="16000">
                <a:srgbClr val="64c3eb"/>
              </a:gs>
              <a:gs pos="17556">
                <a:srgbClr val="64c3eb"/>
              </a:gs>
              <a:gs pos="17556">
                <a:srgbClr val="62c2eb"/>
              </a:gs>
              <a:gs pos="19111">
                <a:srgbClr val="62c2eb"/>
              </a:gs>
              <a:gs pos="19111">
                <a:srgbClr val="60c1eb"/>
              </a:gs>
              <a:gs pos="20667">
                <a:srgbClr val="60c1eb"/>
              </a:gs>
              <a:gs pos="20667">
                <a:srgbClr val="5ec0ea"/>
              </a:gs>
              <a:gs pos="22222">
                <a:srgbClr val="5ec0ea"/>
              </a:gs>
              <a:gs pos="22222">
                <a:srgbClr val="5dc0ea"/>
              </a:gs>
              <a:gs pos="23778">
                <a:srgbClr val="5dc0ea"/>
              </a:gs>
              <a:gs pos="23778">
                <a:srgbClr val="5bbfea"/>
              </a:gs>
              <a:gs pos="25333">
                <a:srgbClr val="5bbfea"/>
              </a:gs>
              <a:gs pos="25333">
                <a:srgbClr val="59beea"/>
              </a:gs>
              <a:gs pos="26889">
                <a:srgbClr val="59beea"/>
              </a:gs>
              <a:gs pos="26889">
                <a:srgbClr val="57bde9"/>
              </a:gs>
              <a:gs pos="28444">
                <a:srgbClr val="57bde9"/>
              </a:gs>
              <a:gs pos="28444">
                <a:srgbClr val="55bde9"/>
              </a:gs>
              <a:gs pos="30000">
                <a:srgbClr val="55bde9"/>
              </a:gs>
              <a:gs pos="30000">
                <a:srgbClr val="53bce9"/>
              </a:gs>
              <a:gs pos="31555">
                <a:srgbClr val="53bce9"/>
              </a:gs>
              <a:gs pos="31555">
                <a:srgbClr val="51bbe9"/>
              </a:gs>
              <a:gs pos="33111">
                <a:srgbClr val="51bbe9"/>
              </a:gs>
              <a:gs pos="33111">
                <a:srgbClr val="4fbae8"/>
              </a:gs>
              <a:gs pos="34666">
                <a:srgbClr val="4fbae8"/>
              </a:gs>
              <a:gs pos="34666">
                <a:srgbClr val="4dbae8"/>
              </a:gs>
              <a:gs pos="36222">
                <a:srgbClr val="4dbae8"/>
              </a:gs>
              <a:gs pos="36222">
                <a:srgbClr val="4cb9e8"/>
              </a:gs>
              <a:gs pos="37777">
                <a:srgbClr val="4cb9e8"/>
              </a:gs>
              <a:gs pos="37777">
                <a:srgbClr val="4ab8e8"/>
              </a:gs>
              <a:gs pos="39334">
                <a:srgbClr val="4ab8e8"/>
              </a:gs>
              <a:gs pos="39334">
                <a:srgbClr val="48b7e7"/>
              </a:gs>
              <a:gs pos="40889">
                <a:srgbClr val="48b7e7"/>
              </a:gs>
              <a:gs pos="40889">
                <a:srgbClr val="46b7e7"/>
              </a:gs>
              <a:gs pos="42445">
                <a:srgbClr val="46b7e7"/>
              </a:gs>
              <a:gs pos="42445">
                <a:srgbClr val="44b6e7"/>
              </a:gs>
              <a:gs pos="44000">
                <a:srgbClr val="44b6e7"/>
              </a:gs>
              <a:gs pos="44000">
                <a:srgbClr val="42b5e6"/>
              </a:gs>
              <a:gs pos="45556">
                <a:srgbClr val="42b5e6"/>
              </a:gs>
              <a:gs pos="45556">
                <a:srgbClr val="40b4e6"/>
              </a:gs>
              <a:gs pos="47111">
                <a:srgbClr val="40b4e6"/>
              </a:gs>
              <a:gs pos="47111">
                <a:srgbClr val="3eb4e6"/>
              </a:gs>
              <a:gs pos="48667">
                <a:srgbClr val="3eb4e6"/>
              </a:gs>
              <a:gs pos="48667">
                <a:srgbClr val="3cb3e6"/>
              </a:gs>
              <a:gs pos="50222">
                <a:srgbClr val="3cb3e6"/>
              </a:gs>
              <a:gs pos="50222">
                <a:srgbClr val="3bb2e5"/>
              </a:gs>
              <a:gs pos="51778">
                <a:srgbClr val="3bb2e5"/>
              </a:gs>
              <a:gs pos="51778">
                <a:srgbClr val="39b1e5"/>
              </a:gs>
              <a:gs pos="53333">
                <a:srgbClr val="39b1e5"/>
              </a:gs>
              <a:gs pos="53333">
                <a:srgbClr val="37b1e5"/>
              </a:gs>
              <a:gs pos="54889">
                <a:srgbClr val="37b1e5"/>
              </a:gs>
              <a:gs pos="54889">
                <a:srgbClr val="35b0e5"/>
              </a:gs>
              <a:gs pos="56444">
                <a:srgbClr val="35b0e5"/>
              </a:gs>
              <a:gs pos="56444">
                <a:srgbClr val="33afe4"/>
              </a:gs>
              <a:gs pos="58000">
                <a:srgbClr val="33afe4"/>
              </a:gs>
              <a:gs pos="58000">
                <a:srgbClr val="31aee4"/>
              </a:gs>
              <a:gs pos="59555">
                <a:srgbClr val="31aee4"/>
              </a:gs>
              <a:gs pos="59555">
                <a:srgbClr val="2faee4"/>
              </a:gs>
              <a:gs pos="61111">
                <a:srgbClr val="2faee4"/>
              </a:gs>
              <a:gs pos="61111">
                <a:srgbClr val="2dade3"/>
              </a:gs>
              <a:gs pos="62666">
                <a:srgbClr val="2dade3"/>
              </a:gs>
              <a:gs pos="62666">
                <a:srgbClr val="2bace3"/>
              </a:gs>
              <a:gs pos="64223">
                <a:srgbClr val="2bace3"/>
              </a:gs>
              <a:gs pos="64223">
                <a:srgbClr val="2aabe3"/>
              </a:gs>
              <a:gs pos="65778">
                <a:srgbClr val="2aabe3"/>
              </a:gs>
              <a:gs pos="65778">
                <a:srgbClr val="28abe3"/>
              </a:gs>
              <a:gs pos="67334">
                <a:srgbClr val="28abe3"/>
              </a:gs>
              <a:gs pos="67334">
                <a:srgbClr val="26aae2"/>
              </a:gs>
              <a:gs pos="68889">
                <a:srgbClr val="26aae2"/>
              </a:gs>
              <a:gs pos="68889">
                <a:srgbClr val="24a9e2"/>
              </a:gs>
              <a:gs pos="70445">
                <a:srgbClr val="24a9e2"/>
              </a:gs>
              <a:gs pos="70445">
                <a:srgbClr val="22a8e2"/>
              </a:gs>
              <a:gs pos="72000">
                <a:srgbClr val="22a8e2"/>
              </a:gs>
              <a:gs pos="72000">
                <a:srgbClr val="20a8e2"/>
              </a:gs>
              <a:gs pos="73556">
                <a:srgbClr val="20a8e2"/>
              </a:gs>
              <a:gs pos="73556">
                <a:srgbClr val="1ea7e1"/>
              </a:gs>
              <a:gs pos="75111">
                <a:srgbClr val="1ea7e1"/>
              </a:gs>
              <a:gs pos="75111">
                <a:srgbClr val="1ca6e1"/>
              </a:gs>
              <a:gs pos="76667">
                <a:srgbClr val="1ca6e1"/>
              </a:gs>
              <a:gs pos="76667">
                <a:srgbClr val="1aa5e1"/>
              </a:gs>
              <a:gs pos="78222">
                <a:srgbClr val="1aa5e1"/>
              </a:gs>
              <a:gs pos="78222">
                <a:srgbClr val="19a5e1"/>
              </a:gs>
              <a:gs pos="79778">
                <a:srgbClr val="19a5e1"/>
              </a:gs>
              <a:gs pos="79778">
                <a:srgbClr val="17a4e0"/>
              </a:gs>
              <a:gs pos="81333">
                <a:srgbClr val="17a4e0"/>
              </a:gs>
              <a:gs pos="81333">
                <a:srgbClr val="15a3e0"/>
              </a:gs>
              <a:gs pos="82889">
                <a:srgbClr val="15a3e0"/>
              </a:gs>
              <a:gs pos="82889">
                <a:srgbClr val="13a2e0"/>
              </a:gs>
              <a:gs pos="84444">
                <a:srgbClr val="13a2e0"/>
              </a:gs>
              <a:gs pos="84444">
                <a:srgbClr val="11a2df"/>
              </a:gs>
              <a:gs pos="86000">
                <a:srgbClr val="11a2df"/>
              </a:gs>
              <a:gs pos="86000">
                <a:srgbClr val="0fa1df"/>
              </a:gs>
              <a:gs pos="87555">
                <a:srgbClr val="0fa1df"/>
              </a:gs>
              <a:gs pos="87555">
                <a:srgbClr val="0da0df"/>
              </a:gs>
              <a:gs pos="89112">
                <a:srgbClr val="0da0df"/>
              </a:gs>
              <a:gs pos="89112">
                <a:srgbClr val="0b9fdf"/>
              </a:gs>
              <a:gs pos="90667">
                <a:srgbClr val="0b9fdf"/>
              </a:gs>
              <a:gs pos="90667">
                <a:srgbClr val="099fde"/>
              </a:gs>
              <a:gs pos="92223">
                <a:srgbClr val="099fde"/>
              </a:gs>
              <a:gs pos="92223">
                <a:srgbClr val="089ede"/>
              </a:gs>
              <a:gs pos="93778">
                <a:srgbClr val="089ede"/>
              </a:gs>
              <a:gs pos="93778">
                <a:srgbClr val="069dde"/>
              </a:gs>
              <a:gs pos="95334">
                <a:srgbClr val="069dde"/>
              </a:gs>
              <a:gs pos="95334">
                <a:srgbClr val="049cde"/>
              </a:gs>
              <a:gs pos="96889">
                <a:srgbClr val="049cde"/>
              </a:gs>
              <a:gs pos="96889">
                <a:srgbClr val="029cdd"/>
              </a:gs>
              <a:gs pos="98445">
                <a:srgbClr val="029cdd"/>
              </a:gs>
              <a:gs pos="98445">
                <a:srgbClr val="009bdd"/>
              </a:gs>
              <a:gs pos="100000">
                <a:srgbClr val="009bdd"/>
              </a:gs>
            </a:gsLst>
            <a:lin ang="10800000"/>
          </a:gradFill>
          <a:ln w="18000">
            <a:noFill/>
          </a:ln>
          <a:effectLst>
            <a:outerShdw blurRad="0" dir="5400000" dist="10800" rotWithShape="0">
              <a:srgbClr val="009bdd"/>
            </a:outerShdw>
          </a:effectLst>
        </p:spPr>
        <p:style>
          <a:lnRef idx="0"/>
          <a:fillRef idx="0"/>
          <a:effectRef idx="0"/>
          <a:fontRef idx="minor"/>
        </p:style>
        <p:txBody>
          <a:bodyPr wrap="none" lIns="90000" rIns="90000" tIns="45000" bIns="45000" anchor="ctr">
            <a:noAutofit/>
          </a:bodyPr>
          <a:p>
            <a:pPr>
              <a:lnSpc>
                <a:spcPct val="100000"/>
              </a:lnSpc>
            </a:pPr>
            <a:endParaRPr b="0" lang="en-US" sz="1800" strike="noStrike" u="none">
              <a:solidFill>
                <a:srgbClr val="000000"/>
              </a:solidFill>
              <a:effectLst/>
              <a:uFillTx/>
              <a:latin typeface="Arial"/>
              <a:ea typeface="DejaVu Sans"/>
            </a:endParaRPr>
          </a:p>
        </p:txBody>
      </p:sp>
      <p:sp>
        <p:nvSpPr>
          <p:cNvPr id="79" name="PlaceHolder 1"/>
          <p:cNvSpPr>
            <a:spLocks noGrp="1"/>
          </p:cNvSpPr>
          <p:nvPr>
            <p:ph type="title"/>
          </p:nvPr>
        </p:nvSpPr>
        <p:spPr>
          <a:xfrm>
            <a:off x="360000" y="274680"/>
            <a:ext cx="9342720" cy="274680"/>
          </a:xfrm>
          <a:prstGeom prst="rect">
            <a:avLst/>
          </a:prstGeom>
          <a:noFill/>
          <a:ln w="0">
            <a:noFill/>
          </a:ln>
        </p:spPr>
        <p:txBody>
          <a:bodyPr lIns="0" rIns="0" tIns="0" bIns="0" anchor="ctr">
            <a:spAutoFit/>
          </a:bodyPr>
          <a:p>
            <a:pPr indent="0">
              <a:lnSpc>
                <a:spcPct val="100000"/>
              </a:lnSpc>
              <a:buNone/>
              <a:tabLst>
                <a:tab algn="l" pos="0"/>
              </a:tabLst>
            </a:pPr>
            <a:r>
              <a:rPr b="0" lang="en-US" sz="1800" strike="noStrike" u="none">
                <a:solidFill>
                  <a:srgbClr val="000000"/>
                </a:solidFill>
                <a:effectLst/>
                <a:uFillTx/>
                <a:latin typeface="Arial"/>
              </a:rPr>
              <a:t>Click to edit the title text format</a:t>
            </a:r>
            <a:endParaRPr b="0" lang="en-US" sz="1800" strike="noStrike" u="none">
              <a:solidFill>
                <a:srgbClr val="000000"/>
              </a:solidFill>
              <a:effectLst/>
              <a:uFillTx/>
              <a:latin typeface="Arial"/>
            </a:endParaRPr>
          </a:p>
        </p:txBody>
      </p:sp>
      <p:sp>
        <p:nvSpPr>
          <p:cNvPr id="80" name="PlaceHolder 2"/>
          <p:cNvSpPr>
            <a:spLocks noGrp="1"/>
          </p:cNvSpPr>
          <p:nvPr>
            <p:ph type="body"/>
          </p:nvPr>
        </p:nvSpPr>
        <p:spPr>
          <a:xfrm>
            <a:off x="360000" y="1080000"/>
            <a:ext cx="9342720" cy="358272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lnSpc>
                <a:spcPct val="100000"/>
              </a:lnSpc>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lnSpc>
                <a:spcPct val="100000"/>
              </a:lnSpc>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lnSpc>
                <a:spcPct val="100000"/>
              </a:lnSpc>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lnSpc>
                <a:spcPct val="100000"/>
              </a:lnSpc>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lnSpc>
                <a:spcPct val="100000"/>
              </a:lnSpc>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lnSpc>
                <a:spcPct val="100000"/>
              </a:lnSpc>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81" name="PlaceHolder 3"/>
          <p:cNvSpPr>
            <a:spLocks noGrp="1"/>
          </p:cNvSpPr>
          <p:nvPr>
            <p:ph type="ftr" idx="40"/>
          </p:nvPr>
        </p:nvSpPr>
        <p:spPr>
          <a:xfrm>
            <a:off x="3420000" y="5220000"/>
            <a:ext cx="3222720" cy="342720"/>
          </a:xfrm>
          <a:prstGeom prst="rect">
            <a:avLst/>
          </a:prstGeom>
          <a:noFill/>
          <a:ln w="0">
            <a:noFill/>
          </a:ln>
        </p:spPr>
        <p:txBody>
          <a:bodyPr lIns="0" rIns="0" tIns="0" bIns="0" anchor="t">
            <a:noAutofit/>
          </a:bodyPr>
          <a:lstStyle>
            <a:lvl1pPr indent="0" algn="ctr">
              <a:lnSpc>
                <a:spcPct val="100000"/>
              </a:lnSpc>
              <a:buNone/>
              <a:tabLst>
                <a:tab algn="l" pos="0"/>
              </a:tabLst>
              <a:defRPr b="0" lang="en-US" sz="1400" strike="noStrike" u="none">
                <a:solidFill>
                  <a:srgbClr val="ffffff"/>
                </a:solidFill>
                <a:effectLst/>
                <a:uFillTx/>
                <a:latin typeface="Arial"/>
              </a:defRPr>
            </a:lvl1pPr>
          </a:lstStyle>
          <a:p>
            <a:pPr indent="0" algn="ctr">
              <a:lnSpc>
                <a:spcPct val="100000"/>
              </a:lnSpc>
              <a:buNone/>
              <a:tabLst>
                <a:tab algn="l" pos="0"/>
              </a:tabLst>
            </a:pPr>
            <a:r>
              <a:rPr b="0" lang="en-US" sz="1400" strike="noStrike" u="none">
                <a:solidFill>
                  <a:srgbClr val="ffffff"/>
                </a:solidFill>
                <a:effectLst/>
                <a:uFillTx/>
                <a:latin typeface="Arial"/>
              </a:rPr>
              <a:t>&lt;footer&gt;</a:t>
            </a:r>
            <a:endParaRPr b="0" lang="en-US" sz="1400" strike="noStrike" u="none">
              <a:solidFill>
                <a:srgbClr val="000000"/>
              </a:solidFill>
              <a:effectLst/>
              <a:uFillTx/>
              <a:latin typeface="Times New Roman"/>
            </a:endParaRPr>
          </a:p>
        </p:txBody>
      </p:sp>
      <p:sp>
        <p:nvSpPr>
          <p:cNvPr id="82" name="PlaceHolder 4"/>
          <p:cNvSpPr>
            <a:spLocks noGrp="1"/>
          </p:cNvSpPr>
          <p:nvPr>
            <p:ph type="sldNum" idx="41"/>
          </p:nvPr>
        </p:nvSpPr>
        <p:spPr>
          <a:xfrm>
            <a:off x="7380000" y="5220000"/>
            <a:ext cx="2322720" cy="342720"/>
          </a:xfrm>
          <a:prstGeom prst="rect">
            <a:avLst/>
          </a:prstGeom>
          <a:noFill/>
          <a:ln w="0">
            <a:noFill/>
          </a:ln>
        </p:spPr>
        <p:txBody>
          <a:bodyPr lIns="0" rIns="0" tIns="0" bIns="0" anchor="t">
            <a:noAutofit/>
          </a:bodyPr>
          <a:lstStyle>
            <a:lvl1pPr indent="0" algn="r">
              <a:lnSpc>
                <a:spcPct val="100000"/>
              </a:lnSpc>
              <a:buNone/>
              <a:tabLst>
                <a:tab algn="l" pos="0"/>
              </a:tabLst>
              <a:defRPr b="0" lang="en-US" sz="1400" strike="noStrike" u="none">
                <a:solidFill>
                  <a:srgbClr val="ffffff"/>
                </a:solidFill>
                <a:effectLst/>
                <a:uFillTx/>
                <a:latin typeface="Arial"/>
              </a:defRPr>
            </a:lvl1pPr>
          </a:lstStyle>
          <a:p>
            <a:pPr indent="0" algn="r">
              <a:lnSpc>
                <a:spcPct val="100000"/>
              </a:lnSpc>
              <a:buNone/>
              <a:tabLst>
                <a:tab algn="l" pos="0"/>
              </a:tabLst>
            </a:pPr>
            <a:fld id="{9DFFF4E7-57DC-4DDE-9702-B6A502D359EE}" type="slidenum">
              <a:rPr b="0" lang="en-US" sz="1400" strike="noStrike" u="none">
                <a:solidFill>
                  <a:srgbClr val="ffffff"/>
                </a:solidFill>
                <a:effectLst/>
                <a:uFillTx/>
                <a:latin typeface="Arial"/>
              </a:rPr>
              <a:t>&lt;number&gt;</a:t>
            </a:fld>
            <a:endParaRPr b="0" lang="en-US" sz="1400" strike="noStrike" u="none">
              <a:solidFill>
                <a:srgbClr val="000000"/>
              </a:solidFill>
              <a:effectLst/>
              <a:uFillTx/>
              <a:latin typeface="Times New Roman"/>
            </a:endParaRPr>
          </a:p>
        </p:txBody>
      </p:sp>
      <p:sp>
        <p:nvSpPr>
          <p:cNvPr id="83" name="PlaceHolder 5"/>
          <p:cNvSpPr>
            <a:spLocks noGrp="1"/>
          </p:cNvSpPr>
          <p:nvPr>
            <p:ph type="dt" idx="42"/>
          </p:nvPr>
        </p:nvSpPr>
        <p:spPr>
          <a:xfrm>
            <a:off x="360000" y="5220000"/>
            <a:ext cx="2322720" cy="342720"/>
          </a:xfrm>
          <a:prstGeom prst="rect">
            <a:avLst/>
          </a:prstGeom>
          <a:noFill/>
          <a:ln w="0">
            <a:noFill/>
          </a:ln>
        </p:spPr>
        <p:txBody>
          <a:bodyPr lIns="0" rIns="0" tIns="0" bIns="0" anchor="t">
            <a:noAutofit/>
          </a:bodyPr>
          <a:lstStyle>
            <a:lvl1pPr indent="0">
              <a:lnSpc>
                <a:spcPct val="100000"/>
              </a:lnSpc>
              <a:buNone/>
              <a:tabLst>
                <a:tab algn="l" pos="0"/>
              </a:tabLst>
              <a:defRPr b="0" lang="en-US" sz="1400" strike="noStrike" u="none">
                <a:solidFill>
                  <a:srgbClr val="000000"/>
                </a:solidFill>
                <a:effectLst/>
                <a:uFillTx/>
                <a:latin typeface="Times New Roman"/>
              </a:defRPr>
            </a:lvl1pPr>
          </a:lstStyle>
          <a:p>
            <a:pPr indent="0">
              <a:lnSpc>
                <a:spcPct val="100000"/>
              </a:lnSpc>
              <a:buNone/>
              <a:tabLst>
                <a:tab algn="l" pos="0"/>
              </a:tabLst>
            </a:pPr>
            <a:r>
              <a:rPr b="0" lang="en-US" sz="1400" strike="noStrike" u="none">
                <a:solidFill>
                  <a:srgbClr val="000000"/>
                </a:solidFill>
                <a:effectLst/>
                <a:uFillTx/>
                <a:latin typeface="Times New Roman"/>
              </a:rPr>
              <a:t>&lt;date/time&gt;</a:t>
            </a:r>
            <a:endParaRPr b="0" lang="en-US" sz="1400" strike="noStrike" u="none">
              <a:solidFill>
                <a:srgbClr val="000000"/>
              </a:solidFill>
              <a:effectLst/>
              <a:uFillTx/>
              <a:latin typeface="Times New Roman"/>
            </a:endParaRP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ue_Curve1">
    <p:spTree>
      <p:nvGrpSpPr>
        <p:cNvPr id="1" name=""/>
        <p:cNvGrpSpPr/>
        <p:nvPr/>
      </p:nvGrpSpPr>
      <p:grpSpPr>
        <a:xfrm>
          <a:off x="0" y="0"/>
          <a:ext cx="0" cy="0"/>
          <a:chOff x="0" y="0"/>
          <a:chExt cx="0" cy="0"/>
        </a:xfrm>
      </p:grpSpPr>
      <p:sp>
        <p:nvSpPr>
          <p:cNvPr id="78" name=""/>
          <p:cNvSpPr/>
          <p:nvPr/>
        </p:nvSpPr>
        <p:spPr>
          <a:xfrm>
            <a:off x="0" y="0"/>
            <a:ext cx="10059480" cy="702720"/>
          </a:xfrm>
          <a:prstGeom prst="rect">
            <a:avLst/>
          </a:prstGeom>
          <a:gradFill rotWithShape="0">
            <a:gsLst>
              <a:gs pos="2000">
                <a:srgbClr val="77caee"/>
              </a:gs>
              <a:gs pos="2000">
                <a:srgbClr val="75c9ee"/>
              </a:gs>
              <a:gs pos="3555">
                <a:srgbClr val="75c9ee"/>
              </a:gs>
              <a:gs pos="3555">
                <a:srgbClr val="73c9ed"/>
              </a:gs>
              <a:gs pos="5111">
                <a:srgbClr val="73c9ed"/>
              </a:gs>
              <a:gs pos="5111">
                <a:srgbClr val="71c8ed"/>
              </a:gs>
              <a:gs pos="6666">
                <a:srgbClr val="71c8ed"/>
              </a:gs>
              <a:gs pos="6666">
                <a:srgbClr val="6fc7ed"/>
              </a:gs>
              <a:gs pos="8222">
                <a:srgbClr val="6fc7ed"/>
              </a:gs>
              <a:gs pos="8222">
                <a:srgbClr val="6ec6ed"/>
              </a:gs>
              <a:gs pos="9777">
                <a:srgbClr val="6ec6ed"/>
              </a:gs>
              <a:gs pos="9777">
                <a:srgbClr val="6cc6ec"/>
              </a:gs>
              <a:gs pos="11333">
                <a:srgbClr val="6cc6ec"/>
              </a:gs>
              <a:gs pos="11333">
                <a:srgbClr val="6ac5ec"/>
              </a:gs>
              <a:gs pos="12888">
                <a:srgbClr val="6ac5ec"/>
              </a:gs>
              <a:gs pos="12888">
                <a:srgbClr val="68c4ec"/>
              </a:gs>
              <a:gs pos="14445">
                <a:srgbClr val="68c4ec"/>
              </a:gs>
              <a:gs pos="14445">
                <a:srgbClr val="66c3ec"/>
              </a:gs>
              <a:gs pos="16000">
                <a:srgbClr val="66c3ec"/>
              </a:gs>
              <a:gs pos="16000">
                <a:srgbClr val="64c3eb"/>
              </a:gs>
              <a:gs pos="17556">
                <a:srgbClr val="64c3eb"/>
              </a:gs>
              <a:gs pos="17556">
                <a:srgbClr val="62c2eb"/>
              </a:gs>
              <a:gs pos="19111">
                <a:srgbClr val="62c2eb"/>
              </a:gs>
              <a:gs pos="19111">
                <a:srgbClr val="60c1eb"/>
              </a:gs>
              <a:gs pos="20667">
                <a:srgbClr val="60c1eb"/>
              </a:gs>
              <a:gs pos="20667">
                <a:srgbClr val="5ec0ea"/>
              </a:gs>
              <a:gs pos="22222">
                <a:srgbClr val="5ec0ea"/>
              </a:gs>
              <a:gs pos="22222">
                <a:srgbClr val="5dc0ea"/>
              </a:gs>
              <a:gs pos="23778">
                <a:srgbClr val="5dc0ea"/>
              </a:gs>
              <a:gs pos="23778">
                <a:srgbClr val="5bbfea"/>
              </a:gs>
              <a:gs pos="25333">
                <a:srgbClr val="5bbfea"/>
              </a:gs>
              <a:gs pos="25333">
                <a:srgbClr val="59beea"/>
              </a:gs>
              <a:gs pos="26889">
                <a:srgbClr val="59beea"/>
              </a:gs>
              <a:gs pos="26889">
                <a:srgbClr val="57bde9"/>
              </a:gs>
              <a:gs pos="28444">
                <a:srgbClr val="57bde9"/>
              </a:gs>
              <a:gs pos="28444">
                <a:srgbClr val="55bde9"/>
              </a:gs>
              <a:gs pos="30000">
                <a:srgbClr val="55bde9"/>
              </a:gs>
              <a:gs pos="30000">
                <a:srgbClr val="53bce9"/>
              </a:gs>
              <a:gs pos="31555">
                <a:srgbClr val="53bce9"/>
              </a:gs>
              <a:gs pos="31555">
                <a:srgbClr val="51bbe9"/>
              </a:gs>
              <a:gs pos="33111">
                <a:srgbClr val="51bbe9"/>
              </a:gs>
              <a:gs pos="33111">
                <a:srgbClr val="4fbae8"/>
              </a:gs>
              <a:gs pos="34666">
                <a:srgbClr val="4fbae8"/>
              </a:gs>
              <a:gs pos="34666">
                <a:srgbClr val="4dbae8"/>
              </a:gs>
              <a:gs pos="36222">
                <a:srgbClr val="4dbae8"/>
              </a:gs>
              <a:gs pos="36222">
                <a:srgbClr val="4cb9e8"/>
              </a:gs>
              <a:gs pos="37777">
                <a:srgbClr val="4cb9e8"/>
              </a:gs>
              <a:gs pos="37777">
                <a:srgbClr val="4ab8e8"/>
              </a:gs>
              <a:gs pos="39334">
                <a:srgbClr val="4ab8e8"/>
              </a:gs>
              <a:gs pos="39334">
                <a:srgbClr val="48b7e7"/>
              </a:gs>
              <a:gs pos="40889">
                <a:srgbClr val="48b7e7"/>
              </a:gs>
              <a:gs pos="40889">
                <a:srgbClr val="46b7e7"/>
              </a:gs>
              <a:gs pos="42445">
                <a:srgbClr val="46b7e7"/>
              </a:gs>
              <a:gs pos="42445">
                <a:srgbClr val="44b6e7"/>
              </a:gs>
              <a:gs pos="44000">
                <a:srgbClr val="44b6e7"/>
              </a:gs>
              <a:gs pos="44000">
                <a:srgbClr val="42b5e6"/>
              </a:gs>
              <a:gs pos="45556">
                <a:srgbClr val="42b5e6"/>
              </a:gs>
              <a:gs pos="45556">
                <a:srgbClr val="40b4e6"/>
              </a:gs>
              <a:gs pos="47111">
                <a:srgbClr val="40b4e6"/>
              </a:gs>
              <a:gs pos="47111">
                <a:srgbClr val="3eb4e6"/>
              </a:gs>
              <a:gs pos="48667">
                <a:srgbClr val="3eb4e6"/>
              </a:gs>
              <a:gs pos="48667">
                <a:srgbClr val="3cb3e6"/>
              </a:gs>
              <a:gs pos="50222">
                <a:srgbClr val="3cb3e6"/>
              </a:gs>
              <a:gs pos="50222">
                <a:srgbClr val="3bb2e5"/>
              </a:gs>
              <a:gs pos="51778">
                <a:srgbClr val="3bb2e5"/>
              </a:gs>
              <a:gs pos="51778">
                <a:srgbClr val="39b1e5"/>
              </a:gs>
              <a:gs pos="53333">
                <a:srgbClr val="39b1e5"/>
              </a:gs>
              <a:gs pos="53333">
                <a:srgbClr val="37b1e5"/>
              </a:gs>
              <a:gs pos="54889">
                <a:srgbClr val="37b1e5"/>
              </a:gs>
              <a:gs pos="54889">
                <a:srgbClr val="35b0e5"/>
              </a:gs>
              <a:gs pos="56444">
                <a:srgbClr val="35b0e5"/>
              </a:gs>
              <a:gs pos="56444">
                <a:srgbClr val="33afe4"/>
              </a:gs>
              <a:gs pos="58000">
                <a:srgbClr val="33afe4"/>
              </a:gs>
              <a:gs pos="58000">
                <a:srgbClr val="31aee4"/>
              </a:gs>
              <a:gs pos="59555">
                <a:srgbClr val="31aee4"/>
              </a:gs>
              <a:gs pos="59555">
                <a:srgbClr val="2faee4"/>
              </a:gs>
              <a:gs pos="61111">
                <a:srgbClr val="2faee4"/>
              </a:gs>
              <a:gs pos="61111">
                <a:srgbClr val="2dade3"/>
              </a:gs>
              <a:gs pos="62666">
                <a:srgbClr val="2dade3"/>
              </a:gs>
              <a:gs pos="62666">
                <a:srgbClr val="2bace3"/>
              </a:gs>
              <a:gs pos="64223">
                <a:srgbClr val="2bace3"/>
              </a:gs>
              <a:gs pos="64223">
                <a:srgbClr val="2aabe3"/>
              </a:gs>
              <a:gs pos="65778">
                <a:srgbClr val="2aabe3"/>
              </a:gs>
              <a:gs pos="65778">
                <a:srgbClr val="28abe3"/>
              </a:gs>
              <a:gs pos="67334">
                <a:srgbClr val="28abe3"/>
              </a:gs>
              <a:gs pos="67334">
                <a:srgbClr val="26aae2"/>
              </a:gs>
              <a:gs pos="68889">
                <a:srgbClr val="26aae2"/>
              </a:gs>
              <a:gs pos="68889">
                <a:srgbClr val="24a9e2"/>
              </a:gs>
              <a:gs pos="70445">
                <a:srgbClr val="24a9e2"/>
              </a:gs>
              <a:gs pos="70445">
                <a:srgbClr val="22a8e2"/>
              </a:gs>
              <a:gs pos="72000">
                <a:srgbClr val="22a8e2"/>
              </a:gs>
              <a:gs pos="72000">
                <a:srgbClr val="20a8e2"/>
              </a:gs>
              <a:gs pos="73556">
                <a:srgbClr val="20a8e2"/>
              </a:gs>
              <a:gs pos="73556">
                <a:srgbClr val="1ea7e1"/>
              </a:gs>
              <a:gs pos="75111">
                <a:srgbClr val="1ea7e1"/>
              </a:gs>
              <a:gs pos="75111">
                <a:srgbClr val="1ca6e1"/>
              </a:gs>
              <a:gs pos="76667">
                <a:srgbClr val="1ca6e1"/>
              </a:gs>
              <a:gs pos="76667">
                <a:srgbClr val="1aa5e1"/>
              </a:gs>
              <a:gs pos="78222">
                <a:srgbClr val="1aa5e1"/>
              </a:gs>
              <a:gs pos="78222">
                <a:srgbClr val="19a5e1"/>
              </a:gs>
              <a:gs pos="79778">
                <a:srgbClr val="19a5e1"/>
              </a:gs>
              <a:gs pos="79778">
                <a:srgbClr val="17a4e0"/>
              </a:gs>
              <a:gs pos="81333">
                <a:srgbClr val="17a4e0"/>
              </a:gs>
              <a:gs pos="81333">
                <a:srgbClr val="15a3e0"/>
              </a:gs>
              <a:gs pos="82889">
                <a:srgbClr val="15a3e0"/>
              </a:gs>
              <a:gs pos="82889">
                <a:srgbClr val="13a2e0"/>
              </a:gs>
              <a:gs pos="84444">
                <a:srgbClr val="13a2e0"/>
              </a:gs>
              <a:gs pos="84444">
                <a:srgbClr val="11a2df"/>
              </a:gs>
              <a:gs pos="86000">
                <a:srgbClr val="11a2df"/>
              </a:gs>
              <a:gs pos="86000">
                <a:srgbClr val="0fa1df"/>
              </a:gs>
              <a:gs pos="87555">
                <a:srgbClr val="0fa1df"/>
              </a:gs>
              <a:gs pos="87555">
                <a:srgbClr val="0da0df"/>
              </a:gs>
              <a:gs pos="89112">
                <a:srgbClr val="0da0df"/>
              </a:gs>
              <a:gs pos="89112">
                <a:srgbClr val="0b9fdf"/>
              </a:gs>
              <a:gs pos="90667">
                <a:srgbClr val="0b9fdf"/>
              </a:gs>
              <a:gs pos="90667">
                <a:srgbClr val="099fde"/>
              </a:gs>
              <a:gs pos="92223">
                <a:srgbClr val="099fde"/>
              </a:gs>
              <a:gs pos="92223">
                <a:srgbClr val="089ede"/>
              </a:gs>
              <a:gs pos="93778">
                <a:srgbClr val="089ede"/>
              </a:gs>
              <a:gs pos="93778">
                <a:srgbClr val="069dde"/>
              </a:gs>
              <a:gs pos="95334">
                <a:srgbClr val="069dde"/>
              </a:gs>
              <a:gs pos="95334">
                <a:srgbClr val="049cde"/>
              </a:gs>
              <a:gs pos="96889">
                <a:srgbClr val="049cde"/>
              </a:gs>
              <a:gs pos="96889">
                <a:srgbClr val="029cdd"/>
              </a:gs>
              <a:gs pos="98445">
                <a:srgbClr val="029cdd"/>
              </a:gs>
              <a:gs pos="98445">
                <a:srgbClr val="009bdd"/>
              </a:gs>
              <a:gs pos="100000">
                <a:srgbClr val="009bdd"/>
              </a:gs>
            </a:gsLst>
            <a:lin ang="10800000"/>
          </a:gradFill>
          <a:ln w="18000">
            <a:noFill/>
          </a:ln>
          <a:effectLst>
            <a:outerShdw blurRad="0" dir="5400000" dist="10800" rotWithShape="0">
              <a:srgbClr val="009bdd"/>
            </a:outerShdw>
          </a:effectLst>
        </p:spPr>
        <p:style>
          <a:lnRef idx="0"/>
          <a:fillRef idx="0"/>
          <a:effectRef idx="0"/>
          <a:fontRef idx="minor"/>
        </p:style>
        <p:txBody>
          <a:bodyPr wrap="none" lIns="90000" rIns="90000" tIns="45000" bIns="45000" anchor="ctr">
            <a:noAutofit/>
          </a:bodyPr>
          <a:p>
            <a:pPr>
              <a:lnSpc>
                <a:spcPct val="100000"/>
              </a:lnSpc>
            </a:pPr>
            <a:endParaRPr b="0" lang="en-US" sz="1800" strike="noStrike" u="none">
              <a:solidFill>
                <a:srgbClr val="000000"/>
              </a:solidFill>
              <a:effectLst/>
              <a:uFillTx/>
              <a:latin typeface="Arial"/>
              <a:ea typeface="DejaVu Sans"/>
            </a:endParaRPr>
          </a:p>
        </p:txBody>
      </p:sp>
      <p:sp>
        <p:nvSpPr>
          <p:cNvPr id="84" name="PlaceHolder 1"/>
          <p:cNvSpPr>
            <a:spLocks noGrp="1"/>
          </p:cNvSpPr>
          <p:nvPr>
            <p:ph type="title"/>
          </p:nvPr>
        </p:nvSpPr>
        <p:spPr>
          <a:xfrm>
            <a:off x="360000" y="274680"/>
            <a:ext cx="9342720" cy="274680"/>
          </a:xfrm>
          <a:prstGeom prst="rect">
            <a:avLst/>
          </a:prstGeom>
          <a:noFill/>
          <a:ln w="0">
            <a:noFill/>
          </a:ln>
        </p:spPr>
        <p:txBody>
          <a:bodyPr lIns="0" rIns="0" tIns="0" bIns="0" anchor="ctr">
            <a:spAutoFit/>
          </a:bodyPr>
          <a:p>
            <a:pPr indent="0">
              <a:lnSpc>
                <a:spcPct val="100000"/>
              </a:lnSpc>
              <a:buNone/>
              <a:tabLst>
                <a:tab algn="l" pos="0"/>
              </a:tabLst>
            </a:pPr>
            <a:r>
              <a:rPr b="0" lang="en-US" sz="1800" strike="noStrike" u="none">
                <a:solidFill>
                  <a:srgbClr val="000000"/>
                </a:solidFill>
                <a:effectLst/>
                <a:uFillTx/>
                <a:latin typeface="Arial"/>
              </a:rPr>
              <a:t>Click to edit the title text format</a:t>
            </a:r>
            <a:endParaRPr b="0" lang="en-US" sz="1800" strike="noStrike" u="none">
              <a:solidFill>
                <a:srgbClr val="000000"/>
              </a:solidFill>
              <a:effectLst/>
              <a:uFillTx/>
              <a:latin typeface="Arial"/>
            </a:endParaRPr>
          </a:p>
        </p:txBody>
      </p:sp>
      <p:sp>
        <p:nvSpPr>
          <p:cNvPr id="85" name="PlaceHolder 2"/>
          <p:cNvSpPr>
            <a:spLocks noGrp="1"/>
          </p:cNvSpPr>
          <p:nvPr>
            <p:ph type="body"/>
          </p:nvPr>
        </p:nvSpPr>
        <p:spPr>
          <a:xfrm>
            <a:off x="360000" y="1080000"/>
            <a:ext cx="9342720" cy="358272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lnSpc>
                <a:spcPct val="100000"/>
              </a:lnSpc>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lnSpc>
                <a:spcPct val="100000"/>
              </a:lnSpc>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lnSpc>
                <a:spcPct val="100000"/>
              </a:lnSpc>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lnSpc>
                <a:spcPct val="100000"/>
              </a:lnSpc>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lnSpc>
                <a:spcPct val="100000"/>
              </a:lnSpc>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lnSpc>
                <a:spcPct val="100000"/>
              </a:lnSpc>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86" name="PlaceHolder 3"/>
          <p:cNvSpPr>
            <a:spLocks noGrp="1"/>
          </p:cNvSpPr>
          <p:nvPr>
            <p:ph type="ftr" idx="43"/>
          </p:nvPr>
        </p:nvSpPr>
        <p:spPr>
          <a:xfrm>
            <a:off x="3420000" y="5220000"/>
            <a:ext cx="3222720" cy="342720"/>
          </a:xfrm>
          <a:prstGeom prst="rect">
            <a:avLst/>
          </a:prstGeom>
          <a:noFill/>
          <a:ln w="0">
            <a:noFill/>
          </a:ln>
        </p:spPr>
        <p:txBody>
          <a:bodyPr lIns="0" rIns="0" tIns="0" bIns="0" anchor="t">
            <a:noAutofit/>
          </a:bodyPr>
          <a:lstStyle>
            <a:lvl1pPr indent="0" algn="ctr">
              <a:lnSpc>
                <a:spcPct val="100000"/>
              </a:lnSpc>
              <a:buNone/>
              <a:tabLst>
                <a:tab algn="l" pos="0"/>
              </a:tabLst>
              <a:defRPr b="0" lang="en-US" sz="1400" strike="noStrike" u="none">
                <a:solidFill>
                  <a:srgbClr val="ffffff"/>
                </a:solidFill>
                <a:effectLst/>
                <a:uFillTx/>
                <a:latin typeface="Arial"/>
              </a:defRPr>
            </a:lvl1pPr>
          </a:lstStyle>
          <a:p>
            <a:pPr indent="0" algn="ctr">
              <a:lnSpc>
                <a:spcPct val="100000"/>
              </a:lnSpc>
              <a:buNone/>
              <a:tabLst>
                <a:tab algn="l" pos="0"/>
              </a:tabLst>
            </a:pPr>
            <a:r>
              <a:rPr b="0" lang="en-US" sz="1400" strike="noStrike" u="none">
                <a:solidFill>
                  <a:srgbClr val="ffffff"/>
                </a:solidFill>
                <a:effectLst/>
                <a:uFillTx/>
                <a:latin typeface="Arial"/>
              </a:rPr>
              <a:t>&lt;footer&gt;</a:t>
            </a:r>
            <a:endParaRPr b="0" lang="en-US" sz="1400" strike="noStrike" u="none">
              <a:solidFill>
                <a:srgbClr val="000000"/>
              </a:solidFill>
              <a:effectLst/>
              <a:uFillTx/>
              <a:latin typeface="Times New Roman"/>
            </a:endParaRPr>
          </a:p>
        </p:txBody>
      </p:sp>
      <p:sp>
        <p:nvSpPr>
          <p:cNvPr id="87" name="PlaceHolder 4"/>
          <p:cNvSpPr>
            <a:spLocks noGrp="1"/>
          </p:cNvSpPr>
          <p:nvPr>
            <p:ph type="sldNum" idx="44"/>
          </p:nvPr>
        </p:nvSpPr>
        <p:spPr>
          <a:xfrm>
            <a:off x="7380000" y="5220000"/>
            <a:ext cx="2322720" cy="342720"/>
          </a:xfrm>
          <a:prstGeom prst="rect">
            <a:avLst/>
          </a:prstGeom>
          <a:noFill/>
          <a:ln w="0">
            <a:noFill/>
          </a:ln>
        </p:spPr>
        <p:txBody>
          <a:bodyPr lIns="0" rIns="0" tIns="0" bIns="0" anchor="t">
            <a:noAutofit/>
          </a:bodyPr>
          <a:lstStyle>
            <a:lvl1pPr indent="0" algn="r">
              <a:lnSpc>
                <a:spcPct val="100000"/>
              </a:lnSpc>
              <a:buNone/>
              <a:tabLst>
                <a:tab algn="l" pos="0"/>
              </a:tabLst>
              <a:defRPr b="0" lang="en-US" sz="1400" strike="noStrike" u="none">
                <a:solidFill>
                  <a:srgbClr val="ffffff"/>
                </a:solidFill>
                <a:effectLst/>
                <a:uFillTx/>
                <a:latin typeface="Arial"/>
              </a:defRPr>
            </a:lvl1pPr>
          </a:lstStyle>
          <a:p>
            <a:pPr indent="0" algn="r">
              <a:lnSpc>
                <a:spcPct val="100000"/>
              </a:lnSpc>
              <a:buNone/>
              <a:tabLst>
                <a:tab algn="l" pos="0"/>
              </a:tabLst>
            </a:pPr>
            <a:fld id="{3F686536-F3F9-46B5-87BD-A1426CB3F189}" type="slidenum">
              <a:rPr b="0" lang="en-US" sz="1400" strike="noStrike" u="none">
                <a:solidFill>
                  <a:srgbClr val="ffffff"/>
                </a:solidFill>
                <a:effectLst/>
                <a:uFillTx/>
                <a:latin typeface="Arial"/>
              </a:rPr>
              <a:t>&lt;number&gt;</a:t>
            </a:fld>
            <a:endParaRPr b="0" lang="en-US" sz="1400" strike="noStrike" u="none">
              <a:solidFill>
                <a:srgbClr val="000000"/>
              </a:solidFill>
              <a:effectLst/>
              <a:uFillTx/>
              <a:latin typeface="Times New Roman"/>
            </a:endParaRPr>
          </a:p>
        </p:txBody>
      </p:sp>
      <p:sp>
        <p:nvSpPr>
          <p:cNvPr id="88" name="PlaceHolder 5"/>
          <p:cNvSpPr>
            <a:spLocks noGrp="1"/>
          </p:cNvSpPr>
          <p:nvPr>
            <p:ph type="dt" idx="45"/>
          </p:nvPr>
        </p:nvSpPr>
        <p:spPr>
          <a:xfrm>
            <a:off x="360000" y="5220000"/>
            <a:ext cx="2322720" cy="342720"/>
          </a:xfrm>
          <a:prstGeom prst="rect">
            <a:avLst/>
          </a:prstGeom>
          <a:noFill/>
          <a:ln w="0">
            <a:noFill/>
          </a:ln>
        </p:spPr>
        <p:txBody>
          <a:bodyPr lIns="0" rIns="0" tIns="0" bIns="0" anchor="t">
            <a:noAutofit/>
          </a:bodyPr>
          <a:lstStyle>
            <a:lvl1pPr indent="0">
              <a:lnSpc>
                <a:spcPct val="100000"/>
              </a:lnSpc>
              <a:buNone/>
              <a:tabLst>
                <a:tab algn="l" pos="0"/>
              </a:tabLst>
              <a:defRPr b="0" lang="en-US" sz="1400" strike="noStrike" u="none">
                <a:solidFill>
                  <a:srgbClr val="000000"/>
                </a:solidFill>
                <a:effectLst/>
                <a:uFillTx/>
                <a:latin typeface="Times New Roman"/>
              </a:defRPr>
            </a:lvl1pPr>
          </a:lstStyle>
          <a:p>
            <a:pPr indent="0">
              <a:lnSpc>
                <a:spcPct val="100000"/>
              </a:lnSpc>
              <a:buNone/>
              <a:tabLst>
                <a:tab algn="l" pos="0"/>
              </a:tabLst>
            </a:pPr>
            <a:r>
              <a:rPr b="0" lang="en-US" sz="1400" strike="noStrike" u="none">
                <a:solidFill>
                  <a:srgbClr val="000000"/>
                </a:solidFill>
                <a:effectLst/>
                <a:uFillTx/>
                <a:latin typeface="Times New Roman"/>
              </a:rPr>
              <a:t>&lt;date/time&gt;</a:t>
            </a:r>
            <a:endParaRPr b="0" lang="en-US" sz="1400" strike="noStrike" u="none">
              <a:solidFill>
                <a:srgbClr val="000000"/>
              </a:solidFill>
              <a:effectLst/>
              <a:uFillTx/>
              <a:latin typeface="Times New Roman"/>
            </a:endParaRP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12">
    <p:spTree>
      <p:nvGrpSpPr>
        <p:cNvPr id="1" name=""/>
        <p:cNvGrpSpPr/>
        <p:nvPr/>
      </p:nvGrpSpPr>
      <p:grpSpPr>
        <a:xfrm>
          <a:off x="0" y="0"/>
          <a:ext cx="0" cy="0"/>
          <a:chOff x="0" y="0"/>
          <a:chExt cx="0" cy="0"/>
        </a:xfrm>
      </p:grpSpPr>
      <p:sp>
        <p:nvSpPr>
          <p:cNvPr id="89" name=""/>
          <p:cNvSpPr/>
          <p:nvPr/>
        </p:nvSpPr>
        <p:spPr>
          <a:xfrm>
            <a:off x="0" y="0"/>
            <a:ext cx="10059480" cy="702720"/>
          </a:xfrm>
          <a:prstGeom prst="rect">
            <a:avLst/>
          </a:prstGeom>
          <a:gradFill rotWithShape="0">
            <a:gsLst>
              <a:gs pos="2000">
                <a:srgbClr val="77caee"/>
              </a:gs>
              <a:gs pos="2000">
                <a:srgbClr val="75c9ee"/>
              </a:gs>
              <a:gs pos="3555">
                <a:srgbClr val="75c9ee"/>
              </a:gs>
              <a:gs pos="3555">
                <a:srgbClr val="73c9ed"/>
              </a:gs>
              <a:gs pos="5111">
                <a:srgbClr val="73c9ed"/>
              </a:gs>
              <a:gs pos="5111">
                <a:srgbClr val="71c8ed"/>
              </a:gs>
              <a:gs pos="6666">
                <a:srgbClr val="71c8ed"/>
              </a:gs>
              <a:gs pos="6666">
                <a:srgbClr val="6fc7ed"/>
              </a:gs>
              <a:gs pos="8222">
                <a:srgbClr val="6fc7ed"/>
              </a:gs>
              <a:gs pos="8222">
                <a:srgbClr val="6ec6ed"/>
              </a:gs>
              <a:gs pos="9777">
                <a:srgbClr val="6ec6ed"/>
              </a:gs>
              <a:gs pos="9777">
                <a:srgbClr val="6cc6ec"/>
              </a:gs>
              <a:gs pos="11333">
                <a:srgbClr val="6cc6ec"/>
              </a:gs>
              <a:gs pos="11333">
                <a:srgbClr val="6ac5ec"/>
              </a:gs>
              <a:gs pos="12888">
                <a:srgbClr val="6ac5ec"/>
              </a:gs>
              <a:gs pos="12888">
                <a:srgbClr val="68c4ec"/>
              </a:gs>
              <a:gs pos="14445">
                <a:srgbClr val="68c4ec"/>
              </a:gs>
              <a:gs pos="14445">
                <a:srgbClr val="66c3ec"/>
              </a:gs>
              <a:gs pos="16000">
                <a:srgbClr val="66c3ec"/>
              </a:gs>
              <a:gs pos="16000">
                <a:srgbClr val="64c3eb"/>
              </a:gs>
              <a:gs pos="17556">
                <a:srgbClr val="64c3eb"/>
              </a:gs>
              <a:gs pos="17556">
                <a:srgbClr val="62c2eb"/>
              </a:gs>
              <a:gs pos="19111">
                <a:srgbClr val="62c2eb"/>
              </a:gs>
              <a:gs pos="19111">
                <a:srgbClr val="60c1eb"/>
              </a:gs>
              <a:gs pos="20667">
                <a:srgbClr val="60c1eb"/>
              </a:gs>
              <a:gs pos="20667">
                <a:srgbClr val="5ec0ea"/>
              </a:gs>
              <a:gs pos="22222">
                <a:srgbClr val="5ec0ea"/>
              </a:gs>
              <a:gs pos="22222">
                <a:srgbClr val="5dc0ea"/>
              </a:gs>
              <a:gs pos="23778">
                <a:srgbClr val="5dc0ea"/>
              </a:gs>
              <a:gs pos="23778">
                <a:srgbClr val="5bbfea"/>
              </a:gs>
              <a:gs pos="25333">
                <a:srgbClr val="5bbfea"/>
              </a:gs>
              <a:gs pos="25333">
                <a:srgbClr val="59beea"/>
              </a:gs>
              <a:gs pos="26889">
                <a:srgbClr val="59beea"/>
              </a:gs>
              <a:gs pos="26889">
                <a:srgbClr val="57bde9"/>
              </a:gs>
              <a:gs pos="28444">
                <a:srgbClr val="57bde9"/>
              </a:gs>
              <a:gs pos="28444">
                <a:srgbClr val="55bde9"/>
              </a:gs>
              <a:gs pos="30000">
                <a:srgbClr val="55bde9"/>
              </a:gs>
              <a:gs pos="30000">
                <a:srgbClr val="53bce9"/>
              </a:gs>
              <a:gs pos="31555">
                <a:srgbClr val="53bce9"/>
              </a:gs>
              <a:gs pos="31555">
                <a:srgbClr val="51bbe9"/>
              </a:gs>
              <a:gs pos="33111">
                <a:srgbClr val="51bbe9"/>
              </a:gs>
              <a:gs pos="33111">
                <a:srgbClr val="4fbae8"/>
              </a:gs>
              <a:gs pos="34666">
                <a:srgbClr val="4fbae8"/>
              </a:gs>
              <a:gs pos="34666">
                <a:srgbClr val="4dbae8"/>
              </a:gs>
              <a:gs pos="36222">
                <a:srgbClr val="4dbae8"/>
              </a:gs>
              <a:gs pos="36222">
                <a:srgbClr val="4cb9e8"/>
              </a:gs>
              <a:gs pos="37777">
                <a:srgbClr val="4cb9e8"/>
              </a:gs>
              <a:gs pos="37777">
                <a:srgbClr val="4ab8e8"/>
              </a:gs>
              <a:gs pos="39334">
                <a:srgbClr val="4ab8e8"/>
              </a:gs>
              <a:gs pos="39334">
                <a:srgbClr val="48b7e7"/>
              </a:gs>
              <a:gs pos="40889">
                <a:srgbClr val="48b7e7"/>
              </a:gs>
              <a:gs pos="40889">
                <a:srgbClr val="46b7e7"/>
              </a:gs>
              <a:gs pos="42445">
                <a:srgbClr val="46b7e7"/>
              </a:gs>
              <a:gs pos="42445">
                <a:srgbClr val="44b6e7"/>
              </a:gs>
              <a:gs pos="44000">
                <a:srgbClr val="44b6e7"/>
              </a:gs>
              <a:gs pos="44000">
                <a:srgbClr val="42b5e6"/>
              </a:gs>
              <a:gs pos="45556">
                <a:srgbClr val="42b5e6"/>
              </a:gs>
              <a:gs pos="45556">
                <a:srgbClr val="40b4e6"/>
              </a:gs>
              <a:gs pos="47111">
                <a:srgbClr val="40b4e6"/>
              </a:gs>
              <a:gs pos="47111">
                <a:srgbClr val="3eb4e6"/>
              </a:gs>
              <a:gs pos="48667">
                <a:srgbClr val="3eb4e6"/>
              </a:gs>
              <a:gs pos="48667">
                <a:srgbClr val="3cb3e6"/>
              </a:gs>
              <a:gs pos="50222">
                <a:srgbClr val="3cb3e6"/>
              </a:gs>
              <a:gs pos="50222">
                <a:srgbClr val="3bb2e5"/>
              </a:gs>
              <a:gs pos="51778">
                <a:srgbClr val="3bb2e5"/>
              </a:gs>
              <a:gs pos="51778">
                <a:srgbClr val="39b1e5"/>
              </a:gs>
              <a:gs pos="53333">
                <a:srgbClr val="39b1e5"/>
              </a:gs>
              <a:gs pos="53333">
                <a:srgbClr val="37b1e5"/>
              </a:gs>
              <a:gs pos="54889">
                <a:srgbClr val="37b1e5"/>
              </a:gs>
              <a:gs pos="54889">
                <a:srgbClr val="35b0e5"/>
              </a:gs>
              <a:gs pos="56444">
                <a:srgbClr val="35b0e5"/>
              </a:gs>
              <a:gs pos="56444">
                <a:srgbClr val="33afe4"/>
              </a:gs>
              <a:gs pos="58000">
                <a:srgbClr val="33afe4"/>
              </a:gs>
              <a:gs pos="58000">
                <a:srgbClr val="31aee4"/>
              </a:gs>
              <a:gs pos="59555">
                <a:srgbClr val="31aee4"/>
              </a:gs>
              <a:gs pos="59555">
                <a:srgbClr val="2faee4"/>
              </a:gs>
              <a:gs pos="61111">
                <a:srgbClr val="2faee4"/>
              </a:gs>
              <a:gs pos="61111">
                <a:srgbClr val="2dade3"/>
              </a:gs>
              <a:gs pos="62666">
                <a:srgbClr val="2dade3"/>
              </a:gs>
              <a:gs pos="62666">
                <a:srgbClr val="2bace3"/>
              </a:gs>
              <a:gs pos="64223">
                <a:srgbClr val="2bace3"/>
              </a:gs>
              <a:gs pos="64223">
                <a:srgbClr val="2aabe3"/>
              </a:gs>
              <a:gs pos="65778">
                <a:srgbClr val="2aabe3"/>
              </a:gs>
              <a:gs pos="65778">
                <a:srgbClr val="28abe3"/>
              </a:gs>
              <a:gs pos="67334">
                <a:srgbClr val="28abe3"/>
              </a:gs>
              <a:gs pos="67334">
                <a:srgbClr val="26aae2"/>
              </a:gs>
              <a:gs pos="68889">
                <a:srgbClr val="26aae2"/>
              </a:gs>
              <a:gs pos="68889">
                <a:srgbClr val="24a9e2"/>
              </a:gs>
              <a:gs pos="70445">
                <a:srgbClr val="24a9e2"/>
              </a:gs>
              <a:gs pos="70445">
                <a:srgbClr val="22a8e2"/>
              </a:gs>
              <a:gs pos="72000">
                <a:srgbClr val="22a8e2"/>
              </a:gs>
              <a:gs pos="72000">
                <a:srgbClr val="20a8e2"/>
              </a:gs>
              <a:gs pos="73556">
                <a:srgbClr val="20a8e2"/>
              </a:gs>
              <a:gs pos="73556">
                <a:srgbClr val="1ea7e1"/>
              </a:gs>
              <a:gs pos="75111">
                <a:srgbClr val="1ea7e1"/>
              </a:gs>
              <a:gs pos="75111">
                <a:srgbClr val="1ca6e1"/>
              </a:gs>
              <a:gs pos="76667">
                <a:srgbClr val="1ca6e1"/>
              </a:gs>
              <a:gs pos="76667">
                <a:srgbClr val="1aa5e1"/>
              </a:gs>
              <a:gs pos="78222">
                <a:srgbClr val="1aa5e1"/>
              </a:gs>
              <a:gs pos="78222">
                <a:srgbClr val="19a5e1"/>
              </a:gs>
              <a:gs pos="79778">
                <a:srgbClr val="19a5e1"/>
              </a:gs>
              <a:gs pos="79778">
                <a:srgbClr val="17a4e0"/>
              </a:gs>
              <a:gs pos="81333">
                <a:srgbClr val="17a4e0"/>
              </a:gs>
              <a:gs pos="81333">
                <a:srgbClr val="15a3e0"/>
              </a:gs>
              <a:gs pos="82889">
                <a:srgbClr val="15a3e0"/>
              </a:gs>
              <a:gs pos="82889">
                <a:srgbClr val="13a2e0"/>
              </a:gs>
              <a:gs pos="84444">
                <a:srgbClr val="13a2e0"/>
              </a:gs>
              <a:gs pos="84444">
                <a:srgbClr val="11a2df"/>
              </a:gs>
              <a:gs pos="86000">
                <a:srgbClr val="11a2df"/>
              </a:gs>
              <a:gs pos="86000">
                <a:srgbClr val="0fa1df"/>
              </a:gs>
              <a:gs pos="87555">
                <a:srgbClr val="0fa1df"/>
              </a:gs>
              <a:gs pos="87555">
                <a:srgbClr val="0da0df"/>
              </a:gs>
              <a:gs pos="89112">
                <a:srgbClr val="0da0df"/>
              </a:gs>
              <a:gs pos="89112">
                <a:srgbClr val="0b9fdf"/>
              </a:gs>
              <a:gs pos="90667">
                <a:srgbClr val="0b9fdf"/>
              </a:gs>
              <a:gs pos="90667">
                <a:srgbClr val="099fde"/>
              </a:gs>
              <a:gs pos="92223">
                <a:srgbClr val="099fde"/>
              </a:gs>
              <a:gs pos="92223">
                <a:srgbClr val="089ede"/>
              </a:gs>
              <a:gs pos="93778">
                <a:srgbClr val="089ede"/>
              </a:gs>
              <a:gs pos="93778">
                <a:srgbClr val="069dde"/>
              </a:gs>
              <a:gs pos="95334">
                <a:srgbClr val="069dde"/>
              </a:gs>
              <a:gs pos="95334">
                <a:srgbClr val="049cde"/>
              </a:gs>
              <a:gs pos="96889">
                <a:srgbClr val="049cde"/>
              </a:gs>
              <a:gs pos="96889">
                <a:srgbClr val="029cdd"/>
              </a:gs>
              <a:gs pos="98445">
                <a:srgbClr val="029cdd"/>
              </a:gs>
              <a:gs pos="98445">
                <a:srgbClr val="009bdd"/>
              </a:gs>
              <a:gs pos="100000">
                <a:srgbClr val="009bdd"/>
              </a:gs>
            </a:gsLst>
            <a:lin ang="10800000"/>
          </a:gradFill>
          <a:ln w="18000">
            <a:noFill/>
          </a:ln>
          <a:effectLst>
            <a:outerShdw blurRad="0" dir="5400000" dist="10800" rotWithShape="0">
              <a:srgbClr val="009bdd"/>
            </a:outerShdw>
          </a:effectLst>
        </p:spPr>
        <p:style>
          <a:lnRef idx="0"/>
          <a:fillRef idx="0"/>
          <a:effectRef idx="0"/>
          <a:fontRef idx="minor"/>
        </p:style>
        <p:txBody>
          <a:bodyPr wrap="none" lIns="90000" rIns="90000" tIns="45000" bIns="45000" anchor="ctr">
            <a:noAutofit/>
          </a:bodyPr>
          <a:p>
            <a:pPr>
              <a:lnSpc>
                <a:spcPct val="100000"/>
              </a:lnSpc>
            </a:pPr>
            <a:endParaRPr b="0" lang="en-US" sz="1800" strike="noStrike" u="none">
              <a:solidFill>
                <a:srgbClr val="000000"/>
              </a:solidFill>
              <a:effectLst/>
              <a:uFillTx/>
              <a:latin typeface="Arial"/>
              <a:ea typeface="DejaVu Sans"/>
            </a:endParaRPr>
          </a:p>
        </p:txBody>
      </p:sp>
      <p:sp>
        <p:nvSpPr>
          <p:cNvPr id="90" name="PlaceHolder 1"/>
          <p:cNvSpPr>
            <a:spLocks noGrp="1"/>
          </p:cNvSpPr>
          <p:nvPr>
            <p:ph type="title"/>
          </p:nvPr>
        </p:nvSpPr>
        <p:spPr>
          <a:xfrm>
            <a:off x="360000" y="274680"/>
            <a:ext cx="9342720" cy="274680"/>
          </a:xfrm>
          <a:prstGeom prst="rect">
            <a:avLst/>
          </a:prstGeom>
          <a:noFill/>
          <a:ln w="0">
            <a:noFill/>
          </a:ln>
        </p:spPr>
        <p:txBody>
          <a:bodyPr lIns="0" rIns="0" tIns="0" bIns="0" anchor="ctr">
            <a:spAutoFit/>
          </a:bodyPr>
          <a:p>
            <a:pPr indent="0">
              <a:lnSpc>
                <a:spcPct val="100000"/>
              </a:lnSpc>
              <a:buNone/>
              <a:tabLst>
                <a:tab algn="l" pos="0"/>
              </a:tabLst>
            </a:pPr>
            <a:r>
              <a:rPr b="0" lang="en-US" sz="1800" strike="noStrike" u="none">
                <a:solidFill>
                  <a:srgbClr val="000000"/>
                </a:solidFill>
                <a:effectLst/>
                <a:uFillTx/>
                <a:latin typeface="Arial"/>
              </a:rPr>
              <a:t>Click to edit the title text format</a:t>
            </a:r>
            <a:endParaRPr b="0" lang="en-US" sz="1800" strike="noStrike" u="none">
              <a:solidFill>
                <a:srgbClr val="000000"/>
              </a:solidFill>
              <a:effectLst/>
              <a:uFillTx/>
              <a:latin typeface="Arial"/>
            </a:endParaRPr>
          </a:p>
        </p:txBody>
      </p:sp>
      <p:sp>
        <p:nvSpPr>
          <p:cNvPr id="91" name="PlaceHolder 2"/>
          <p:cNvSpPr>
            <a:spLocks noGrp="1"/>
          </p:cNvSpPr>
          <p:nvPr>
            <p:ph type="body"/>
          </p:nvPr>
        </p:nvSpPr>
        <p:spPr>
          <a:xfrm>
            <a:off x="360000" y="1080000"/>
            <a:ext cx="9342720" cy="358272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lnSpc>
                <a:spcPct val="100000"/>
              </a:lnSpc>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lnSpc>
                <a:spcPct val="100000"/>
              </a:lnSpc>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lnSpc>
                <a:spcPct val="100000"/>
              </a:lnSpc>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lnSpc>
                <a:spcPct val="100000"/>
              </a:lnSpc>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lnSpc>
                <a:spcPct val="100000"/>
              </a:lnSpc>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lnSpc>
                <a:spcPct val="100000"/>
              </a:lnSpc>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92" name="PlaceHolder 3"/>
          <p:cNvSpPr>
            <a:spLocks noGrp="1"/>
          </p:cNvSpPr>
          <p:nvPr>
            <p:ph type="ftr" idx="46"/>
          </p:nvPr>
        </p:nvSpPr>
        <p:spPr>
          <a:xfrm>
            <a:off x="3420000" y="5220000"/>
            <a:ext cx="3222720" cy="342720"/>
          </a:xfrm>
          <a:prstGeom prst="rect">
            <a:avLst/>
          </a:prstGeom>
          <a:noFill/>
          <a:ln w="0">
            <a:noFill/>
          </a:ln>
        </p:spPr>
        <p:txBody>
          <a:bodyPr lIns="0" rIns="0" tIns="0" bIns="0" anchor="t">
            <a:noAutofit/>
          </a:bodyPr>
          <a:lstStyle>
            <a:lvl1pPr indent="0" algn="ctr">
              <a:lnSpc>
                <a:spcPct val="100000"/>
              </a:lnSpc>
              <a:buNone/>
              <a:tabLst>
                <a:tab algn="l" pos="0"/>
              </a:tabLst>
              <a:defRPr b="0" lang="en-US" sz="1400" strike="noStrike" u="none">
                <a:solidFill>
                  <a:srgbClr val="ffffff"/>
                </a:solidFill>
                <a:effectLst/>
                <a:uFillTx/>
                <a:latin typeface="Arial"/>
              </a:defRPr>
            </a:lvl1pPr>
          </a:lstStyle>
          <a:p>
            <a:pPr indent="0" algn="ctr">
              <a:lnSpc>
                <a:spcPct val="100000"/>
              </a:lnSpc>
              <a:buNone/>
              <a:tabLst>
                <a:tab algn="l" pos="0"/>
              </a:tabLst>
            </a:pPr>
            <a:r>
              <a:rPr b="0" lang="en-US" sz="1400" strike="noStrike" u="none">
                <a:solidFill>
                  <a:srgbClr val="ffffff"/>
                </a:solidFill>
                <a:effectLst/>
                <a:uFillTx/>
                <a:latin typeface="Arial"/>
              </a:rPr>
              <a:t>&lt;footer&gt;</a:t>
            </a:r>
            <a:endParaRPr b="0" lang="en-US" sz="1400" strike="noStrike" u="none">
              <a:solidFill>
                <a:srgbClr val="000000"/>
              </a:solidFill>
              <a:effectLst/>
              <a:uFillTx/>
              <a:latin typeface="Times New Roman"/>
            </a:endParaRPr>
          </a:p>
        </p:txBody>
      </p:sp>
      <p:sp>
        <p:nvSpPr>
          <p:cNvPr id="93" name="PlaceHolder 4"/>
          <p:cNvSpPr>
            <a:spLocks noGrp="1"/>
          </p:cNvSpPr>
          <p:nvPr>
            <p:ph type="sldNum" idx="47"/>
          </p:nvPr>
        </p:nvSpPr>
        <p:spPr>
          <a:xfrm>
            <a:off x="7380000" y="5220000"/>
            <a:ext cx="2322720" cy="342720"/>
          </a:xfrm>
          <a:prstGeom prst="rect">
            <a:avLst/>
          </a:prstGeom>
          <a:noFill/>
          <a:ln w="0">
            <a:noFill/>
          </a:ln>
        </p:spPr>
        <p:txBody>
          <a:bodyPr lIns="0" rIns="0" tIns="0" bIns="0" anchor="t">
            <a:noAutofit/>
          </a:bodyPr>
          <a:lstStyle>
            <a:lvl1pPr indent="0" algn="r">
              <a:lnSpc>
                <a:spcPct val="100000"/>
              </a:lnSpc>
              <a:buNone/>
              <a:tabLst>
                <a:tab algn="l" pos="0"/>
              </a:tabLst>
              <a:defRPr b="0" lang="en-US" sz="1400" strike="noStrike" u="none">
                <a:solidFill>
                  <a:srgbClr val="ffffff"/>
                </a:solidFill>
                <a:effectLst/>
                <a:uFillTx/>
                <a:latin typeface="Arial"/>
              </a:defRPr>
            </a:lvl1pPr>
          </a:lstStyle>
          <a:p>
            <a:pPr indent="0" algn="r">
              <a:lnSpc>
                <a:spcPct val="100000"/>
              </a:lnSpc>
              <a:buNone/>
              <a:tabLst>
                <a:tab algn="l" pos="0"/>
              </a:tabLst>
            </a:pPr>
            <a:fld id="{C9A60699-82C9-4E60-930A-72F0EA0F5D1F}" type="slidenum">
              <a:rPr b="0" lang="en-US" sz="1400" strike="noStrike" u="none">
                <a:solidFill>
                  <a:srgbClr val="ffffff"/>
                </a:solidFill>
                <a:effectLst/>
                <a:uFillTx/>
                <a:latin typeface="Arial"/>
              </a:rPr>
              <a:t>&lt;number&gt;</a:t>
            </a:fld>
            <a:endParaRPr b="0" lang="en-US" sz="1400" strike="noStrike" u="none">
              <a:solidFill>
                <a:srgbClr val="000000"/>
              </a:solidFill>
              <a:effectLst/>
              <a:uFillTx/>
              <a:latin typeface="Times New Roman"/>
            </a:endParaRPr>
          </a:p>
        </p:txBody>
      </p:sp>
      <p:sp>
        <p:nvSpPr>
          <p:cNvPr id="94" name="PlaceHolder 5"/>
          <p:cNvSpPr>
            <a:spLocks noGrp="1"/>
          </p:cNvSpPr>
          <p:nvPr>
            <p:ph type="dt" idx="48"/>
          </p:nvPr>
        </p:nvSpPr>
        <p:spPr>
          <a:xfrm>
            <a:off x="360000" y="5220000"/>
            <a:ext cx="2322720" cy="342720"/>
          </a:xfrm>
          <a:prstGeom prst="rect">
            <a:avLst/>
          </a:prstGeom>
          <a:noFill/>
          <a:ln w="0">
            <a:noFill/>
          </a:ln>
        </p:spPr>
        <p:txBody>
          <a:bodyPr lIns="0" rIns="0" tIns="0" bIns="0" anchor="t">
            <a:noAutofit/>
          </a:bodyPr>
          <a:lstStyle>
            <a:lvl1pPr indent="0">
              <a:lnSpc>
                <a:spcPct val="100000"/>
              </a:lnSpc>
              <a:buNone/>
              <a:tabLst>
                <a:tab algn="l" pos="0"/>
              </a:tabLst>
              <a:defRPr b="0" lang="en-US" sz="1400" strike="noStrike" u="none">
                <a:solidFill>
                  <a:srgbClr val="000000"/>
                </a:solidFill>
                <a:effectLst/>
                <a:uFillTx/>
                <a:latin typeface="Times New Roman"/>
              </a:defRPr>
            </a:lvl1pPr>
          </a:lstStyle>
          <a:p>
            <a:pPr indent="0">
              <a:lnSpc>
                <a:spcPct val="100000"/>
              </a:lnSpc>
              <a:buNone/>
              <a:tabLst>
                <a:tab algn="l" pos="0"/>
              </a:tabLst>
            </a:pPr>
            <a:r>
              <a:rPr b="0" lang="en-US" sz="1400" strike="noStrike" u="none">
                <a:solidFill>
                  <a:srgbClr val="000000"/>
                </a:solidFill>
                <a:effectLst/>
                <a:uFillTx/>
                <a:latin typeface="Times New Roman"/>
              </a:rPr>
              <a:t>&lt;date/time&gt;</a:t>
            </a:r>
            <a:endParaRPr b="0" lang="en-US" sz="1400" strike="noStrike" u="none">
              <a:solidFill>
                <a:srgbClr val="000000"/>
              </a:solidFill>
              <a:effectLst/>
              <a:uFillTx/>
              <a:latin typeface="Times New Roman"/>
            </a:endParaRP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13">
    <p:spTree>
      <p:nvGrpSpPr>
        <p:cNvPr id="1" name=""/>
        <p:cNvGrpSpPr/>
        <p:nvPr/>
      </p:nvGrpSpPr>
      <p:grpSpPr>
        <a:xfrm>
          <a:off x="0" y="0"/>
          <a:ext cx="0" cy="0"/>
          <a:chOff x="0" y="0"/>
          <a:chExt cx="0" cy="0"/>
        </a:xfrm>
      </p:grpSpPr>
      <p:sp>
        <p:nvSpPr>
          <p:cNvPr id="2" name="PlaceHolder 1"/>
          <p:cNvSpPr>
            <a:spLocks noGrp="1"/>
          </p:cNvSpPr>
          <p:nvPr>
            <p:ph type="ftr" idx="49"/>
          </p:nvPr>
        </p:nvSpPr>
        <p:spPr/>
        <p:txBody>
          <a:bodyPr/>
          <a:p>
            <a:r>
              <a:t>Footer</a:t>
            </a:r>
          </a:p>
        </p:txBody>
      </p:sp>
      <p:sp>
        <p:nvSpPr>
          <p:cNvPr id="3" name="PlaceHolder 2"/>
          <p:cNvSpPr>
            <a:spLocks noGrp="1"/>
          </p:cNvSpPr>
          <p:nvPr>
            <p:ph type="sldNum" idx="50"/>
          </p:nvPr>
        </p:nvSpPr>
        <p:spPr/>
        <p:txBody>
          <a:bodyPr/>
          <a:p>
            <a:fld id="{467CA310-DB69-4244-909A-FBF3347BE0B9}" type="slidenum">
              <a:t>&lt;#&gt;</a:t>
            </a:fld>
          </a:p>
        </p:txBody>
      </p:sp>
      <p:sp>
        <p:nvSpPr>
          <p:cNvPr id="4" name="PlaceHolder 3"/>
          <p:cNvSpPr>
            <a:spLocks noGrp="1"/>
          </p:cNvSpPr>
          <p:nvPr>
            <p:ph type="dt" idx="51"/>
          </p:nvPr>
        </p:nvSpPr>
        <p:spPr/>
        <p:txBody>
          <a:bodyPr/>
          <a:p>
            <a:r>
              <a:rPr lang="en-US"/>
              <a:t/>
            </a: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14">
    <p:spTree>
      <p:nvGrpSpPr>
        <p:cNvPr id="1" name=""/>
        <p:cNvGrpSpPr/>
        <p:nvPr/>
      </p:nvGrpSpPr>
      <p:grpSpPr>
        <a:xfrm>
          <a:off x="0" y="0"/>
          <a:ext cx="0" cy="0"/>
          <a:chOff x="0" y="0"/>
          <a:chExt cx="0" cy="0"/>
        </a:xfrm>
      </p:grpSpPr>
      <p:sp>
        <p:nvSpPr>
          <p:cNvPr id="2" name="PlaceHolder 1"/>
          <p:cNvSpPr>
            <a:spLocks noGrp="1"/>
          </p:cNvSpPr>
          <p:nvPr>
            <p:ph type="ftr" idx="52"/>
          </p:nvPr>
        </p:nvSpPr>
        <p:spPr/>
        <p:txBody>
          <a:bodyPr/>
          <a:p>
            <a:r>
              <a:t>Footer</a:t>
            </a:r>
          </a:p>
        </p:txBody>
      </p:sp>
      <p:sp>
        <p:nvSpPr>
          <p:cNvPr id="3" name="PlaceHolder 2"/>
          <p:cNvSpPr>
            <a:spLocks noGrp="1"/>
          </p:cNvSpPr>
          <p:nvPr>
            <p:ph type="sldNum" idx="53"/>
          </p:nvPr>
        </p:nvSpPr>
        <p:spPr/>
        <p:txBody>
          <a:bodyPr/>
          <a:p>
            <a:fld id="{6479DB8B-3906-4369-B180-74647FD9D625}" type="slidenum">
              <a:t>&lt;#&gt;</a:t>
            </a:fld>
          </a:p>
        </p:txBody>
      </p:sp>
      <p:sp>
        <p:nvSpPr>
          <p:cNvPr id="4" name="PlaceHolder 3"/>
          <p:cNvSpPr>
            <a:spLocks noGrp="1"/>
          </p:cNvSpPr>
          <p:nvPr>
            <p:ph type="dt" idx="54"/>
          </p:nvPr>
        </p:nvSpPr>
        <p:spPr/>
        <p:txBody>
          <a:bodyPr/>
          <a:p>
            <a:r>
              <a:rPr lang="en-US"/>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
</Relationships>
</file>

<file path=ppt/slideMasters/_rels/slideMaster3.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3.xml"/>
</Relationships>
</file>

<file path=ppt/slideMasters/_rels/slideMaster4.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4.xml"/><Relationship Id="rId3" Type="http://schemas.openxmlformats.org/officeDocument/2006/relationships/slideLayout" Target="../slideLayouts/slideLayout5.xml"/><Relationship Id="rId4" Type="http://schemas.openxmlformats.org/officeDocument/2006/relationships/slideLayout" Target="../slideLayouts/slideLayout6.xml"/><Relationship Id="rId5" Type="http://schemas.openxmlformats.org/officeDocument/2006/relationships/slideLayout" Target="../slideLayouts/slideLayout7.xml"/><Relationship Id="rId6" Type="http://schemas.openxmlformats.org/officeDocument/2006/relationships/slideLayout" Target="../slideLayouts/slideLayout8.xml"/><Relationship Id="rId7" Type="http://schemas.openxmlformats.org/officeDocument/2006/relationships/slideLayout" Target="../slideLayouts/slideLayout9.xml"/><Relationship Id="rId8" Type="http://schemas.openxmlformats.org/officeDocument/2006/relationships/slideLayout" Target="../slideLayouts/slideLayout10.xml"/><Relationship Id="rId9" Type="http://schemas.openxmlformats.org/officeDocument/2006/relationships/slideLayout" Target="../slideLayouts/slideLayout11.xml"/><Relationship Id="rId10" Type="http://schemas.openxmlformats.org/officeDocument/2006/relationships/slideLayout" Target="../slideLayouts/slideLayout12.xml"/><Relationship Id="rId11" Type="http://schemas.openxmlformats.org/officeDocument/2006/relationships/slideLayout" Target="../slideLayouts/slideLayout13.xml"/><Relationship Id="rId12" Type="http://schemas.openxmlformats.org/officeDocument/2006/relationships/slideLayout" Target="../slideLayouts/slideLayout14.xml"/><Relationship Id="rId13" Type="http://schemas.openxmlformats.org/officeDocument/2006/relationships/slideLayout" Target="../slideLayouts/slideLayout15.xml"/><Relationship Id="rId14" Type="http://schemas.openxmlformats.org/officeDocument/2006/relationships/slideLayout" Target="../slideLayouts/slideLayout16.xml"/>
</Relationships>
</file>

<file path=ppt/slideMasters/_rels/slideMaster16.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17.xml"/>
</Relationships>
</file>

<file path=ppt/slideMasters/_rels/slideMaster17.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slideLayout" Target="../slideLayouts/slideLayout18.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 name=""/>
          <p:cNvSpPr/>
          <p:nvPr/>
        </p:nvSpPr>
        <p:spPr>
          <a:xfrm flipH="1" flipV="1">
            <a:off x="-17280" y="4482720"/>
            <a:ext cx="10062720" cy="1152720"/>
          </a:xfrm>
          <a:prstGeom prst="flowChartDocument">
            <a:avLst/>
          </a:prstGeom>
          <a:gradFill rotWithShape="0">
            <a:gsLst>
              <a:gs pos="2000">
                <a:srgbClr val="77caee"/>
              </a:gs>
              <a:gs pos="2000">
                <a:srgbClr val="75c9ee"/>
              </a:gs>
              <a:gs pos="3555">
                <a:srgbClr val="75c9ee"/>
              </a:gs>
              <a:gs pos="3555">
                <a:srgbClr val="73c9ed"/>
              </a:gs>
              <a:gs pos="5111">
                <a:srgbClr val="73c9ed"/>
              </a:gs>
              <a:gs pos="5111">
                <a:srgbClr val="71c8ed"/>
              </a:gs>
              <a:gs pos="6666">
                <a:srgbClr val="71c8ed"/>
              </a:gs>
              <a:gs pos="6666">
                <a:srgbClr val="6fc7ed"/>
              </a:gs>
              <a:gs pos="8222">
                <a:srgbClr val="6fc7ed"/>
              </a:gs>
              <a:gs pos="8222">
                <a:srgbClr val="6ec6ed"/>
              </a:gs>
              <a:gs pos="9777">
                <a:srgbClr val="6ec6ed"/>
              </a:gs>
              <a:gs pos="9777">
                <a:srgbClr val="6cc6ec"/>
              </a:gs>
              <a:gs pos="11333">
                <a:srgbClr val="6cc6ec"/>
              </a:gs>
              <a:gs pos="11333">
                <a:srgbClr val="6ac5ec"/>
              </a:gs>
              <a:gs pos="12888">
                <a:srgbClr val="6ac5ec"/>
              </a:gs>
              <a:gs pos="12888">
                <a:srgbClr val="68c4ec"/>
              </a:gs>
              <a:gs pos="14445">
                <a:srgbClr val="68c4ec"/>
              </a:gs>
              <a:gs pos="14445">
                <a:srgbClr val="66c3ec"/>
              </a:gs>
              <a:gs pos="16000">
                <a:srgbClr val="66c3ec"/>
              </a:gs>
              <a:gs pos="16000">
                <a:srgbClr val="64c3eb"/>
              </a:gs>
              <a:gs pos="17556">
                <a:srgbClr val="64c3eb"/>
              </a:gs>
              <a:gs pos="17556">
                <a:srgbClr val="62c2eb"/>
              </a:gs>
              <a:gs pos="19111">
                <a:srgbClr val="62c2eb"/>
              </a:gs>
              <a:gs pos="19111">
                <a:srgbClr val="60c1eb"/>
              </a:gs>
              <a:gs pos="20667">
                <a:srgbClr val="60c1eb"/>
              </a:gs>
              <a:gs pos="20667">
                <a:srgbClr val="5ec0ea"/>
              </a:gs>
              <a:gs pos="22222">
                <a:srgbClr val="5ec0ea"/>
              </a:gs>
              <a:gs pos="22222">
                <a:srgbClr val="5dc0ea"/>
              </a:gs>
              <a:gs pos="23778">
                <a:srgbClr val="5dc0ea"/>
              </a:gs>
              <a:gs pos="23778">
                <a:srgbClr val="5bbfea"/>
              </a:gs>
              <a:gs pos="25333">
                <a:srgbClr val="5bbfea"/>
              </a:gs>
              <a:gs pos="25333">
                <a:srgbClr val="59beea"/>
              </a:gs>
              <a:gs pos="26889">
                <a:srgbClr val="59beea"/>
              </a:gs>
              <a:gs pos="26889">
                <a:srgbClr val="57bde9"/>
              </a:gs>
              <a:gs pos="28444">
                <a:srgbClr val="57bde9"/>
              </a:gs>
              <a:gs pos="28444">
                <a:srgbClr val="55bde9"/>
              </a:gs>
              <a:gs pos="30000">
                <a:srgbClr val="55bde9"/>
              </a:gs>
              <a:gs pos="30000">
                <a:srgbClr val="53bce9"/>
              </a:gs>
              <a:gs pos="31555">
                <a:srgbClr val="53bce9"/>
              </a:gs>
              <a:gs pos="31555">
                <a:srgbClr val="51bbe9"/>
              </a:gs>
              <a:gs pos="33111">
                <a:srgbClr val="51bbe9"/>
              </a:gs>
              <a:gs pos="33111">
                <a:srgbClr val="4fbae8"/>
              </a:gs>
              <a:gs pos="34666">
                <a:srgbClr val="4fbae8"/>
              </a:gs>
              <a:gs pos="34666">
                <a:srgbClr val="4dbae8"/>
              </a:gs>
              <a:gs pos="36222">
                <a:srgbClr val="4dbae8"/>
              </a:gs>
              <a:gs pos="36222">
                <a:srgbClr val="4cb9e8"/>
              </a:gs>
              <a:gs pos="37777">
                <a:srgbClr val="4cb9e8"/>
              </a:gs>
              <a:gs pos="37777">
                <a:srgbClr val="4ab8e8"/>
              </a:gs>
              <a:gs pos="39334">
                <a:srgbClr val="4ab8e8"/>
              </a:gs>
              <a:gs pos="39334">
                <a:srgbClr val="48b7e7"/>
              </a:gs>
              <a:gs pos="40889">
                <a:srgbClr val="48b7e7"/>
              </a:gs>
              <a:gs pos="40889">
                <a:srgbClr val="46b7e7"/>
              </a:gs>
              <a:gs pos="42445">
                <a:srgbClr val="46b7e7"/>
              </a:gs>
              <a:gs pos="42445">
                <a:srgbClr val="44b6e7"/>
              </a:gs>
              <a:gs pos="44000">
                <a:srgbClr val="44b6e7"/>
              </a:gs>
              <a:gs pos="44000">
                <a:srgbClr val="42b5e6"/>
              </a:gs>
              <a:gs pos="45556">
                <a:srgbClr val="42b5e6"/>
              </a:gs>
              <a:gs pos="45556">
                <a:srgbClr val="40b4e6"/>
              </a:gs>
              <a:gs pos="47111">
                <a:srgbClr val="40b4e6"/>
              </a:gs>
              <a:gs pos="47111">
                <a:srgbClr val="3eb4e6"/>
              </a:gs>
              <a:gs pos="48667">
                <a:srgbClr val="3eb4e6"/>
              </a:gs>
              <a:gs pos="48667">
                <a:srgbClr val="3cb3e6"/>
              </a:gs>
              <a:gs pos="50222">
                <a:srgbClr val="3cb3e6"/>
              </a:gs>
              <a:gs pos="50222">
                <a:srgbClr val="3bb2e5"/>
              </a:gs>
              <a:gs pos="51778">
                <a:srgbClr val="3bb2e5"/>
              </a:gs>
              <a:gs pos="51778">
                <a:srgbClr val="39b1e5"/>
              </a:gs>
              <a:gs pos="53333">
                <a:srgbClr val="39b1e5"/>
              </a:gs>
              <a:gs pos="53333">
                <a:srgbClr val="37b1e5"/>
              </a:gs>
              <a:gs pos="54889">
                <a:srgbClr val="37b1e5"/>
              </a:gs>
              <a:gs pos="54889">
                <a:srgbClr val="35b0e5"/>
              </a:gs>
              <a:gs pos="56444">
                <a:srgbClr val="35b0e5"/>
              </a:gs>
              <a:gs pos="56444">
                <a:srgbClr val="33afe4"/>
              </a:gs>
              <a:gs pos="58000">
                <a:srgbClr val="33afe4"/>
              </a:gs>
              <a:gs pos="58000">
                <a:srgbClr val="31aee4"/>
              </a:gs>
              <a:gs pos="59555">
                <a:srgbClr val="31aee4"/>
              </a:gs>
              <a:gs pos="59555">
                <a:srgbClr val="2faee4"/>
              </a:gs>
              <a:gs pos="61111">
                <a:srgbClr val="2faee4"/>
              </a:gs>
              <a:gs pos="61111">
                <a:srgbClr val="2dade3"/>
              </a:gs>
              <a:gs pos="62666">
                <a:srgbClr val="2dade3"/>
              </a:gs>
              <a:gs pos="62666">
                <a:srgbClr val="2bace3"/>
              </a:gs>
              <a:gs pos="64223">
                <a:srgbClr val="2bace3"/>
              </a:gs>
              <a:gs pos="64223">
                <a:srgbClr val="2aabe3"/>
              </a:gs>
              <a:gs pos="65778">
                <a:srgbClr val="2aabe3"/>
              </a:gs>
              <a:gs pos="65778">
                <a:srgbClr val="28abe3"/>
              </a:gs>
              <a:gs pos="67334">
                <a:srgbClr val="28abe3"/>
              </a:gs>
              <a:gs pos="67334">
                <a:srgbClr val="26aae2"/>
              </a:gs>
              <a:gs pos="68889">
                <a:srgbClr val="26aae2"/>
              </a:gs>
              <a:gs pos="68889">
                <a:srgbClr val="24a9e2"/>
              </a:gs>
              <a:gs pos="70445">
                <a:srgbClr val="24a9e2"/>
              </a:gs>
              <a:gs pos="70445">
                <a:srgbClr val="22a8e2"/>
              </a:gs>
              <a:gs pos="72000">
                <a:srgbClr val="22a8e2"/>
              </a:gs>
              <a:gs pos="72000">
                <a:srgbClr val="20a8e2"/>
              </a:gs>
              <a:gs pos="73556">
                <a:srgbClr val="20a8e2"/>
              </a:gs>
              <a:gs pos="73556">
                <a:srgbClr val="1ea7e1"/>
              </a:gs>
              <a:gs pos="75111">
                <a:srgbClr val="1ea7e1"/>
              </a:gs>
              <a:gs pos="75111">
                <a:srgbClr val="1ca6e1"/>
              </a:gs>
              <a:gs pos="76667">
                <a:srgbClr val="1ca6e1"/>
              </a:gs>
              <a:gs pos="76667">
                <a:srgbClr val="1aa5e1"/>
              </a:gs>
              <a:gs pos="78222">
                <a:srgbClr val="1aa5e1"/>
              </a:gs>
              <a:gs pos="78222">
                <a:srgbClr val="19a5e1"/>
              </a:gs>
              <a:gs pos="79778">
                <a:srgbClr val="19a5e1"/>
              </a:gs>
              <a:gs pos="79778">
                <a:srgbClr val="17a4e0"/>
              </a:gs>
              <a:gs pos="81333">
                <a:srgbClr val="17a4e0"/>
              </a:gs>
              <a:gs pos="81333">
                <a:srgbClr val="15a3e0"/>
              </a:gs>
              <a:gs pos="82889">
                <a:srgbClr val="15a3e0"/>
              </a:gs>
              <a:gs pos="82889">
                <a:srgbClr val="13a2e0"/>
              </a:gs>
              <a:gs pos="84444">
                <a:srgbClr val="13a2e0"/>
              </a:gs>
              <a:gs pos="84444">
                <a:srgbClr val="11a2df"/>
              </a:gs>
              <a:gs pos="86000">
                <a:srgbClr val="11a2df"/>
              </a:gs>
              <a:gs pos="86000">
                <a:srgbClr val="0fa1df"/>
              </a:gs>
              <a:gs pos="87555">
                <a:srgbClr val="0fa1df"/>
              </a:gs>
              <a:gs pos="87555">
                <a:srgbClr val="0da0df"/>
              </a:gs>
              <a:gs pos="89112">
                <a:srgbClr val="0da0df"/>
              </a:gs>
              <a:gs pos="89112">
                <a:srgbClr val="0b9fdf"/>
              </a:gs>
              <a:gs pos="90667">
                <a:srgbClr val="0b9fdf"/>
              </a:gs>
              <a:gs pos="90667">
                <a:srgbClr val="099fde"/>
              </a:gs>
              <a:gs pos="92223">
                <a:srgbClr val="099fde"/>
              </a:gs>
              <a:gs pos="92223">
                <a:srgbClr val="089ede"/>
              </a:gs>
              <a:gs pos="93778">
                <a:srgbClr val="089ede"/>
              </a:gs>
              <a:gs pos="93778">
                <a:srgbClr val="069dde"/>
              </a:gs>
              <a:gs pos="95334">
                <a:srgbClr val="069dde"/>
              </a:gs>
              <a:gs pos="95334">
                <a:srgbClr val="049cde"/>
              </a:gs>
              <a:gs pos="96889">
                <a:srgbClr val="049cde"/>
              </a:gs>
              <a:gs pos="96889">
                <a:srgbClr val="029cdd"/>
              </a:gs>
              <a:gs pos="98445">
                <a:srgbClr val="029cdd"/>
              </a:gs>
              <a:gs pos="98445">
                <a:srgbClr val="009bdd"/>
              </a:gs>
              <a:gs pos="100000">
                <a:srgbClr val="009bdd"/>
              </a:gs>
            </a:gsLst>
            <a:lin ang="10800000"/>
          </a:gradFill>
          <a:ln w="18000">
            <a:noFill/>
          </a:ln>
          <a:effectLst>
            <a:outerShdw blurRad="0" dir="5400000" dist="10800" rotWithShape="0">
              <a:srgbClr val="009bdd"/>
            </a:outerShdw>
          </a:effectLst>
        </p:spPr>
        <p:style>
          <a:lnRef idx="0"/>
          <a:fillRef idx="0"/>
          <a:effectRef idx="0"/>
          <a:fontRef idx="minor"/>
        </p:style>
        <p:txBody>
          <a:bodyPr wrap="none" lIns="90000" rIns="90000" tIns="45000" bIns="45000" anchor="ctr">
            <a:noAutofit/>
          </a:bodyPr>
          <a:p>
            <a:pPr>
              <a:lnSpc>
                <a:spcPct val="100000"/>
              </a:lnSpc>
            </a:pPr>
            <a:endParaRPr b="0" lang="en-US" sz="1800" strike="noStrike" u="none">
              <a:solidFill>
                <a:srgbClr val="000000"/>
              </a:solidFill>
              <a:effectLst/>
              <a:uFillTx/>
              <a:latin typeface="Arial"/>
              <a:ea typeface="DejaVu Sans"/>
            </a:endParaRPr>
          </a:p>
        </p:txBody>
      </p:sp>
      <p:sp>
        <p:nvSpPr>
          <p:cNvPr id="13" name="PlaceHolder 1"/>
          <p:cNvSpPr>
            <a:spLocks noGrp="1"/>
          </p:cNvSpPr>
          <p:nvPr>
            <p:ph type="title"/>
          </p:nvPr>
        </p:nvSpPr>
        <p:spPr>
          <a:xfrm>
            <a:off x="360000" y="274320"/>
            <a:ext cx="9342720" cy="274680"/>
          </a:xfrm>
          <a:prstGeom prst="rect">
            <a:avLst/>
          </a:prstGeom>
          <a:noFill/>
          <a:ln w="0">
            <a:noFill/>
          </a:ln>
        </p:spPr>
        <p:txBody>
          <a:bodyPr lIns="0" rIns="0" tIns="0" bIns="0" anchor="ctr">
            <a:spAutoFit/>
          </a:bodyPr>
          <a:p>
            <a:pPr indent="0">
              <a:buNone/>
            </a:pPr>
            <a:r>
              <a:rPr b="0" lang="en-US" sz="1800" strike="noStrike" u="none">
                <a:solidFill>
                  <a:srgbClr val="000000"/>
                </a:solidFill>
                <a:effectLst/>
                <a:uFillTx/>
                <a:latin typeface="Arial"/>
              </a:rPr>
              <a:t>Click to edit the title text format</a:t>
            </a:r>
            <a:endParaRPr b="0" lang="en-US" sz="1800" strike="noStrike" u="none">
              <a:solidFill>
                <a:srgbClr val="000000"/>
              </a:solidFill>
              <a:effectLst/>
              <a:uFillTx/>
              <a:latin typeface="Arial"/>
            </a:endParaRPr>
          </a:p>
        </p:txBody>
      </p:sp>
      <p:sp>
        <p:nvSpPr>
          <p:cNvPr id="14" name="PlaceHolder 2"/>
          <p:cNvSpPr>
            <a:spLocks noGrp="1"/>
          </p:cNvSpPr>
          <p:nvPr>
            <p:ph type="body"/>
          </p:nvPr>
        </p:nvSpPr>
        <p:spPr>
          <a:xfrm>
            <a:off x="360000" y="1080000"/>
            <a:ext cx="9342720" cy="35827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15" name="PlaceHolder 3"/>
          <p:cNvSpPr>
            <a:spLocks noGrp="1"/>
          </p:cNvSpPr>
          <p:nvPr>
            <p:ph type="ftr" idx="7"/>
          </p:nvPr>
        </p:nvSpPr>
        <p:spPr>
          <a:xfrm>
            <a:off x="3420000" y="5220000"/>
            <a:ext cx="3222720" cy="342720"/>
          </a:xfrm>
          <a:prstGeom prst="rect">
            <a:avLst/>
          </a:prstGeom>
          <a:noFill/>
          <a:ln w="0">
            <a:noFill/>
          </a:ln>
        </p:spPr>
        <p:txBody>
          <a:bodyPr lIns="0" rIns="0" tIns="0" bIns="0" anchor="t">
            <a:noAutofit/>
          </a:bodyPr>
          <a:lstStyle>
            <a:lvl1pPr indent="0" algn="ctr">
              <a:lnSpc>
                <a:spcPct val="100000"/>
              </a:lnSpc>
              <a:buNone/>
              <a:tabLst>
                <a:tab algn="l" pos="0"/>
              </a:tabLst>
              <a:defRPr b="0" lang="en-US" sz="1400" strike="noStrike" u="none">
                <a:solidFill>
                  <a:srgbClr val="ffffff"/>
                </a:solidFill>
                <a:effectLst/>
                <a:uFillTx/>
                <a:latin typeface="Arial"/>
              </a:defRPr>
            </a:lvl1pPr>
          </a:lstStyle>
          <a:p>
            <a:pPr indent="0" algn="ctr">
              <a:lnSpc>
                <a:spcPct val="100000"/>
              </a:lnSpc>
              <a:buNone/>
              <a:tabLst>
                <a:tab algn="l" pos="0"/>
              </a:tabLst>
            </a:pPr>
            <a:r>
              <a:rPr b="0" lang="en-US" sz="1400" strike="noStrike" u="none">
                <a:solidFill>
                  <a:srgbClr val="ffffff"/>
                </a:solidFill>
                <a:effectLst/>
                <a:uFillTx/>
                <a:latin typeface="Arial"/>
              </a:rPr>
              <a:t>&lt;footer&gt;</a:t>
            </a:r>
            <a:endParaRPr b="0" lang="en-US" sz="1400" strike="noStrike" u="none">
              <a:solidFill>
                <a:srgbClr val="000000"/>
              </a:solidFill>
              <a:effectLst/>
              <a:uFillTx/>
              <a:latin typeface="Times New Roman"/>
            </a:endParaRPr>
          </a:p>
        </p:txBody>
      </p:sp>
      <p:sp>
        <p:nvSpPr>
          <p:cNvPr id="16" name="PlaceHolder 4"/>
          <p:cNvSpPr>
            <a:spLocks noGrp="1"/>
          </p:cNvSpPr>
          <p:nvPr>
            <p:ph type="sldNum" idx="8"/>
          </p:nvPr>
        </p:nvSpPr>
        <p:spPr>
          <a:xfrm>
            <a:off x="7380000" y="5220000"/>
            <a:ext cx="2322720" cy="342720"/>
          </a:xfrm>
          <a:prstGeom prst="rect">
            <a:avLst/>
          </a:prstGeom>
          <a:noFill/>
          <a:ln w="0">
            <a:noFill/>
          </a:ln>
        </p:spPr>
        <p:txBody>
          <a:bodyPr lIns="0" rIns="0" tIns="0" bIns="0" anchor="t">
            <a:noAutofit/>
          </a:bodyPr>
          <a:lstStyle>
            <a:lvl1pPr indent="0" algn="r">
              <a:lnSpc>
                <a:spcPct val="100000"/>
              </a:lnSpc>
              <a:buNone/>
              <a:tabLst>
                <a:tab algn="l" pos="0"/>
              </a:tabLst>
              <a:defRPr b="0" lang="en-US" sz="1400" strike="noStrike" u="none">
                <a:solidFill>
                  <a:srgbClr val="ffffff"/>
                </a:solidFill>
                <a:effectLst/>
                <a:uFillTx/>
                <a:latin typeface="Arial"/>
              </a:defRPr>
            </a:lvl1pPr>
          </a:lstStyle>
          <a:p>
            <a:pPr indent="0" algn="r">
              <a:lnSpc>
                <a:spcPct val="100000"/>
              </a:lnSpc>
              <a:buNone/>
              <a:tabLst>
                <a:tab algn="l" pos="0"/>
              </a:tabLst>
            </a:pPr>
            <a:fld id="{6D7098EF-47A1-4021-832D-EA6DC1C6AB97}" type="slidenum">
              <a:rPr b="0" lang="en-US" sz="1400" strike="noStrike" u="none">
                <a:solidFill>
                  <a:srgbClr val="ffffff"/>
                </a:solidFill>
                <a:effectLst/>
                <a:uFillTx/>
                <a:latin typeface="Arial"/>
              </a:rPr>
              <a:t>&lt;number&gt;</a:t>
            </a:fld>
            <a:endParaRPr b="0" lang="en-US" sz="1400" strike="noStrike" u="none">
              <a:solidFill>
                <a:srgbClr val="000000"/>
              </a:solidFill>
              <a:effectLst/>
              <a:uFillTx/>
              <a:latin typeface="Times New Roman"/>
            </a:endParaRPr>
          </a:p>
        </p:txBody>
      </p:sp>
      <p:sp>
        <p:nvSpPr>
          <p:cNvPr id="17" name="PlaceHolder 5"/>
          <p:cNvSpPr>
            <a:spLocks noGrp="1"/>
          </p:cNvSpPr>
          <p:nvPr>
            <p:ph type="dt" idx="9"/>
          </p:nvPr>
        </p:nvSpPr>
        <p:spPr>
          <a:xfrm>
            <a:off x="360000" y="5220000"/>
            <a:ext cx="2322720" cy="342720"/>
          </a:xfrm>
          <a:prstGeom prst="rect">
            <a:avLst/>
          </a:prstGeom>
          <a:noFill/>
          <a:ln w="0">
            <a:noFill/>
          </a:ln>
        </p:spPr>
        <p:txBody>
          <a:bodyPr lIns="0" rIns="0" tIns="0" bIns="0" anchor="t">
            <a:noAutofit/>
          </a:bodyPr>
          <a:lstStyle>
            <a:lvl1pPr indent="0">
              <a:buNone/>
              <a:defRPr b="0" lang="en-US" sz="1400" strike="noStrike" u="none">
                <a:solidFill>
                  <a:srgbClr val="000000"/>
                </a:solidFill>
                <a:effectLst/>
                <a:uFillTx/>
                <a:latin typeface="Times New Roman"/>
              </a:defRPr>
            </a:lvl1pPr>
          </a:lstStyle>
          <a:p>
            <a:pPr indent="0">
              <a:buNone/>
            </a:pPr>
            <a:r>
              <a:rPr b="0" lang="en-US" sz="1400" strike="noStrike" u="none">
                <a:solidFill>
                  <a:srgbClr val="000000"/>
                </a:solidFill>
                <a:effectLst/>
                <a:uFillTx/>
                <a:latin typeface="Times New Roman"/>
              </a:rPr>
              <a:t>&lt;date/time&gt;</a:t>
            </a:r>
            <a:endParaRPr b="0" lang="en-US" sz="1400" strike="noStrike" u="non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652" r:id="rId2"/>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4" r:id="rId2"/>
    <p:sldLayoutId id="2147483655" r:id="rId3"/>
    <p:sldLayoutId id="2147483656" r:id="rId4"/>
    <p:sldLayoutId id="2147483657" r:id="rId5"/>
    <p:sldLayoutId id="2147483658" r:id="rId6"/>
    <p:sldLayoutId id="2147483659" r:id="rId7"/>
    <p:sldLayoutId id="2147483660" r:id="rId8"/>
    <p:sldLayoutId id="2147483661" r:id="rId9"/>
    <p:sldLayoutId id="2147483662" r:id="rId10"/>
    <p:sldLayoutId id="2147483663" r:id="rId11"/>
    <p:sldLayoutId id="2147483664" r:id="rId12"/>
    <p:sldLayoutId id="2147483665" r:id="rId13"/>
    <p:sldLayoutId id="2147483666" r:id="rId14"/>
  </p:sldLayoutIdLst>
</p:sldMaster>
</file>

<file path=ppt/slideMasters/slideMaster1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5" name=""/>
          <p:cNvSpPr/>
          <p:nvPr/>
        </p:nvSpPr>
        <p:spPr>
          <a:xfrm>
            <a:off x="0" y="0"/>
            <a:ext cx="10059480" cy="702720"/>
          </a:xfrm>
          <a:prstGeom prst="rect">
            <a:avLst/>
          </a:prstGeom>
          <a:gradFill rotWithShape="0">
            <a:gsLst>
              <a:gs pos="2000">
                <a:srgbClr val="77caee"/>
              </a:gs>
              <a:gs pos="2000">
                <a:srgbClr val="75c9ee"/>
              </a:gs>
              <a:gs pos="3555">
                <a:srgbClr val="75c9ee"/>
              </a:gs>
              <a:gs pos="3555">
                <a:srgbClr val="73c9ed"/>
              </a:gs>
              <a:gs pos="5111">
                <a:srgbClr val="73c9ed"/>
              </a:gs>
              <a:gs pos="5111">
                <a:srgbClr val="71c8ed"/>
              </a:gs>
              <a:gs pos="6666">
                <a:srgbClr val="71c8ed"/>
              </a:gs>
              <a:gs pos="6666">
                <a:srgbClr val="6fc7ed"/>
              </a:gs>
              <a:gs pos="8222">
                <a:srgbClr val="6fc7ed"/>
              </a:gs>
              <a:gs pos="8222">
                <a:srgbClr val="6ec6ed"/>
              </a:gs>
              <a:gs pos="9777">
                <a:srgbClr val="6ec6ed"/>
              </a:gs>
              <a:gs pos="9777">
                <a:srgbClr val="6cc6ec"/>
              </a:gs>
              <a:gs pos="11333">
                <a:srgbClr val="6cc6ec"/>
              </a:gs>
              <a:gs pos="11333">
                <a:srgbClr val="6ac5ec"/>
              </a:gs>
              <a:gs pos="12888">
                <a:srgbClr val="6ac5ec"/>
              </a:gs>
              <a:gs pos="12888">
                <a:srgbClr val="68c4ec"/>
              </a:gs>
              <a:gs pos="14445">
                <a:srgbClr val="68c4ec"/>
              </a:gs>
              <a:gs pos="14445">
                <a:srgbClr val="66c3ec"/>
              </a:gs>
              <a:gs pos="16000">
                <a:srgbClr val="66c3ec"/>
              </a:gs>
              <a:gs pos="16000">
                <a:srgbClr val="64c3eb"/>
              </a:gs>
              <a:gs pos="17556">
                <a:srgbClr val="64c3eb"/>
              </a:gs>
              <a:gs pos="17556">
                <a:srgbClr val="62c2eb"/>
              </a:gs>
              <a:gs pos="19111">
                <a:srgbClr val="62c2eb"/>
              </a:gs>
              <a:gs pos="19111">
                <a:srgbClr val="60c1eb"/>
              </a:gs>
              <a:gs pos="20667">
                <a:srgbClr val="60c1eb"/>
              </a:gs>
              <a:gs pos="20667">
                <a:srgbClr val="5ec0ea"/>
              </a:gs>
              <a:gs pos="22222">
                <a:srgbClr val="5ec0ea"/>
              </a:gs>
              <a:gs pos="22222">
                <a:srgbClr val="5dc0ea"/>
              </a:gs>
              <a:gs pos="23778">
                <a:srgbClr val="5dc0ea"/>
              </a:gs>
              <a:gs pos="23778">
                <a:srgbClr val="5bbfea"/>
              </a:gs>
              <a:gs pos="25333">
                <a:srgbClr val="5bbfea"/>
              </a:gs>
              <a:gs pos="25333">
                <a:srgbClr val="59beea"/>
              </a:gs>
              <a:gs pos="26889">
                <a:srgbClr val="59beea"/>
              </a:gs>
              <a:gs pos="26889">
                <a:srgbClr val="57bde9"/>
              </a:gs>
              <a:gs pos="28444">
                <a:srgbClr val="57bde9"/>
              </a:gs>
              <a:gs pos="28444">
                <a:srgbClr val="55bde9"/>
              </a:gs>
              <a:gs pos="30000">
                <a:srgbClr val="55bde9"/>
              </a:gs>
              <a:gs pos="30000">
                <a:srgbClr val="53bce9"/>
              </a:gs>
              <a:gs pos="31555">
                <a:srgbClr val="53bce9"/>
              </a:gs>
              <a:gs pos="31555">
                <a:srgbClr val="51bbe9"/>
              </a:gs>
              <a:gs pos="33111">
                <a:srgbClr val="51bbe9"/>
              </a:gs>
              <a:gs pos="33111">
                <a:srgbClr val="4fbae8"/>
              </a:gs>
              <a:gs pos="34666">
                <a:srgbClr val="4fbae8"/>
              </a:gs>
              <a:gs pos="34666">
                <a:srgbClr val="4dbae8"/>
              </a:gs>
              <a:gs pos="36222">
                <a:srgbClr val="4dbae8"/>
              </a:gs>
              <a:gs pos="36222">
                <a:srgbClr val="4cb9e8"/>
              </a:gs>
              <a:gs pos="37777">
                <a:srgbClr val="4cb9e8"/>
              </a:gs>
              <a:gs pos="37777">
                <a:srgbClr val="4ab8e8"/>
              </a:gs>
              <a:gs pos="39334">
                <a:srgbClr val="4ab8e8"/>
              </a:gs>
              <a:gs pos="39334">
                <a:srgbClr val="48b7e7"/>
              </a:gs>
              <a:gs pos="40889">
                <a:srgbClr val="48b7e7"/>
              </a:gs>
              <a:gs pos="40889">
                <a:srgbClr val="46b7e7"/>
              </a:gs>
              <a:gs pos="42445">
                <a:srgbClr val="46b7e7"/>
              </a:gs>
              <a:gs pos="42445">
                <a:srgbClr val="44b6e7"/>
              </a:gs>
              <a:gs pos="44000">
                <a:srgbClr val="44b6e7"/>
              </a:gs>
              <a:gs pos="44000">
                <a:srgbClr val="42b5e6"/>
              </a:gs>
              <a:gs pos="45556">
                <a:srgbClr val="42b5e6"/>
              </a:gs>
              <a:gs pos="45556">
                <a:srgbClr val="40b4e6"/>
              </a:gs>
              <a:gs pos="47111">
                <a:srgbClr val="40b4e6"/>
              </a:gs>
              <a:gs pos="47111">
                <a:srgbClr val="3eb4e6"/>
              </a:gs>
              <a:gs pos="48667">
                <a:srgbClr val="3eb4e6"/>
              </a:gs>
              <a:gs pos="48667">
                <a:srgbClr val="3cb3e6"/>
              </a:gs>
              <a:gs pos="50222">
                <a:srgbClr val="3cb3e6"/>
              </a:gs>
              <a:gs pos="50222">
                <a:srgbClr val="3bb2e5"/>
              </a:gs>
              <a:gs pos="51778">
                <a:srgbClr val="3bb2e5"/>
              </a:gs>
              <a:gs pos="51778">
                <a:srgbClr val="39b1e5"/>
              </a:gs>
              <a:gs pos="53333">
                <a:srgbClr val="39b1e5"/>
              </a:gs>
              <a:gs pos="53333">
                <a:srgbClr val="37b1e5"/>
              </a:gs>
              <a:gs pos="54889">
                <a:srgbClr val="37b1e5"/>
              </a:gs>
              <a:gs pos="54889">
                <a:srgbClr val="35b0e5"/>
              </a:gs>
              <a:gs pos="56444">
                <a:srgbClr val="35b0e5"/>
              </a:gs>
              <a:gs pos="56444">
                <a:srgbClr val="33afe4"/>
              </a:gs>
              <a:gs pos="58000">
                <a:srgbClr val="33afe4"/>
              </a:gs>
              <a:gs pos="58000">
                <a:srgbClr val="31aee4"/>
              </a:gs>
              <a:gs pos="59555">
                <a:srgbClr val="31aee4"/>
              </a:gs>
              <a:gs pos="59555">
                <a:srgbClr val="2faee4"/>
              </a:gs>
              <a:gs pos="61111">
                <a:srgbClr val="2faee4"/>
              </a:gs>
              <a:gs pos="61111">
                <a:srgbClr val="2dade3"/>
              </a:gs>
              <a:gs pos="62666">
                <a:srgbClr val="2dade3"/>
              </a:gs>
              <a:gs pos="62666">
                <a:srgbClr val="2bace3"/>
              </a:gs>
              <a:gs pos="64223">
                <a:srgbClr val="2bace3"/>
              </a:gs>
              <a:gs pos="64223">
                <a:srgbClr val="2aabe3"/>
              </a:gs>
              <a:gs pos="65778">
                <a:srgbClr val="2aabe3"/>
              </a:gs>
              <a:gs pos="65778">
                <a:srgbClr val="28abe3"/>
              </a:gs>
              <a:gs pos="67334">
                <a:srgbClr val="28abe3"/>
              </a:gs>
              <a:gs pos="67334">
                <a:srgbClr val="26aae2"/>
              </a:gs>
              <a:gs pos="68889">
                <a:srgbClr val="26aae2"/>
              </a:gs>
              <a:gs pos="68889">
                <a:srgbClr val="24a9e2"/>
              </a:gs>
              <a:gs pos="70445">
                <a:srgbClr val="24a9e2"/>
              </a:gs>
              <a:gs pos="70445">
                <a:srgbClr val="22a8e2"/>
              </a:gs>
              <a:gs pos="72000">
                <a:srgbClr val="22a8e2"/>
              </a:gs>
              <a:gs pos="72000">
                <a:srgbClr val="20a8e2"/>
              </a:gs>
              <a:gs pos="73556">
                <a:srgbClr val="20a8e2"/>
              </a:gs>
              <a:gs pos="73556">
                <a:srgbClr val="1ea7e1"/>
              </a:gs>
              <a:gs pos="75111">
                <a:srgbClr val="1ea7e1"/>
              </a:gs>
              <a:gs pos="75111">
                <a:srgbClr val="1ca6e1"/>
              </a:gs>
              <a:gs pos="76667">
                <a:srgbClr val="1ca6e1"/>
              </a:gs>
              <a:gs pos="76667">
                <a:srgbClr val="1aa5e1"/>
              </a:gs>
              <a:gs pos="78222">
                <a:srgbClr val="1aa5e1"/>
              </a:gs>
              <a:gs pos="78222">
                <a:srgbClr val="19a5e1"/>
              </a:gs>
              <a:gs pos="79778">
                <a:srgbClr val="19a5e1"/>
              </a:gs>
              <a:gs pos="79778">
                <a:srgbClr val="17a4e0"/>
              </a:gs>
              <a:gs pos="81333">
                <a:srgbClr val="17a4e0"/>
              </a:gs>
              <a:gs pos="81333">
                <a:srgbClr val="15a3e0"/>
              </a:gs>
              <a:gs pos="82889">
                <a:srgbClr val="15a3e0"/>
              </a:gs>
              <a:gs pos="82889">
                <a:srgbClr val="13a2e0"/>
              </a:gs>
              <a:gs pos="84444">
                <a:srgbClr val="13a2e0"/>
              </a:gs>
              <a:gs pos="84444">
                <a:srgbClr val="11a2df"/>
              </a:gs>
              <a:gs pos="86000">
                <a:srgbClr val="11a2df"/>
              </a:gs>
              <a:gs pos="86000">
                <a:srgbClr val="0fa1df"/>
              </a:gs>
              <a:gs pos="87555">
                <a:srgbClr val="0fa1df"/>
              </a:gs>
              <a:gs pos="87555">
                <a:srgbClr val="0da0df"/>
              </a:gs>
              <a:gs pos="89112">
                <a:srgbClr val="0da0df"/>
              </a:gs>
              <a:gs pos="89112">
                <a:srgbClr val="0b9fdf"/>
              </a:gs>
              <a:gs pos="90667">
                <a:srgbClr val="0b9fdf"/>
              </a:gs>
              <a:gs pos="90667">
                <a:srgbClr val="099fde"/>
              </a:gs>
              <a:gs pos="92223">
                <a:srgbClr val="099fde"/>
              </a:gs>
              <a:gs pos="92223">
                <a:srgbClr val="089ede"/>
              </a:gs>
              <a:gs pos="93778">
                <a:srgbClr val="089ede"/>
              </a:gs>
              <a:gs pos="93778">
                <a:srgbClr val="069dde"/>
              </a:gs>
              <a:gs pos="95334">
                <a:srgbClr val="069dde"/>
              </a:gs>
              <a:gs pos="95334">
                <a:srgbClr val="049cde"/>
              </a:gs>
              <a:gs pos="96889">
                <a:srgbClr val="049cde"/>
              </a:gs>
              <a:gs pos="96889">
                <a:srgbClr val="029cdd"/>
              </a:gs>
              <a:gs pos="98445">
                <a:srgbClr val="029cdd"/>
              </a:gs>
              <a:gs pos="98445">
                <a:srgbClr val="009bdd"/>
              </a:gs>
              <a:gs pos="100000">
                <a:srgbClr val="009bdd"/>
              </a:gs>
            </a:gsLst>
            <a:lin ang="10800000"/>
          </a:gradFill>
          <a:ln w="18000">
            <a:noFill/>
          </a:ln>
          <a:effectLst>
            <a:outerShdw blurRad="0" dir="5400000" dist="10800" rotWithShape="0">
              <a:srgbClr val="009bdd"/>
            </a:outerShdw>
          </a:effectLst>
        </p:spPr>
        <p:style>
          <a:lnRef idx="0"/>
          <a:fillRef idx="0"/>
          <a:effectRef idx="0"/>
          <a:fontRef idx="minor"/>
        </p:style>
        <p:txBody>
          <a:bodyPr wrap="none" lIns="90000" rIns="90000" tIns="45000" bIns="45000" anchor="ctr">
            <a:noAutofit/>
          </a:bodyPr>
          <a:p>
            <a:pPr>
              <a:lnSpc>
                <a:spcPct val="100000"/>
              </a:lnSpc>
            </a:pPr>
            <a:endParaRPr b="0" lang="en-US" sz="1800" strike="noStrike" u="none">
              <a:solidFill>
                <a:srgbClr val="000000"/>
              </a:solidFill>
              <a:effectLst/>
              <a:uFillTx/>
              <a:latin typeface="Arial"/>
              <a:ea typeface="DejaVu Sans"/>
            </a:endParaRPr>
          </a:p>
        </p:txBody>
      </p:sp>
      <p:sp>
        <p:nvSpPr>
          <p:cNvPr id="96" name="PlaceHolder 1"/>
          <p:cNvSpPr>
            <a:spLocks noGrp="1"/>
          </p:cNvSpPr>
          <p:nvPr>
            <p:ph type="ftr" idx="49"/>
          </p:nvPr>
        </p:nvSpPr>
        <p:spPr>
          <a:xfrm>
            <a:off x="3420000" y="5220000"/>
            <a:ext cx="3222720" cy="342720"/>
          </a:xfrm>
          <a:prstGeom prst="rect">
            <a:avLst/>
          </a:prstGeom>
          <a:noFill/>
          <a:ln w="0">
            <a:noFill/>
          </a:ln>
        </p:spPr>
        <p:txBody>
          <a:bodyPr lIns="0" rIns="0" tIns="0" bIns="0" anchor="t">
            <a:noAutofit/>
          </a:bodyPr>
          <a:lstStyle>
            <a:lvl1pPr indent="0" algn="ctr">
              <a:lnSpc>
                <a:spcPct val="100000"/>
              </a:lnSpc>
              <a:buNone/>
              <a:tabLst>
                <a:tab algn="l" pos="0"/>
              </a:tabLst>
              <a:defRPr b="0" lang="en-US" sz="1400" strike="noStrike" u="none">
                <a:solidFill>
                  <a:srgbClr val="ffffff"/>
                </a:solidFill>
                <a:effectLst/>
                <a:uFillTx/>
                <a:latin typeface="Arial"/>
              </a:defRPr>
            </a:lvl1pPr>
          </a:lstStyle>
          <a:p>
            <a:pPr indent="0" algn="ctr">
              <a:lnSpc>
                <a:spcPct val="100000"/>
              </a:lnSpc>
              <a:buNone/>
              <a:tabLst>
                <a:tab algn="l" pos="0"/>
              </a:tabLst>
            </a:pPr>
            <a:r>
              <a:rPr b="0" lang="en-US" sz="1400" strike="noStrike" u="none">
                <a:solidFill>
                  <a:srgbClr val="ffffff"/>
                </a:solidFill>
                <a:effectLst/>
                <a:uFillTx/>
                <a:latin typeface="Arial"/>
              </a:rPr>
              <a:t>&lt;footer&gt;</a:t>
            </a:r>
            <a:endParaRPr b="0" lang="en-US" sz="1400" strike="noStrike" u="none">
              <a:solidFill>
                <a:srgbClr val="000000"/>
              </a:solidFill>
              <a:effectLst/>
              <a:uFillTx/>
              <a:latin typeface="Times New Roman"/>
            </a:endParaRPr>
          </a:p>
        </p:txBody>
      </p:sp>
      <p:sp>
        <p:nvSpPr>
          <p:cNvPr id="97" name="PlaceHolder 2"/>
          <p:cNvSpPr>
            <a:spLocks noGrp="1"/>
          </p:cNvSpPr>
          <p:nvPr>
            <p:ph type="sldNum" idx="50"/>
          </p:nvPr>
        </p:nvSpPr>
        <p:spPr>
          <a:xfrm>
            <a:off x="7380000" y="5220000"/>
            <a:ext cx="2322720" cy="342720"/>
          </a:xfrm>
          <a:prstGeom prst="rect">
            <a:avLst/>
          </a:prstGeom>
          <a:noFill/>
          <a:ln w="0">
            <a:noFill/>
          </a:ln>
        </p:spPr>
        <p:txBody>
          <a:bodyPr lIns="0" rIns="0" tIns="0" bIns="0" anchor="t">
            <a:noAutofit/>
          </a:bodyPr>
          <a:lstStyle>
            <a:lvl1pPr indent="0" algn="r">
              <a:lnSpc>
                <a:spcPct val="100000"/>
              </a:lnSpc>
              <a:buNone/>
              <a:tabLst>
                <a:tab algn="l" pos="0"/>
              </a:tabLst>
              <a:defRPr b="0" lang="en-US" sz="1400" strike="noStrike" u="none">
                <a:solidFill>
                  <a:srgbClr val="ffffff"/>
                </a:solidFill>
                <a:effectLst/>
                <a:uFillTx/>
                <a:latin typeface="Arial"/>
              </a:defRPr>
            </a:lvl1pPr>
          </a:lstStyle>
          <a:p>
            <a:pPr indent="0" algn="r">
              <a:lnSpc>
                <a:spcPct val="100000"/>
              </a:lnSpc>
              <a:buNone/>
              <a:tabLst>
                <a:tab algn="l" pos="0"/>
              </a:tabLst>
            </a:pPr>
            <a:fld id="{8D4262EF-B4B0-453C-AC15-265073806E24}" type="slidenum">
              <a:rPr b="0" lang="en-US" sz="1400" strike="noStrike" u="none">
                <a:solidFill>
                  <a:srgbClr val="ffffff"/>
                </a:solidFill>
                <a:effectLst/>
                <a:uFillTx/>
                <a:latin typeface="Arial"/>
              </a:rPr>
              <a:t>&lt;number&gt;</a:t>
            </a:fld>
            <a:endParaRPr b="0" lang="en-US" sz="1400" strike="noStrike" u="none">
              <a:solidFill>
                <a:srgbClr val="000000"/>
              </a:solidFill>
              <a:effectLst/>
              <a:uFillTx/>
              <a:latin typeface="Times New Roman"/>
            </a:endParaRPr>
          </a:p>
        </p:txBody>
      </p:sp>
      <p:sp>
        <p:nvSpPr>
          <p:cNvPr id="98" name="PlaceHolder 3"/>
          <p:cNvSpPr>
            <a:spLocks noGrp="1"/>
          </p:cNvSpPr>
          <p:nvPr>
            <p:ph type="dt" idx="51"/>
          </p:nvPr>
        </p:nvSpPr>
        <p:spPr>
          <a:xfrm>
            <a:off x="360000" y="5220000"/>
            <a:ext cx="2322720" cy="342720"/>
          </a:xfrm>
          <a:prstGeom prst="rect">
            <a:avLst/>
          </a:prstGeom>
          <a:noFill/>
          <a:ln w="0">
            <a:noFill/>
          </a:ln>
        </p:spPr>
        <p:txBody>
          <a:bodyPr lIns="0" rIns="0" tIns="0" bIns="0" anchor="t">
            <a:noAutofit/>
          </a:bodyPr>
          <a:lstStyle>
            <a:lvl1pPr indent="0">
              <a:buNone/>
              <a:defRPr b="0" lang="en-US" sz="1400" strike="noStrike" u="none">
                <a:solidFill>
                  <a:srgbClr val="000000"/>
                </a:solidFill>
                <a:effectLst/>
                <a:uFillTx/>
                <a:latin typeface="Times New Roman"/>
              </a:defRPr>
            </a:lvl1pPr>
          </a:lstStyle>
          <a:p>
            <a:pPr indent="0">
              <a:buNone/>
            </a:pPr>
            <a:r>
              <a:rPr b="0" lang="en-US" sz="1400" strike="noStrike" u="none">
                <a:solidFill>
                  <a:srgbClr val="000000"/>
                </a:solidFill>
                <a:effectLst/>
                <a:uFillTx/>
                <a:latin typeface="Times New Roman"/>
              </a:rPr>
              <a:t>&lt;date/time&gt;</a:t>
            </a:r>
            <a:endParaRPr b="0" lang="en-US" sz="1400" strike="noStrike" u="none">
              <a:solidFill>
                <a:srgbClr val="000000"/>
              </a:solidFill>
              <a:effectLst/>
              <a:uFillTx/>
              <a:latin typeface="Times New Roman"/>
            </a:endParaRPr>
          </a:p>
        </p:txBody>
      </p:sp>
      <p:sp>
        <p:nvSpPr>
          <p:cNvPr id="99" name="PlaceHolder 4"/>
          <p:cNvSpPr>
            <a:spLocks noGrp="1"/>
          </p:cNvSpPr>
          <p:nvPr>
            <p:ph type="title"/>
          </p:nvPr>
        </p:nvSpPr>
        <p:spPr>
          <a:xfrm>
            <a:off x="504000" y="226080"/>
            <a:ext cx="9072000" cy="946440"/>
          </a:xfrm>
          <a:prstGeom prst="rect">
            <a:avLst/>
          </a:prstGeom>
          <a:noFill/>
          <a:ln w="0">
            <a:noFill/>
          </a:ln>
        </p:spPr>
        <p:txBody>
          <a:bodyPr lIns="0" rIns="0" tIns="0" bIns="0" anchor="ctr">
            <a:noAutofit/>
          </a:bodyPr>
          <a:p>
            <a:pPr indent="0" algn="ctr">
              <a:buNone/>
            </a:pPr>
            <a:r>
              <a:rPr b="0" lang="en-US" sz="4400" strike="noStrike" u="none">
                <a:solidFill>
                  <a:srgbClr val="000000"/>
                </a:solidFill>
                <a:effectLst/>
                <a:uFillTx/>
                <a:latin typeface="Arial"/>
              </a:rPr>
              <a:t>Click to edit the title text format</a:t>
            </a:r>
            <a:endParaRPr b="0" lang="en-US" sz="4400" strike="noStrike" u="none">
              <a:solidFill>
                <a:srgbClr val="000000"/>
              </a:solidFill>
              <a:effectLst/>
              <a:uFillTx/>
              <a:latin typeface="Arial"/>
            </a:endParaRPr>
          </a:p>
        </p:txBody>
      </p:sp>
      <p:sp>
        <p:nvSpPr>
          <p:cNvPr id="100" name="PlaceHolder 5"/>
          <p:cNvSpPr>
            <a:spLocks noGrp="1"/>
          </p:cNvSpPr>
          <p:nvPr>
            <p:ph type="body"/>
          </p:nvPr>
        </p:nvSpPr>
        <p:spPr>
          <a:xfrm>
            <a:off x="504000" y="1326600"/>
            <a:ext cx="9072000" cy="328860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trike="noStrike" u="none">
                <a:solidFill>
                  <a:srgbClr val="000000"/>
                </a:solidFill>
                <a:effectLst/>
                <a:uFillTx/>
                <a:latin typeface="Arial"/>
              </a:rPr>
              <a:t>Click to edit the outline text format</a:t>
            </a:r>
            <a:endParaRPr b="0" lang="en-US" sz="32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2800" strike="noStrike" u="none">
                <a:solidFill>
                  <a:srgbClr val="000000"/>
                </a:solidFill>
                <a:effectLst/>
                <a:uFillTx/>
                <a:latin typeface="Arial"/>
              </a:rPr>
              <a:t>Second Outline Level</a:t>
            </a:r>
            <a:endParaRPr b="0" lang="en-US" sz="2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2400" strike="noStrike" u="none">
                <a:solidFill>
                  <a:srgbClr val="000000"/>
                </a:solidFill>
                <a:effectLst/>
                <a:uFillTx/>
                <a:latin typeface="Arial"/>
              </a:rPr>
              <a:t>Third Outline Level</a:t>
            </a:r>
            <a:endParaRPr b="0" lang="en-US" sz="24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2000" strike="noStrike" u="none">
                <a:solidFill>
                  <a:srgbClr val="000000"/>
                </a:solidFill>
                <a:effectLst/>
                <a:uFillTx/>
                <a:latin typeface="Arial"/>
              </a:rPr>
              <a:t>Fourth Outline Level</a:t>
            </a:r>
            <a:endParaRPr b="0" lang="en-US" sz="20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Fifth Outline Level</a:t>
            </a:r>
            <a:endParaRPr b="0" lang="en-US" sz="20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Sixth Outline Level</a:t>
            </a:r>
            <a:endParaRPr b="0" lang="en-US" sz="20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Seventh Outline Level</a:t>
            </a:r>
            <a:endParaRPr b="0" lang="en-US" sz="2000" strike="noStrike" u="none">
              <a:solidFill>
                <a:srgbClr val="000000"/>
              </a:solidFill>
              <a:effectLst/>
              <a:uFillTx/>
              <a:latin typeface="Arial"/>
            </a:endParaRPr>
          </a:p>
        </p:txBody>
      </p:sp>
    </p:spTree>
  </p:cSld>
  <p:clrMap bg1="lt1" tx1="dk1" bg2="lt2" tx2="dk2" accent1="accent1" accent2="accent2" accent3="accent3" accent4="accent4" accent5="accent5" accent6="accent6" hlink="hlink" folHlink="folHlink"/>
  <p:sldLayoutIdLst>
    <p:sldLayoutId id="2147483668" r:id="rId2"/>
  </p:sldLayoutIdLst>
</p:sldMaster>
</file>

<file path=ppt/slideMasters/slideMaster1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1" name=""/>
          <p:cNvSpPr/>
          <p:nvPr/>
        </p:nvSpPr>
        <p:spPr>
          <a:xfrm>
            <a:off x="0" y="0"/>
            <a:ext cx="10059480" cy="702720"/>
          </a:xfrm>
          <a:prstGeom prst="rect">
            <a:avLst/>
          </a:prstGeom>
          <a:gradFill rotWithShape="0">
            <a:gsLst>
              <a:gs pos="2000">
                <a:srgbClr val="77caee"/>
              </a:gs>
              <a:gs pos="2000">
                <a:srgbClr val="75c9ee"/>
              </a:gs>
              <a:gs pos="3555">
                <a:srgbClr val="75c9ee"/>
              </a:gs>
              <a:gs pos="3555">
                <a:srgbClr val="73c9ed"/>
              </a:gs>
              <a:gs pos="5111">
                <a:srgbClr val="73c9ed"/>
              </a:gs>
              <a:gs pos="5111">
                <a:srgbClr val="71c8ed"/>
              </a:gs>
              <a:gs pos="6666">
                <a:srgbClr val="71c8ed"/>
              </a:gs>
              <a:gs pos="6666">
                <a:srgbClr val="6fc7ed"/>
              </a:gs>
              <a:gs pos="8222">
                <a:srgbClr val="6fc7ed"/>
              </a:gs>
              <a:gs pos="8222">
                <a:srgbClr val="6ec6ed"/>
              </a:gs>
              <a:gs pos="9777">
                <a:srgbClr val="6ec6ed"/>
              </a:gs>
              <a:gs pos="9777">
                <a:srgbClr val="6cc6ec"/>
              </a:gs>
              <a:gs pos="11333">
                <a:srgbClr val="6cc6ec"/>
              </a:gs>
              <a:gs pos="11333">
                <a:srgbClr val="6ac5ec"/>
              </a:gs>
              <a:gs pos="12888">
                <a:srgbClr val="6ac5ec"/>
              </a:gs>
              <a:gs pos="12888">
                <a:srgbClr val="68c4ec"/>
              </a:gs>
              <a:gs pos="14445">
                <a:srgbClr val="68c4ec"/>
              </a:gs>
              <a:gs pos="14445">
                <a:srgbClr val="66c3ec"/>
              </a:gs>
              <a:gs pos="16000">
                <a:srgbClr val="66c3ec"/>
              </a:gs>
              <a:gs pos="16000">
                <a:srgbClr val="64c3eb"/>
              </a:gs>
              <a:gs pos="17556">
                <a:srgbClr val="64c3eb"/>
              </a:gs>
              <a:gs pos="17556">
                <a:srgbClr val="62c2eb"/>
              </a:gs>
              <a:gs pos="19111">
                <a:srgbClr val="62c2eb"/>
              </a:gs>
              <a:gs pos="19111">
                <a:srgbClr val="60c1eb"/>
              </a:gs>
              <a:gs pos="20667">
                <a:srgbClr val="60c1eb"/>
              </a:gs>
              <a:gs pos="20667">
                <a:srgbClr val="5ec0ea"/>
              </a:gs>
              <a:gs pos="22222">
                <a:srgbClr val="5ec0ea"/>
              </a:gs>
              <a:gs pos="22222">
                <a:srgbClr val="5dc0ea"/>
              </a:gs>
              <a:gs pos="23778">
                <a:srgbClr val="5dc0ea"/>
              </a:gs>
              <a:gs pos="23778">
                <a:srgbClr val="5bbfea"/>
              </a:gs>
              <a:gs pos="25333">
                <a:srgbClr val="5bbfea"/>
              </a:gs>
              <a:gs pos="25333">
                <a:srgbClr val="59beea"/>
              </a:gs>
              <a:gs pos="26889">
                <a:srgbClr val="59beea"/>
              </a:gs>
              <a:gs pos="26889">
                <a:srgbClr val="57bde9"/>
              </a:gs>
              <a:gs pos="28444">
                <a:srgbClr val="57bde9"/>
              </a:gs>
              <a:gs pos="28444">
                <a:srgbClr val="55bde9"/>
              </a:gs>
              <a:gs pos="30000">
                <a:srgbClr val="55bde9"/>
              </a:gs>
              <a:gs pos="30000">
                <a:srgbClr val="53bce9"/>
              </a:gs>
              <a:gs pos="31555">
                <a:srgbClr val="53bce9"/>
              </a:gs>
              <a:gs pos="31555">
                <a:srgbClr val="51bbe9"/>
              </a:gs>
              <a:gs pos="33111">
                <a:srgbClr val="51bbe9"/>
              </a:gs>
              <a:gs pos="33111">
                <a:srgbClr val="4fbae8"/>
              </a:gs>
              <a:gs pos="34666">
                <a:srgbClr val="4fbae8"/>
              </a:gs>
              <a:gs pos="34666">
                <a:srgbClr val="4dbae8"/>
              </a:gs>
              <a:gs pos="36222">
                <a:srgbClr val="4dbae8"/>
              </a:gs>
              <a:gs pos="36222">
                <a:srgbClr val="4cb9e8"/>
              </a:gs>
              <a:gs pos="37777">
                <a:srgbClr val="4cb9e8"/>
              </a:gs>
              <a:gs pos="37777">
                <a:srgbClr val="4ab8e8"/>
              </a:gs>
              <a:gs pos="39334">
                <a:srgbClr val="4ab8e8"/>
              </a:gs>
              <a:gs pos="39334">
                <a:srgbClr val="48b7e7"/>
              </a:gs>
              <a:gs pos="40889">
                <a:srgbClr val="48b7e7"/>
              </a:gs>
              <a:gs pos="40889">
                <a:srgbClr val="46b7e7"/>
              </a:gs>
              <a:gs pos="42445">
                <a:srgbClr val="46b7e7"/>
              </a:gs>
              <a:gs pos="42445">
                <a:srgbClr val="44b6e7"/>
              </a:gs>
              <a:gs pos="44000">
                <a:srgbClr val="44b6e7"/>
              </a:gs>
              <a:gs pos="44000">
                <a:srgbClr val="42b5e6"/>
              </a:gs>
              <a:gs pos="45556">
                <a:srgbClr val="42b5e6"/>
              </a:gs>
              <a:gs pos="45556">
                <a:srgbClr val="40b4e6"/>
              </a:gs>
              <a:gs pos="47111">
                <a:srgbClr val="40b4e6"/>
              </a:gs>
              <a:gs pos="47111">
                <a:srgbClr val="3eb4e6"/>
              </a:gs>
              <a:gs pos="48667">
                <a:srgbClr val="3eb4e6"/>
              </a:gs>
              <a:gs pos="48667">
                <a:srgbClr val="3cb3e6"/>
              </a:gs>
              <a:gs pos="50222">
                <a:srgbClr val="3cb3e6"/>
              </a:gs>
              <a:gs pos="50222">
                <a:srgbClr val="3bb2e5"/>
              </a:gs>
              <a:gs pos="51778">
                <a:srgbClr val="3bb2e5"/>
              </a:gs>
              <a:gs pos="51778">
                <a:srgbClr val="39b1e5"/>
              </a:gs>
              <a:gs pos="53333">
                <a:srgbClr val="39b1e5"/>
              </a:gs>
              <a:gs pos="53333">
                <a:srgbClr val="37b1e5"/>
              </a:gs>
              <a:gs pos="54889">
                <a:srgbClr val="37b1e5"/>
              </a:gs>
              <a:gs pos="54889">
                <a:srgbClr val="35b0e5"/>
              </a:gs>
              <a:gs pos="56444">
                <a:srgbClr val="35b0e5"/>
              </a:gs>
              <a:gs pos="56444">
                <a:srgbClr val="33afe4"/>
              </a:gs>
              <a:gs pos="58000">
                <a:srgbClr val="33afe4"/>
              </a:gs>
              <a:gs pos="58000">
                <a:srgbClr val="31aee4"/>
              </a:gs>
              <a:gs pos="59555">
                <a:srgbClr val="31aee4"/>
              </a:gs>
              <a:gs pos="59555">
                <a:srgbClr val="2faee4"/>
              </a:gs>
              <a:gs pos="61111">
                <a:srgbClr val="2faee4"/>
              </a:gs>
              <a:gs pos="61111">
                <a:srgbClr val="2dade3"/>
              </a:gs>
              <a:gs pos="62666">
                <a:srgbClr val="2dade3"/>
              </a:gs>
              <a:gs pos="62666">
                <a:srgbClr val="2bace3"/>
              </a:gs>
              <a:gs pos="64223">
                <a:srgbClr val="2bace3"/>
              </a:gs>
              <a:gs pos="64223">
                <a:srgbClr val="2aabe3"/>
              </a:gs>
              <a:gs pos="65778">
                <a:srgbClr val="2aabe3"/>
              </a:gs>
              <a:gs pos="65778">
                <a:srgbClr val="28abe3"/>
              </a:gs>
              <a:gs pos="67334">
                <a:srgbClr val="28abe3"/>
              </a:gs>
              <a:gs pos="67334">
                <a:srgbClr val="26aae2"/>
              </a:gs>
              <a:gs pos="68889">
                <a:srgbClr val="26aae2"/>
              </a:gs>
              <a:gs pos="68889">
                <a:srgbClr val="24a9e2"/>
              </a:gs>
              <a:gs pos="70445">
                <a:srgbClr val="24a9e2"/>
              </a:gs>
              <a:gs pos="70445">
                <a:srgbClr val="22a8e2"/>
              </a:gs>
              <a:gs pos="72000">
                <a:srgbClr val="22a8e2"/>
              </a:gs>
              <a:gs pos="72000">
                <a:srgbClr val="20a8e2"/>
              </a:gs>
              <a:gs pos="73556">
                <a:srgbClr val="20a8e2"/>
              </a:gs>
              <a:gs pos="73556">
                <a:srgbClr val="1ea7e1"/>
              </a:gs>
              <a:gs pos="75111">
                <a:srgbClr val="1ea7e1"/>
              </a:gs>
              <a:gs pos="75111">
                <a:srgbClr val="1ca6e1"/>
              </a:gs>
              <a:gs pos="76667">
                <a:srgbClr val="1ca6e1"/>
              </a:gs>
              <a:gs pos="76667">
                <a:srgbClr val="1aa5e1"/>
              </a:gs>
              <a:gs pos="78222">
                <a:srgbClr val="1aa5e1"/>
              </a:gs>
              <a:gs pos="78222">
                <a:srgbClr val="19a5e1"/>
              </a:gs>
              <a:gs pos="79778">
                <a:srgbClr val="19a5e1"/>
              </a:gs>
              <a:gs pos="79778">
                <a:srgbClr val="17a4e0"/>
              </a:gs>
              <a:gs pos="81333">
                <a:srgbClr val="17a4e0"/>
              </a:gs>
              <a:gs pos="81333">
                <a:srgbClr val="15a3e0"/>
              </a:gs>
              <a:gs pos="82889">
                <a:srgbClr val="15a3e0"/>
              </a:gs>
              <a:gs pos="82889">
                <a:srgbClr val="13a2e0"/>
              </a:gs>
              <a:gs pos="84444">
                <a:srgbClr val="13a2e0"/>
              </a:gs>
              <a:gs pos="84444">
                <a:srgbClr val="11a2df"/>
              </a:gs>
              <a:gs pos="86000">
                <a:srgbClr val="11a2df"/>
              </a:gs>
              <a:gs pos="86000">
                <a:srgbClr val="0fa1df"/>
              </a:gs>
              <a:gs pos="87555">
                <a:srgbClr val="0fa1df"/>
              </a:gs>
              <a:gs pos="87555">
                <a:srgbClr val="0da0df"/>
              </a:gs>
              <a:gs pos="89112">
                <a:srgbClr val="0da0df"/>
              </a:gs>
              <a:gs pos="89112">
                <a:srgbClr val="0b9fdf"/>
              </a:gs>
              <a:gs pos="90667">
                <a:srgbClr val="0b9fdf"/>
              </a:gs>
              <a:gs pos="90667">
                <a:srgbClr val="099fde"/>
              </a:gs>
              <a:gs pos="92223">
                <a:srgbClr val="099fde"/>
              </a:gs>
              <a:gs pos="92223">
                <a:srgbClr val="089ede"/>
              </a:gs>
              <a:gs pos="93778">
                <a:srgbClr val="089ede"/>
              </a:gs>
              <a:gs pos="93778">
                <a:srgbClr val="069dde"/>
              </a:gs>
              <a:gs pos="95334">
                <a:srgbClr val="069dde"/>
              </a:gs>
              <a:gs pos="95334">
                <a:srgbClr val="049cde"/>
              </a:gs>
              <a:gs pos="96889">
                <a:srgbClr val="049cde"/>
              </a:gs>
              <a:gs pos="96889">
                <a:srgbClr val="029cdd"/>
              </a:gs>
              <a:gs pos="98445">
                <a:srgbClr val="029cdd"/>
              </a:gs>
              <a:gs pos="98445">
                <a:srgbClr val="009bdd"/>
              </a:gs>
              <a:gs pos="100000">
                <a:srgbClr val="009bdd"/>
              </a:gs>
            </a:gsLst>
            <a:lin ang="10800000"/>
          </a:gradFill>
          <a:ln w="18000">
            <a:noFill/>
          </a:ln>
          <a:effectLst>
            <a:outerShdw blurRad="0" dir="5400000" dist="10800" rotWithShape="0">
              <a:srgbClr val="009bdd"/>
            </a:outerShdw>
          </a:effectLst>
        </p:spPr>
        <p:style>
          <a:lnRef idx="0"/>
          <a:fillRef idx="0"/>
          <a:effectRef idx="0"/>
          <a:fontRef idx="minor"/>
        </p:style>
        <p:txBody>
          <a:bodyPr wrap="none" lIns="90000" rIns="90000" tIns="45000" bIns="45000" anchor="ctr">
            <a:noAutofit/>
          </a:bodyPr>
          <a:p>
            <a:pPr>
              <a:lnSpc>
                <a:spcPct val="100000"/>
              </a:lnSpc>
            </a:pPr>
            <a:endParaRPr b="0" lang="en-US" sz="1800" strike="noStrike" u="none">
              <a:solidFill>
                <a:srgbClr val="000000"/>
              </a:solidFill>
              <a:effectLst/>
              <a:uFillTx/>
              <a:latin typeface="Arial"/>
              <a:ea typeface="DejaVu Sans"/>
            </a:endParaRPr>
          </a:p>
        </p:txBody>
      </p:sp>
      <p:sp>
        <p:nvSpPr>
          <p:cNvPr id="102" name="PlaceHolder 1"/>
          <p:cNvSpPr>
            <a:spLocks noGrp="1"/>
          </p:cNvSpPr>
          <p:nvPr>
            <p:ph type="ftr" idx="52"/>
          </p:nvPr>
        </p:nvSpPr>
        <p:spPr>
          <a:xfrm>
            <a:off x="3420000" y="5220000"/>
            <a:ext cx="3222720" cy="342720"/>
          </a:xfrm>
          <a:prstGeom prst="rect">
            <a:avLst/>
          </a:prstGeom>
          <a:noFill/>
          <a:ln w="0">
            <a:noFill/>
          </a:ln>
        </p:spPr>
        <p:txBody>
          <a:bodyPr lIns="0" rIns="0" tIns="0" bIns="0" anchor="t">
            <a:noAutofit/>
          </a:bodyPr>
          <a:lstStyle>
            <a:lvl1pPr indent="0" algn="ctr">
              <a:lnSpc>
                <a:spcPct val="100000"/>
              </a:lnSpc>
              <a:buNone/>
              <a:tabLst>
                <a:tab algn="l" pos="0"/>
              </a:tabLst>
              <a:defRPr b="0" lang="en-US" sz="1400" strike="noStrike" u="none">
                <a:solidFill>
                  <a:srgbClr val="ffffff"/>
                </a:solidFill>
                <a:effectLst/>
                <a:uFillTx/>
                <a:latin typeface="Arial"/>
              </a:defRPr>
            </a:lvl1pPr>
          </a:lstStyle>
          <a:p>
            <a:pPr indent="0" algn="ctr">
              <a:lnSpc>
                <a:spcPct val="100000"/>
              </a:lnSpc>
              <a:buNone/>
              <a:tabLst>
                <a:tab algn="l" pos="0"/>
              </a:tabLst>
            </a:pPr>
            <a:r>
              <a:rPr b="0" lang="en-US" sz="1400" strike="noStrike" u="none">
                <a:solidFill>
                  <a:srgbClr val="ffffff"/>
                </a:solidFill>
                <a:effectLst/>
                <a:uFillTx/>
                <a:latin typeface="Arial"/>
              </a:rPr>
              <a:t> </a:t>
            </a:r>
            <a:endParaRPr b="0" lang="en-US" sz="1400" strike="noStrike" u="none">
              <a:solidFill>
                <a:srgbClr val="000000"/>
              </a:solidFill>
              <a:effectLst/>
              <a:uFillTx/>
              <a:latin typeface="Times New Roman"/>
            </a:endParaRPr>
          </a:p>
        </p:txBody>
      </p:sp>
      <p:sp>
        <p:nvSpPr>
          <p:cNvPr id="103" name="PlaceHolder 2"/>
          <p:cNvSpPr>
            <a:spLocks noGrp="1"/>
          </p:cNvSpPr>
          <p:nvPr>
            <p:ph type="sldNum" idx="53"/>
          </p:nvPr>
        </p:nvSpPr>
        <p:spPr>
          <a:xfrm>
            <a:off x="7380000" y="5220000"/>
            <a:ext cx="2322720" cy="342720"/>
          </a:xfrm>
          <a:prstGeom prst="rect">
            <a:avLst/>
          </a:prstGeom>
          <a:noFill/>
          <a:ln w="0">
            <a:noFill/>
          </a:ln>
        </p:spPr>
        <p:txBody>
          <a:bodyPr lIns="0" rIns="0" tIns="0" bIns="0" anchor="t">
            <a:noAutofit/>
          </a:bodyPr>
          <a:lstStyle>
            <a:lvl1pPr indent="0" algn="r">
              <a:lnSpc>
                <a:spcPct val="100000"/>
              </a:lnSpc>
              <a:buNone/>
              <a:tabLst>
                <a:tab algn="l" pos="0"/>
              </a:tabLst>
              <a:defRPr b="0" lang="en-US" sz="1400" strike="noStrike" u="none">
                <a:solidFill>
                  <a:srgbClr val="ffffff"/>
                </a:solidFill>
                <a:effectLst/>
                <a:uFillTx/>
                <a:latin typeface="Arial"/>
              </a:defRPr>
            </a:lvl1pPr>
          </a:lstStyle>
          <a:p>
            <a:pPr indent="0" algn="r">
              <a:lnSpc>
                <a:spcPct val="100000"/>
              </a:lnSpc>
              <a:buNone/>
              <a:tabLst>
                <a:tab algn="l" pos="0"/>
              </a:tabLst>
            </a:pPr>
            <a:fld id="{2F6C0741-4247-4D71-9D38-08DDE7D31EC3}" type="slidenum">
              <a:rPr b="0" lang="en-US" sz="1400" strike="noStrike" u="none">
                <a:solidFill>
                  <a:srgbClr val="ffffff"/>
                </a:solidFill>
                <a:effectLst/>
                <a:uFillTx/>
                <a:latin typeface="Arial"/>
              </a:rPr>
              <a:t>1</a:t>
            </a:fld>
            <a:endParaRPr b="0" lang="en-US" sz="1400" strike="noStrike" u="none">
              <a:solidFill>
                <a:srgbClr val="000000"/>
              </a:solidFill>
              <a:effectLst/>
              <a:uFillTx/>
              <a:latin typeface="Times New Roman"/>
            </a:endParaRPr>
          </a:p>
        </p:txBody>
      </p:sp>
      <p:sp>
        <p:nvSpPr>
          <p:cNvPr id="104" name="PlaceHolder 3"/>
          <p:cNvSpPr>
            <a:spLocks noGrp="1"/>
          </p:cNvSpPr>
          <p:nvPr>
            <p:ph type="dt" idx="54"/>
          </p:nvPr>
        </p:nvSpPr>
        <p:spPr>
          <a:xfrm>
            <a:off x="360000" y="5220000"/>
            <a:ext cx="2322720" cy="342720"/>
          </a:xfrm>
          <a:prstGeom prst="rect">
            <a:avLst/>
          </a:prstGeom>
          <a:noFill/>
          <a:ln w="0">
            <a:noFill/>
          </a:ln>
        </p:spPr>
        <p:txBody>
          <a:bodyPr lIns="0" rIns="0" tIns="0" bIns="0" anchor="t">
            <a:noAutofit/>
          </a:bodyPr>
          <a:lstStyle>
            <a:lvl1pPr indent="0">
              <a:buNone/>
              <a:defRPr b="0" lang="en-US" sz="1400" strike="noStrike" u="none">
                <a:solidFill>
                  <a:srgbClr val="000000"/>
                </a:solidFill>
                <a:effectLst/>
                <a:uFillTx/>
                <a:latin typeface="Times New Roman"/>
              </a:defRPr>
            </a:lvl1pPr>
          </a:lstStyle>
          <a:p>
            <a:pPr indent="0">
              <a:buNone/>
            </a:pPr>
            <a:r>
              <a:rPr b="0" lang="en-US" sz="1400" strike="noStrike" u="none">
                <a:solidFill>
                  <a:srgbClr val="000000"/>
                </a:solidFill>
                <a:effectLst/>
                <a:uFillTx/>
                <a:latin typeface="Times New Roman"/>
              </a:rPr>
              <a:t> </a:t>
            </a:r>
            <a:endParaRPr b="0" lang="en-US" sz="1400" strike="noStrike" u="none">
              <a:solidFill>
                <a:srgbClr val="000000"/>
              </a:solidFill>
              <a:effectLst/>
              <a:uFillTx/>
              <a:latin typeface="Times New Roman"/>
            </a:endParaRPr>
          </a:p>
        </p:txBody>
      </p:sp>
      <p:sp>
        <p:nvSpPr>
          <p:cNvPr id="105" name="PlaceHolder 4"/>
          <p:cNvSpPr>
            <a:spLocks noGrp="1"/>
          </p:cNvSpPr>
          <p:nvPr>
            <p:ph type="title"/>
          </p:nvPr>
        </p:nvSpPr>
        <p:spPr>
          <a:xfrm>
            <a:off x="504000" y="226080"/>
            <a:ext cx="9072000" cy="946440"/>
          </a:xfrm>
          <a:prstGeom prst="rect">
            <a:avLst/>
          </a:prstGeom>
          <a:noFill/>
          <a:ln w="0">
            <a:noFill/>
          </a:ln>
        </p:spPr>
        <p:txBody>
          <a:bodyPr lIns="0" rIns="0" tIns="0" bIns="0" anchor="ctr">
            <a:noAutofit/>
          </a:bodyPr>
          <a:p>
            <a:pPr indent="0" algn="ctr">
              <a:buNone/>
            </a:pPr>
            <a:r>
              <a:rPr b="0" lang="en-US" sz="4400" strike="noStrike" u="none">
                <a:solidFill>
                  <a:srgbClr val="000000"/>
                </a:solidFill>
                <a:effectLst/>
                <a:uFillTx/>
                <a:latin typeface="Arial"/>
              </a:rPr>
              <a:t>Click to edit the title text format</a:t>
            </a:r>
            <a:endParaRPr b="0" lang="en-US" sz="4400" strike="noStrike" u="none">
              <a:solidFill>
                <a:srgbClr val="000000"/>
              </a:solidFill>
              <a:effectLst/>
              <a:uFillTx/>
              <a:latin typeface="Arial"/>
            </a:endParaRPr>
          </a:p>
        </p:txBody>
      </p:sp>
      <p:sp>
        <p:nvSpPr>
          <p:cNvPr id="106" name="PlaceHolder 5"/>
          <p:cNvSpPr>
            <a:spLocks noGrp="1"/>
          </p:cNvSpPr>
          <p:nvPr>
            <p:ph type="body"/>
          </p:nvPr>
        </p:nvSpPr>
        <p:spPr>
          <a:xfrm>
            <a:off x="504000" y="1326600"/>
            <a:ext cx="9072000" cy="328860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trike="noStrike" u="none">
                <a:solidFill>
                  <a:srgbClr val="000000"/>
                </a:solidFill>
                <a:effectLst/>
                <a:uFillTx/>
                <a:latin typeface="Arial"/>
              </a:rPr>
              <a:t>Click to edit the outline text format</a:t>
            </a:r>
            <a:endParaRPr b="0" lang="en-US" sz="32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2800" strike="noStrike" u="none">
                <a:solidFill>
                  <a:srgbClr val="000000"/>
                </a:solidFill>
                <a:effectLst/>
                <a:uFillTx/>
                <a:latin typeface="Arial"/>
              </a:rPr>
              <a:t>Second Outline Level</a:t>
            </a:r>
            <a:endParaRPr b="0" lang="en-US" sz="2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2400" strike="noStrike" u="none">
                <a:solidFill>
                  <a:srgbClr val="000000"/>
                </a:solidFill>
                <a:effectLst/>
                <a:uFillTx/>
                <a:latin typeface="Arial"/>
              </a:rPr>
              <a:t>Third Outline Level</a:t>
            </a:r>
            <a:endParaRPr b="0" lang="en-US" sz="24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2000" strike="noStrike" u="none">
                <a:solidFill>
                  <a:srgbClr val="000000"/>
                </a:solidFill>
                <a:effectLst/>
                <a:uFillTx/>
                <a:latin typeface="Arial"/>
              </a:rPr>
              <a:t>Fourth Outline Level</a:t>
            </a:r>
            <a:endParaRPr b="0" lang="en-US" sz="20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Fifth Outline Level</a:t>
            </a:r>
            <a:endParaRPr b="0" lang="en-US" sz="20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Sixth Outline Level</a:t>
            </a:r>
            <a:endParaRPr b="0" lang="en-US" sz="20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Seventh Outline Level</a:t>
            </a:r>
            <a:endParaRPr b="0" lang="en-US" sz="2000" strike="noStrike" u="none">
              <a:solidFill>
                <a:srgbClr val="000000"/>
              </a:solidFill>
              <a:effectLst/>
              <a:uFillTx/>
              <a:latin typeface="Arial"/>
            </a:endParaRPr>
          </a:p>
        </p:txBody>
      </p:sp>
    </p:spTree>
  </p:cSld>
  <p:clrMap bg1="lt1" tx1="dk1" bg2="lt2" tx2="dk2" accent1="accent1" accent2="accent2" accent3="accent3" accent4="accent4" accent5="accent5" accent6="accent6" hlink="hlink" folHlink="folHlink"/>
  <p:sldLayoutIdLst>
    <p:sldLayoutId id="2147483670" r:id="rId2"/>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4.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4.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14.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14.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14.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14.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14.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14.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14.xml"/>
</Relationships>
</file>

<file path=ppt/slides/_rels/slide12.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4.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14.xml"/>
</Relationships>
</file>

<file path=ppt/slides/_rels/slide14.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4.xml"/>
</Relationships>
</file>

<file path=ppt/slides/_rels/slide15.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4.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14.xml"/>
</Relationships>
</file>

<file path=ppt/slides/_rels/slide17.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14.xml"/>
</Relationships>
</file>

<file path=ppt/slides/_rels/slide18.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14.xml"/>
</Relationships>
</file>

<file path=ppt/slides/_rels/slide19.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14.xml"/>
</Relationships>
</file>

<file path=ppt/slides/_rels/slide20.xml.rels><?xml version="1.0" encoding="UTF-8"?>
<Relationships xmlns="http://schemas.openxmlformats.org/package/2006/relationships"><Relationship Id="rId1" Type="http://schemas.openxmlformats.org/officeDocument/2006/relationships/slideLayout" Target="../slideLayouts/slideLayout14.xml"/>
</Relationships>
</file>

<file path=ppt/slides/_rels/slide21.xml.rels><?xml version="1.0" encoding="UTF-8"?>
<Relationships xmlns="http://schemas.openxmlformats.org/package/2006/relationships"><Relationship Id="rId1" Type="http://schemas.openxmlformats.org/officeDocument/2006/relationships/slideLayout" Target="../slideLayouts/slideLayout14.xml"/>
</Relationships>
</file>

<file path=ppt/slides/_rels/slide22.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14.xml"/>
</Relationships>
</file>

<file path=ppt/slides/_rels/slide23.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slideLayout" Target="../slideLayouts/slideLayout14.xml"/>
</Relationships>
</file>

<file path=ppt/slides/_rels/slide24.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slideLayout" Target="../slideLayouts/slideLayout14.xml"/>
</Relationships>
</file>

<file path=ppt/slides/_rels/slide25.xml.rels><?xml version="1.0" encoding="UTF-8"?>
<Relationships xmlns="http://schemas.openxmlformats.org/package/2006/relationships"><Relationship Id="rId1" Type="http://schemas.openxmlformats.org/officeDocument/2006/relationships/slideLayout" Target="../slideLayouts/slideLayout14.xml"/>
</Relationships>
</file>

<file path=ppt/slides/_rels/slide26.xml.rels><?xml version="1.0" encoding="UTF-8"?>
<Relationships xmlns="http://schemas.openxmlformats.org/package/2006/relationships"><Relationship Id="rId1" Type="http://schemas.openxmlformats.org/officeDocument/2006/relationships/image" Target="../media/image10.png"/><Relationship Id="rId2" Type="http://schemas.openxmlformats.org/officeDocument/2006/relationships/slideLayout" Target="../slideLayouts/slideLayout14.xml"/>
</Relationships>
</file>

<file path=ppt/slides/_rels/slide27.xml.rels><?xml version="1.0" encoding="UTF-8"?>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4.xml"/>
</Relationships>
</file>

<file path=ppt/slides/_rels/slide28.xml.rels><?xml version="1.0" encoding="UTF-8"?>
<Relationships xmlns="http://schemas.openxmlformats.org/package/2006/relationships"><Relationship Id="rId1" Type="http://schemas.openxmlformats.org/officeDocument/2006/relationships/image" Target="../media/image12.png"/><Relationship Id="rId2" Type="http://schemas.openxmlformats.org/officeDocument/2006/relationships/slideLayout" Target="../slideLayouts/slideLayout14.xml"/>
</Relationships>
</file>

<file path=ppt/slides/_rels/slide29.xml.rels><?xml version="1.0" encoding="UTF-8"?>
<Relationships xmlns="http://schemas.openxmlformats.org/package/2006/relationships"><Relationship Id="rId1" Type="http://schemas.openxmlformats.org/officeDocument/2006/relationships/slideLayout" Target="../slideLayouts/slideLayout14.xml"/>
</Relationships>
</file>

<file path=ppt/slides/_rels/slide30.xml.rels><?xml version="1.0" encoding="UTF-8"?>
<Relationships xmlns="http://schemas.openxmlformats.org/package/2006/relationships"><Relationship Id="rId1" Type="http://schemas.openxmlformats.org/officeDocument/2006/relationships/slideLayout" Target="../slideLayouts/slideLayout14.xml"/>
</Relationships>
</file>

<file path=ppt/slides/_rels/slide31.xml.rels><?xml version="1.0" encoding="UTF-8"?>
<Relationships xmlns="http://schemas.openxmlformats.org/package/2006/relationships"><Relationship Id="rId1" Type="http://schemas.openxmlformats.org/officeDocument/2006/relationships/image" Target="../media/image13.png"/><Relationship Id="rId2" Type="http://schemas.openxmlformats.org/officeDocument/2006/relationships/slideLayout" Target="../slideLayouts/slideLayout14.xml"/>
</Relationships>
</file>

<file path=ppt/slides/_rels/slide32.xml.rels><?xml version="1.0" encoding="UTF-8"?>
<Relationships xmlns="http://schemas.openxmlformats.org/package/2006/relationships"><Relationship Id="rId1" Type="http://schemas.openxmlformats.org/officeDocument/2006/relationships/image" Target="../media/image14.png"/><Relationship Id="rId2" Type="http://schemas.openxmlformats.org/officeDocument/2006/relationships/slideLayout" Target="../slideLayouts/slideLayout14.xml"/>
</Relationships>
</file>

<file path=ppt/slides/_rels/slide33.xml.rels><?xml version="1.0" encoding="UTF-8"?>
<Relationships xmlns="http://schemas.openxmlformats.org/package/2006/relationships"><Relationship Id="rId1" Type="http://schemas.openxmlformats.org/officeDocument/2006/relationships/image" Target="../media/image15.png"/><Relationship Id="rId2" Type="http://schemas.openxmlformats.org/officeDocument/2006/relationships/slideLayout" Target="../slideLayouts/slideLayout18.xml"/>
</Relationships>
</file>

<file path=ppt/slides/_rels/slide34.xml.rels><?xml version="1.0" encoding="UTF-8"?>
<Relationships xmlns="http://schemas.openxmlformats.org/package/2006/relationships"><Relationship Id="rId1" Type="http://schemas.openxmlformats.org/officeDocument/2006/relationships/slideLayout" Target="../slideLayouts/slideLayout18.xml"/>
</Relationships>
</file>

<file path=ppt/slides/_rels/slide35.xml.rels><?xml version="1.0" encoding="UTF-8"?>
<Relationships xmlns="http://schemas.openxmlformats.org/package/2006/relationships"><Relationship Id="rId1" Type="http://schemas.openxmlformats.org/officeDocument/2006/relationships/image" Target="../media/image16.png"/><Relationship Id="rId2" Type="http://schemas.openxmlformats.org/officeDocument/2006/relationships/slideLayout" Target="../slideLayouts/slideLayout14.xml"/>
</Relationships>
</file>

<file path=ppt/slides/_rels/slide36.xml.rels><?xml version="1.0" encoding="UTF-8"?>
<Relationships xmlns="http://schemas.openxmlformats.org/package/2006/relationships"><Relationship Id="rId1" Type="http://schemas.openxmlformats.org/officeDocument/2006/relationships/image" Target="../media/image17.png"/><Relationship Id="rId2" Type="http://schemas.openxmlformats.org/officeDocument/2006/relationships/slideLayout" Target="../slideLayouts/slideLayout14.xml"/>
</Relationships>
</file>

<file path=ppt/slides/_rels/slide37.xml.rels><?xml version="1.0" encoding="UTF-8"?>
<Relationships xmlns="http://schemas.openxmlformats.org/package/2006/relationships"><Relationship Id="rId1" Type="http://schemas.openxmlformats.org/officeDocument/2006/relationships/image" Target="../media/image18.png"/><Relationship Id="rId2" Type="http://schemas.openxmlformats.org/officeDocument/2006/relationships/slideLayout" Target="../slideLayouts/slideLayout14.xml"/>
</Relationships>
</file>

<file path=ppt/slides/_rels/slide38.xml.rels><?xml version="1.0" encoding="UTF-8"?>
<Relationships xmlns="http://schemas.openxmlformats.org/package/2006/relationships"><Relationship Id="rId1" Type="http://schemas.openxmlformats.org/officeDocument/2006/relationships/slideLayout" Target="../slideLayouts/slideLayout14.xml"/>
</Relationships>
</file>

<file path=ppt/slides/_rels/slide39.xml.rels><?xml version="1.0" encoding="UTF-8"?>
<Relationships xmlns="http://schemas.openxmlformats.org/package/2006/relationships"><Relationship Id="rId1" Type="http://schemas.openxmlformats.org/officeDocument/2006/relationships/slideLayout" Target="../slideLayouts/slideLayout14.xml"/>
</Relationships>
</file>

<file path=ppt/slides/_rels/slide40.xml.rels><?xml version="1.0" encoding="UTF-8"?>
<Relationships xmlns="http://schemas.openxmlformats.org/package/2006/relationships"><Relationship Id="rId1" Type="http://schemas.openxmlformats.org/officeDocument/2006/relationships/slideLayout" Target="../slideLayouts/slideLayout14.xml"/>
</Relationships>
</file>

<file path=ppt/slides/_rels/slide41.xml.rels><?xml version="1.0" encoding="UTF-8"?>
<Relationships xmlns="http://schemas.openxmlformats.org/package/2006/relationships"><Relationship Id="rId1" Type="http://schemas.openxmlformats.org/officeDocument/2006/relationships/slideLayout" Target="../slideLayouts/slideLayout14.xml"/>
</Relationships>
</file>

<file path=ppt/slides/_rels/slide42.xml.rels><?xml version="1.0" encoding="UTF-8"?>
<Relationships xmlns="http://schemas.openxmlformats.org/package/2006/relationships"><Relationship Id="rId1" Type="http://schemas.openxmlformats.org/officeDocument/2006/relationships/slideLayout" Target="../slideLayouts/slideLayout17.xml"/>
</Relationships>
</file>

<file path=ppt/slides/_rels/slide43.xml.rels><?xml version="1.0" encoding="UTF-8"?>
<Relationships xmlns="http://schemas.openxmlformats.org/package/2006/relationships"><Relationship Id="rId1" Type="http://schemas.openxmlformats.org/officeDocument/2006/relationships/image" Target="../media/image19.png"/><Relationship Id="rId2" Type="http://schemas.openxmlformats.org/officeDocument/2006/relationships/slideLayout" Target="../slideLayouts/slideLayout14.xml"/>
</Relationships>
</file>

<file path=ppt/slides/_rels/slide44.xml.rels><?xml version="1.0" encoding="UTF-8"?>
<Relationships xmlns="http://schemas.openxmlformats.org/package/2006/relationships"><Relationship Id="rId1" Type="http://schemas.openxmlformats.org/officeDocument/2006/relationships/slideLayout" Target="../slideLayouts/slideLayout14.xml"/>
</Relationships>
</file>

<file path=ppt/slides/_rels/slide45.xml.rels><?xml version="1.0" encoding="UTF-8"?>
<Relationships xmlns="http://schemas.openxmlformats.org/package/2006/relationships"><Relationship Id="rId1" Type="http://schemas.openxmlformats.org/officeDocument/2006/relationships/image" Target="../media/image20.png"/><Relationship Id="rId2" Type="http://schemas.openxmlformats.org/officeDocument/2006/relationships/slideLayout" Target="../slideLayouts/slideLayout14.xml"/>
</Relationships>
</file>

<file path=ppt/slides/_rels/slide46.xml.rels><?xml version="1.0" encoding="UTF-8"?>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4.xml"/>
</Relationships>
</file>

<file path=ppt/slides/_rels/slide47.xml.rels><?xml version="1.0" encoding="UTF-8"?>
<Relationships xmlns="http://schemas.openxmlformats.org/package/2006/relationships"><Relationship Id="rId1" Type="http://schemas.openxmlformats.org/officeDocument/2006/relationships/image" Target="../media/image22.png"/><Relationship Id="rId2" Type="http://schemas.openxmlformats.org/officeDocument/2006/relationships/slideLayout" Target="../slideLayouts/slideLayout14.xml"/>
</Relationships>
</file>

<file path=ppt/slides/_rels/slide48.xml.rels><?xml version="1.0" encoding="UTF-8"?>
<Relationships xmlns="http://schemas.openxmlformats.org/package/2006/relationships"><Relationship Id="rId1" Type="http://schemas.openxmlformats.org/officeDocument/2006/relationships/slideLayout" Target="../slideLayouts/slideLayout14.xml"/>
</Relationships>
</file>

<file path=ppt/slides/_rels/slide49.xml.rels><?xml version="1.0" encoding="UTF-8"?>
<Relationships xmlns="http://schemas.openxmlformats.org/package/2006/relationships"><Relationship Id="rId1" Type="http://schemas.openxmlformats.org/officeDocument/2006/relationships/image" Target="../media/image23.png"/><Relationship Id="rId2" Type="http://schemas.openxmlformats.org/officeDocument/2006/relationships/slideLayout" Target="../slideLayouts/slideLayout14.xml"/>
</Relationships>
</file>

<file path=ppt/slides/_rels/slide50.xml.rels><?xml version="1.0" encoding="UTF-8"?>
<Relationships xmlns="http://schemas.openxmlformats.org/package/2006/relationships"><Relationship Id="rId1" Type="http://schemas.openxmlformats.org/officeDocument/2006/relationships/image" Target="../media/image24.png"/><Relationship Id="rId2" Type="http://schemas.openxmlformats.org/officeDocument/2006/relationships/slideLayout" Target="../slideLayouts/slideLayout14.xml"/>
</Relationships>
</file>

<file path=ppt/slides/_rels/slide51.xml.rels><?xml version="1.0" encoding="UTF-8"?>
<Relationships xmlns="http://schemas.openxmlformats.org/package/2006/relationships"><Relationship Id="rId1" Type="http://schemas.openxmlformats.org/officeDocument/2006/relationships/image" Target="../media/image25.png"/><Relationship Id="rId2" Type="http://schemas.openxmlformats.org/officeDocument/2006/relationships/slideLayout" Target="../slideLayouts/slideLayout14.xml"/>
</Relationships>
</file>

<file path=ppt/slides/_rels/slide52.xml.rels><?xml version="1.0" encoding="UTF-8"?>
<Relationships xmlns="http://schemas.openxmlformats.org/package/2006/relationships"><Relationship Id="rId1" Type="http://schemas.openxmlformats.org/officeDocument/2006/relationships/slideLayout" Target="../slideLayouts/slideLayout14.xml"/>
</Relationships>
</file>

<file path=ppt/slides/_rels/slide53.xml.rels><?xml version="1.0" encoding="UTF-8"?>
<Relationships xmlns="http://schemas.openxmlformats.org/package/2006/relationships"><Relationship Id="rId1" Type="http://schemas.openxmlformats.org/officeDocument/2006/relationships/image" Target="../media/image26.png"/><Relationship Id="rId2" Type="http://schemas.openxmlformats.org/officeDocument/2006/relationships/slideLayout" Target="../slideLayouts/slideLayout14.xml"/>
</Relationships>
</file>

<file path=ppt/slides/_rels/slide54.xml.rels><?xml version="1.0" encoding="UTF-8"?>
<Relationships xmlns="http://schemas.openxmlformats.org/package/2006/relationships"><Relationship Id="rId1" Type="http://schemas.openxmlformats.org/officeDocument/2006/relationships/image" Target="../media/image27.png"/><Relationship Id="rId2" Type="http://schemas.openxmlformats.org/officeDocument/2006/relationships/slideLayout" Target="../slideLayouts/slideLayout14.xml"/>
</Relationships>
</file>

<file path=ppt/slides/_rels/slide55.xml.rels><?xml version="1.0" encoding="UTF-8"?>
<Relationships xmlns="http://schemas.openxmlformats.org/package/2006/relationships"><Relationship Id="rId1" Type="http://schemas.openxmlformats.org/officeDocument/2006/relationships/image" Target="../media/image28.png"/><Relationship Id="rId2" Type="http://schemas.openxmlformats.org/officeDocument/2006/relationships/slideLayout" Target="../slideLayouts/slideLayout14.xml"/>
</Relationships>
</file>

<file path=ppt/slides/_rels/slide56.xml.rels><?xml version="1.0" encoding="UTF-8"?>
<Relationships xmlns="http://schemas.openxmlformats.org/package/2006/relationships"><Relationship Id="rId1" Type="http://schemas.openxmlformats.org/officeDocument/2006/relationships/slideLayout" Target="../slideLayouts/slideLayout14.xml"/>
</Relationships>
</file>

<file path=ppt/slides/_rels/slide57.xml.rels><?xml version="1.0" encoding="UTF-8"?>
<Relationships xmlns="http://schemas.openxmlformats.org/package/2006/relationships"><Relationship Id="rId1" Type="http://schemas.openxmlformats.org/officeDocument/2006/relationships/image" Target="../media/image29.png"/><Relationship Id="rId2" Type="http://schemas.openxmlformats.org/officeDocument/2006/relationships/slideLayout" Target="../slideLayouts/slideLayout14.xml"/>
</Relationships>
</file>

<file path=ppt/slides/_rels/slide58.xml.rels><?xml version="1.0" encoding="UTF-8"?>
<Relationships xmlns="http://schemas.openxmlformats.org/package/2006/relationships"><Relationship Id="rId1" Type="http://schemas.openxmlformats.org/officeDocument/2006/relationships/image" Target="../media/image30.png"/><Relationship Id="rId2" Type="http://schemas.openxmlformats.org/officeDocument/2006/relationships/slideLayout" Target="../slideLayouts/slideLayout14.xml"/>
</Relationships>
</file>

<file path=ppt/slides/_rels/slide59.xml.rels><?xml version="1.0" encoding="UTF-8"?>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4.xml"/>
</Relationships>
</file>

<file path=ppt/slides/_rels/slide60.xml.rels><?xml version="1.0" encoding="UTF-8"?>
<Relationships xmlns="http://schemas.openxmlformats.org/package/2006/relationships"><Relationship Id="rId1" Type="http://schemas.openxmlformats.org/officeDocument/2006/relationships/slideLayout" Target="../slideLayouts/slideLayout14.xml"/>
</Relationships>
</file>

<file path=ppt/slides/_rels/slide61.xml.rels><?xml version="1.0" encoding="UTF-8"?>
<Relationships xmlns="http://schemas.openxmlformats.org/package/2006/relationships"><Relationship Id="rId1" Type="http://schemas.openxmlformats.org/officeDocument/2006/relationships/image" Target="../media/image32.png"/><Relationship Id="rId2" Type="http://schemas.openxmlformats.org/officeDocument/2006/relationships/slideLayout" Target="../slideLayouts/slideLayout14.xml"/>
</Relationships>
</file>

<file path=ppt/slides/_rels/slide62.xml.rels><?xml version="1.0" encoding="UTF-8"?>
<Relationships xmlns="http://schemas.openxmlformats.org/package/2006/relationships"><Relationship Id="rId1" Type="http://schemas.openxmlformats.org/officeDocument/2006/relationships/image" Target="../media/image33.png"/><Relationship Id="rId2" Type="http://schemas.openxmlformats.org/officeDocument/2006/relationships/slideLayout" Target="../slideLayouts/slideLayout14.xml"/>
</Relationships>
</file>

<file path=ppt/slides/_rels/slide63.xml.rels><?xml version="1.0" encoding="UTF-8"?>
<Relationships xmlns="http://schemas.openxmlformats.org/package/2006/relationships"><Relationship Id="rId1" Type="http://schemas.openxmlformats.org/officeDocument/2006/relationships/image" Target="../media/image34.png"/><Relationship Id="rId2" Type="http://schemas.openxmlformats.org/officeDocument/2006/relationships/slideLayout" Target="../slideLayouts/slideLayout14.xml"/>
</Relationships>
</file>

<file path=ppt/slides/_rels/slide64.xml.rels><?xml version="1.0" encoding="UTF-8"?>
<Relationships xmlns="http://schemas.openxmlformats.org/package/2006/relationships"><Relationship Id="rId1" Type="http://schemas.openxmlformats.org/officeDocument/2006/relationships/slideLayout" Target="../slideLayouts/slideLayout14.xml"/>
</Relationships>
</file>

<file path=ppt/slides/_rels/slide65.xml.rels><?xml version="1.0" encoding="UTF-8"?>
<Relationships xmlns="http://schemas.openxmlformats.org/package/2006/relationships"><Relationship Id="rId1" Type="http://schemas.openxmlformats.org/officeDocument/2006/relationships/image" Target="../media/image35.png"/><Relationship Id="rId2" Type="http://schemas.openxmlformats.org/officeDocument/2006/relationships/slideLayout" Target="../slideLayouts/slideLayout14.xml"/>
</Relationships>
</file>

<file path=ppt/slides/_rels/slide66.xml.rels><?xml version="1.0" encoding="UTF-8"?>
<Relationships xmlns="http://schemas.openxmlformats.org/package/2006/relationships"><Relationship Id="rId1" Type="http://schemas.openxmlformats.org/officeDocument/2006/relationships/image" Target="../media/image36.png"/><Relationship Id="rId2" Type="http://schemas.openxmlformats.org/officeDocument/2006/relationships/slideLayout" Target="../slideLayouts/slideLayout14.xml"/>
</Relationships>
</file>

<file path=ppt/slides/_rels/slide67.xml.rels><?xml version="1.0" encoding="UTF-8"?>
<Relationships xmlns="http://schemas.openxmlformats.org/package/2006/relationships"><Relationship Id="rId1" Type="http://schemas.openxmlformats.org/officeDocument/2006/relationships/image" Target="../media/image37.png"/><Relationship Id="rId2" Type="http://schemas.openxmlformats.org/officeDocument/2006/relationships/slideLayout" Target="../slideLayouts/slideLayout14.xml"/>
</Relationships>
</file>

<file path=ppt/slides/_rels/slide68.xml.rels><?xml version="1.0" encoding="UTF-8"?>
<Relationships xmlns="http://schemas.openxmlformats.org/package/2006/relationships"><Relationship Id="rId1" Type="http://schemas.openxmlformats.org/officeDocument/2006/relationships/slideLayout" Target="../slideLayouts/slideLayout14.xml"/>
</Relationships>
</file>

<file path=ppt/slides/_rels/slide69.xml.rels><?xml version="1.0" encoding="UTF-8"?>
<Relationships xmlns="http://schemas.openxmlformats.org/package/2006/relationships"><Relationship Id="rId1" Type="http://schemas.openxmlformats.org/officeDocument/2006/relationships/slideLayout" Target="../slideLayouts/slideLayout14.xml"/>
</Relationships>
</file>

<file path=ppt/slides/_rels/slide70.xml.rels><?xml version="1.0" encoding="UTF-8"?>
<Relationships xmlns="http://schemas.openxmlformats.org/package/2006/relationships"><Relationship Id="rId1" Type="http://schemas.openxmlformats.org/officeDocument/2006/relationships/slideLayout" Target="../slideLayouts/slideLayout14.xml"/>
</Relationships>
</file>

<file path=ppt/slides/_rels/slide71.xml.rels><?xml version="1.0" encoding="UTF-8"?>
<Relationships xmlns="http://schemas.openxmlformats.org/package/2006/relationships"><Relationship Id="rId1" Type="http://schemas.openxmlformats.org/officeDocument/2006/relationships/image" Target="../media/image38.png"/><Relationship Id="rId2" Type="http://schemas.openxmlformats.org/officeDocument/2006/relationships/slideLayout" Target="../slideLayouts/slideLayout14.xml"/>
</Relationships>
</file>

<file path=ppt/slides/_rels/slide72.xml.rels><?xml version="1.0" encoding="UTF-8"?>
<Relationships xmlns="http://schemas.openxmlformats.org/package/2006/relationships"><Relationship Id="rId1" Type="http://schemas.openxmlformats.org/officeDocument/2006/relationships/slideLayout" Target="../slideLayouts/slideLayout14.xml"/>
</Relationships>
</file>

<file path=ppt/slides/_rels/slide73.xml.rels><?xml version="1.0" encoding="UTF-8"?>
<Relationships xmlns="http://schemas.openxmlformats.org/package/2006/relationships"><Relationship Id="rId1" Type="http://schemas.openxmlformats.org/officeDocument/2006/relationships/slideLayout" Target="../slideLayouts/slideLayout14.xml"/>
</Relationships>
</file>

<file path=ppt/slides/_rels/slide74.xml.rels><?xml version="1.0" encoding="UTF-8"?>
<Relationships xmlns="http://schemas.openxmlformats.org/package/2006/relationships"><Relationship Id="rId1" Type="http://schemas.openxmlformats.org/officeDocument/2006/relationships/slideLayout" Target="../slideLayouts/slideLayout14.xml"/>
</Relationships>
</file>

<file path=ppt/slides/_rels/slide75.xml.rels><?xml version="1.0" encoding="UTF-8"?>
<Relationships xmlns="http://schemas.openxmlformats.org/package/2006/relationships"><Relationship Id="rId1" Type="http://schemas.openxmlformats.org/officeDocument/2006/relationships/slideLayout" Target="../slideLayouts/slideLayout14.xml"/>
</Relationships>
</file>

<file path=ppt/slides/_rels/slide76.xml.rels><?xml version="1.0" encoding="UTF-8"?>
<Relationships xmlns="http://schemas.openxmlformats.org/package/2006/relationships"><Relationship Id="rId1" Type="http://schemas.openxmlformats.org/officeDocument/2006/relationships/slideLayout" Target="../slideLayouts/slideLayout14.xml"/>
</Relationships>
</file>

<file path=ppt/slides/_rels/slide77.xml.rels><?xml version="1.0" encoding="UTF-8"?>
<Relationships xmlns="http://schemas.openxmlformats.org/package/2006/relationships"><Relationship Id="rId1" Type="http://schemas.openxmlformats.org/officeDocument/2006/relationships/slideLayout" Target="../slideLayouts/slideLayout14.xml"/>
</Relationships>
</file>

<file path=ppt/slides/_rels/slide78.xml.rels><?xml version="1.0" encoding="UTF-8"?>
<Relationships xmlns="http://schemas.openxmlformats.org/package/2006/relationships"><Relationship Id="rId1" Type="http://schemas.openxmlformats.org/officeDocument/2006/relationships/image" Target="../media/image39.png"/><Relationship Id="rId2" Type="http://schemas.openxmlformats.org/officeDocument/2006/relationships/slideLayout" Target="../slideLayouts/slideLayout14.xml"/>
</Relationships>
</file>

<file path=ppt/slides/_rels/slide79.xml.rels><?xml version="1.0" encoding="UTF-8"?>
<Relationships xmlns="http://schemas.openxmlformats.org/package/2006/relationships"><Relationship Id="rId1" Type="http://schemas.openxmlformats.org/officeDocument/2006/relationships/image" Target="../media/image40.png"/><Relationship Id="rId2" Type="http://schemas.openxmlformats.org/officeDocument/2006/relationships/slideLayout" Target="../slideLayouts/slideLayout14.xml"/>
</Relationships>
</file>

<file path=ppt/slides/_rels/slide80.xml.rels><?xml version="1.0" encoding="UTF-8"?>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4.xml"/>
</Relationships>
</file>

<file path=ppt/slides/_rels/slide81.xml.rels><?xml version="1.0" encoding="UTF-8"?>
<Relationships xmlns="http://schemas.openxmlformats.org/package/2006/relationships"><Relationship Id="rId1" Type="http://schemas.openxmlformats.org/officeDocument/2006/relationships/image" Target="../media/image43.png"/><Relationship Id="rId2" Type="http://schemas.openxmlformats.org/officeDocument/2006/relationships/image" Target="../media/image44.png"/><Relationship Id="rId3" Type="http://schemas.openxmlformats.org/officeDocument/2006/relationships/slideLayout" Target="../slideLayouts/slideLayout14.xml"/>
</Relationships>
</file>

<file path=ppt/slides/_rels/slide82.xml.rels><?xml version="1.0" encoding="UTF-8"?>
<Relationships xmlns="http://schemas.openxmlformats.org/package/2006/relationships"><Relationship Id="rId1" Type="http://schemas.openxmlformats.org/officeDocument/2006/relationships/slideLayout" Target="../slideLayouts/slideLayout14.xml"/>
</Relationships>
</file>

<file path=ppt/slides/_rels/slide83.xml.rels><?xml version="1.0" encoding="UTF-8"?>
<Relationships xmlns="http://schemas.openxmlformats.org/package/2006/relationships"><Relationship Id="rId1" Type="http://schemas.openxmlformats.org/officeDocument/2006/relationships/slideLayout" Target="../slideLayouts/slideLayout14.xml"/>
</Relationships>
</file>

<file path=ppt/slides/_rels/slide84.xml.rels><?xml version="1.0" encoding="UTF-8"?>
<Relationships xmlns="http://schemas.openxmlformats.org/package/2006/relationships"><Relationship Id="rId1" Type="http://schemas.openxmlformats.org/officeDocument/2006/relationships/slideLayout" Target="../slideLayouts/slideLayout14.xml"/>
</Relationships>
</file>

<file path=ppt/slides/_rels/slide85.xml.rels><?xml version="1.0" encoding="UTF-8"?>
<Relationships xmlns="http://schemas.openxmlformats.org/package/2006/relationships"><Relationship Id="rId1" Type="http://schemas.openxmlformats.org/officeDocument/2006/relationships/slideLayout" Target="../slideLayouts/slideLayout14.xml"/>
</Relationships>
</file>

<file path=ppt/slides/_rels/slide86.xml.rels><?xml version="1.0" encoding="UTF-8"?>
<Relationships xmlns="http://schemas.openxmlformats.org/package/2006/relationships"><Relationship Id="rId1" Type="http://schemas.openxmlformats.org/officeDocument/2006/relationships/slideLayout" Target="../slideLayouts/slideLayout14.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7" name="PlaceHolder 1"/>
          <p:cNvSpPr>
            <a:spLocks noGrp="1"/>
          </p:cNvSpPr>
          <p:nvPr>
            <p:ph type="title"/>
          </p:nvPr>
        </p:nvSpPr>
        <p:spPr>
          <a:xfrm>
            <a:off x="457200" y="1198440"/>
            <a:ext cx="8982720" cy="1906200"/>
          </a:xfrm>
          <a:prstGeom prst="rect">
            <a:avLst/>
          </a:prstGeom>
          <a:noFill/>
          <a:ln w="0">
            <a:noFill/>
          </a:ln>
        </p:spPr>
        <p:txBody>
          <a:bodyPr lIns="0" rIns="0" tIns="0" bIns="0" anchor="ctr">
            <a:spAutoFit/>
          </a:bodyPr>
          <a:p>
            <a:pPr indent="0" algn="ctr" defTabSz="914400">
              <a:lnSpc>
                <a:spcPct val="100000"/>
              </a:lnSpc>
              <a:buNone/>
              <a:tabLst>
                <a:tab algn="l" pos="0"/>
              </a:tabLst>
            </a:pPr>
            <a:r>
              <a:rPr b="0" lang="en-US" sz="3300" strike="noStrike" u="none">
                <a:solidFill>
                  <a:schemeClr val="dk1"/>
                </a:solidFill>
                <a:effectLst/>
                <a:uFillTx/>
                <a:latin typeface="Arial"/>
                <a:ea typeface="DejaVu Sans"/>
              </a:rPr>
              <a:t>Type 2 Diabetes Mellitus Metabolomics </a:t>
            </a:r>
            <a:br>
              <a:rPr sz="3300"/>
            </a:br>
            <a:r>
              <a:rPr b="0" lang="en-US" sz="3300" strike="noStrike" u="none">
                <a:solidFill>
                  <a:schemeClr val="dk1"/>
                </a:solidFill>
                <a:effectLst/>
                <a:uFillTx/>
                <a:latin typeface="Arial"/>
                <a:ea typeface="DejaVu Sans"/>
              </a:rPr>
              <a:t>Machine Learning Project </a:t>
            </a:r>
            <a:br>
              <a:rPr sz="3300"/>
            </a:br>
            <a:r>
              <a:rPr b="0" lang="en-US" sz="3300" strike="noStrike" u="none">
                <a:solidFill>
                  <a:schemeClr val="dk1"/>
                </a:solidFill>
                <a:effectLst/>
                <a:uFillTx/>
                <a:latin typeface="Arial"/>
                <a:ea typeface="DejaVu Sans"/>
              </a:rPr>
              <a:t> </a:t>
            </a:r>
            <a:br>
              <a:rPr sz="3300"/>
            </a:br>
            <a:r>
              <a:rPr b="0" lang="en-US" sz="2500" strike="noStrike" u="none">
                <a:solidFill>
                  <a:schemeClr val="dk1"/>
                </a:solidFill>
                <a:effectLst/>
                <a:uFillTx/>
                <a:latin typeface="Arial"/>
                <a:ea typeface="DejaVu Sans"/>
              </a:rPr>
              <a:t>By: David Perez-Suarez</a:t>
            </a:r>
            <a:endParaRPr b="0" lang="en-US" sz="25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8" name="PlaceHolder 1"/>
          <p:cNvSpPr>
            <a:spLocks noGrp="1"/>
          </p:cNvSpPr>
          <p:nvPr>
            <p:ph type="title"/>
          </p:nvPr>
        </p:nvSpPr>
        <p:spPr>
          <a:xfrm>
            <a:off x="360000" y="151200"/>
            <a:ext cx="9342720" cy="518760"/>
          </a:xfrm>
          <a:prstGeom prst="rect">
            <a:avLst/>
          </a:prstGeom>
          <a:noFill/>
          <a:ln w="0">
            <a:noFill/>
          </a:ln>
        </p:spPr>
        <p:txBody>
          <a:bodyPr lIns="0" rIns="0" tIns="0" bIns="0" anchor="ctr">
            <a:spAutoFit/>
          </a:bodyPr>
          <a:p>
            <a:pPr indent="0" algn="ctr">
              <a:lnSpc>
                <a:spcPct val="100000"/>
              </a:lnSpc>
              <a:buNone/>
              <a:tabLst>
                <a:tab algn="l" pos="0"/>
              </a:tabLst>
            </a:pPr>
            <a:r>
              <a:rPr b="0" lang="en-US" sz="3300" strike="noStrike" u="none">
                <a:solidFill>
                  <a:srgbClr val="eeeeee"/>
                </a:solidFill>
                <a:effectLst/>
                <a:uFillTx/>
                <a:latin typeface="Arial"/>
              </a:rPr>
              <a:t>Introduction</a:t>
            </a:r>
            <a:endParaRPr b="0" lang="en-US" sz="3300" strike="noStrike" u="none">
              <a:solidFill>
                <a:srgbClr val="000000"/>
              </a:solidFill>
              <a:effectLst/>
              <a:uFillTx/>
              <a:latin typeface="Arial"/>
            </a:endParaRPr>
          </a:p>
        </p:txBody>
      </p:sp>
      <p:sp>
        <p:nvSpPr>
          <p:cNvPr id="109" name="PlaceHolder 2"/>
          <p:cNvSpPr>
            <a:spLocks noGrp="1"/>
          </p:cNvSpPr>
          <p:nvPr>
            <p:ph/>
          </p:nvPr>
        </p:nvSpPr>
        <p:spPr>
          <a:xfrm>
            <a:off x="360000" y="914400"/>
            <a:ext cx="9342720" cy="3475080"/>
          </a:xfrm>
          <a:prstGeom prst="rect">
            <a:avLst/>
          </a:prstGeom>
          <a:noFill/>
          <a:ln w="0">
            <a:noFill/>
          </a:ln>
        </p:spPr>
        <p:txBody>
          <a:bodyPr lIns="0" rIns="0" tIns="0" bIns="0" anchor="t">
            <a:noAutofit/>
          </a:bodyPr>
          <a:p>
            <a:pPr marL="432000" indent="-324000">
              <a:lnSpc>
                <a:spcPct val="100000"/>
              </a:lnSpc>
              <a:spcBef>
                <a:spcPts val="1191"/>
              </a:spcBef>
              <a:spcAft>
                <a:spcPts val="992"/>
              </a:spcAft>
              <a:buClr>
                <a:srgbClr val="77caee"/>
              </a:buClr>
              <a:buSzPct val="45000"/>
              <a:buFont typeface="Wingdings" charset="2"/>
              <a:buChar char=""/>
            </a:pPr>
            <a:r>
              <a:rPr b="0" lang="en-US" sz="2000" strike="noStrike" u="none">
                <a:solidFill>
                  <a:srgbClr val="000000"/>
                </a:solidFill>
                <a:effectLst/>
                <a:uFillTx/>
                <a:latin typeface="Arial"/>
              </a:rPr>
              <a:t>Type 2 diabetes mellitus (T2DM) is driven by complex, system‑wide metabolic changes that ordinary clinical markers capture only partially. </a:t>
            </a:r>
            <a:endParaRPr b="0" lang="en-US" sz="2000" strike="noStrike" u="none">
              <a:solidFill>
                <a:srgbClr val="000000"/>
              </a:solidFill>
              <a:effectLst/>
              <a:uFillTx/>
              <a:latin typeface="Arial"/>
            </a:endParaRPr>
          </a:p>
          <a:p>
            <a:pPr marL="432000" indent="-324000">
              <a:lnSpc>
                <a:spcPct val="100000"/>
              </a:lnSpc>
              <a:spcBef>
                <a:spcPts val="1191"/>
              </a:spcBef>
              <a:spcAft>
                <a:spcPts val="992"/>
              </a:spcAft>
              <a:buClr>
                <a:srgbClr val="77caee"/>
              </a:buClr>
              <a:buSzPct val="45000"/>
              <a:buFont typeface="Wingdings" charset="2"/>
              <a:buChar char=""/>
            </a:pPr>
            <a:r>
              <a:rPr b="0" lang="en-US" sz="2000" strike="noStrike" u="none">
                <a:solidFill>
                  <a:srgbClr val="000000"/>
                </a:solidFill>
                <a:effectLst/>
                <a:uFillTx/>
                <a:latin typeface="Arial"/>
              </a:rPr>
              <a:t>Targeted metabolomics can reveal these changes, but the resulting data sets are high‑dimensional, method‑specific, and riddled with missing values—making unbiased, reproducible modeling a challenge. </a:t>
            </a:r>
            <a:endParaRPr b="0" lang="en-US" sz="2000" strike="noStrike" u="none">
              <a:solidFill>
                <a:srgbClr val="000000"/>
              </a:solidFill>
              <a:effectLst/>
              <a:uFillTx/>
              <a:latin typeface="Arial"/>
            </a:endParaRPr>
          </a:p>
        </p:txBody>
      </p:sp>
      <p:sp>
        <p:nvSpPr>
          <p:cNvPr id="4" name="PlaceHolder 3"/>
          <p:cNvSpPr>
            <a:spLocks noGrp="1"/>
          </p:cNvSpPr>
          <p:nvPr>
            <p:ph type="sldNum" idx="11"/>
          </p:nvPr>
        </p:nvSpPr>
        <p:spPr/>
        <p:txBody>
          <a:bodyPr/>
          <a:p>
            <a:fld id="{3A4B80D8-D4BE-4DA4-A543-BF85E81341BF}" type="slidenum">
              <a:t>2</a:t>
            </a:fld>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0" name="PlaceHolder 1"/>
          <p:cNvSpPr>
            <a:spLocks noGrp="1"/>
          </p:cNvSpPr>
          <p:nvPr>
            <p:ph type="title"/>
          </p:nvPr>
        </p:nvSpPr>
        <p:spPr>
          <a:xfrm>
            <a:off x="360000" y="151200"/>
            <a:ext cx="9342720" cy="518760"/>
          </a:xfrm>
          <a:prstGeom prst="rect">
            <a:avLst/>
          </a:prstGeom>
          <a:noFill/>
          <a:ln w="0">
            <a:noFill/>
          </a:ln>
        </p:spPr>
        <p:txBody>
          <a:bodyPr lIns="0" rIns="0" tIns="0" bIns="0" anchor="ctr">
            <a:spAutoFit/>
          </a:bodyPr>
          <a:p>
            <a:pPr indent="0" algn="ctr">
              <a:lnSpc>
                <a:spcPct val="100000"/>
              </a:lnSpc>
              <a:buNone/>
              <a:tabLst>
                <a:tab algn="l" pos="0"/>
              </a:tabLst>
            </a:pPr>
            <a:r>
              <a:rPr b="0" lang="en-US" sz="3300" strike="noStrike" u="none">
                <a:solidFill>
                  <a:srgbClr val="eeeeee"/>
                </a:solidFill>
                <a:effectLst/>
                <a:uFillTx/>
                <a:latin typeface="Arial"/>
              </a:rPr>
              <a:t>Introduction</a:t>
            </a:r>
            <a:endParaRPr b="0" lang="en-US" sz="3300" strike="noStrike" u="none">
              <a:solidFill>
                <a:srgbClr val="000000"/>
              </a:solidFill>
              <a:effectLst/>
              <a:uFillTx/>
              <a:latin typeface="Arial"/>
            </a:endParaRPr>
          </a:p>
        </p:txBody>
      </p:sp>
      <p:sp>
        <p:nvSpPr>
          <p:cNvPr id="111" name="PlaceHolder 2"/>
          <p:cNvSpPr>
            <a:spLocks noGrp="1"/>
          </p:cNvSpPr>
          <p:nvPr>
            <p:ph/>
          </p:nvPr>
        </p:nvSpPr>
        <p:spPr>
          <a:xfrm>
            <a:off x="360000" y="914400"/>
            <a:ext cx="9342720" cy="3475080"/>
          </a:xfrm>
          <a:prstGeom prst="rect">
            <a:avLst/>
          </a:prstGeom>
          <a:noFill/>
          <a:ln w="0">
            <a:noFill/>
          </a:ln>
        </p:spPr>
        <p:txBody>
          <a:bodyPr lIns="0" rIns="0" tIns="0" bIns="0" anchor="t">
            <a:noAutofit/>
          </a:bodyPr>
          <a:p>
            <a:pPr marL="432000" indent="-324000">
              <a:lnSpc>
                <a:spcPct val="100000"/>
              </a:lnSpc>
              <a:spcBef>
                <a:spcPts val="1191"/>
              </a:spcBef>
              <a:spcAft>
                <a:spcPts val="992"/>
              </a:spcAft>
              <a:buClr>
                <a:srgbClr val="77caee"/>
              </a:buClr>
              <a:buSzPct val="45000"/>
              <a:buFont typeface="Wingdings" charset="2"/>
              <a:buChar char=""/>
            </a:pPr>
            <a:r>
              <a:rPr b="0" lang="en-US" sz="2000" strike="noStrike" u="none">
                <a:solidFill>
                  <a:srgbClr val="000000"/>
                </a:solidFill>
                <a:effectLst/>
                <a:uFillTx/>
                <a:latin typeface="Arial"/>
              </a:rPr>
              <a:t>Resulting data sets are:</a:t>
            </a:r>
            <a:endParaRPr b="0" lang="en-US" sz="2000" strike="noStrike" u="none">
              <a:solidFill>
                <a:srgbClr val="000000"/>
              </a:solidFill>
              <a:effectLst/>
              <a:uFillTx/>
              <a:latin typeface="Arial"/>
            </a:endParaRPr>
          </a:p>
          <a:p>
            <a:pPr lvl="1" marL="864000" indent="-324000">
              <a:lnSpc>
                <a:spcPct val="100000"/>
              </a:lnSpc>
              <a:spcBef>
                <a:spcPts val="1134"/>
              </a:spcBef>
              <a:buClr>
                <a:srgbClr val="000000"/>
              </a:buClr>
              <a:buSzPct val="75000"/>
              <a:buFont typeface="Symbol" charset="2"/>
              <a:buChar char=""/>
            </a:pPr>
            <a:r>
              <a:rPr b="0" lang="en-US" sz="2000" strike="noStrike" u="none">
                <a:solidFill>
                  <a:srgbClr val="000000"/>
                </a:solidFill>
                <a:effectLst/>
                <a:uFillTx/>
                <a:latin typeface="Arial"/>
              </a:rPr>
              <a:t>high-dimensional because there are many metabolites per sample where there are few samples present</a:t>
            </a:r>
            <a:endParaRPr b="0" lang="en-US" sz="2000" strike="noStrike" u="none">
              <a:solidFill>
                <a:srgbClr val="000000"/>
              </a:solidFill>
              <a:effectLst/>
              <a:uFillTx/>
              <a:latin typeface="Arial"/>
            </a:endParaRPr>
          </a:p>
          <a:p>
            <a:pPr lvl="1" marL="864000" indent="-324000">
              <a:lnSpc>
                <a:spcPct val="100000"/>
              </a:lnSpc>
              <a:spcBef>
                <a:spcPts val="1134"/>
              </a:spcBef>
              <a:buClr>
                <a:srgbClr val="000000"/>
              </a:buClr>
              <a:buSzPct val="75000"/>
              <a:buFont typeface="Symbol" charset="2"/>
              <a:buChar char=""/>
            </a:pPr>
            <a:r>
              <a:rPr b="0" lang="en-US" sz="2000" strike="noStrike" u="none">
                <a:solidFill>
                  <a:srgbClr val="000000"/>
                </a:solidFill>
                <a:effectLst/>
                <a:uFillTx/>
                <a:latin typeface="Arial"/>
              </a:rPr>
              <a:t>method-specific because instrumentation, ionization, and assay design define which metabolites (and how) are measured.</a:t>
            </a:r>
            <a:endParaRPr b="0" lang="en-US" sz="2000" strike="noStrike" u="none">
              <a:solidFill>
                <a:srgbClr val="000000"/>
              </a:solidFill>
              <a:effectLst/>
              <a:uFillTx/>
              <a:latin typeface="Arial"/>
            </a:endParaRPr>
          </a:p>
        </p:txBody>
      </p:sp>
      <p:sp>
        <p:nvSpPr>
          <p:cNvPr id="4" name="PlaceHolder 3"/>
          <p:cNvSpPr>
            <a:spLocks noGrp="1"/>
          </p:cNvSpPr>
          <p:nvPr>
            <p:ph type="sldNum" idx="11"/>
          </p:nvPr>
        </p:nvSpPr>
        <p:spPr/>
        <p:txBody>
          <a:bodyPr/>
          <a:p>
            <a:fld id="{78254F4B-7FAF-41C0-9AE2-A9E93AC260DB}" type="slidenum">
              <a:t>3</a:t>
            </a:fld>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2" name="PlaceHolder 1"/>
          <p:cNvSpPr>
            <a:spLocks noGrp="1"/>
          </p:cNvSpPr>
          <p:nvPr>
            <p:ph type="title"/>
          </p:nvPr>
        </p:nvSpPr>
        <p:spPr>
          <a:xfrm>
            <a:off x="360000" y="151200"/>
            <a:ext cx="9342720" cy="518760"/>
          </a:xfrm>
          <a:prstGeom prst="rect">
            <a:avLst/>
          </a:prstGeom>
          <a:noFill/>
          <a:ln w="0">
            <a:noFill/>
          </a:ln>
        </p:spPr>
        <p:txBody>
          <a:bodyPr lIns="0" rIns="0" tIns="0" bIns="0" anchor="ctr">
            <a:spAutoFit/>
          </a:bodyPr>
          <a:p>
            <a:pPr indent="0" algn="ctr">
              <a:lnSpc>
                <a:spcPct val="100000"/>
              </a:lnSpc>
              <a:buNone/>
              <a:tabLst>
                <a:tab algn="l" pos="0"/>
              </a:tabLst>
            </a:pPr>
            <a:r>
              <a:rPr b="0" lang="en-US" sz="3300" strike="noStrike" u="none">
                <a:solidFill>
                  <a:srgbClr val="eeeeee"/>
                </a:solidFill>
                <a:effectLst/>
                <a:uFillTx/>
                <a:latin typeface="Arial"/>
              </a:rPr>
              <a:t>Introduction</a:t>
            </a:r>
            <a:endParaRPr b="0" lang="en-US" sz="3300" strike="noStrike" u="none">
              <a:solidFill>
                <a:srgbClr val="000000"/>
              </a:solidFill>
              <a:effectLst/>
              <a:uFillTx/>
              <a:latin typeface="Arial"/>
            </a:endParaRPr>
          </a:p>
        </p:txBody>
      </p:sp>
      <p:sp>
        <p:nvSpPr>
          <p:cNvPr id="113" name="PlaceHolder 2"/>
          <p:cNvSpPr>
            <a:spLocks noGrp="1"/>
          </p:cNvSpPr>
          <p:nvPr>
            <p:ph/>
          </p:nvPr>
        </p:nvSpPr>
        <p:spPr>
          <a:xfrm>
            <a:off x="360000" y="914400"/>
            <a:ext cx="9342720" cy="3475080"/>
          </a:xfrm>
          <a:prstGeom prst="rect">
            <a:avLst/>
          </a:prstGeom>
          <a:noFill/>
          <a:ln w="0">
            <a:noFill/>
          </a:ln>
        </p:spPr>
        <p:txBody>
          <a:bodyPr lIns="0" rIns="0" tIns="0" bIns="0" anchor="t">
            <a:noAutofit/>
          </a:bodyPr>
          <a:p>
            <a:pPr marL="432000" indent="-324000">
              <a:lnSpc>
                <a:spcPct val="100000"/>
              </a:lnSpc>
              <a:spcBef>
                <a:spcPts val="1191"/>
              </a:spcBef>
              <a:spcAft>
                <a:spcPts val="992"/>
              </a:spcAft>
              <a:buClr>
                <a:srgbClr val="77caee"/>
              </a:buClr>
              <a:buSzPct val="45000"/>
              <a:buFont typeface="Wingdings" charset="2"/>
              <a:buChar char=""/>
            </a:pPr>
            <a:r>
              <a:rPr b="0" lang="en-US" sz="1700" strike="noStrike" u="none">
                <a:solidFill>
                  <a:srgbClr val="000000"/>
                </a:solidFill>
                <a:effectLst/>
                <a:uFillTx/>
                <a:latin typeface="Arial"/>
                <a:ea typeface="Microsoft YaHei"/>
              </a:rPr>
              <a:t>This project uses the Metabolomics Workbench study ST003390 by Shurong, Ma (Laboratory of Integrative Medicine, Dalian Medical University (Dalian, Liaoning, China))</a:t>
            </a:r>
            <a:r>
              <a:rPr b="0" lang="en-US" sz="1000" strike="noStrike" u="none">
                <a:solidFill>
                  <a:srgbClr val="000000"/>
                </a:solidFill>
                <a:effectLst/>
                <a:uFillTx/>
                <a:latin typeface="Arial"/>
                <a:ea typeface="Microsoft YaHei"/>
              </a:rPr>
              <a:t> </a:t>
            </a:r>
            <a:r>
              <a:rPr b="0" lang="en-US" sz="1700" strike="noStrike" u="none">
                <a:solidFill>
                  <a:srgbClr val="000000"/>
                </a:solidFill>
                <a:effectLst/>
                <a:uFillTx/>
                <a:latin typeface="Arial"/>
                <a:ea typeface="Microsoft YaHei"/>
              </a:rPr>
              <a:t>to build an end‑to‑end, publishable machine‑learning pipeline that:</a:t>
            </a:r>
            <a:endParaRPr b="0" lang="en-US" sz="1700" strike="noStrike" u="none">
              <a:solidFill>
                <a:srgbClr val="000000"/>
              </a:solidFill>
              <a:effectLst/>
              <a:uFillTx/>
              <a:latin typeface="Arial"/>
            </a:endParaRPr>
          </a:p>
          <a:p>
            <a:pPr lvl="1" marL="864000" indent="-324000">
              <a:lnSpc>
                <a:spcPct val="100000"/>
              </a:lnSpc>
              <a:spcBef>
                <a:spcPts val="1191"/>
              </a:spcBef>
              <a:spcAft>
                <a:spcPts val="992"/>
              </a:spcAft>
              <a:buClr>
                <a:srgbClr val="77caee"/>
              </a:buClr>
              <a:buSzPct val="45000"/>
              <a:buFont typeface="Wingdings" charset="2"/>
              <a:buChar char=""/>
            </a:pPr>
            <a:r>
              <a:rPr b="0" lang="en-US" sz="1700" strike="noStrike" u="none">
                <a:solidFill>
                  <a:srgbClr val="000000"/>
                </a:solidFill>
                <a:effectLst/>
                <a:uFillTx/>
                <a:latin typeface="Arial"/>
                <a:ea typeface="Microsoft YaHei"/>
              </a:rPr>
              <a:t>Unifies six Liquid Chromatography–Mass Spectrometry (LC‑MS) acquisition methods (M1–M6).</a:t>
            </a:r>
            <a:endParaRPr b="0" lang="en-US" sz="1700" strike="noStrike" u="none">
              <a:solidFill>
                <a:srgbClr val="000000"/>
              </a:solidFill>
              <a:effectLst/>
              <a:uFillTx/>
              <a:latin typeface="Arial"/>
            </a:endParaRPr>
          </a:p>
          <a:p>
            <a:pPr lvl="1" marL="864000" indent="-324000">
              <a:lnSpc>
                <a:spcPct val="100000"/>
              </a:lnSpc>
              <a:spcBef>
                <a:spcPts val="850"/>
              </a:spcBef>
              <a:buClr>
                <a:srgbClr val="77caee"/>
              </a:buClr>
              <a:buSzPct val="45000"/>
              <a:buFont typeface="Wingdings" charset="2"/>
              <a:buChar char=""/>
            </a:pPr>
            <a:r>
              <a:rPr b="0" lang="en-US" sz="1700" strike="noStrike" u="none">
                <a:solidFill>
                  <a:srgbClr val="000000"/>
                </a:solidFill>
                <a:effectLst/>
                <a:uFillTx/>
                <a:latin typeface="Arial"/>
                <a:ea typeface="Microsoft YaHei"/>
              </a:rPr>
              <a:t>Links metabolite profiles to clinical phenotype.</a:t>
            </a:r>
            <a:endParaRPr b="0" lang="en-US" sz="1700" strike="noStrike" u="none">
              <a:solidFill>
                <a:srgbClr val="000000"/>
              </a:solidFill>
              <a:effectLst/>
              <a:uFillTx/>
              <a:latin typeface="Arial"/>
            </a:endParaRPr>
          </a:p>
          <a:p>
            <a:pPr lvl="1" marL="864000" indent="-324000">
              <a:lnSpc>
                <a:spcPct val="100000"/>
              </a:lnSpc>
              <a:spcBef>
                <a:spcPts val="850"/>
              </a:spcBef>
              <a:buClr>
                <a:srgbClr val="77caee"/>
              </a:buClr>
              <a:buSzPct val="45000"/>
              <a:buFont typeface="Wingdings" charset="2"/>
              <a:buChar char=""/>
            </a:pPr>
            <a:r>
              <a:rPr b="0" lang="en-US" sz="1700" strike="noStrike" u="none">
                <a:solidFill>
                  <a:srgbClr val="000000"/>
                </a:solidFill>
                <a:effectLst/>
                <a:uFillTx/>
                <a:latin typeface="Arial"/>
                <a:ea typeface="Microsoft YaHei"/>
              </a:rPr>
              <a:t>Handles real‑world data issues.</a:t>
            </a:r>
            <a:endParaRPr b="0" lang="en-US" sz="1700" strike="noStrike" u="none">
              <a:solidFill>
                <a:srgbClr val="000000"/>
              </a:solidFill>
              <a:effectLst/>
              <a:uFillTx/>
              <a:latin typeface="Arial"/>
            </a:endParaRPr>
          </a:p>
          <a:p>
            <a:pPr lvl="1" marL="864000" indent="-324000">
              <a:lnSpc>
                <a:spcPct val="100000"/>
              </a:lnSpc>
              <a:spcBef>
                <a:spcPts val="850"/>
              </a:spcBef>
              <a:buClr>
                <a:srgbClr val="77caee"/>
              </a:buClr>
              <a:buSzPct val="45000"/>
              <a:buFont typeface="Wingdings" charset="2"/>
              <a:buChar char=""/>
            </a:pPr>
            <a:r>
              <a:rPr b="0" lang="en-US" sz="1700" strike="noStrike" u="none">
                <a:solidFill>
                  <a:srgbClr val="000000"/>
                </a:solidFill>
                <a:effectLst/>
                <a:uFillTx/>
                <a:latin typeface="Arial"/>
                <a:ea typeface="Microsoft YaHei"/>
              </a:rPr>
              <a:t>Trains and cross‑validates three complementary models</a:t>
            </a:r>
            <a:endParaRPr b="0" lang="en-US" sz="1700" strike="noStrike" u="none">
              <a:solidFill>
                <a:srgbClr val="000000"/>
              </a:solidFill>
              <a:effectLst/>
              <a:uFillTx/>
              <a:latin typeface="Arial"/>
            </a:endParaRPr>
          </a:p>
          <a:p>
            <a:pPr lvl="1" marL="864000" indent="-324000">
              <a:lnSpc>
                <a:spcPct val="100000"/>
              </a:lnSpc>
              <a:spcBef>
                <a:spcPts val="850"/>
              </a:spcBef>
              <a:buClr>
                <a:srgbClr val="77caee"/>
              </a:buClr>
              <a:buSzPct val="45000"/>
              <a:buFont typeface="Wingdings" charset="2"/>
              <a:buChar char=""/>
            </a:pPr>
            <a:r>
              <a:rPr b="0" lang="en-US" sz="1700" strike="noStrike" u="none">
                <a:solidFill>
                  <a:srgbClr val="000000"/>
                </a:solidFill>
                <a:effectLst/>
                <a:uFillTx/>
                <a:latin typeface="Arial"/>
                <a:ea typeface="Microsoft YaHei"/>
              </a:rPr>
              <a:t>Ranks and interprets discriminatory metabolites.</a:t>
            </a:r>
            <a:endParaRPr b="0" lang="en-US" sz="1700" strike="noStrike" u="none">
              <a:solidFill>
                <a:srgbClr val="000000"/>
              </a:solidFill>
              <a:effectLst/>
              <a:uFillTx/>
              <a:latin typeface="Arial"/>
            </a:endParaRPr>
          </a:p>
          <a:p>
            <a:pPr lvl="1" marL="864000" indent="-324000">
              <a:lnSpc>
                <a:spcPct val="100000"/>
              </a:lnSpc>
              <a:spcBef>
                <a:spcPts val="850"/>
              </a:spcBef>
              <a:buClr>
                <a:srgbClr val="77caee"/>
              </a:buClr>
              <a:buSzPct val="45000"/>
              <a:buFont typeface="Wingdings" charset="2"/>
              <a:buChar char=""/>
            </a:pPr>
            <a:r>
              <a:rPr b="0" lang="en-US" sz="1700" strike="noStrike" u="none">
                <a:solidFill>
                  <a:srgbClr val="000000"/>
                </a:solidFill>
                <a:effectLst/>
                <a:uFillTx/>
                <a:latin typeface="Arial"/>
                <a:ea typeface="Microsoft YaHei"/>
              </a:rPr>
              <a:t>Maps statistical hits to biology.</a:t>
            </a:r>
            <a:r>
              <a:rPr b="0" lang="en-US" sz="1000" strike="noStrike" u="none">
                <a:solidFill>
                  <a:srgbClr val="000000"/>
                </a:solidFill>
                <a:effectLst/>
                <a:uFillTx/>
                <a:latin typeface="Arial"/>
                <a:ea typeface="Microsoft YaHei"/>
              </a:rPr>
              <a:t> </a:t>
            </a:r>
            <a:endParaRPr b="0" lang="en-US" sz="1000" strike="noStrike" u="none">
              <a:solidFill>
                <a:srgbClr val="000000"/>
              </a:solidFill>
              <a:effectLst/>
              <a:uFillTx/>
              <a:latin typeface="Arial"/>
            </a:endParaRPr>
          </a:p>
        </p:txBody>
      </p:sp>
      <p:sp>
        <p:nvSpPr>
          <p:cNvPr id="4" name="PlaceHolder 3"/>
          <p:cNvSpPr>
            <a:spLocks noGrp="1"/>
          </p:cNvSpPr>
          <p:nvPr>
            <p:ph type="sldNum" idx="11"/>
          </p:nvPr>
        </p:nvSpPr>
        <p:spPr/>
        <p:txBody>
          <a:bodyPr/>
          <a:p>
            <a:fld id="{1D66DF33-7878-4BDC-88FD-C7F6F73AA004}" type="slidenum">
              <a:t>4</a:t>
            </a:fld>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4" name="PlaceHolder 1"/>
          <p:cNvSpPr>
            <a:spLocks noGrp="1"/>
          </p:cNvSpPr>
          <p:nvPr>
            <p:ph type="title"/>
          </p:nvPr>
        </p:nvSpPr>
        <p:spPr>
          <a:xfrm>
            <a:off x="360000" y="151920"/>
            <a:ext cx="9342720" cy="517320"/>
          </a:xfrm>
          <a:prstGeom prst="rect">
            <a:avLst/>
          </a:prstGeom>
          <a:noFill/>
          <a:ln w="0">
            <a:noFill/>
          </a:ln>
        </p:spPr>
        <p:txBody>
          <a:bodyPr lIns="0" rIns="0" tIns="0" bIns="0" anchor="ctr">
            <a:spAutoFit/>
          </a:bodyPr>
          <a:p>
            <a:pPr indent="0" algn="ctr">
              <a:lnSpc>
                <a:spcPct val="100000"/>
              </a:lnSpc>
              <a:buNone/>
              <a:tabLst>
                <a:tab algn="l" pos="0"/>
              </a:tabLst>
            </a:pPr>
            <a:r>
              <a:rPr b="0" lang="en-US" sz="3300" strike="noStrike" u="none">
                <a:solidFill>
                  <a:srgbClr val="eeeeee"/>
                </a:solidFill>
                <a:effectLst/>
                <a:uFillTx/>
                <a:latin typeface="Arial"/>
              </a:rPr>
              <a:t>Questions to answer</a:t>
            </a:r>
            <a:endParaRPr b="0" lang="en-US" sz="3300" strike="noStrike" u="none">
              <a:solidFill>
                <a:srgbClr val="000000"/>
              </a:solidFill>
              <a:effectLst/>
              <a:uFillTx/>
              <a:latin typeface="Arial"/>
            </a:endParaRPr>
          </a:p>
        </p:txBody>
      </p:sp>
      <p:sp>
        <p:nvSpPr>
          <p:cNvPr id="115" name="PlaceHolder 2"/>
          <p:cNvSpPr>
            <a:spLocks noGrp="1"/>
          </p:cNvSpPr>
          <p:nvPr>
            <p:ph/>
          </p:nvPr>
        </p:nvSpPr>
        <p:spPr>
          <a:xfrm>
            <a:off x="360000" y="1080000"/>
            <a:ext cx="9342720" cy="3582720"/>
          </a:xfrm>
          <a:prstGeom prst="rect">
            <a:avLst/>
          </a:prstGeom>
          <a:noFill/>
          <a:ln w="0">
            <a:noFill/>
          </a:ln>
        </p:spPr>
        <p:txBody>
          <a:bodyPr lIns="0" rIns="0" tIns="0" bIns="0" anchor="t">
            <a:noAutofit/>
          </a:bodyPr>
          <a:p>
            <a:pPr marL="432000" indent="-324000">
              <a:lnSpc>
                <a:spcPct val="100000"/>
              </a:lnSpc>
              <a:spcBef>
                <a:spcPts val="1191"/>
              </a:spcBef>
              <a:spcAft>
                <a:spcPts val="992"/>
              </a:spcAft>
              <a:buClr>
                <a:srgbClr val="77caee"/>
              </a:buClr>
              <a:buSzPct val="45000"/>
              <a:buFont typeface="Wingdings" charset="2"/>
              <a:buChar char=""/>
            </a:pPr>
            <a:r>
              <a:rPr b="0" lang="en-US" sz="2000" strike="noStrike" u="none">
                <a:solidFill>
                  <a:srgbClr val="000000"/>
                </a:solidFill>
                <a:effectLst/>
                <a:uFillTx/>
                <a:latin typeface="Arial"/>
              </a:rPr>
              <a:t>Can we build a metabolite-based model that discriminates T2DM from healthy controls?</a:t>
            </a:r>
            <a:endParaRPr b="0" lang="en-US" sz="2000" strike="noStrike" u="none">
              <a:solidFill>
                <a:srgbClr val="000000"/>
              </a:solidFill>
              <a:effectLst/>
              <a:uFillTx/>
              <a:latin typeface="Arial"/>
            </a:endParaRPr>
          </a:p>
          <a:p>
            <a:pPr marL="432000" indent="-324000">
              <a:lnSpc>
                <a:spcPct val="100000"/>
              </a:lnSpc>
              <a:spcBef>
                <a:spcPts val="1191"/>
              </a:spcBef>
              <a:spcAft>
                <a:spcPts val="992"/>
              </a:spcAft>
              <a:buClr>
                <a:srgbClr val="77caee"/>
              </a:buClr>
              <a:buSzPct val="45000"/>
              <a:buFont typeface="Wingdings" charset="2"/>
              <a:buChar char=""/>
            </a:pPr>
            <a:r>
              <a:rPr b="0" lang="en-US" sz="2000" strike="noStrike" u="none">
                <a:solidFill>
                  <a:srgbClr val="000000"/>
                </a:solidFill>
                <a:effectLst/>
                <a:uFillTx/>
                <a:latin typeface="Arial"/>
              </a:rPr>
              <a:t>Which individual metabolites and pathways drive that discrimination?</a:t>
            </a:r>
            <a:endParaRPr b="0" lang="en-US" sz="2000" strike="noStrike" u="none">
              <a:solidFill>
                <a:srgbClr val="000000"/>
              </a:solidFill>
              <a:effectLst/>
              <a:uFillTx/>
              <a:latin typeface="Arial"/>
            </a:endParaRPr>
          </a:p>
          <a:p>
            <a:pPr marL="432000" indent="-324000">
              <a:lnSpc>
                <a:spcPct val="100000"/>
              </a:lnSpc>
              <a:spcBef>
                <a:spcPts val="1191"/>
              </a:spcBef>
              <a:spcAft>
                <a:spcPts val="992"/>
              </a:spcAft>
              <a:buClr>
                <a:srgbClr val="77caee"/>
              </a:buClr>
              <a:buSzPct val="45000"/>
              <a:buFont typeface="Wingdings" charset="2"/>
              <a:buChar char=""/>
            </a:pPr>
            <a:r>
              <a:rPr b="0" lang="en-US" sz="2000" strike="noStrike" u="none">
                <a:solidFill>
                  <a:srgbClr val="000000"/>
                </a:solidFill>
                <a:effectLst/>
                <a:uFillTx/>
                <a:latin typeface="Arial"/>
              </a:rPr>
              <a:t>Can we derive an interpretable risk-score that generalises to external datasets? </a:t>
            </a:r>
            <a:endParaRPr b="0" lang="en-US" sz="2000" strike="noStrike" u="none">
              <a:solidFill>
                <a:srgbClr val="000000"/>
              </a:solidFill>
              <a:effectLst/>
              <a:uFillTx/>
              <a:latin typeface="Arial"/>
            </a:endParaRPr>
          </a:p>
        </p:txBody>
      </p:sp>
      <p:sp>
        <p:nvSpPr>
          <p:cNvPr id="4" name="PlaceHolder 3"/>
          <p:cNvSpPr>
            <a:spLocks noGrp="1"/>
          </p:cNvSpPr>
          <p:nvPr>
            <p:ph type="sldNum" idx="11"/>
          </p:nvPr>
        </p:nvSpPr>
        <p:spPr/>
        <p:txBody>
          <a:bodyPr/>
          <a:p>
            <a:fld id="{D8B34ED1-8522-4ACC-AEE7-3DC8A9A2EB5E}" type="slidenum">
              <a:t>5</a:t>
            </a:fld>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6" name="PlaceHolder 1"/>
          <p:cNvSpPr>
            <a:spLocks noGrp="1"/>
          </p:cNvSpPr>
          <p:nvPr>
            <p:ph type="title"/>
          </p:nvPr>
        </p:nvSpPr>
        <p:spPr>
          <a:xfrm>
            <a:off x="360000" y="150840"/>
            <a:ext cx="9342720" cy="519480"/>
          </a:xfrm>
          <a:prstGeom prst="rect">
            <a:avLst/>
          </a:prstGeom>
          <a:noFill/>
          <a:ln w="0">
            <a:noFill/>
          </a:ln>
        </p:spPr>
        <p:txBody>
          <a:bodyPr lIns="0" rIns="0" tIns="0" bIns="0" anchor="ctr">
            <a:spAutoFit/>
          </a:bodyPr>
          <a:p>
            <a:pPr indent="0" algn="ctr">
              <a:lnSpc>
                <a:spcPct val="100000"/>
              </a:lnSpc>
              <a:buNone/>
              <a:tabLst>
                <a:tab algn="l" pos="0"/>
              </a:tabLst>
            </a:pPr>
            <a:r>
              <a:rPr b="0" lang="en-US" sz="3300" strike="noStrike" u="none">
                <a:solidFill>
                  <a:srgbClr val="eeeeee"/>
                </a:solidFill>
                <a:effectLst/>
                <a:uFillTx/>
                <a:latin typeface="Arial"/>
              </a:rPr>
              <a:t>Information</a:t>
            </a:r>
            <a:endParaRPr b="0" lang="en-US" sz="3300" strike="noStrike" u="none">
              <a:solidFill>
                <a:srgbClr val="000000"/>
              </a:solidFill>
              <a:effectLst/>
              <a:uFillTx/>
              <a:latin typeface="Arial"/>
            </a:endParaRPr>
          </a:p>
        </p:txBody>
      </p:sp>
      <p:sp>
        <p:nvSpPr>
          <p:cNvPr id="117" name="PlaceHolder 2"/>
          <p:cNvSpPr>
            <a:spLocks noGrp="1"/>
          </p:cNvSpPr>
          <p:nvPr>
            <p:ph/>
          </p:nvPr>
        </p:nvSpPr>
        <p:spPr>
          <a:xfrm>
            <a:off x="360000" y="1080000"/>
            <a:ext cx="9342720" cy="3582720"/>
          </a:xfrm>
          <a:prstGeom prst="rect">
            <a:avLst/>
          </a:prstGeom>
          <a:noFill/>
          <a:ln w="0">
            <a:noFill/>
          </a:ln>
        </p:spPr>
        <p:txBody>
          <a:bodyPr lIns="0" rIns="0" tIns="0" bIns="0" anchor="t">
            <a:noAutofit/>
          </a:bodyPr>
          <a:p>
            <a:pPr marL="432000" indent="-324000">
              <a:lnSpc>
                <a:spcPct val="100000"/>
              </a:lnSpc>
              <a:spcBef>
                <a:spcPts val="1060"/>
              </a:spcBef>
              <a:buClr>
                <a:srgbClr val="77caee"/>
              </a:buClr>
              <a:buSzPct val="45000"/>
              <a:buFont typeface="Wingdings" charset="2"/>
              <a:buChar char=""/>
            </a:pPr>
            <a:r>
              <a:rPr b="0" lang="en-US" sz="2000" strike="noStrike" u="none">
                <a:solidFill>
                  <a:srgbClr val="000000"/>
                </a:solidFill>
                <a:effectLst/>
                <a:uFillTx/>
                <a:latin typeface="Arial"/>
              </a:rPr>
              <a:t>Independent variables are the metabolites (1187 metabolites identified by LC-MS)</a:t>
            </a:r>
            <a:endParaRPr b="0" lang="en-US" sz="2000" strike="noStrike" u="none">
              <a:solidFill>
                <a:srgbClr val="000000"/>
              </a:solidFill>
              <a:effectLst/>
              <a:uFillTx/>
              <a:latin typeface="Arial"/>
            </a:endParaRPr>
          </a:p>
          <a:p>
            <a:pPr marL="432000" indent="-324000">
              <a:lnSpc>
                <a:spcPct val="100000"/>
              </a:lnSpc>
              <a:spcBef>
                <a:spcPts val="1060"/>
              </a:spcBef>
              <a:buClr>
                <a:srgbClr val="77caee"/>
              </a:buClr>
              <a:buSzPct val="45000"/>
              <a:buFont typeface="Wingdings" charset="2"/>
              <a:buChar char=""/>
            </a:pPr>
            <a:r>
              <a:rPr b="0" lang="en-US" sz="2000" strike="noStrike" u="none">
                <a:solidFill>
                  <a:srgbClr val="000000"/>
                </a:solidFill>
                <a:effectLst/>
                <a:uFillTx/>
                <a:latin typeface="Arial"/>
                <a:ea typeface="Microsoft YaHei"/>
              </a:rPr>
              <a:t>Response variable is whether the individual belonged to T2DM or Healthy group (100 individuals with T2DM, 200 healthy individuals) </a:t>
            </a:r>
            <a:endParaRPr b="0" lang="en-US" sz="2000" strike="noStrike" u="none">
              <a:solidFill>
                <a:srgbClr val="000000"/>
              </a:solidFill>
              <a:effectLst/>
              <a:uFillTx/>
              <a:latin typeface="Arial"/>
            </a:endParaRPr>
          </a:p>
        </p:txBody>
      </p:sp>
      <p:sp>
        <p:nvSpPr>
          <p:cNvPr id="4" name="PlaceHolder 3"/>
          <p:cNvSpPr>
            <a:spLocks noGrp="1"/>
          </p:cNvSpPr>
          <p:nvPr>
            <p:ph type="sldNum" idx="11"/>
          </p:nvPr>
        </p:nvSpPr>
        <p:spPr/>
        <p:txBody>
          <a:bodyPr/>
          <a:p>
            <a:fld id="{067E8661-D574-4AF4-A1F8-721C0BEC5DDF}" type="slidenum">
              <a:t>6</a:t>
            </a:fld>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8" name="PlaceHolder 1"/>
          <p:cNvSpPr>
            <a:spLocks noGrp="1"/>
          </p:cNvSpPr>
          <p:nvPr>
            <p:ph type="title"/>
          </p:nvPr>
        </p:nvSpPr>
        <p:spPr>
          <a:xfrm>
            <a:off x="360000" y="159120"/>
            <a:ext cx="9342720" cy="504000"/>
          </a:xfrm>
          <a:prstGeom prst="rect">
            <a:avLst/>
          </a:prstGeom>
          <a:noFill/>
          <a:ln w="0">
            <a:noFill/>
          </a:ln>
        </p:spPr>
        <p:txBody>
          <a:bodyPr lIns="0" rIns="0" tIns="0" bIns="0" anchor="ctr">
            <a:spAutoFit/>
          </a:bodyPr>
          <a:p>
            <a:pPr indent="0" algn="ctr">
              <a:lnSpc>
                <a:spcPct val="100000"/>
              </a:lnSpc>
              <a:buNone/>
              <a:tabLst>
                <a:tab algn="l" pos="0"/>
              </a:tabLst>
            </a:pPr>
            <a:r>
              <a:rPr b="0" lang="en-US" sz="3300" strike="noStrike" u="none">
                <a:solidFill>
                  <a:srgbClr val="ffffff"/>
                </a:solidFill>
                <a:effectLst/>
                <a:uFillTx/>
                <a:latin typeface="Arial"/>
              </a:rPr>
              <a:t>Data Cleanup</a:t>
            </a:r>
            <a:endParaRPr b="0" lang="en-US" sz="3300" strike="noStrike" u="none">
              <a:solidFill>
                <a:srgbClr val="000000"/>
              </a:solidFill>
              <a:effectLst/>
              <a:uFillTx/>
              <a:latin typeface="Arial"/>
            </a:endParaRPr>
          </a:p>
        </p:txBody>
      </p:sp>
      <p:sp>
        <p:nvSpPr>
          <p:cNvPr id="119" name="PlaceHolder 2"/>
          <p:cNvSpPr>
            <a:spLocks noGrp="1"/>
          </p:cNvSpPr>
          <p:nvPr>
            <p:ph/>
          </p:nvPr>
        </p:nvSpPr>
        <p:spPr>
          <a:xfrm>
            <a:off x="360000" y="1080000"/>
            <a:ext cx="9342720" cy="3582720"/>
          </a:xfrm>
          <a:prstGeom prst="rect">
            <a:avLst/>
          </a:prstGeom>
          <a:noFill/>
          <a:ln w="0">
            <a:noFill/>
          </a:ln>
        </p:spPr>
        <p:txBody>
          <a:bodyPr lIns="0" rIns="0" tIns="0" bIns="0" anchor="t">
            <a:normAutofit/>
          </a:bodyPr>
          <a:p>
            <a:pPr marL="432000" indent="-324000">
              <a:lnSpc>
                <a:spcPct val="100000"/>
              </a:lnSpc>
              <a:spcBef>
                <a:spcPts val="1060"/>
              </a:spcBef>
              <a:buClr>
                <a:srgbClr val="77caee"/>
              </a:buClr>
              <a:buSzPct val="45000"/>
              <a:buFont typeface="Wingdings" charset="2"/>
              <a:buChar char=""/>
            </a:pPr>
            <a:r>
              <a:rPr b="0" lang="en-US" sz="2000" strike="noStrike" u="none">
                <a:solidFill>
                  <a:srgbClr val="000000"/>
                </a:solidFill>
                <a:effectLst/>
                <a:uFillTx/>
                <a:latin typeface="Arial"/>
                <a:ea typeface="Microsoft YaHei"/>
              </a:rPr>
              <a:t>Sample-wise median normalization was applied to the metabolite intensities to account for differences in sample loading/injection amount</a:t>
            </a:r>
            <a:endParaRPr b="0" lang="en-US" sz="2000" strike="noStrike" u="none">
              <a:solidFill>
                <a:srgbClr val="000000"/>
              </a:solidFill>
              <a:effectLst/>
              <a:uFillTx/>
              <a:latin typeface="Arial"/>
            </a:endParaRPr>
          </a:p>
          <a:p>
            <a:pPr marL="432000" indent="-324000">
              <a:lnSpc>
                <a:spcPct val="100000"/>
              </a:lnSpc>
              <a:spcBef>
                <a:spcPts val="1060"/>
              </a:spcBef>
              <a:buClr>
                <a:srgbClr val="77caee"/>
              </a:buClr>
              <a:buSzPct val="45000"/>
              <a:buFont typeface="Wingdings" charset="2"/>
              <a:buChar char=""/>
            </a:pPr>
            <a:r>
              <a:rPr b="0" lang="en-US" sz="2000" strike="noStrike" u="none">
                <a:solidFill>
                  <a:srgbClr val="000000"/>
                </a:solidFill>
                <a:effectLst/>
                <a:uFillTx/>
                <a:latin typeface="Arial"/>
                <a:ea typeface="Microsoft YaHei"/>
              </a:rPr>
              <a:t>These metabolite intensities were pareto-scaled because:</a:t>
            </a:r>
            <a:endParaRPr b="0" lang="en-US" sz="2000" strike="noStrike" u="none">
              <a:solidFill>
                <a:srgbClr val="000000"/>
              </a:solidFill>
              <a:effectLst/>
              <a:uFillTx/>
              <a:latin typeface="Arial"/>
            </a:endParaRPr>
          </a:p>
          <a:p>
            <a:pPr lvl="1" marL="864000" indent="-324000">
              <a:lnSpc>
                <a:spcPct val="100000"/>
              </a:lnSpc>
              <a:spcBef>
                <a:spcPts val="1134"/>
              </a:spcBef>
              <a:buClr>
                <a:srgbClr val="000000"/>
              </a:buClr>
              <a:buSzPct val="75000"/>
              <a:buFont typeface="Symbol" charset="2"/>
              <a:buChar char=""/>
            </a:pPr>
            <a:r>
              <a:rPr b="0" lang="en-US" sz="2000" strike="noStrike" u="none">
                <a:solidFill>
                  <a:srgbClr val="000000"/>
                </a:solidFill>
                <a:effectLst/>
                <a:uFillTx/>
                <a:latin typeface="Arial"/>
                <a:ea typeface="Microsoft YaHei"/>
              </a:rPr>
              <a:t>To balance the influence of variables with different concentration ranges.</a:t>
            </a:r>
            <a:endParaRPr b="0" lang="en-US" sz="2000" strike="noStrike" u="none">
              <a:solidFill>
                <a:srgbClr val="000000"/>
              </a:solidFill>
              <a:effectLst/>
              <a:uFillTx/>
              <a:latin typeface="Arial"/>
            </a:endParaRPr>
          </a:p>
          <a:p>
            <a:pPr lvl="1" marL="864000" indent="-324000">
              <a:lnSpc>
                <a:spcPct val="100000"/>
              </a:lnSpc>
              <a:spcBef>
                <a:spcPts val="1134"/>
              </a:spcBef>
              <a:buClr>
                <a:srgbClr val="000000"/>
              </a:buClr>
              <a:buSzPct val="75000"/>
              <a:buFont typeface="Symbol" charset="2"/>
              <a:buChar char=""/>
            </a:pPr>
            <a:r>
              <a:rPr b="0" lang="en-US" sz="2000" strike="noStrike" u="none">
                <a:solidFill>
                  <a:srgbClr val="000000"/>
                </a:solidFill>
                <a:effectLst/>
                <a:uFillTx/>
                <a:latin typeface="Arial"/>
                <a:ea typeface="Microsoft YaHei"/>
              </a:rPr>
              <a:t>ideal for metabolomics datasets where intensities vary but relationships among metabolites must remain interpretable.</a:t>
            </a:r>
            <a:endParaRPr b="0" lang="en-US" sz="2000" strike="noStrike" u="none">
              <a:solidFill>
                <a:srgbClr val="000000"/>
              </a:solidFill>
              <a:effectLst/>
              <a:uFillTx/>
              <a:latin typeface="Arial"/>
            </a:endParaRPr>
          </a:p>
        </p:txBody>
      </p:sp>
      <p:sp>
        <p:nvSpPr>
          <p:cNvPr id="4" name="PlaceHolder 3"/>
          <p:cNvSpPr>
            <a:spLocks noGrp="1"/>
          </p:cNvSpPr>
          <p:nvPr>
            <p:ph type="sldNum" idx="11"/>
          </p:nvPr>
        </p:nvSpPr>
        <p:spPr/>
        <p:txBody>
          <a:bodyPr/>
          <a:p>
            <a:fld id="{2A177D82-56BA-4D08-9936-8C6EBCC7E8EB}" type="slidenum">
              <a:t>7</a:t>
            </a:fld>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0" name="PlaceHolder 1"/>
          <p:cNvSpPr>
            <a:spLocks noGrp="1"/>
          </p:cNvSpPr>
          <p:nvPr>
            <p:ph type="title"/>
          </p:nvPr>
        </p:nvSpPr>
        <p:spPr>
          <a:xfrm>
            <a:off x="360000" y="73080"/>
            <a:ext cx="9342720" cy="675000"/>
          </a:xfrm>
          <a:prstGeom prst="rect">
            <a:avLst/>
          </a:prstGeom>
          <a:noFill/>
          <a:ln w="0">
            <a:noFill/>
          </a:ln>
        </p:spPr>
        <p:txBody>
          <a:bodyPr lIns="0" rIns="0" tIns="0" bIns="0" anchor="ctr">
            <a:spAutoFit/>
          </a:bodyPr>
          <a:p>
            <a:pPr indent="0" algn="ctr">
              <a:lnSpc>
                <a:spcPct val="100000"/>
              </a:lnSpc>
              <a:buNone/>
              <a:tabLst>
                <a:tab algn="l" pos="0"/>
              </a:tabLst>
            </a:pPr>
            <a:r>
              <a:rPr b="0" lang="en-US" sz="3000" strike="noStrike" u="none">
                <a:solidFill>
                  <a:srgbClr val="ffffff"/>
                </a:solidFill>
                <a:effectLst/>
                <a:uFillTx/>
                <a:latin typeface="Arial"/>
              </a:rPr>
              <a:t>Methods</a:t>
            </a:r>
            <a:endParaRPr b="0" lang="en-US" sz="3000" strike="noStrike" u="none">
              <a:solidFill>
                <a:srgbClr val="000000"/>
              </a:solidFill>
              <a:effectLst/>
              <a:uFillTx/>
              <a:latin typeface="Arial"/>
            </a:endParaRPr>
          </a:p>
        </p:txBody>
      </p:sp>
      <p:sp>
        <p:nvSpPr>
          <p:cNvPr id="121" name="PlaceHolder 2"/>
          <p:cNvSpPr>
            <a:spLocks noGrp="1"/>
          </p:cNvSpPr>
          <p:nvPr>
            <p:ph/>
          </p:nvPr>
        </p:nvSpPr>
        <p:spPr>
          <a:xfrm>
            <a:off x="457200" y="1442160"/>
            <a:ext cx="9342720" cy="358272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b="0" lang="en-US" sz="2000" strike="noStrike" u="none">
                <a:solidFill>
                  <a:srgbClr val="000000"/>
                </a:solidFill>
                <a:effectLst/>
                <a:uFillTx/>
                <a:latin typeface="Arial"/>
              </a:rPr>
              <a:t>Elastic Net</a:t>
            </a:r>
            <a:endParaRPr b="0" lang="en-US" sz="2000" strike="noStrike" u="none">
              <a:solidFill>
                <a:srgbClr val="000000"/>
              </a:solidFill>
              <a:effectLst/>
              <a:uFillTx/>
              <a:latin typeface="Arial"/>
            </a:endParaRPr>
          </a:p>
          <a:p>
            <a:pPr lvl="1" marL="864000" indent="-324000">
              <a:lnSpc>
                <a:spcPct val="100000"/>
              </a:lnSpc>
              <a:spcBef>
                <a:spcPts val="1134"/>
              </a:spcBef>
              <a:buClr>
                <a:srgbClr val="000000"/>
              </a:buClr>
              <a:buSzPct val="75000"/>
              <a:buFont typeface="Symbol" charset="2"/>
              <a:buChar char=""/>
            </a:pPr>
            <a:r>
              <a:rPr b="0" lang="en-US" sz="2000" strike="noStrike" u="none">
                <a:solidFill>
                  <a:srgbClr val="000000"/>
                </a:solidFill>
                <a:effectLst/>
                <a:uFillTx/>
                <a:latin typeface="Arial"/>
              </a:rPr>
              <a:t>Provides interpretable, sparse feature selection</a:t>
            </a:r>
            <a:endParaRPr b="0" lang="en-US" sz="2000" strike="noStrike" u="none">
              <a:solidFill>
                <a:srgbClr val="000000"/>
              </a:solidFill>
              <a:effectLst/>
              <a:uFillTx/>
              <a:latin typeface="Arial"/>
            </a:endParaRPr>
          </a:p>
          <a:p>
            <a:pPr marL="432000" indent="-324000">
              <a:lnSpc>
                <a:spcPct val="100000"/>
              </a:lnSpc>
              <a:spcBef>
                <a:spcPts val="1417"/>
              </a:spcBef>
              <a:buClr>
                <a:srgbClr val="000000"/>
              </a:buClr>
              <a:buSzPct val="45000"/>
              <a:buFont typeface="Wingdings" charset="2"/>
              <a:buChar char=""/>
            </a:pPr>
            <a:r>
              <a:rPr b="0" lang="en-US" sz="2000" strike="noStrike" u="none">
                <a:solidFill>
                  <a:srgbClr val="000000"/>
                </a:solidFill>
                <a:effectLst/>
                <a:uFillTx/>
                <a:latin typeface="Arial"/>
              </a:rPr>
              <a:t>Random Forest</a:t>
            </a:r>
            <a:endParaRPr b="0" lang="en-US" sz="2000" strike="noStrike" u="none">
              <a:solidFill>
                <a:srgbClr val="000000"/>
              </a:solidFill>
              <a:effectLst/>
              <a:uFillTx/>
              <a:latin typeface="Arial"/>
            </a:endParaRPr>
          </a:p>
          <a:p>
            <a:pPr lvl="1" marL="864000" indent="-324000">
              <a:lnSpc>
                <a:spcPct val="100000"/>
              </a:lnSpc>
              <a:spcBef>
                <a:spcPts val="1134"/>
              </a:spcBef>
              <a:buClr>
                <a:srgbClr val="000000"/>
              </a:buClr>
              <a:buSzPct val="75000"/>
              <a:buFont typeface="Symbol" charset="2"/>
              <a:buChar char=""/>
            </a:pPr>
            <a:r>
              <a:rPr b="0" lang="en-US" sz="2000" strike="noStrike" u="none">
                <a:solidFill>
                  <a:srgbClr val="000000"/>
                </a:solidFill>
                <a:effectLst/>
                <a:uFillTx/>
                <a:latin typeface="Arial"/>
              </a:rPr>
              <a:t>Produces a nonlinear, robust baseline</a:t>
            </a:r>
            <a:endParaRPr b="0" lang="en-US" sz="2000" strike="noStrike" u="none">
              <a:solidFill>
                <a:srgbClr val="000000"/>
              </a:solidFill>
              <a:effectLst/>
              <a:uFillTx/>
              <a:latin typeface="Arial"/>
            </a:endParaRPr>
          </a:p>
          <a:p>
            <a:pPr marL="432000" indent="-324000">
              <a:lnSpc>
                <a:spcPct val="100000"/>
              </a:lnSpc>
              <a:spcBef>
                <a:spcPts val="1417"/>
              </a:spcBef>
              <a:buClr>
                <a:srgbClr val="000000"/>
              </a:buClr>
              <a:buSzPct val="45000"/>
              <a:buFont typeface="Wingdings" charset="2"/>
              <a:buChar char=""/>
            </a:pPr>
            <a:r>
              <a:rPr b="0" lang="en-US" sz="2000" strike="noStrike" u="none">
                <a:solidFill>
                  <a:srgbClr val="000000"/>
                </a:solidFill>
                <a:effectLst/>
                <a:uFillTx/>
                <a:latin typeface="Arial"/>
              </a:rPr>
              <a:t>XGBoost</a:t>
            </a:r>
            <a:endParaRPr b="0" lang="en-US" sz="2000" strike="noStrike" u="none">
              <a:solidFill>
                <a:srgbClr val="000000"/>
              </a:solidFill>
              <a:effectLst/>
              <a:uFillTx/>
              <a:latin typeface="Arial"/>
            </a:endParaRPr>
          </a:p>
          <a:p>
            <a:pPr lvl="1" marL="864000" indent="-324000">
              <a:lnSpc>
                <a:spcPct val="100000"/>
              </a:lnSpc>
              <a:spcBef>
                <a:spcPts val="1134"/>
              </a:spcBef>
              <a:buClr>
                <a:srgbClr val="000000"/>
              </a:buClr>
              <a:buSzPct val="75000"/>
              <a:buFont typeface="Symbol" charset="2"/>
              <a:buChar char=""/>
            </a:pPr>
            <a:r>
              <a:rPr b="0" lang="en-US" sz="2000" strike="noStrike" u="none">
                <a:solidFill>
                  <a:srgbClr val="000000"/>
                </a:solidFill>
                <a:effectLst/>
                <a:uFillTx/>
                <a:latin typeface="Arial"/>
              </a:rPr>
              <a:t>Gives highest accuracy and SHAP interpretability</a:t>
            </a:r>
            <a:endParaRPr b="0" lang="en-US" sz="2000" strike="noStrike" u="none">
              <a:solidFill>
                <a:srgbClr val="000000"/>
              </a:solidFill>
              <a:effectLst/>
              <a:uFillTx/>
              <a:latin typeface="Arial"/>
            </a:endParaRPr>
          </a:p>
          <a:p>
            <a:pPr indent="0">
              <a:lnSpc>
                <a:spcPct val="100000"/>
              </a:lnSpc>
              <a:spcBef>
                <a:spcPts val="1417"/>
              </a:spcBef>
              <a:buNone/>
              <a:tabLst>
                <a:tab algn="l" pos="0"/>
              </a:tabLst>
            </a:pPr>
            <a:r>
              <a:rPr b="0" lang="en-US" sz="3200" strike="noStrike" u="none">
                <a:solidFill>
                  <a:srgbClr val="000000"/>
                </a:solidFill>
                <a:effectLst/>
                <a:uFillTx/>
                <a:latin typeface="Arial"/>
              </a:rPr>
              <a:t>  </a:t>
            </a:r>
            <a:endParaRPr b="0" lang="en-US" sz="3200" strike="noStrike" u="none">
              <a:solidFill>
                <a:srgbClr val="000000"/>
              </a:solidFill>
              <a:effectLst/>
              <a:uFillTx/>
              <a:latin typeface="Arial"/>
            </a:endParaRPr>
          </a:p>
        </p:txBody>
      </p:sp>
      <p:sp>
        <p:nvSpPr>
          <p:cNvPr id="4" name="PlaceHolder 3"/>
          <p:cNvSpPr>
            <a:spLocks noGrp="1"/>
          </p:cNvSpPr>
          <p:nvPr>
            <p:ph type="sldNum" idx="11"/>
          </p:nvPr>
        </p:nvSpPr>
        <p:spPr/>
        <p:txBody>
          <a:bodyPr/>
          <a:p>
            <a:fld id="{B06D5C48-6C1C-4B4C-B1EC-9DB16A47F5FD}" type="slidenum">
              <a:t>8</a:t>
            </a:fld>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2" name="PlaceHolder 1"/>
          <p:cNvSpPr>
            <a:spLocks noGrp="1"/>
          </p:cNvSpPr>
          <p:nvPr>
            <p:ph type="title"/>
          </p:nvPr>
        </p:nvSpPr>
        <p:spPr>
          <a:xfrm>
            <a:off x="360000" y="73080"/>
            <a:ext cx="9342720" cy="675000"/>
          </a:xfrm>
          <a:prstGeom prst="rect">
            <a:avLst/>
          </a:prstGeom>
          <a:noFill/>
          <a:ln w="0">
            <a:noFill/>
          </a:ln>
        </p:spPr>
        <p:txBody>
          <a:bodyPr lIns="0" rIns="0" tIns="0" bIns="0" anchor="ctr">
            <a:spAutoFit/>
          </a:bodyPr>
          <a:p>
            <a:pPr indent="0" algn="ctr">
              <a:lnSpc>
                <a:spcPct val="100000"/>
              </a:lnSpc>
              <a:buNone/>
              <a:tabLst>
                <a:tab algn="l" pos="0"/>
              </a:tabLst>
            </a:pPr>
            <a:r>
              <a:rPr b="0" lang="en-US" sz="3000" strike="noStrike" u="none">
                <a:solidFill>
                  <a:srgbClr val="ffffff"/>
                </a:solidFill>
                <a:effectLst/>
                <a:uFillTx/>
                <a:latin typeface="Arial"/>
              </a:rPr>
              <a:t>Methods</a:t>
            </a:r>
            <a:endParaRPr b="0" lang="en-US" sz="3000" strike="noStrike" u="none">
              <a:solidFill>
                <a:srgbClr val="000000"/>
              </a:solidFill>
              <a:effectLst/>
              <a:uFillTx/>
              <a:latin typeface="Arial"/>
            </a:endParaRPr>
          </a:p>
        </p:txBody>
      </p:sp>
      <p:sp>
        <p:nvSpPr>
          <p:cNvPr id="123" name="PlaceHolder 2"/>
          <p:cNvSpPr>
            <a:spLocks noGrp="1"/>
          </p:cNvSpPr>
          <p:nvPr>
            <p:ph/>
          </p:nvPr>
        </p:nvSpPr>
        <p:spPr>
          <a:xfrm>
            <a:off x="360000" y="1442160"/>
            <a:ext cx="9342720" cy="358272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b="0" lang="en-US" sz="2000" strike="noStrike" u="none">
                <a:solidFill>
                  <a:srgbClr val="000000"/>
                </a:solidFill>
                <a:effectLst/>
                <a:uFillTx/>
                <a:latin typeface="Arial"/>
              </a:rPr>
              <a:t>All three methods produce linear and non-linear signals</a:t>
            </a:r>
            <a:endParaRPr b="0" lang="en-US" sz="2000" strike="noStrike" u="none">
              <a:solidFill>
                <a:srgbClr val="000000"/>
              </a:solidFill>
              <a:effectLst/>
              <a:uFillTx/>
              <a:latin typeface="Arial"/>
            </a:endParaRPr>
          </a:p>
          <a:p>
            <a:pPr marL="432000" indent="-324000">
              <a:lnSpc>
                <a:spcPct val="100000"/>
              </a:lnSpc>
              <a:spcBef>
                <a:spcPts val="1417"/>
              </a:spcBef>
              <a:buClr>
                <a:srgbClr val="000000"/>
              </a:buClr>
              <a:buSzPct val="45000"/>
              <a:buFont typeface="Wingdings" charset="2"/>
              <a:buChar char=""/>
            </a:pPr>
            <a:r>
              <a:rPr b="0" lang="en-US" sz="2000" strike="noStrike" u="none">
                <a:solidFill>
                  <a:srgbClr val="000000"/>
                </a:solidFill>
                <a:effectLst/>
                <a:uFillTx/>
                <a:latin typeface="Arial"/>
              </a:rPr>
              <a:t>All three methods are used because </a:t>
            </a:r>
            <a:r>
              <a:rPr b="0" i="1" lang="en-US" sz="2000" strike="noStrike" u="none">
                <a:solidFill>
                  <a:srgbClr val="000000"/>
                </a:solidFill>
                <a:effectLst/>
                <a:uFillTx/>
                <a:latin typeface="Arial"/>
              </a:rPr>
              <a:t>n</a:t>
            </a:r>
            <a:r>
              <a:rPr b="0" lang="en-US" sz="2000" strike="noStrike" u="none">
                <a:solidFill>
                  <a:srgbClr val="000000"/>
                </a:solidFill>
                <a:effectLst/>
                <a:uFillTx/>
                <a:latin typeface="Arial"/>
              </a:rPr>
              <a:t>&lt;</a:t>
            </a:r>
            <a:r>
              <a:rPr b="0" i="1" lang="en-US" sz="2000" strike="noStrike" u="none">
                <a:solidFill>
                  <a:srgbClr val="000000"/>
                </a:solidFill>
                <a:effectLst/>
                <a:uFillTx/>
                <a:latin typeface="Arial"/>
              </a:rPr>
              <a:t>p</a:t>
            </a:r>
            <a:endParaRPr b="0" lang="en-US" sz="2000" strike="noStrike" u="none">
              <a:solidFill>
                <a:srgbClr val="000000"/>
              </a:solidFill>
              <a:effectLst/>
              <a:uFillTx/>
              <a:latin typeface="Arial"/>
            </a:endParaRPr>
          </a:p>
          <a:p>
            <a:pPr marL="432000" indent="-324000">
              <a:lnSpc>
                <a:spcPct val="100000"/>
              </a:lnSpc>
              <a:spcBef>
                <a:spcPts val="1417"/>
              </a:spcBef>
              <a:buClr>
                <a:srgbClr val="000000"/>
              </a:buClr>
              <a:buSzPct val="45000"/>
              <a:buFont typeface="Wingdings" charset="2"/>
              <a:buChar char=""/>
            </a:pPr>
            <a:r>
              <a:rPr b="1" lang="en-US" sz="2000" strike="noStrike" u="none">
                <a:solidFill>
                  <a:srgbClr val="000000"/>
                </a:solidFill>
                <a:effectLst/>
                <a:uFillTx/>
                <a:latin typeface="Arial"/>
              </a:rPr>
              <a:t>If all three methods point to the same metabolites, confidence is high</a:t>
            </a:r>
            <a:endParaRPr b="0" lang="en-US" sz="2000" strike="noStrike" u="none">
              <a:solidFill>
                <a:srgbClr val="000000"/>
              </a:solidFill>
              <a:effectLst/>
              <a:uFillTx/>
              <a:latin typeface="Arial"/>
            </a:endParaRPr>
          </a:p>
          <a:p>
            <a:pPr indent="0">
              <a:lnSpc>
                <a:spcPct val="100000"/>
              </a:lnSpc>
              <a:spcBef>
                <a:spcPts val="1417"/>
              </a:spcBef>
              <a:buNone/>
              <a:tabLst>
                <a:tab algn="l" pos="0"/>
              </a:tabLst>
            </a:pPr>
            <a:r>
              <a:rPr b="0" lang="en-US" sz="3200" strike="noStrike" u="none">
                <a:solidFill>
                  <a:srgbClr val="000000"/>
                </a:solidFill>
                <a:effectLst/>
                <a:uFillTx/>
                <a:latin typeface="Arial"/>
              </a:rPr>
              <a:t>  </a:t>
            </a:r>
            <a:endParaRPr b="0" lang="en-US" sz="3200" strike="noStrike" u="none">
              <a:solidFill>
                <a:srgbClr val="000000"/>
              </a:solidFill>
              <a:effectLst/>
              <a:uFillTx/>
              <a:latin typeface="Arial"/>
            </a:endParaRPr>
          </a:p>
        </p:txBody>
      </p:sp>
      <p:sp>
        <p:nvSpPr>
          <p:cNvPr id="4" name="PlaceHolder 3"/>
          <p:cNvSpPr>
            <a:spLocks noGrp="1"/>
          </p:cNvSpPr>
          <p:nvPr>
            <p:ph type="sldNum" idx="11"/>
          </p:nvPr>
        </p:nvSpPr>
        <p:spPr/>
        <p:txBody>
          <a:bodyPr/>
          <a:p>
            <a:fld id="{E5BC5CE7-8E58-430D-865F-BA6BA6B19BC1}" type="slidenum">
              <a:t>9</a:t>
            </a:fld>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4" name="PlaceHolder 1"/>
          <p:cNvSpPr>
            <a:spLocks noGrp="1"/>
          </p:cNvSpPr>
          <p:nvPr>
            <p:ph type="title"/>
          </p:nvPr>
        </p:nvSpPr>
        <p:spPr>
          <a:xfrm>
            <a:off x="360000" y="96840"/>
            <a:ext cx="9342720" cy="627840"/>
          </a:xfrm>
          <a:prstGeom prst="rect">
            <a:avLst/>
          </a:prstGeom>
          <a:noFill/>
          <a:ln w="0">
            <a:noFill/>
          </a:ln>
        </p:spPr>
        <p:txBody>
          <a:bodyPr lIns="0" rIns="0" tIns="0" bIns="0" anchor="ctr">
            <a:spAutoFit/>
          </a:bodyPr>
          <a:p>
            <a:pPr indent="0" algn="ctr">
              <a:lnSpc>
                <a:spcPct val="100000"/>
              </a:lnSpc>
              <a:buNone/>
              <a:tabLst>
                <a:tab algn="l" pos="0"/>
              </a:tabLst>
            </a:pPr>
            <a:r>
              <a:rPr b="0" lang="en-US" sz="3000" strike="noStrike" u="none">
                <a:solidFill>
                  <a:srgbClr val="ffffff"/>
                </a:solidFill>
                <a:effectLst/>
                <a:uFillTx/>
                <a:latin typeface="Arial"/>
              </a:rPr>
              <a:t>Methods not used</a:t>
            </a:r>
            <a:endParaRPr b="0" lang="en-US" sz="3000" strike="noStrike" u="none">
              <a:solidFill>
                <a:srgbClr val="000000"/>
              </a:solidFill>
              <a:effectLst/>
              <a:uFillTx/>
              <a:latin typeface="Arial"/>
            </a:endParaRPr>
          </a:p>
        </p:txBody>
      </p:sp>
      <p:sp>
        <p:nvSpPr>
          <p:cNvPr id="125" name="PlaceHolder 2"/>
          <p:cNvSpPr>
            <a:spLocks noGrp="1"/>
          </p:cNvSpPr>
          <p:nvPr>
            <p:ph/>
          </p:nvPr>
        </p:nvSpPr>
        <p:spPr>
          <a:xfrm>
            <a:off x="360000" y="1080000"/>
            <a:ext cx="9342720" cy="3582720"/>
          </a:xfrm>
          <a:prstGeom prst="rect">
            <a:avLst/>
          </a:prstGeom>
          <a:noFill/>
          <a:ln w="0">
            <a:noFill/>
          </a:ln>
        </p:spPr>
        <p:txBody>
          <a:bodyPr lIns="0" rIns="0" tIns="0" bIns="0" anchor="t">
            <a:normAutofit fontScale="55000" lnSpcReduction="19999"/>
          </a:bodyPr>
          <a:p>
            <a:pPr marL="432000" indent="-324000">
              <a:lnSpc>
                <a:spcPct val="100000"/>
              </a:lnSpc>
              <a:spcBef>
                <a:spcPts val="1417"/>
              </a:spcBef>
              <a:buClr>
                <a:srgbClr val="000000"/>
              </a:buClr>
              <a:buSzPct val="45000"/>
              <a:buFont typeface="Wingdings" charset="2"/>
              <a:buChar char=""/>
            </a:pPr>
            <a:r>
              <a:rPr b="0" lang="en-US" sz="3200" strike="noStrike" u="none">
                <a:solidFill>
                  <a:srgbClr val="000000"/>
                </a:solidFill>
                <a:effectLst/>
                <a:uFillTx/>
                <a:latin typeface="Arial"/>
              </a:rPr>
              <a:t>SVM </a:t>
            </a:r>
            <a:endParaRPr b="0" lang="en-US" sz="3200" strike="noStrike" u="none">
              <a:solidFill>
                <a:srgbClr val="000000"/>
              </a:solidFill>
              <a:effectLst/>
              <a:uFillTx/>
              <a:latin typeface="Arial"/>
            </a:endParaRPr>
          </a:p>
          <a:p>
            <a:pPr lvl="1" marL="864000" indent="-324000">
              <a:lnSpc>
                <a:spcPct val="100000"/>
              </a:lnSpc>
              <a:spcBef>
                <a:spcPts val="1134"/>
              </a:spcBef>
              <a:buClr>
                <a:srgbClr val="000000"/>
              </a:buClr>
              <a:buSzPct val="75000"/>
              <a:buFont typeface="Symbol" charset="2"/>
              <a:buChar char=""/>
            </a:pPr>
            <a:r>
              <a:rPr b="0" lang="en-US" sz="2800" strike="noStrike" u="none">
                <a:solidFill>
                  <a:srgbClr val="000000"/>
                </a:solidFill>
                <a:effectLst/>
                <a:uFillTx/>
                <a:latin typeface="Arial"/>
              </a:rPr>
              <a:t>No interpretability; unstable with correlated metabolites</a:t>
            </a:r>
            <a:endParaRPr b="0" lang="en-US" sz="2800" strike="noStrike" u="none">
              <a:solidFill>
                <a:srgbClr val="000000"/>
              </a:solidFill>
              <a:effectLst/>
              <a:uFillTx/>
              <a:latin typeface="Arial"/>
            </a:endParaRPr>
          </a:p>
          <a:p>
            <a:pPr marL="432000" indent="-324000">
              <a:lnSpc>
                <a:spcPct val="100000"/>
              </a:lnSpc>
              <a:spcBef>
                <a:spcPts val="1417"/>
              </a:spcBef>
              <a:buClr>
                <a:srgbClr val="000000"/>
              </a:buClr>
              <a:buSzPct val="45000"/>
              <a:buFont typeface="Wingdings" charset="2"/>
              <a:buChar char=""/>
            </a:pPr>
            <a:r>
              <a:rPr b="0" lang="en-US" sz="3200" strike="noStrike" u="none">
                <a:solidFill>
                  <a:srgbClr val="000000"/>
                </a:solidFill>
                <a:effectLst/>
                <a:uFillTx/>
                <a:latin typeface="Arial"/>
              </a:rPr>
              <a:t>PCA + LDA/QDA</a:t>
            </a:r>
            <a:endParaRPr b="0" lang="en-US" sz="3200" strike="noStrike" u="none">
              <a:solidFill>
                <a:srgbClr val="000000"/>
              </a:solidFill>
              <a:effectLst/>
              <a:uFillTx/>
              <a:latin typeface="Arial"/>
            </a:endParaRPr>
          </a:p>
          <a:p>
            <a:pPr lvl="1" marL="864000" indent="-324000">
              <a:lnSpc>
                <a:spcPct val="100000"/>
              </a:lnSpc>
              <a:spcBef>
                <a:spcPts val="1134"/>
              </a:spcBef>
              <a:buClr>
                <a:srgbClr val="000000"/>
              </a:buClr>
              <a:buSzPct val="75000"/>
              <a:buFont typeface="Symbol" charset="2"/>
              <a:buChar char=""/>
            </a:pPr>
            <a:r>
              <a:rPr b="0" lang="en-US" sz="2800" strike="noStrike" u="none">
                <a:solidFill>
                  <a:srgbClr val="000000"/>
                </a:solidFill>
                <a:effectLst/>
                <a:uFillTx/>
                <a:latin typeface="Arial"/>
              </a:rPr>
              <a:t>PCA loses biologically relevant features; LDA requires equal covariance</a:t>
            </a:r>
            <a:endParaRPr b="0" lang="en-US" sz="2800" strike="noStrike" u="none">
              <a:solidFill>
                <a:srgbClr val="000000"/>
              </a:solidFill>
              <a:effectLst/>
              <a:uFillTx/>
              <a:latin typeface="Arial"/>
            </a:endParaRPr>
          </a:p>
          <a:p>
            <a:pPr marL="432000" indent="-324000">
              <a:lnSpc>
                <a:spcPct val="100000"/>
              </a:lnSpc>
              <a:spcBef>
                <a:spcPts val="1417"/>
              </a:spcBef>
              <a:buClr>
                <a:srgbClr val="000000"/>
              </a:buClr>
              <a:buSzPct val="45000"/>
              <a:buFont typeface="Wingdings" charset="2"/>
              <a:buChar char=""/>
            </a:pPr>
            <a:r>
              <a:rPr b="0" lang="en-US" sz="3200" strike="noStrike" u="none">
                <a:solidFill>
                  <a:srgbClr val="000000"/>
                </a:solidFill>
                <a:effectLst/>
                <a:uFillTx/>
                <a:latin typeface="Arial"/>
              </a:rPr>
              <a:t>Naive Bayes</a:t>
            </a:r>
            <a:endParaRPr b="0" lang="en-US" sz="3200" strike="noStrike" u="none">
              <a:solidFill>
                <a:srgbClr val="000000"/>
              </a:solidFill>
              <a:effectLst/>
              <a:uFillTx/>
              <a:latin typeface="Arial"/>
            </a:endParaRPr>
          </a:p>
          <a:p>
            <a:pPr lvl="1" marL="864000" indent="-324000">
              <a:lnSpc>
                <a:spcPct val="100000"/>
              </a:lnSpc>
              <a:spcBef>
                <a:spcPts val="1134"/>
              </a:spcBef>
              <a:buClr>
                <a:srgbClr val="000000"/>
              </a:buClr>
              <a:buSzPct val="75000"/>
              <a:buFont typeface="Symbol" charset="2"/>
              <a:buChar char=""/>
            </a:pPr>
            <a:r>
              <a:rPr b="0" lang="en-US" sz="2800" strike="noStrike" u="none">
                <a:solidFill>
                  <a:srgbClr val="000000"/>
                </a:solidFill>
                <a:effectLst/>
                <a:uFillTx/>
                <a:latin typeface="Arial"/>
              </a:rPr>
              <a:t>Assumes feature independence</a:t>
            </a:r>
            <a:endParaRPr b="0" lang="en-US" sz="2800" strike="noStrike" u="none">
              <a:solidFill>
                <a:srgbClr val="000000"/>
              </a:solidFill>
              <a:effectLst/>
              <a:uFillTx/>
              <a:latin typeface="Arial"/>
            </a:endParaRPr>
          </a:p>
          <a:p>
            <a:pPr marL="432000" indent="-324000">
              <a:lnSpc>
                <a:spcPct val="100000"/>
              </a:lnSpc>
              <a:spcBef>
                <a:spcPts val="1417"/>
              </a:spcBef>
              <a:buClr>
                <a:srgbClr val="000000"/>
              </a:buClr>
              <a:buSzPct val="45000"/>
              <a:buFont typeface="Wingdings" charset="2"/>
              <a:buChar char=""/>
            </a:pPr>
            <a:r>
              <a:rPr b="0" lang="en-US" sz="3200" strike="noStrike" u="none">
                <a:solidFill>
                  <a:srgbClr val="000000"/>
                </a:solidFill>
                <a:effectLst/>
                <a:uFillTx/>
                <a:latin typeface="Arial"/>
              </a:rPr>
              <a:t>Neural Networks</a:t>
            </a:r>
            <a:endParaRPr b="0" lang="en-US" sz="3200" strike="noStrike" u="none">
              <a:solidFill>
                <a:srgbClr val="000000"/>
              </a:solidFill>
              <a:effectLst/>
              <a:uFillTx/>
              <a:latin typeface="Arial"/>
            </a:endParaRPr>
          </a:p>
          <a:p>
            <a:pPr lvl="1" marL="864000" indent="-324000">
              <a:lnSpc>
                <a:spcPct val="100000"/>
              </a:lnSpc>
              <a:spcBef>
                <a:spcPts val="1134"/>
              </a:spcBef>
              <a:buClr>
                <a:srgbClr val="000000"/>
              </a:buClr>
              <a:buSzPct val="75000"/>
              <a:buFont typeface="Symbol" charset="2"/>
              <a:buChar char=""/>
            </a:pPr>
            <a:r>
              <a:rPr b="0" lang="en-US" sz="2800" strike="noStrike" u="none">
                <a:solidFill>
                  <a:srgbClr val="000000"/>
                </a:solidFill>
                <a:effectLst/>
                <a:uFillTx/>
                <a:latin typeface="Arial"/>
              </a:rPr>
              <a:t>Need 10x more samples; no benefit over XGBoost</a:t>
            </a:r>
            <a:endParaRPr b="0" lang="en-US" sz="2800" strike="noStrike" u="none">
              <a:solidFill>
                <a:srgbClr val="000000"/>
              </a:solidFill>
              <a:effectLst/>
              <a:uFillTx/>
              <a:latin typeface="Arial"/>
            </a:endParaRPr>
          </a:p>
          <a:p>
            <a:pPr marL="432000" indent="-324000">
              <a:lnSpc>
                <a:spcPct val="100000"/>
              </a:lnSpc>
              <a:spcBef>
                <a:spcPts val="1417"/>
              </a:spcBef>
              <a:buClr>
                <a:srgbClr val="000000"/>
              </a:buClr>
              <a:buSzPct val="45000"/>
              <a:buFont typeface="Wingdings" charset="2"/>
              <a:buChar char=""/>
            </a:pPr>
            <a:r>
              <a:rPr b="0" lang="en-US" sz="3200" strike="noStrike" u="none">
                <a:solidFill>
                  <a:srgbClr val="000000"/>
                </a:solidFill>
                <a:effectLst/>
                <a:uFillTx/>
                <a:latin typeface="Arial"/>
              </a:rPr>
              <a:t>PLS-DA</a:t>
            </a:r>
            <a:endParaRPr b="0" lang="en-US" sz="3200" strike="noStrike" u="none">
              <a:solidFill>
                <a:srgbClr val="000000"/>
              </a:solidFill>
              <a:effectLst/>
              <a:uFillTx/>
              <a:latin typeface="Arial"/>
            </a:endParaRPr>
          </a:p>
          <a:p>
            <a:pPr lvl="1" marL="864000" indent="-324000">
              <a:lnSpc>
                <a:spcPct val="100000"/>
              </a:lnSpc>
              <a:spcBef>
                <a:spcPts val="1134"/>
              </a:spcBef>
              <a:buClr>
                <a:srgbClr val="000000"/>
              </a:buClr>
              <a:buSzPct val="75000"/>
              <a:buFont typeface="Symbol" charset="2"/>
              <a:buChar char=""/>
            </a:pPr>
            <a:r>
              <a:rPr b="0" lang="en-US" sz="2800" strike="noStrike" u="none">
                <a:solidFill>
                  <a:srgbClr val="000000"/>
                </a:solidFill>
                <a:effectLst/>
                <a:uFillTx/>
                <a:latin typeface="Arial"/>
              </a:rPr>
              <a:t>Overused, high FP risk, poor reproducibility </a:t>
            </a:r>
            <a:br>
              <a:rPr sz="2800"/>
            </a:br>
            <a:r>
              <a:rPr b="0" lang="en-US" sz="2800" strike="noStrike" u="none">
                <a:solidFill>
                  <a:srgbClr val="000000"/>
                </a:solidFill>
                <a:effectLst/>
                <a:uFillTx/>
                <a:latin typeface="Arial"/>
              </a:rPr>
              <a:t> </a:t>
            </a:r>
            <a:endParaRPr b="0" lang="en-US" sz="2800" strike="noStrike" u="none">
              <a:solidFill>
                <a:srgbClr val="000000"/>
              </a:solidFill>
              <a:effectLst/>
              <a:uFillTx/>
              <a:latin typeface="Arial"/>
            </a:endParaRPr>
          </a:p>
        </p:txBody>
      </p:sp>
      <p:sp>
        <p:nvSpPr>
          <p:cNvPr id="4" name="PlaceHolder 3"/>
          <p:cNvSpPr>
            <a:spLocks noGrp="1"/>
          </p:cNvSpPr>
          <p:nvPr>
            <p:ph type="sldNum" idx="11"/>
          </p:nvPr>
        </p:nvSpPr>
        <p:spPr/>
        <p:txBody>
          <a:bodyPr/>
          <a:p>
            <a:fld id="{FC80D06C-F471-4F32-99D3-67BCB615803A}" type="slidenum">
              <a:t>10</a:t>
            </a:fld>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6" name="PlaceHolder 1"/>
          <p:cNvSpPr>
            <a:spLocks noGrp="1"/>
          </p:cNvSpPr>
          <p:nvPr>
            <p:ph type="title"/>
          </p:nvPr>
        </p:nvSpPr>
        <p:spPr>
          <a:xfrm>
            <a:off x="360000" y="73080"/>
            <a:ext cx="9342720" cy="675000"/>
          </a:xfrm>
          <a:prstGeom prst="rect">
            <a:avLst/>
          </a:prstGeom>
          <a:noFill/>
          <a:ln w="0">
            <a:noFill/>
          </a:ln>
        </p:spPr>
        <p:txBody>
          <a:bodyPr lIns="0" rIns="0" tIns="0" bIns="0" anchor="ctr">
            <a:spAutoFit/>
          </a:bodyPr>
          <a:p>
            <a:pPr indent="0" algn="ctr">
              <a:lnSpc>
                <a:spcPct val="100000"/>
              </a:lnSpc>
              <a:buNone/>
              <a:tabLst>
                <a:tab algn="l" pos="0"/>
              </a:tabLst>
            </a:pPr>
            <a:r>
              <a:rPr b="0" lang="en-US" sz="3000" strike="noStrike" u="none">
                <a:solidFill>
                  <a:srgbClr val="ffffff"/>
                </a:solidFill>
                <a:effectLst/>
                <a:uFillTx/>
                <a:latin typeface="Arial"/>
              </a:rPr>
              <a:t>Elastic Net</a:t>
            </a:r>
            <a:endParaRPr b="0" lang="en-US" sz="3000" strike="noStrike" u="none">
              <a:solidFill>
                <a:srgbClr val="000000"/>
              </a:solidFill>
              <a:effectLst/>
              <a:uFillTx/>
              <a:latin typeface="Arial"/>
            </a:endParaRPr>
          </a:p>
        </p:txBody>
      </p:sp>
      <p:sp>
        <p:nvSpPr>
          <p:cNvPr id="127" name="PlaceHolder 2"/>
          <p:cNvSpPr>
            <a:spLocks noGrp="1"/>
          </p:cNvSpPr>
          <p:nvPr>
            <p:ph/>
          </p:nvPr>
        </p:nvSpPr>
        <p:spPr>
          <a:xfrm>
            <a:off x="360000" y="1080000"/>
            <a:ext cx="9342720" cy="3582720"/>
          </a:xfrm>
          <a:prstGeom prst="rect">
            <a:avLst/>
          </a:prstGeom>
          <a:noFill/>
          <a:ln w="0">
            <a:noFill/>
          </a:ln>
        </p:spPr>
        <p:txBody>
          <a:bodyPr lIns="0" rIns="0" tIns="0" bIns="0" anchor="t">
            <a:normAutofit/>
          </a:bodyPr>
          <a:p>
            <a:pPr marL="432000" indent="-324000">
              <a:lnSpc>
                <a:spcPct val="100000"/>
              </a:lnSpc>
              <a:spcBef>
                <a:spcPts val="1191"/>
              </a:spcBef>
              <a:spcAft>
                <a:spcPts val="992"/>
              </a:spcAft>
              <a:buClr>
                <a:srgbClr val="000000"/>
              </a:buClr>
              <a:buSzPct val="45000"/>
              <a:buFont typeface="Wingdings" charset="2"/>
              <a:buChar char=""/>
            </a:pPr>
            <a:r>
              <a:rPr b="0" lang="en-US" sz="1600" strike="noStrike" u="none">
                <a:solidFill>
                  <a:srgbClr val="000000"/>
                </a:solidFill>
                <a:effectLst/>
                <a:uFillTx/>
                <a:latin typeface="Arial"/>
              </a:rPr>
              <a:t>is a statistical method used in regression that combines two types of penalties, L1 (from Lasso) and L2 (from Ridge), improving model accuracy and stability, especially when dealing with many correlated predictors </a:t>
            </a:r>
            <a:endParaRPr b="0" lang="en-US" sz="1600" strike="noStrike" u="none">
              <a:solidFill>
                <a:srgbClr val="000000"/>
              </a:solidFill>
              <a:effectLst/>
              <a:uFillTx/>
              <a:latin typeface="Arial"/>
            </a:endParaRPr>
          </a:p>
          <a:p>
            <a:pPr marL="432000" indent="-324000">
              <a:lnSpc>
                <a:spcPct val="100000"/>
              </a:lnSpc>
              <a:spcBef>
                <a:spcPts val="1191"/>
              </a:spcBef>
              <a:spcAft>
                <a:spcPts val="992"/>
              </a:spcAft>
              <a:buClr>
                <a:srgbClr val="000000"/>
              </a:buClr>
              <a:buSzPct val="45000"/>
              <a:buFont typeface="Wingdings" charset="2"/>
              <a:buChar char=""/>
            </a:pPr>
            <a:r>
              <a:rPr b="0" lang="en-US" sz="1600" strike="noStrike" u="none">
                <a:solidFill>
                  <a:srgbClr val="000000"/>
                </a:solidFill>
                <a:effectLst/>
                <a:uFillTx/>
                <a:latin typeface="Arial"/>
              </a:rPr>
              <a:t>Key Features:</a:t>
            </a:r>
            <a:endParaRPr b="0" lang="en-US" sz="1600" strike="noStrike" u="none">
              <a:solidFill>
                <a:srgbClr val="000000"/>
              </a:solidFill>
              <a:effectLst/>
              <a:uFillTx/>
              <a:latin typeface="Arial"/>
            </a:endParaRPr>
          </a:p>
          <a:p>
            <a:pPr lvl="1" marL="864000" indent="-324000">
              <a:lnSpc>
                <a:spcPct val="100000"/>
              </a:lnSpc>
              <a:spcBef>
                <a:spcPts val="1134"/>
              </a:spcBef>
              <a:buClr>
                <a:srgbClr val="000000"/>
              </a:buClr>
              <a:buSzPct val="75000"/>
              <a:buFont typeface="Symbol" charset="2"/>
              <a:buChar char=""/>
            </a:pPr>
            <a:r>
              <a:rPr b="0" lang="en-US" sz="1600" strike="noStrike" u="none">
                <a:solidFill>
                  <a:schemeClr val="dk1"/>
                </a:solidFill>
                <a:effectLst/>
                <a:uFillTx/>
                <a:latin typeface="Arial"/>
              </a:rPr>
              <a:t>Balances feature selection and shrinkage: Retains groups of correlated metabolites while eliminating noise variables. </a:t>
            </a:r>
            <a:endParaRPr b="0" lang="en-US" sz="1600" strike="noStrike" u="none">
              <a:solidFill>
                <a:srgbClr val="000000"/>
              </a:solidFill>
              <a:effectLst/>
              <a:uFillTx/>
              <a:latin typeface="Arial"/>
            </a:endParaRPr>
          </a:p>
          <a:p>
            <a:pPr lvl="1" marL="864000" indent="-324000">
              <a:lnSpc>
                <a:spcPct val="100000"/>
              </a:lnSpc>
              <a:spcBef>
                <a:spcPts val="1134"/>
              </a:spcBef>
              <a:buClr>
                <a:srgbClr val="000000"/>
              </a:buClr>
              <a:buSzPct val="75000"/>
              <a:buFont typeface="Symbol" charset="2"/>
              <a:buChar char=""/>
            </a:pPr>
            <a:r>
              <a:rPr b="0" lang="en-US" sz="1600" strike="noStrike" u="none">
                <a:solidFill>
                  <a:schemeClr val="dk1"/>
                </a:solidFill>
                <a:effectLst/>
                <a:uFillTx/>
                <a:latin typeface="Arial"/>
              </a:rPr>
              <a:t>Prevents overfitting: The regularization term penalizes overly large coefficients. </a:t>
            </a:r>
            <a:endParaRPr b="0" lang="en-US" sz="1600" strike="noStrike" u="none">
              <a:solidFill>
                <a:srgbClr val="000000"/>
              </a:solidFill>
              <a:effectLst/>
              <a:uFillTx/>
              <a:latin typeface="Arial"/>
            </a:endParaRPr>
          </a:p>
          <a:p>
            <a:pPr lvl="1" marL="864000" indent="-324000">
              <a:lnSpc>
                <a:spcPct val="100000"/>
              </a:lnSpc>
              <a:spcBef>
                <a:spcPts val="1134"/>
              </a:spcBef>
              <a:buClr>
                <a:srgbClr val="000000"/>
              </a:buClr>
              <a:buSzPct val="75000"/>
              <a:buFont typeface="Symbol" charset="2"/>
              <a:buChar char=""/>
            </a:pPr>
            <a:r>
              <a:rPr b="0" lang="en-US" sz="1600" strike="noStrike" u="none">
                <a:solidFill>
                  <a:schemeClr val="dk1"/>
                </a:solidFill>
                <a:effectLst/>
                <a:uFillTx/>
                <a:latin typeface="Arial"/>
              </a:rPr>
              <a:t>Interpretable and stable: Produces a sparse model with directly interpretable coefficients (β). </a:t>
            </a:r>
            <a:endParaRPr b="0" lang="en-US" sz="1600" strike="noStrike" u="none">
              <a:solidFill>
                <a:srgbClr val="000000"/>
              </a:solidFill>
              <a:effectLst/>
              <a:uFillTx/>
              <a:latin typeface="Arial"/>
            </a:endParaRPr>
          </a:p>
          <a:p>
            <a:pPr lvl="1" marL="864000" indent="-324000">
              <a:lnSpc>
                <a:spcPct val="100000"/>
              </a:lnSpc>
              <a:spcBef>
                <a:spcPts val="1134"/>
              </a:spcBef>
              <a:buClr>
                <a:srgbClr val="000000"/>
              </a:buClr>
              <a:buSzPct val="75000"/>
              <a:buFont typeface="Symbol" charset="2"/>
              <a:buChar char=""/>
            </a:pPr>
            <a:r>
              <a:rPr b="0" lang="en-US" sz="1600" strike="noStrike" u="none">
                <a:solidFill>
                  <a:schemeClr val="dk1"/>
                </a:solidFill>
                <a:effectLst/>
                <a:uFillTx/>
                <a:latin typeface="Arial"/>
              </a:rPr>
              <a:t>Ideal for metabolomics (</a:t>
            </a:r>
            <a:r>
              <a:rPr b="0" i="1" lang="en-US" sz="1600" strike="noStrike" u="none">
                <a:solidFill>
                  <a:schemeClr val="dk1"/>
                </a:solidFill>
                <a:effectLst/>
                <a:uFillTx/>
                <a:latin typeface="Arial"/>
              </a:rPr>
              <a:t>n</a:t>
            </a:r>
            <a:r>
              <a:rPr b="0" lang="en-US" sz="1600" strike="noStrike" u="none">
                <a:solidFill>
                  <a:schemeClr val="dk1"/>
                </a:solidFill>
                <a:effectLst/>
                <a:uFillTx/>
                <a:latin typeface="Arial"/>
              </a:rPr>
              <a:t> &lt; </a:t>
            </a:r>
            <a:r>
              <a:rPr b="0" i="1" lang="en-US" sz="1600" strike="noStrike" u="none">
                <a:solidFill>
                  <a:schemeClr val="dk1"/>
                </a:solidFill>
                <a:effectLst/>
                <a:uFillTx/>
                <a:latin typeface="Arial"/>
              </a:rPr>
              <a:t>p</a:t>
            </a:r>
            <a:r>
              <a:rPr b="0" lang="en-US" sz="1600" strike="noStrike" u="none">
                <a:solidFill>
                  <a:schemeClr val="dk1"/>
                </a:solidFill>
                <a:effectLst/>
                <a:uFillTx/>
                <a:latin typeface="Arial"/>
              </a:rPr>
              <a:t>): Handles thousands of metabolites with limited samples.</a:t>
            </a:r>
            <a:endParaRPr b="0" lang="en-US" sz="1600" strike="noStrike" u="none">
              <a:solidFill>
                <a:srgbClr val="000000"/>
              </a:solidFill>
              <a:effectLst/>
              <a:uFillTx/>
              <a:latin typeface="Arial"/>
            </a:endParaRPr>
          </a:p>
        </p:txBody>
      </p:sp>
      <p:sp>
        <p:nvSpPr>
          <p:cNvPr id="4" name="PlaceHolder 3"/>
          <p:cNvSpPr>
            <a:spLocks noGrp="1"/>
          </p:cNvSpPr>
          <p:nvPr>
            <p:ph type="sldNum" idx="11"/>
          </p:nvPr>
        </p:nvSpPr>
        <p:spPr/>
        <p:txBody>
          <a:bodyPr/>
          <a:p>
            <a:fld id="{0BF5B017-C47E-4CA0-AED6-7E75AADFD757}" type="slidenum">
              <a:t>11</a:t>
            </a:fld>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8" name="PlaceHolder 1"/>
          <p:cNvSpPr>
            <a:spLocks noGrp="1"/>
          </p:cNvSpPr>
          <p:nvPr>
            <p:ph type="title"/>
          </p:nvPr>
        </p:nvSpPr>
        <p:spPr>
          <a:xfrm>
            <a:off x="360000" y="151920"/>
            <a:ext cx="9342720" cy="517320"/>
          </a:xfrm>
          <a:prstGeom prst="rect">
            <a:avLst/>
          </a:prstGeom>
          <a:noFill/>
          <a:ln w="0">
            <a:noFill/>
          </a:ln>
        </p:spPr>
        <p:txBody>
          <a:bodyPr lIns="0" rIns="0" tIns="0" bIns="0" anchor="ctr">
            <a:spAutoFit/>
          </a:bodyPr>
          <a:p>
            <a:pPr indent="0" algn="ctr">
              <a:lnSpc>
                <a:spcPct val="100000"/>
              </a:lnSpc>
              <a:buNone/>
              <a:tabLst>
                <a:tab algn="l" pos="0"/>
              </a:tabLst>
            </a:pPr>
            <a:r>
              <a:rPr b="0" lang="en-US" sz="3300" strike="noStrike" u="none">
                <a:solidFill>
                  <a:srgbClr val="eeeeee"/>
                </a:solidFill>
                <a:effectLst/>
                <a:uFillTx/>
                <a:latin typeface="Arial"/>
              </a:rPr>
              <a:t>Elastic Net variable importance</a:t>
            </a:r>
            <a:endParaRPr b="0" lang="en-US" sz="3300" strike="noStrike" u="none">
              <a:solidFill>
                <a:srgbClr val="000000"/>
              </a:solidFill>
              <a:effectLst/>
              <a:uFillTx/>
              <a:latin typeface="Arial"/>
            </a:endParaRPr>
          </a:p>
        </p:txBody>
      </p:sp>
      <p:sp>
        <p:nvSpPr>
          <p:cNvPr id="129" name=""/>
          <p:cNvSpPr/>
          <p:nvPr/>
        </p:nvSpPr>
        <p:spPr>
          <a:xfrm>
            <a:off x="6396840" y="914400"/>
            <a:ext cx="3681360" cy="3567240"/>
          </a:xfrm>
          <a:prstGeom prst="rect">
            <a:avLst/>
          </a:prstGeom>
          <a:noFill/>
          <a:ln w="0">
            <a:noFill/>
          </a:ln>
        </p:spPr>
        <p:style>
          <a:lnRef idx="0"/>
          <a:fillRef idx="0"/>
          <a:effectRef idx="0"/>
          <a:fontRef idx="minor"/>
        </p:style>
        <p:txBody>
          <a:bodyPr lIns="90000" rIns="90000" tIns="45000" bIns="45000" anchor="t">
            <a:spAutoFit/>
          </a:bodyPr>
          <a:p>
            <a:pPr marL="216000" indent="-216000" defTabSz="914400">
              <a:lnSpc>
                <a:spcPct val="100000"/>
              </a:lnSpc>
              <a:spcBef>
                <a:spcPts val="1191"/>
              </a:spcBef>
              <a:spcAft>
                <a:spcPts val="992"/>
              </a:spcAft>
              <a:buClr>
                <a:srgbClr val="000000"/>
              </a:buClr>
              <a:buSzPct val="45000"/>
              <a:buFont typeface="Wingdings" charset="2"/>
              <a:buChar char=""/>
            </a:pPr>
            <a:r>
              <a:rPr b="0" lang="en-US" sz="1600" strike="noStrike" u="none">
                <a:solidFill>
                  <a:srgbClr val="000000"/>
                </a:solidFill>
                <a:effectLst/>
                <a:uFillTx/>
                <a:latin typeface="Arial"/>
                <a:ea typeface="DejaVu Sans"/>
              </a:rPr>
              <a:t>Top 20 metabolites ranked by absolute coefficient values ∣β∣ (x-axis), which represent the importance of each metabolite, measured by the magnitude of the corresponding regression coefficient, while the y-axis lists the metabolite names.</a:t>
            </a:r>
            <a:endParaRPr b="0" lang="en-US" sz="1600" strike="noStrike" u="none">
              <a:solidFill>
                <a:srgbClr val="000000"/>
              </a:solidFill>
              <a:effectLst/>
              <a:uFillTx/>
              <a:latin typeface="Arial"/>
            </a:endParaRPr>
          </a:p>
          <a:p>
            <a:pPr defTabSz="914400">
              <a:lnSpc>
                <a:spcPct val="100000"/>
              </a:lnSpc>
              <a:spcBef>
                <a:spcPts val="1191"/>
              </a:spcBef>
              <a:spcAft>
                <a:spcPts val="992"/>
              </a:spcAft>
            </a:pPr>
            <a:endParaRPr b="0" lang="en-US" sz="1400" strike="noStrike" u="none">
              <a:solidFill>
                <a:srgbClr val="000000"/>
              </a:solidFill>
              <a:effectLst/>
              <a:uFillTx/>
              <a:latin typeface="Arial"/>
            </a:endParaRPr>
          </a:p>
          <a:p>
            <a:pPr marL="216000" indent="-216000" defTabSz="914400">
              <a:lnSpc>
                <a:spcPct val="100000"/>
              </a:lnSpc>
              <a:spcBef>
                <a:spcPts val="1417"/>
              </a:spcBef>
              <a:buClr>
                <a:srgbClr val="000000"/>
              </a:buClr>
              <a:buSzPct val="45000"/>
              <a:buFont typeface="Wingdings" charset="2"/>
              <a:buChar char=""/>
            </a:pPr>
            <a:r>
              <a:rPr b="0" lang="en-US" sz="1600" strike="noStrike" u="none">
                <a:solidFill>
                  <a:srgbClr val="000000"/>
                </a:solidFill>
                <a:effectLst/>
                <a:uFillTx/>
                <a:latin typeface="Arial"/>
                <a:ea typeface="Liberation Mono;Cumberland AMT;Courier New;DejaVu Sans Mono;Lucida Sans Typewriter"/>
              </a:rPr>
              <a:t>p-value = 0.2866, i.e., the most important metabolites tend not to be highly abundant overall.</a:t>
            </a:r>
            <a:endParaRPr b="0" lang="en-US" sz="1600" strike="noStrike" u="none">
              <a:solidFill>
                <a:srgbClr val="000000"/>
              </a:solidFill>
              <a:effectLst/>
              <a:uFillTx/>
              <a:latin typeface="Arial"/>
            </a:endParaRPr>
          </a:p>
        </p:txBody>
      </p:sp>
      <p:pic>
        <p:nvPicPr>
          <p:cNvPr id="130" name="" descr=""/>
          <p:cNvPicPr/>
          <p:nvPr/>
        </p:nvPicPr>
        <p:blipFill>
          <a:blip r:embed="rId1"/>
          <a:stretch/>
        </p:blipFill>
        <p:spPr>
          <a:xfrm>
            <a:off x="0" y="914400"/>
            <a:ext cx="6394320" cy="4744800"/>
          </a:xfrm>
          <a:prstGeom prst="rect">
            <a:avLst/>
          </a:prstGeom>
          <a:noFill/>
          <a:ln w="0">
            <a:noFill/>
          </a:ln>
        </p:spPr>
      </p:pic>
      <p:sp>
        <p:nvSpPr>
          <p:cNvPr id="3" name="PlaceHolder 2"/>
          <p:cNvSpPr>
            <a:spLocks noGrp="1"/>
          </p:cNvSpPr>
          <p:nvPr>
            <p:ph type="sldNum" idx="11"/>
          </p:nvPr>
        </p:nvSpPr>
        <p:spPr/>
        <p:txBody>
          <a:bodyPr/>
          <a:p>
            <a:fld id="{19733B58-6360-4B53-9F3B-CDC5ADA61D47}" type="slidenum">
              <a:t>12</a:t>
            </a:fld>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1" name="PlaceHolder 1"/>
          <p:cNvSpPr>
            <a:spLocks noGrp="1"/>
          </p:cNvSpPr>
          <p:nvPr>
            <p:ph type="title"/>
          </p:nvPr>
        </p:nvSpPr>
        <p:spPr>
          <a:xfrm>
            <a:off x="360000" y="14400"/>
            <a:ext cx="9342720" cy="671400"/>
          </a:xfrm>
          <a:prstGeom prst="rect">
            <a:avLst/>
          </a:prstGeom>
          <a:noFill/>
          <a:ln w="0">
            <a:noFill/>
          </a:ln>
        </p:spPr>
        <p:txBody>
          <a:bodyPr lIns="0" rIns="0" tIns="0" bIns="0" anchor="ctr">
            <a:spAutoFit/>
          </a:bodyPr>
          <a:p>
            <a:pPr indent="0" algn="ctr">
              <a:lnSpc>
                <a:spcPct val="100000"/>
              </a:lnSpc>
              <a:buNone/>
              <a:tabLst>
                <a:tab algn="l" pos="0"/>
              </a:tabLst>
            </a:pPr>
            <a:r>
              <a:rPr b="0" lang="en-US" sz="3000" strike="noStrike" u="none">
                <a:solidFill>
                  <a:srgbClr val="ffffff"/>
                </a:solidFill>
                <a:effectLst/>
                <a:uFillTx/>
                <a:latin typeface="Arial"/>
              </a:rPr>
              <a:t>SHapley Additive exPlanations</a:t>
            </a:r>
            <a:r>
              <a:rPr b="0" lang="en-US" sz="4400" strike="noStrike" u="none">
                <a:solidFill>
                  <a:srgbClr val="ffffff"/>
                </a:solidFill>
                <a:effectLst/>
                <a:uFillTx/>
                <a:latin typeface="Arial"/>
              </a:rPr>
              <a:t> </a:t>
            </a:r>
            <a:endParaRPr b="0" lang="en-US" sz="4400" strike="noStrike" u="none">
              <a:solidFill>
                <a:srgbClr val="000000"/>
              </a:solidFill>
              <a:effectLst/>
              <a:uFillTx/>
              <a:latin typeface="Arial"/>
            </a:endParaRPr>
          </a:p>
        </p:txBody>
      </p:sp>
      <p:sp>
        <p:nvSpPr>
          <p:cNvPr id="132" name="PlaceHolder 2"/>
          <p:cNvSpPr>
            <a:spLocks noGrp="1"/>
          </p:cNvSpPr>
          <p:nvPr>
            <p:ph/>
          </p:nvPr>
        </p:nvSpPr>
        <p:spPr>
          <a:xfrm>
            <a:off x="457200" y="1143000"/>
            <a:ext cx="9342720" cy="358272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b="0" lang="en-US" sz="1600" strike="noStrike" u="none">
                <a:solidFill>
                  <a:srgbClr val="000000"/>
                </a:solidFill>
                <a:effectLst/>
                <a:uFillTx/>
                <a:latin typeface="Arial"/>
              </a:rPr>
              <a:t>Tells you how much each feature contributes to the model’s prediction – positively or negatively – for each individual observation</a:t>
            </a:r>
            <a:endParaRPr b="0" lang="en-US" sz="1600" strike="noStrike" u="none">
              <a:solidFill>
                <a:srgbClr val="000000"/>
              </a:solidFill>
              <a:effectLst/>
              <a:uFillTx/>
              <a:latin typeface="Arial"/>
            </a:endParaRPr>
          </a:p>
          <a:p>
            <a:pPr marL="432000" indent="-324000">
              <a:lnSpc>
                <a:spcPct val="100000"/>
              </a:lnSpc>
              <a:spcBef>
                <a:spcPts val="1417"/>
              </a:spcBef>
              <a:buClr>
                <a:srgbClr val="000000"/>
              </a:buClr>
              <a:buSzPct val="45000"/>
              <a:buFont typeface="Wingdings" charset="2"/>
              <a:buChar char=""/>
            </a:pPr>
            <a:r>
              <a:rPr b="0" lang="en-US" sz="1600" strike="noStrike" u="none">
                <a:solidFill>
                  <a:srgbClr val="000000"/>
                </a:solidFill>
                <a:effectLst/>
                <a:uFillTx/>
                <a:latin typeface="Arial"/>
              </a:rPr>
              <a:t>SHAP is based on Shapley values from cooperative game theory.</a:t>
            </a:r>
            <a:endParaRPr b="0" lang="en-US" sz="1600" strike="noStrike" u="none">
              <a:solidFill>
                <a:srgbClr val="000000"/>
              </a:solidFill>
              <a:effectLst/>
              <a:uFillTx/>
              <a:latin typeface="Arial"/>
            </a:endParaRPr>
          </a:p>
          <a:p>
            <a:pPr lvl="1" marL="864000" indent="-324000">
              <a:lnSpc>
                <a:spcPct val="100000"/>
              </a:lnSpc>
              <a:spcBef>
                <a:spcPts val="1134"/>
              </a:spcBef>
              <a:buClr>
                <a:srgbClr val="000000"/>
              </a:buClr>
              <a:buSzPct val="75000"/>
              <a:buFont typeface="Symbol" charset="2"/>
              <a:buChar char=""/>
            </a:pPr>
            <a:r>
              <a:rPr b="0" lang="en-US" sz="1600" strike="noStrike" u="none">
                <a:solidFill>
                  <a:srgbClr val="000000"/>
                </a:solidFill>
                <a:effectLst/>
                <a:uFillTx/>
                <a:latin typeface="Arial"/>
              </a:rPr>
              <a:t>In a “game” (the prediction), each “player” (feature) contributes some amount. SHAP assigns fair contributions according to each player’s role across all possible combinations (coalitions).</a:t>
            </a:r>
            <a:endParaRPr b="0" lang="en-US" sz="1600" strike="noStrike" u="none">
              <a:solidFill>
                <a:srgbClr val="000000"/>
              </a:solidFill>
              <a:effectLst/>
              <a:uFillTx/>
              <a:latin typeface="Arial"/>
            </a:endParaRPr>
          </a:p>
          <a:p>
            <a:pPr marL="432000" indent="-324000">
              <a:lnSpc>
                <a:spcPct val="100000"/>
              </a:lnSpc>
              <a:spcBef>
                <a:spcPts val="1417"/>
              </a:spcBef>
              <a:buClr>
                <a:srgbClr val="000000"/>
              </a:buClr>
              <a:buSzPct val="45000"/>
              <a:buFont typeface="Wingdings" charset="2"/>
              <a:buChar char=""/>
            </a:pPr>
            <a:r>
              <a:rPr b="0" lang="en-US" sz="1600" strike="noStrike" u="none">
                <a:solidFill>
                  <a:srgbClr val="000000"/>
                </a:solidFill>
                <a:effectLst/>
                <a:uFillTx/>
                <a:latin typeface="Arial"/>
              </a:rPr>
              <a:t>SHAP values go from negative to positive.</a:t>
            </a:r>
            <a:endParaRPr b="0" lang="en-US" sz="1600" strike="noStrike" u="none">
              <a:solidFill>
                <a:srgbClr val="000000"/>
              </a:solidFill>
              <a:effectLst/>
              <a:uFillTx/>
              <a:latin typeface="Arial"/>
            </a:endParaRPr>
          </a:p>
          <a:p>
            <a:pPr lvl="1" marL="864000" indent="-324000">
              <a:lnSpc>
                <a:spcPct val="100000"/>
              </a:lnSpc>
              <a:spcBef>
                <a:spcPts val="1134"/>
              </a:spcBef>
              <a:buClr>
                <a:srgbClr val="000000"/>
              </a:buClr>
              <a:buSzPct val="75000"/>
              <a:buFont typeface="Symbol" charset="2"/>
              <a:buChar char=""/>
            </a:pPr>
            <a:r>
              <a:rPr b="0" lang="en-US" sz="1600" strike="noStrike" u="none">
                <a:solidFill>
                  <a:srgbClr val="000000"/>
                </a:solidFill>
                <a:effectLst/>
                <a:uFillTx/>
                <a:latin typeface="Arial"/>
              </a:rPr>
              <a:t>SHAP&gt;0: feature increases the model’s prediction for the outcome i.e., T2DM risk</a:t>
            </a:r>
            <a:endParaRPr b="0" lang="en-US" sz="1600" strike="noStrike" u="none">
              <a:solidFill>
                <a:srgbClr val="000000"/>
              </a:solidFill>
              <a:effectLst/>
              <a:uFillTx/>
              <a:latin typeface="Arial"/>
            </a:endParaRPr>
          </a:p>
          <a:p>
            <a:pPr lvl="1" marL="864000" indent="-324000">
              <a:lnSpc>
                <a:spcPct val="100000"/>
              </a:lnSpc>
              <a:spcBef>
                <a:spcPts val="1134"/>
              </a:spcBef>
              <a:buClr>
                <a:srgbClr val="000000"/>
              </a:buClr>
              <a:buSzPct val="75000"/>
              <a:buFont typeface="Symbol" charset="2"/>
              <a:buChar char=""/>
            </a:pPr>
            <a:r>
              <a:rPr b="0" lang="en-US" sz="1600" strike="noStrike" u="none">
                <a:solidFill>
                  <a:srgbClr val="000000"/>
                </a:solidFill>
                <a:effectLst/>
                <a:uFillTx/>
                <a:latin typeface="Arial"/>
              </a:rPr>
              <a:t>SHAP&lt;0: feature decreases the model’s prediction for the outcome</a:t>
            </a:r>
            <a:endParaRPr b="0" lang="en-US" sz="1600" strike="noStrike" u="none">
              <a:solidFill>
                <a:srgbClr val="000000"/>
              </a:solidFill>
              <a:effectLst/>
              <a:uFillTx/>
              <a:latin typeface="Arial"/>
            </a:endParaRPr>
          </a:p>
          <a:p>
            <a:pPr lvl="1" marL="864000" indent="-324000">
              <a:lnSpc>
                <a:spcPct val="100000"/>
              </a:lnSpc>
              <a:spcBef>
                <a:spcPts val="1134"/>
              </a:spcBef>
              <a:buClr>
                <a:srgbClr val="000000"/>
              </a:buClr>
              <a:buSzPct val="75000"/>
              <a:buFont typeface="Symbol" charset="2"/>
              <a:buChar char=""/>
            </a:pPr>
            <a:r>
              <a:rPr b="0" lang="en-US" sz="1600" strike="noStrike" u="none">
                <a:solidFill>
                  <a:srgbClr val="000000"/>
                </a:solidFill>
                <a:effectLst/>
                <a:uFillTx/>
                <a:latin typeface="Arial"/>
              </a:rPr>
              <a:t>SHAP=0: feature has no effect on the model’s prediction for the outcome</a:t>
            </a:r>
            <a:endParaRPr b="0" lang="en-US" sz="1600" strike="noStrike" u="none">
              <a:solidFill>
                <a:srgbClr val="000000"/>
              </a:solidFill>
              <a:effectLst/>
              <a:uFillTx/>
              <a:latin typeface="Arial"/>
            </a:endParaRPr>
          </a:p>
        </p:txBody>
      </p:sp>
      <p:sp>
        <p:nvSpPr>
          <p:cNvPr id="4" name="PlaceHolder 3"/>
          <p:cNvSpPr>
            <a:spLocks noGrp="1"/>
          </p:cNvSpPr>
          <p:nvPr>
            <p:ph type="sldNum" idx="11"/>
          </p:nvPr>
        </p:nvSpPr>
        <p:spPr/>
        <p:txBody>
          <a:bodyPr/>
          <a:p>
            <a:fld id="{2D76BB87-1EE3-4056-A0DF-61D21507B34F}" type="slidenum">
              <a:t>13</a:t>
            </a:fld>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3" name="PlaceHolder 1"/>
          <p:cNvSpPr>
            <a:spLocks noGrp="1"/>
          </p:cNvSpPr>
          <p:nvPr>
            <p:ph type="title"/>
          </p:nvPr>
        </p:nvSpPr>
        <p:spPr>
          <a:xfrm>
            <a:off x="360000" y="68400"/>
            <a:ext cx="9342720" cy="684720"/>
          </a:xfrm>
          <a:prstGeom prst="rect">
            <a:avLst/>
          </a:prstGeom>
          <a:noFill/>
          <a:ln w="0">
            <a:noFill/>
          </a:ln>
        </p:spPr>
        <p:txBody>
          <a:bodyPr lIns="0" rIns="0" tIns="0" bIns="0" anchor="ctr">
            <a:spAutoFit/>
          </a:bodyPr>
          <a:p>
            <a:pPr indent="0" algn="ctr">
              <a:lnSpc>
                <a:spcPct val="100000"/>
              </a:lnSpc>
              <a:buNone/>
              <a:tabLst>
                <a:tab algn="l" pos="0"/>
              </a:tabLst>
            </a:pPr>
            <a:r>
              <a:rPr b="0" lang="en-US" sz="3000" strike="noStrike" u="none">
                <a:solidFill>
                  <a:srgbClr val="ffffff"/>
                </a:solidFill>
                <a:effectLst/>
                <a:uFillTx/>
                <a:latin typeface="Arial"/>
              </a:rPr>
              <a:t>Elastic Net: SHAP values</a:t>
            </a:r>
            <a:endParaRPr b="0" lang="en-US" sz="3000" strike="noStrike" u="none">
              <a:solidFill>
                <a:srgbClr val="000000"/>
              </a:solidFill>
              <a:effectLst/>
              <a:uFillTx/>
              <a:latin typeface="Arial"/>
            </a:endParaRPr>
          </a:p>
        </p:txBody>
      </p:sp>
      <p:sp>
        <p:nvSpPr>
          <p:cNvPr id="134" name=""/>
          <p:cNvSpPr/>
          <p:nvPr/>
        </p:nvSpPr>
        <p:spPr>
          <a:xfrm>
            <a:off x="6629400" y="1046880"/>
            <a:ext cx="3413880" cy="3664440"/>
          </a:xfrm>
          <a:prstGeom prst="rect">
            <a:avLst/>
          </a:prstGeom>
          <a:noFill/>
          <a:ln w="0">
            <a:noFill/>
          </a:ln>
        </p:spPr>
        <p:style>
          <a:lnRef idx="0"/>
          <a:fillRef idx="0"/>
          <a:effectRef idx="0"/>
          <a:fontRef idx="minor"/>
        </p:style>
        <p:txBody>
          <a:bodyPr lIns="90000" rIns="90000" tIns="45000" bIns="45000" anchor="t">
            <a:spAutoFit/>
          </a:bodyPr>
          <a:p>
            <a:pPr marL="216000" indent="-216000">
              <a:lnSpc>
                <a:spcPct val="100000"/>
              </a:lnSpc>
              <a:spcBef>
                <a:spcPts val="1191"/>
              </a:spcBef>
              <a:spcAft>
                <a:spcPts val="992"/>
              </a:spcAft>
              <a:buClr>
                <a:srgbClr val="000000"/>
              </a:buClr>
              <a:buSzPct val="45000"/>
              <a:buFont typeface="Wingdings" charset="2"/>
              <a:buChar char=""/>
            </a:pPr>
            <a:r>
              <a:rPr b="0" lang="en-US" sz="1200" strike="noStrike" u="none">
                <a:solidFill>
                  <a:srgbClr val="000000"/>
                </a:solidFill>
                <a:effectLst/>
                <a:uFillTx/>
                <a:latin typeface="Arial"/>
                <a:ea typeface="DejaVu Sans"/>
              </a:rPr>
              <a:t>This is a SHAP (SHapley Additive exPlanations) summary plot showing the distribution of SHAP values for the 20 most impactful metabolites in an elastic-net model. Each violin plot represents the range and density of SHAP values, i.e., how much a feature influences the model prediction in log-odds across all samples. </a:t>
            </a:r>
            <a:endParaRPr b="0" lang="en-US" sz="1200" strike="noStrike" u="none">
              <a:solidFill>
                <a:srgbClr val="000000"/>
              </a:solidFill>
              <a:effectLst/>
              <a:uFillTx/>
              <a:latin typeface="Arial"/>
            </a:endParaRPr>
          </a:p>
          <a:p>
            <a:pPr marL="216000" indent="-216000">
              <a:lnSpc>
                <a:spcPct val="100000"/>
              </a:lnSpc>
              <a:spcBef>
                <a:spcPts val="1191"/>
              </a:spcBef>
              <a:spcAft>
                <a:spcPts val="992"/>
              </a:spcAft>
              <a:buClr>
                <a:srgbClr val="000000"/>
              </a:buClr>
              <a:buSzPct val="45000"/>
              <a:buFont typeface="Wingdings" charset="2"/>
              <a:buChar char=""/>
            </a:pPr>
            <a:r>
              <a:rPr b="0" lang="en-US" sz="1200" strike="noStrike" u="none">
                <a:solidFill>
                  <a:srgbClr val="000000"/>
                </a:solidFill>
                <a:effectLst/>
                <a:uFillTx/>
                <a:latin typeface="Arial"/>
                <a:ea typeface="DejaVu Sans"/>
              </a:rPr>
              <a:t>Valine and Sphingomyelin (SM (38:1)) mostly push the prediction toward T2DM.</a:t>
            </a:r>
            <a:endParaRPr b="0" lang="en-US" sz="1200" strike="noStrike" u="none">
              <a:solidFill>
                <a:srgbClr val="000000"/>
              </a:solidFill>
              <a:effectLst/>
              <a:uFillTx/>
              <a:latin typeface="Arial"/>
            </a:endParaRPr>
          </a:p>
          <a:p>
            <a:pPr marL="216000" indent="-216000">
              <a:lnSpc>
                <a:spcPct val="100000"/>
              </a:lnSpc>
              <a:spcBef>
                <a:spcPts val="1191"/>
              </a:spcBef>
              <a:spcAft>
                <a:spcPts val="992"/>
              </a:spcAft>
              <a:buClr>
                <a:srgbClr val="000000"/>
              </a:buClr>
              <a:buSzPct val="45000"/>
              <a:buFont typeface="Wingdings" charset="2"/>
              <a:buChar char=""/>
            </a:pPr>
            <a:r>
              <a:rPr b="0" lang="en-US" sz="1200" strike="noStrike" u="none">
                <a:solidFill>
                  <a:srgbClr val="000000"/>
                </a:solidFill>
                <a:effectLst/>
                <a:uFillTx/>
                <a:latin typeface="Arial"/>
                <a:ea typeface="DejaVu Sans"/>
              </a:rPr>
              <a:t>Triacylglycerol (TAG (52:3-16:1)) mostly pushes the prediction toward Healthy</a:t>
            </a:r>
            <a:endParaRPr b="0" lang="en-US" sz="1200" strike="noStrike" u="none">
              <a:solidFill>
                <a:srgbClr val="000000"/>
              </a:solidFill>
              <a:effectLst/>
              <a:uFillTx/>
              <a:latin typeface="Arial"/>
            </a:endParaRPr>
          </a:p>
          <a:p>
            <a:pPr marL="216000" indent="-216000">
              <a:lnSpc>
                <a:spcPct val="100000"/>
              </a:lnSpc>
              <a:spcBef>
                <a:spcPts val="1191"/>
              </a:spcBef>
              <a:spcAft>
                <a:spcPts val="992"/>
              </a:spcAft>
              <a:buClr>
                <a:srgbClr val="000000"/>
              </a:buClr>
              <a:buSzPct val="45000"/>
              <a:buFont typeface="Wingdings" charset="2"/>
              <a:buChar char=""/>
            </a:pPr>
            <a:r>
              <a:rPr b="0" lang="en-US" sz="1200" strike="noStrike" u="none">
                <a:solidFill>
                  <a:srgbClr val="000000"/>
                </a:solidFill>
                <a:effectLst/>
                <a:uFillTx/>
                <a:latin typeface="Arial"/>
                <a:ea typeface="DejaVu Sans"/>
              </a:rPr>
              <a:t>Sphingomyelin (SM (36:1)), and phosphatidylcholine (PC (40:5))  push the prediction towards Healthy or T2DM</a:t>
            </a:r>
            <a:endParaRPr b="0" lang="en-US" sz="1200" strike="noStrike" u="none">
              <a:solidFill>
                <a:srgbClr val="000000"/>
              </a:solidFill>
              <a:effectLst/>
              <a:uFillTx/>
              <a:latin typeface="Arial"/>
            </a:endParaRPr>
          </a:p>
        </p:txBody>
      </p:sp>
      <p:pic>
        <p:nvPicPr>
          <p:cNvPr id="135" name="" descr=""/>
          <p:cNvPicPr/>
          <p:nvPr/>
        </p:nvPicPr>
        <p:blipFill>
          <a:blip r:embed="rId1"/>
          <a:stretch/>
        </p:blipFill>
        <p:spPr>
          <a:xfrm>
            <a:off x="0" y="753120"/>
            <a:ext cx="6622920" cy="4906080"/>
          </a:xfrm>
          <a:prstGeom prst="rect">
            <a:avLst/>
          </a:prstGeom>
          <a:noFill/>
          <a:ln w="0">
            <a:noFill/>
          </a:ln>
        </p:spPr>
      </p:pic>
      <p:sp>
        <p:nvSpPr>
          <p:cNvPr id="3" name="PlaceHolder 2"/>
          <p:cNvSpPr>
            <a:spLocks noGrp="1"/>
          </p:cNvSpPr>
          <p:nvPr>
            <p:ph type="sldNum" idx="11"/>
          </p:nvPr>
        </p:nvSpPr>
        <p:spPr/>
        <p:txBody>
          <a:bodyPr/>
          <a:p>
            <a:fld id="{67775B6D-D091-4B16-9F38-8ECC0481B063}" type="slidenum">
              <a:t>14</a:t>
            </a:fld>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6" name="PlaceHolder 1"/>
          <p:cNvSpPr>
            <a:spLocks noGrp="1"/>
          </p:cNvSpPr>
          <p:nvPr>
            <p:ph type="title"/>
          </p:nvPr>
        </p:nvSpPr>
        <p:spPr>
          <a:xfrm>
            <a:off x="360000" y="68400"/>
            <a:ext cx="9342720" cy="684720"/>
          </a:xfrm>
          <a:prstGeom prst="rect">
            <a:avLst/>
          </a:prstGeom>
          <a:noFill/>
          <a:ln w="0">
            <a:noFill/>
          </a:ln>
        </p:spPr>
        <p:txBody>
          <a:bodyPr lIns="0" rIns="0" tIns="0" bIns="0" anchor="ctr">
            <a:spAutoFit/>
          </a:bodyPr>
          <a:p>
            <a:pPr indent="0" algn="ctr">
              <a:lnSpc>
                <a:spcPct val="100000"/>
              </a:lnSpc>
              <a:buNone/>
              <a:tabLst>
                <a:tab algn="l" pos="0"/>
              </a:tabLst>
            </a:pPr>
            <a:r>
              <a:rPr b="0" lang="en-US" sz="3000" strike="noStrike" u="none">
                <a:solidFill>
                  <a:srgbClr val="ffffff"/>
                </a:solidFill>
                <a:effectLst/>
                <a:uFillTx/>
                <a:latin typeface="Arial"/>
              </a:rPr>
              <a:t>Elastic Net: SHAP Values</a:t>
            </a:r>
            <a:endParaRPr b="0" lang="en-US" sz="3000" strike="noStrike" u="none">
              <a:solidFill>
                <a:srgbClr val="000000"/>
              </a:solidFill>
              <a:effectLst/>
              <a:uFillTx/>
              <a:latin typeface="Arial"/>
            </a:endParaRPr>
          </a:p>
        </p:txBody>
      </p:sp>
      <p:sp>
        <p:nvSpPr>
          <p:cNvPr id="137" name=""/>
          <p:cNvSpPr/>
          <p:nvPr/>
        </p:nvSpPr>
        <p:spPr>
          <a:xfrm>
            <a:off x="5953680" y="1316160"/>
            <a:ext cx="3871800" cy="3210120"/>
          </a:xfrm>
          <a:prstGeom prst="rect">
            <a:avLst/>
          </a:prstGeom>
          <a:noFill/>
          <a:ln w="0">
            <a:noFill/>
          </a:ln>
        </p:spPr>
        <p:style>
          <a:lnRef idx="0"/>
          <a:fillRef idx="0"/>
          <a:effectRef idx="0"/>
          <a:fontRef idx="minor"/>
        </p:style>
        <p:txBody>
          <a:bodyPr lIns="90000" rIns="90000" tIns="45000" bIns="45000" anchor="t">
            <a:spAutoFit/>
          </a:bodyPr>
          <a:p>
            <a:pPr marL="216000" indent="-216000" defTabSz="914400">
              <a:lnSpc>
                <a:spcPct val="100000"/>
              </a:lnSpc>
              <a:spcBef>
                <a:spcPts val="1191"/>
              </a:spcBef>
              <a:spcAft>
                <a:spcPts val="992"/>
              </a:spcAft>
              <a:buClr>
                <a:srgbClr val="000000"/>
              </a:buClr>
              <a:buSzPct val="45000"/>
              <a:buFont typeface="Wingdings" charset="2"/>
              <a:buChar char=""/>
            </a:pPr>
            <a:r>
              <a:rPr b="0" lang="en-US" sz="1200" strike="noStrike" u="none">
                <a:solidFill>
                  <a:srgbClr val="000000"/>
                </a:solidFill>
                <a:effectLst/>
                <a:uFillTx/>
                <a:latin typeface="Arial"/>
                <a:ea typeface="DejaVu Sans"/>
              </a:rPr>
              <a:t>Bees-warm plot showing how each metabolite influences the model’s output across all samples. </a:t>
            </a:r>
            <a:endParaRPr b="0" lang="en-US" sz="1200" strike="noStrike" u="none">
              <a:solidFill>
                <a:srgbClr val="000000"/>
              </a:solidFill>
              <a:effectLst/>
              <a:uFillTx/>
              <a:latin typeface="Arial"/>
            </a:endParaRPr>
          </a:p>
          <a:p>
            <a:pPr marL="216000" indent="-216000" defTabSz="914400">
              <a:lnSpc>
                <a:spcPct val="100000"/>
              </a:lnSpc>
              <a:spcBef>
                <a:spcPts val="1191"/>
              </a:spcBef>
              <a:spcAft>
                <a:spcPts val="992"/>
              </a:spcAft>
              <a:buClr>
                <a:srgbClr val="000000"/>
              </a:buClr>
              <a:buSzPct val="45000"/>
              <a:buFont typeface="Wingdings" charset="2"/>
              <a:buChar char=""/>
            </a:pPr>
            <a:r>
              <a:rPr b="0" lang="en-US" sz="1200" strike="noStrike" u="none">
                <a:solidFill>
                  <a:srgbClr val="000000"/>
                </a:solidFill>
                <a:effectLst/>
                <a:uFillTx/>
                <a:latin typeface="Arial"/>
                <a:ea typeface="DejaVu Sans"/>
              </a:rPr>
              <a:t>Fumaric acid, phosphocholine (PC (38:2)), and Valine contribute most to variation in predictions. </a:t>
            </a:r>
            <a:endParaRPr b="0" lang="en-US" sz="1200" strike="noStrike" u="none">
              <a:solidFill>
                <a:srgbClr val="000000"/>
              </a:solidFill>
              <a:effectLst/>
              <a:uFillTx/>
              <a:latin typeface="Arial"/>
            </a:endParaRPr>
          </a:p>
          <a:p>
            <a:pPr marL="216000" indent="-216000" defTabSz="914400">
              <a:lnSpc>
                <a:spcPct val="100000"/>
              </a:lnSpc>
              <a:spcBef>
                <a:spcPts val="1191"/>
              </a:spcBef>
              <a:spcAft>
                <a:spcPts val="992"/>
              </a:spcAft>
              <a:buClr>
                <a:srgbClr val="000000"/>
              </a:buClr>
              <a:buSzPct val="45000"/>
              <a:buFont typeface="Wingdings" charset="2"/>
              <a:buChar char=""/>
            </a:pPr>
            <a:r>
              <a:rPr b="0" lang="en-US" sz="1200" strike="noStrike" u="none">
                <a:solidFill>
                  <a:srgbClr val="000000"/>
                </a:solidFill>
                <a:effectLst/>
                <a:uFillTx/>
                <a:latin typeface="Arial"/>
                <a:ea typeface="DejaVu Sans"/>
              </a:rPr>
              <a:t>For some metabolites, high levels (orange) are on the negative SHAP values — e.g., phosphocholine (PC (38:2)), triacylglyceron (TAG (52:4-16:1)).</a:t>
            </a:r>
            <a:endParaRPr b="0" lang="en-US" sz="1200" strike="noStrike" u="none">
              <a:solidFill>
                <a:srgbClr val="000000"/>
              </a:solidFill>
              <a:effectLst/>
              <a:uFillTx/>
              <a:latin typeface="Arial"/>
            </a:endParaRPr>
          </a:p>
          <a:p>
            <a:pPr marL="216000" indent="-216000" defTabSz="914400">
              <a:lnSpc>
                <a:spcPct val="100000"/>
              </a:lnSpc>
              <a:spcBef>
                <a:spcPts val="1191"/>
              </a:spcBef>
              <a:spcAft>
                <a:spcPts val="992"/>
              </a:spcAft>
              <a:buClr>
                <a:srgbClr val="000000"/>
              </a:buClr>
              <a:buSzPct val="45000"/>
              <a:buFont typeface="Wingdings" charset="2"/>
              <a:buChar char=""/>
            </a:pPr>
            <a:r>
              <a:rPr b="0" lang="en-US" sz="1200" strike="noStrike" u="none">
                <a:solidFill>
                  <a:srgbClr val="000000"/>
                </a:solidFill>
                <a:effectLst/>
                <a:uFillTx/>
                <a:latin typeface="Arial"/>
                <a:ea typeface="DejaVu Sans"/>
              </a:rPr>
              <a:t>For others, high levels (orange) are on the positive SHAP values — e.g., Fumaric acid.</a:t>
            </a:r>
            <a:endParaRPr b="0" lang="en-US" sz="1200" strike="noStrike" u="none">
              <a:solidFill>
                <a:srgbClr val="000000"/>
              </a:solidFill>
              <a:effectLst/>
              <a:uFillTx/>
              <a:latin typeface="Arial"/>
            </a:endParaRPr>
          </a:p>
          <a:p>
            <a:pPr marL="216000" indent="-216000" defTabSz="914400">
              <a:lnSpc>
                <a:spcPct val="100000"/>
              </a:lnSpc>
              <a:spcBef>
                <a:spcPts val="1191"/>
              </a:spcBef>
              <a:spcAft>
                <a:spcPts val="992"/>
              </a:spcAft>
              <a:buClr>
                <a:srgbClr val="000000"/>
              </a:buClr>
              <a:buSzPct val="45000"/>
              <a:buFont typeface="Wingdings" charset="2"/>
              <a:buChar char=""/>
            </a:pPr>
            <a:r>
              <a:rPr b="0" lang="en-US" sz="1200" strike="noStrike" u="none">
                <a:solidFill>
                  <a:srgbClr val="000000"/>
                </a:solidFill>
                <a:effectLst/>
                <a:uFillTx/>
                <a:latin typeface="Arial"/>
                <a:ea typeface="DejaVu Sans"/>
              </a:rPr>
              <a:t>Sphingomyelin (SM (38:1)) and Glycolate show mixed effects</a:t>
            </a:r>
            <a:endParaRPr b="0" lang="en-US" sz="1200" strike="noStrike" u="none">
              <a:solidFill>
                <a:srgbClr val="000000"/>
              </a:solidFill>
              <a:effectLst/>
              <a:uFillTx/>
              <a:latin typeface="Arial"/>
            </a:endParaRPr>
          </a:p>
        </p:txBody>
      </p:sp>
      <p:pic>
        <p:nvPicPr>
          <p:cNvPr id="138" name="" descr=""/>
          <p:cNvPicPr/>
          <p:nvPr/>
        </p:nvPicPr>
        <p:blipFill>
          <a:blip r:embed="rId1"/>
          <a:stretch/>
        </p:blipFill>
        <p:spPr>
          <a:xfrm>
            <a:off x="0" y="753120"/>
            <a:ext cx="5937120" cy="4906080"/>
          </a:xfrm>
          <a:prstGeom prst="rect">
            <a:avLst/>
          </a:prstGeom>
          <a:noFill/>
          <a:ln w="0">
            <a:noFill/>
          </a:ln>
        </p:spPr>
      </p:pic>
      <p:sp>
        <p:nvSpPr>
          <p:cNvPr id="3" name="PlaceHolder 2"/>
          <p:cNvSpPr>
            <a:spLocks noGrp="1"/>
          </p:cNvSpPr>
          <p:nvPr>
            <p:ph type="sldNum" idx="11"/>
          </p:nvPr>
        </p:nvSpPr>
        <p:spPr/>
        <p:txBody>
          <a:bodyPr/>
          <a:p>
            <a:fld id="{699F1860-DDF9-4B15-887A-A8B4DDC2A8F6}" type="slidenum">
              <a:t>15</a:t>
            </a:fld>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9" name="PlaceHolder 1"/>
          <p:cNvSpPr>
            <a:spLocks noGrp="1"/>
          </p:cNvSpPr>
          <p:nvPr>
            <p:ph type="title"/>
          </p:nvPr>
        </p:nvSpPr>
        <p:spPr>
          <a:xfrm>
            <a:off x="360000" y="174240"/>
            <a:ext cx="9342720" cy="472320"/>
          </a:xfrm>
          <a:prstGeom prst="rect">
            <a:avLst/>
          </a:prstGeom>
          <a:noFill/>
          <a:ln w="0">
            <a:noFill/>
          </a:ln>
        </p:spPr>
        <p:txBody>
          <a:bodyPr lIns="0" rIns="0" tIns="0" bIns="0" anchor="ctr">
            <a:spAutoFit/>
          </a:bodyPr>
          <a:p>
            <a:pPr indent="0" algn="ctr">
              <a:lnSpc>
                <a:spcPct val="100000"/>
              </a:lnSpc>
              <a:buNone/>
              <a:tabLst>
                <a:tab algn="l" pos="0"/>
              </a:tabLst>
            </a:pPr>
            <a:r>
              <a:rPr b="0" lang="en-US" sz="3000" strike="noStrike" u="none">
                <a:solidFill>
                  <a:srgbClr val="ffffff"/>
                </a:solidFill>
                <a:effectLst/>
                <a:uFillTx/>
                <a:latin typeface="Arial"/>
              </a:rPr>
              <a:t>Elastic Net: Differences Between Samples</a:t>
            </a:r>
            <a:endParaRPr b="0" lang="en-US" sz="3000" strike="noStrike" u="none">
              <a:solidFill>
                <a:srgbClr val="000000"/>
              </a:solidFill>
              <a:effectLst/>
              <a:uFillTx/>
              <a:latin typeface="Arial"/>
            </a:endParaRPr>
          </a:p>
        </p:txBody>
      </p:sp>
      <p:sp>
        <p:nvSpPr>
          <p:cNvPr id="140" name="PlaceHolder 2"/>
          <p:cNvSpPr>
            <a:spLocks noGrp="1"/>
          </p:cNvSpPr>
          <p:nvPr>
            <p:ph/>
          </p:nvPr>
        </p:nvSpPr>
        <p:spPr>
          <a:xfrm>
            <a:off x="254160" y="1600200"/>
            <a:ext cx="9342720" cy="319464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b="0" lang="en-US" sz="2500" strike="noStrike" u="none">
                <a:solidFill>
                  <a:srgbClr val="000000"/>
                </a:solidFill>
                <a:effectLst/>
                <a:uFillTx/>
                <a:latin typeface="Arial"/>
              </a:rPr>
              <a:t>H</a:t>
            </a:r>
            <a:r>
              <a:rPr b="0" lang="en-US" sz="2500" strike="noStrike" u="none" baseline="-8000">
                <a:solidFill>
                  <a:srgbClr val="000000"/>
                </a:solidFill>
                <a:effectLst/>
                <a:uFillTx/>
                <a:latin typeface="Arial"/>
              </a:rPr>
              <a:t>0</a:t>
            </a:r>
            <a:r>
              <a:rPr b="0" lang="en-US" sz="2500" strike="noStrike" u="none">
                <a:solidFill>
                  <a:srgbClr val="000000"/>
                </a:solidFill>
                <a:effectLst/>
                <a:uFillTx/>
                <a:latin typeface="Arial"/>
              </a:rPr>
              <a:t>: no difference in SHAP values between Healthy and Type 2 diabetic subjects</a:t>
            </a:r>
            <a:br>
              <a:rPr sz="2500"/>
            </a:br>
            <a:r>
              <a:rPr b="0" lang="en-US" sz="2500" strike="noStrike" u="none">
                <a:solidFill>
                  <a:srgbClr val="000000"/>
                </a:solidFill>
                <a:effectLst/>
                <a:uFillTx/>
                <a:latin typeface="Arial"/>
              </a:rPr>
              <a:t>H</a:t>
            </a:r>
            <a:r>
              <a:rPr b="0" lang="en-US" sz="2500" strike="noStrike" u="none" baseline="-8000">
                <a:solidFill>
                  <a:srgbClr val="000000"/>
                </a:solidFill>
                <a:effectLst/>
                <a:uFillTx/>
                <a:latin typeface="Arial"/>
              </a:rPr>
              <a:t>A</a:t>
            </a:r>
            <a:r>
              <a:rPr b="0" lang="en-US" sz="2500" strike="noStrike" u="none">
                <a:solidFill>
                  <a:srgbClr val="000000"/>
                </a:solidFill>
                <a:effectLst/>
                <a:uFillTx/>
                <a:latin typeface="Arial"/>
              </a:rPr>
              <a:t>: difference in SHAP values between Healthy and Type 2 diabetic subjects</a:t>
            </a:r>
            <a:endParaRPr b="0" lang="en-US" sz="2500" strike="noStrike" u="none">
              <a:solidFill>
                <a:srgbClr val="000000"/>
              </a:solidFill>
              <a:effectLst/>
              <a:uFillTx/>
              <a:latin typeface="Arial"/>
            </a:endParaRPr>
          </a:p>
          <a:p>
            <a:pPr marL="432000" indent="-324000">
              <a:lnSpc>
                <a:spcPct val="100000"/>
              </a:lnSpc>
              <a:spcBef>
                <a:spcPts val="1417"/>
              </a:spcBef>
              <a:buClr>
                <a:srgbClr val="000000"/>
              </a:buClr>
              <a:buSzPct val="45000"/>
              <a:buFont typeface="Wingdings" charset="2"/>
              <a:buChar char=""/>
            </a:pPr>
            <a:r>
              <a:rPr b="0" lang="en-US" sz="2500" strike="noStrike" u="none">
                <a:solidFill>
                  <a:srgbClr val="000000"/>
                </a:solidFill>
                <a:effectLst/>
                <a:uFillTx/>
                <a:latin typeface="Arial"/>
              </a:rPr>
              <a:t>p-value &lt; 2.2x10</a:t>
            </a:r>
            <a:r>
              <a:rPr b="0" lang="en-US" sz="2500" strike="noStrike" u="none" baseline="33000">
                <a:solidFill>
                  <a:srgbClr val="000000"/>
                </a:solidFill>
                <a:effectLst/>
                <a:uFillTx/>
                <a:latin typeface="Arial"/>
              </a:rPr>
              <a:t>-16</a:t>
            </a:r>
            <a:r>
              <a:rPr b="0" lang="en-US" sz="2500" strike="noStrike" u="none">
                <a:solidFill>
                  <a:srgbClr val="000000"/>
                </a:solidFill>
                <a:effectLst/>
                <a:uFillTx/>
                <a:latin typeface="Arial"/>
              </a:rPr>
              <a:t>, i.e., highly significant difference in SHAP values between Healthy and Type 2 diabetic individuals</a:t>
            </a:r>
            <a:endParaRPr b="0" lang="en-US" sz="2500" strike="noStrike" u="none">
              <a:solidFill>
                <a:srgbClr val="000000"/>
              </a:solidFill>
              <a:effectLst/>
              <a:uFillTx/>
              <a:latin typeface="Arial"/>
            </a:endParaRPr>
          </a:p>
          <a:p>
            <a:pPr marL="432000" indent="0">
              <a:lnSpc>
                <a:spcPct val="100000"/>
              </a:lnSpc>
              <a:spcBef>
                <a:spcPts val="1417"/>
              </a:spcBef>
              <a:buNone/>
              <a:tabLst>
                <a:tab algn="l" pos="0"/>
              </a:tabLst>
            </a:pPr>
            <a:r>
              <a:rPr b="0" lang="en-US" sz="3200" strike="noStrike" u="none">
                <a:solidFill>
                  <a:srgbClr val="000000"/>
                </a:solidFill>
                <a:effectLst/>
                <a:uFillTx/>
                <a:latin typeface="Arial"/>
              </a:rPr>
              <a:t> </a:t>
            </a:r>
            <a:endParaRPr b="0" lang="en-US" sz="3200" strike="noStrike" u="none">
              <a:solidFill>
                <a:srgbClr val="000000"/>
              </a:solidFill>
              <a:effectLst/>
              <a:uFillTx/>
              <a:latin typeface="Arial"/>
            </a:endParaRPr>
          </a:p>
        </p:txBody>
      </p:sp>
      <p:sp>
        <p:nvSpPr>
          <p:cNvPr id="4" name="PlaceHolder 3"/>
          <p:cNvSpPr>
            <a:spLocks noGrp="1"/>
          </p:cNvSpPr>
          <p:nvPr>
            <p:ph type="sldNum" idx="11"/>
          </p:nvPr>
        </p:nvSpPr>
        <p:spPr/>
        <p:txBody>
          <a:bodyPr/>
          <a:p>
            <a:fld id="{01607D0F-40D9-4995-BF59-D29DAC25C6A4}" type="slidenum">
              <a:t>16</a:t>
            </a:fld>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1" name="PlaceHolder 1"/>
          <p:cNvSpPr>
            <a:spLocks noGrp="1"/>
          </p:cNvSpPr>
          <p:nvPr>
            <p:ph type="title"/>
          </p:nvPr>
        </p:nvSpPr>
        <p:spPr>
          <a:xfrm>
            <a:off x="251640" y="-6840"/>
            <a:ext cx="9342720" cy="684720"/>
          </a:xfrm>
          <a:prstGeom prst="rect">
            <a:avLst/>
          </a:prstGeom>
          <a:noFill/>
          <a:ln w="0">
            <a:noFill/>
          </a:ln>
        </p:spPr>
        <p:txBody>
          <a:bodyPr lIns="0" rIns="0" tIns="0" bIns="0" anchor="ctr">
            <a:spAutoFit/>
          </a:bodyPr>
          <a:p>
            <a:pPr indent="0" algn="ctr">
              <a:lnSpc>
                <a:spcPct val="100000"/>
              </a:lnSpc>
              <a:buNone/>
              <a:tabLst>
                <a:tab algn="l" pos="0"/>
              </a:tabLst>
            </a:pPr>
            <a:r>
              <a:rPr b="0" lang="en-US" sz="3000" strike="noStrike" u="none">
                <a:solidFill>
                  <a:srgbClr val="ffffff"/>
                </a:solidFill>
                <a:effectLst/>
                <a:uFillTx/>
                <a:latin typeface="Arial"/>
              </a:rPr>
              <a:t>Elastic Net: Mean(|SHAP|)</a:t>
            </a:r>
            <a:r>
              <a:rPr b="0" lang="en-US" sz="4400" strike="noStrike" u="none">
                <a:solidFill>
                  <a:srgbClr val="ffffff"/>
                </a:solidFill>
                <a:effectLst/>
                <a:uFillTx/>
                <a:latin typeface="Arial"/>
              </a:rPr>
              <a:t> </a:t>
            </a:r>
            <a:endParaRPr b="0" lang="en-US" sz="4400" strike="noStrike" u="none">
              <a:solidFill>
                <a:srgbClr val="000000"/>
              </a:solidFill>
              <a:effectLst/>
              <a:uFillTx/>
              <a:latin typeface="Arial"/>
            </a:endParaRPr>
          </a:p>
        </p:txBody>
      </p:sp>
      <p:sp>
        <p:nvSpPr>
          <p:cNvPr id="142" name=""/>
          <p:cNvSpPr/>
          <p:nvPr/>
        </p:nvSpPr>
        <p:spPr>
          <a:xfrm>
            <a:off x="6172200" y="767520"/>
            <a:ext cx="3871800" cy="4124520"/>
          </a:xfrm>
          <a:prstGeom prst="rect">
            <a:avLst/>
          </a:prstGeom>
          <a:noFill/>
          <a:ln w="0">
            <a:noFill/>
          </a:ln>
        </p:spPr>
        <p:style>
          <a:lnRef idx="0"/>
          <a:fillRef idx="0"/>
          <a:effectRef idx="0"/>
          <a:fontRef idx="minor"/>
        </p:style>
        <p:txBody>
          <a:bodyPr lIns="90000" rIns="90000" tIns="45000" bIns="45000" anchor="t">
            <a:spAutoFit/>
          </a:bodyPr>
          <a:p>
            <a:pPr marL="216000" indent="-216000">
              <a:lnSpc>
                <a:spcPct val="100000"/>
              </a:lnSpc>
              <a:spcBef>
                <a:spcPts val="1191"/>
              </a:spcBef>
              <a:spcAft>
                <a:spcPts val="992"/>
              </a:spcAft>
              <a:buClr>
                <a:srgbClr val="000000"/>
              </a:buClr>
              <a:buSzPct val="45000"/>
              <a:buFont typeface="Wingdings" charset="2"/>
              <a:buChar char=""/>
            </a:pPr>
            <a:r>
              <a:rPr b="0" lang="en-US" sz="1200" strike="noStrike" u="none">
                <a:solidFill>
                  <a:srgbClr val="000000"/>
                </a:solidFill>
                <a:effectLst/>
                <a:uFillTx/>
                <a:latin typeface="Arial"/>
                <a:ea typeface="DejaVu Sans"/>
              </a:rPr>
              <a:t>Bar plot showing the average absolute SHAP value for each metabolite, i.e., its overall importance in the predictive model, regardless of whether its effect increases or decreases the predicted probability.  </a:t>
            </a:r>
            <a:endParaRPr b="0" lang="en-US" sz="1200" strike="noStrike" u="none">
              <a:solidFill>
                <a:srgbClr val="000000"/>
              </a:solidFill>
              <a:effectLst/>
              <a:uFillTx/>
              <a:latin typeface="Arial"/>
            </a:endParaRPr>
          </a:p>
          <a:p>
            <a:pPr marL="216000" indent="-216000">
              <a:lnSpc>
                <a:spcPct val="100000"/>
              </a:lnSpc>
              <a:spcBef>
                <a:spcPts val="1191"/>
              </a:spcBef>
              <a:spcAft>
                <a:spcPts val="992"/>
              </a:spcAft>
              <a:buClr>
                <a:srgbClr val="000000"/>
              </a:buClr>
              <a:buSzPct val="45000"/>
              <a:buFont typeface="Wingdings" charset="2"/>
              <a:buChar char=""/>
            </a:pPr>
            <a:r>
              <a:rPr b="0" lang="en-US" sz="1200" strike="noStrike" u="none">
                <a:solidFill>
                  <a:srgbClr val="000000"/>
                </a:solidFill>
                <a:effectLst/>
                <a:uFillTx/>
                <a:latin typeface="Arial"/>
                <a:ea typeface="DejaVu Sans"/>
              </a:rPr>
              <a:t>Phosphocholine (PC (38:2)) is the most influential metabolite in the model’s predictions. </a:t>
            </a:r>
            <a:endParaRPr b="0" lang="en-US" sz="1200" strike="noStrike" u="none">
              <a:solidFill>
                <a:srgbClr val="000000"/>
              </a:solidFill>
              <a:effectLst/>
              <a:uFillTx/>
              <a:latin typeface="Arial"/>
            </a:endParaRPr>
          </a:p>
          <a:p>
            <a:pPr marL="216000" indent="-216000">
              <a:lnSpc>
                <a:spcPct val="100000"/>
              </a:lnSpc>
              <a:spcBef>
                <a:spcPts val="1191"/>
              </a:spcBef>
              <a:spcAft>
                <a:spcPts val="992"/>
              </a:spcAft>
              <a:buClr>
                <a:srgbClr val="000000"/>
              </a:buClr>
              <a:buSzPct val="45000"/>
              <a:buFont typeface="Wingdings" charset="2"/>
              <a:buChar char=""/>
            </a:pPr>
            <a:r>
              <a:rPr b="0" lang="en-US" sz="1200" strike="noStrike" u="none">
                <a:solidFill>
                  <a:srgbClr val="000000"/>
                </a:solidFill>
                <a:effectLst/>
                <a:uFillTx/>
                <a:latin typeface="Arial"/>
                <a:ea typeface="DejaVu Sans"/>
              </a:rPr>
              <a:t>Valine and Fumaric acid are the next most important metabolites.</a:t>
            </a:r>
            <a:endParaRPr b="0" lang="en-US" sz="1200" strike="noStrike" u="none">
              <a:solidFill>
                <a:srgbClr val="000000"/>
              </a:solidFill>
              <a:effectLst/>
              <a:uFillTx/>
              <a:latin typeface="Arial"/>
            </a:endParaRPr>
          </a:p>
          <a:p>
            <a:pPr marL="216000" indent="-216000">
              <a:lnSpc>
                <a:spcPct val="100000"/>
              </a:lnSpc>
              <a:spcBef>
                <a:spcPts val="1191"/>
              </a:spcBef>
              <a:spcAft>
                <a:spcPts val="992"/>
              </a:spcAft>
              <a:buClr>
                <a:srgbClr val="000000"/>
              </a:buClr>
              <a:buSzPct val="45000"/>
              <a:buFont typeface="Wingdings" charset="2"/>
              <a:buChar char=""/>
            </a:pPr>
            <a:r>
              <a:rPr b="0" lang="en-US" sz="1200" strike="noStrike" u="none">
                <a:solidFill>
                  <a:srgbClr val="000000"/>
                </a:solidFill>
                <a:effectLst/>
                <a:uFillTx/>
                <a:latin typeface="Arial"/>
                <a:ea typeface="DejaVu Sans"/>
              </a:rPr>
              <a:t>Phosphatidylcholines (PCs) such as PC-O (34:3), PC (36:1-2), and PC (40:5) show moderate SHAP importance, reinforcing the strong role of glycerophospholipids in metabolic variation. </a:t>
            </a:r>
            <a:endParaRPr b="0" lang="en-US" sz="1200" strike="noStrike" u="none">
              <a:solidFill>
                <a:srgbClr val="000000"/>
              </a:solidFill>
              <a:effectLst/>
              <a:uFillTx/>
              <a:latin typeface="Arial"/>
            </a:endParaRPr>
          </a:p>
          <a:p>
            <a:pPr marL="216000" indent="-216000">
              <a:lnSpc>
                <a:spcPct val="100000"/>
              </a:lnSpc>
              <a:spcBef>
                <a:spcPts val="1191"/>
              </a:spcBef>
              <a:spcAft>
                <a:spcPts val="992"/>
              </a:spcAft>
              <a:buClr>
                <a:srgbClr val="000000"/>
              </a:buClr>
              <a:buSzPct val="45000"/>
              <a:buFont typeface="Wingdings" charset="2"/>
              <a:buChar char=""/>
            </a:pPr>
            <a:r>
              <a:rPr b="0" lang="en-US" sz="1200" strike="noStrike" u="none">
                <a:solidFill>
                  <a:srgbClr val="000000"/>
                </a:solidFill>
                <a:effectLst/>
                <a:uFillTx/>
                <a:latin typeface="Arial"/>
                <a:ea typeface="DejaVu Sans"/>
              </a:rPr>
              <a:t>Glycolate and 4-Hydroxyphenyllactate contribute less to model variance but might represent secondary metabolic pathways.</a:t>
            </a:r>
            <a:r>
              <a:rPr b="0" lang="en-US" sz="1000" strike="noStrike" u="none">
                <a:solidFill>
                  <a:srgbClr val="000000"/>
                </a:solidFill>
                <a:effectLst/>
                <a:uFillTx/>
                <a:latin typeface="Arial"/>
                <a:ea typeface="DejaVu Sans"/>
              </a:rPr>
              <a:t> </a:t>
            </a:r>
            <a:endParaRPr b="0" lang="en-US" sz="1000" strike="noStrike" u="none">
              <a:solidFill>
                <a:srgbClr val="000000"/>
              </a:solidFill>
              <a:effectLst/>
              <a:uFillTx/>
              <a:latin typeface="Arial"/>
            </a:endParaRPr>
          </a:p>
        </p:txBody>
      </p:sp>
      <p:pic>
        <p:nvPicPr>
          <p:cNvPr id="143" name="" descr=""/>
          <p:cNvPicPr/>
          <p:nvPr/>
        </p:nvPicPr>
        <p:blipFill>
          <a:blip r:embed="rId1"/>
          <a:stretch/>
        </p:blipFill>
        <p:spPr>
          <a:xfrm>
            <a:off x="0" y="767520"/>
            <a:ext cx="6170400" cy="4749120"/>
          </a:xfrm>
          <a:prstGeom prst="rect">
            <a:avLst/>
          </a:prstGeom>
          <a:noFill/>
          <a:ln w="0">
            <a:noFill/>
          </a:ln>
        </p:spPr>
      </p:pic>
      <p:sp>
        <p:nvSpPr>
          <p:cNvPr id="3" name="PlaceHolder 2"/>
          <p:cNvSpPr>
            <a:spLocks noGrp="1"/>
          </p:cNvSpPr>
          <p:nvPr>
            <p:ph type="sldNum" idx="11"/>
          </p:nvPr>
        </p:nvSpPr>
        <p:spPr/>
        <p:txBody>
          <a:bodyPr/>
          <a:p>
            <a:fld id="{A75F49F2-B669-466D-A90D-B1C26BC8D481}" type="slidenum">
              <a:t>17</a:t>
            </a:fld>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4" name="PlaceHolder 1"/>
          <p:cNvSpPr>
            <a:spLocks noGrp="1"/>
          </p:cNvSpPr>
          <p:nvPr>
            <p:ph type="title"/>
          </p:nvPr>
        </p:nvSpPr>
        <p:spPr>
          <a:xfrm>
            <a:off x="228600" y="27000"/>
            <a:ext cx="9342720" cy="684720"/>
          </a:xfrm>
          <a:prstGeom prst="rect">
            <a:avLst/>
          </a:prstGeom>
          <a:noFill/>
          <a:ln w="0">
            <a:noFill/>
          </a:ln>
        </p:spPr>
        <p:txBody>
          <a:bodyPr lIns="0" rIns="0" tIns="0" bIns="0" anchor="ctr">
            <a:spAutoFit/>
          </a:bodyPr>
          <a:p>
            <a:pPr indent="0" algn="ctr">
              <a:lnSpc>
                <a:spcPct val="100000"/>
              </a:lnSpc>
              <a:buNone/>
              <a:tabLst>
                <a:tab algn="l" pos="0"/>
              </a:tabLst>
            </a:pPr>
            <a:r>
              <a:rPr b="0" lang="en-US" sz="3000" strike="noStrike" u="none">
                <a:solidFill>
                  <a:srgbClr val="ffffff"/>
                </a:solidFill>
                <a:effectLst/>
                <a:uFillTx/>
                <a:latin typeface="Arial"/>
              </a:rPr>
              <a:t>Elastic Net: Mean(|SHAP|)</a:t>
            </a:r>
            <a:endParaRPr b="0" lang="en-US" sz="3000" strike="noStrike" u="none">
              <a:solidFill>
                <a:srgbClr val="000000"/>
              </a:solidFill>
              <a:effectLst/>
              <a:uFillTx/>
              <a:latin typeface="Arial"/>
            </a:endParaRPr>
          </a:p>
        </p:txBody>
      </p:sp>
      <p:sp>
        <p:nvSpPr>
          <p:cNvPr id="145" name=""/>
          <p:cNvSpPr/>
          <p:nvPr/>
        </p:nvSpPr>
        <p:spPr>
          <a:xfrm>
            <a:off x="5715000" y="721800"/>
            <a:ext cx="4330080" cy="4124520"/>
          </a:xfrm>
          <a:prstGeom prst="rect">
            <a:avLst/>
          </a:prstGeom>
          <a:noFill/>
          <a:ln w="0">
            <a:noFill/>
          </a:ln>
        </p:spPr>
        <p:style>
          <a:lnRef idx="0"/>
          <a:fillRef idx="0"/>
          <a:effectRef idx="0"/>
          <a:fontRef idx="minor"/>
        </p:style>
        <p:txBody>
          <a:bodyPr lIns="90000" rIns="90000" tIns="45000" bIns="45000" anchor="t">
            <a:spAutoFit/>
          </a:bodyPr>
          <a:p>
            <a:pPr marL="216000" indent="-216000">
              <a:lnSpc>
                <a:spcPct val="100000"/>
              </a:lnSpc>
              <a:spcBef>
                <a:spcPts val="1191"/>
              </a:spcBef>
              <a:spcAft>
                <a:spcPts val="992"/>
              </a:spcAft>
              <a:buClr>
                <a:srgbClr val="000000"/>
              </a:buClr>
              <a:buSzPct val="45000"/>
              <a:buFont typeface="Wingdings" charset="2"/>
              <a:buChar char=""/>
            </a:pPr>
            <a:r>
              <a:rPr b="0" lang="en-US" sz="1200" strike="noStrike" u="none">
                <a:solidFill>
                  <a:srgbClr val="000000"/>
                </a:solidFill>
                <a:effectLst/>
                <a:uFillTx/>
                <a:latin typeface="Arial"/>
                <a:ea typeface="DejaVu Sans"/>
              </a:rPr>
              <a:t>Heatmap showing the top 20 metabolites ranked by mean absolute SHAP values, with each metabolite’s z-score abundance displayed across individual samples. </a:t>
            </a:r>
            <a:endParaRPr b="0" lang="en-US" sz="1200" strike="noStrike" u="none">
              <a:solidFill>
                <a:srgbClr val="000000"/>
              </a:solidFill>
              <a:effectLst/>
              <a:uFillTx/>
              <a:latin typeface="Arial"/>
            </a:endParaRPr>
          </a:p>
          <a:p>
            <a:pPr marL="216000" indent="-216000" defTabSz="914400">
              <a:lnSpc>
                <a:spcPct val="100000"/>
              </a:lnSpc>
              <a:spcBef>
                <a:spcPts val="1191"/>
              </a:spcBef>
              <a:spcAft>
                <a:spcPts val="992"/>
              </a:spcAft>
              <a:buClr>
                <a:srgbClr val="000000"/>
              </a:buClr>
              <a:buSzPct val="45000"/>
              <a:buFont typeface="Wingdings" charset="2"/>
              <a:buChar char=""/>
            </a:pPr>
            <a:r>
              <a:rPr b="0" lang="en-US" sz="1200" strike="noStrike" u="none">
                <a:solidFill>
                  <a:srgbClr val="000000"/>
                </a:solidFill>
                <a:effectLst/>
                <a:uFillTx/>
                <a:latin typeface="Arial"/>
                <a:ea typeface="DejaVu Sans"/>
              </a:rPr>
              <a:t>Metabolites from </a:t>
            </a:r>
            <a:r>
              <a:rPr b="1" lang="en-US" sz="1200" strike="noStrike" u="none">
                <a:solidFill>
                  <a:schemeClr val="accent1"/>
                </a:solidFill>
                <a:effectLst/>
                <a:uFillTx/>
                <a:latin typeface="Arial"/>
                <a:ea typeface="DejaVu Sans"/>
              </a:rPr>
              <a:t>Healthy (H) </a:t>
            </a:r>
            <a:r>
              <a:rPr b="0" lang="en-US" sz="1200" strike="noStrike" u="none">
                <a:solidFill>
                  <a:srgbClr val="000000"/>
                </a:solidFill>
                <a:effectLst/>
                <a:uFillTx/>
                <a:latin typeface="Arial"/>
                <a:ea typeface="DejaVu Sans"/>
              </a:rPr>
              <a:t>and </a:t>
            </a:r>
            <a:r>
              <a:rPr b="1" lang="en-US" sz="1200" strike="noStrike" u="none">
                <a:solidFill>
                  <a:schemeClr val="accent3">
                    <a:lumMod val="60000"/>
                    <a:lumOff val="40000"/>
                  </a:schemeClr>
                </a:solidFill>
                <a:effectLst/>
                <a:uFillTx/>
                <a:latin typeface="Arial"/>
                <a:ea typeface="DejaVu Sans"/>
              </a:rPr>
              <a:t>Diabetic subjects (D)</a:t>
            </a:r>
            <a:r>
              <a:rPr b="1" lang="en-US" sz="1200" strike="noStrike" u="none">
                <a:solidFill>
                  <a:srgbClr val="000000"/>
                </a:solidFill>
                <a:effectLst/>
                <a:uFillTx/>
                <a:latin typeface="Arial"/>
                <a:ea typeface="DejaVu Sans"/>
              </a:rPr>
              <a:t> </a:t>
            </a:r>
            <a:r>
              <a:rPr b="0" lang="en-US" sz="1200" strike="noStrike" u="none">
                <a:solidFill>
                  <a:srgbClr val="000000"/>
                </a:solidFill>
                <a:effectLst/>
                <a:uFillTx/>
                <a:latin typeface="Arial"/>
                <a:ea typeface="DejaVu Sans"/>
              </a:rPr>
              <a:t>appear to have different z-score profiles, suggesting metabolite shifts between conditions.</a:t>
            </a:r>
            <a:endParaRPr b="0" lang="en-US" sz="1200" strike="noStrike" u="none">
              <a:solidFill>
                <a:srgbClr val="000000"/>
              </a:solidFill>
              <a:effectLst/>
              <a:uFillTx/>
              <a:latin typeface="Arial"/>
            </a:endParaRPr>
          </a:p>
          <a:p>
            <a:pPr marL="216000" indent="-216000" defTabSz="914400">
              <a:lnSpc>
                <a:spcPct val="100000"/>
              </a:lnSpc>
              <a:spcBef>
                <a:spcPts val="1191"/>
              </a:spcBef>
              <a:spcAft>
                <a:spcPts val="992"/>
              </a:spcAft>
              <a:buClr>
                <a:srgbClr val="000000"/>
              </a:buClr>
              <a:buSzPct val="45000"/>
              <a:buFont typeface="Wingdings" charset="2"/>
              <a:buChar char=""/>
            </a:pPr>
            <a:r>
              <a:rPr b="0" lang="en-US" sz="1200" strike="noStrike" u="none">
                <a:solidFill>
                  <a:srgbClr val="000000"/>
                </a:solidFill>
                <a:effectLst/>
                <a:uFillTx/>
                <a:latin typeface="Arial"/>
                <a:ea typeface="DejaVu Sans"/>
              </a:rPr>
              <a:t>The Triacylglycerols cluster together (TAG (52:4-16:1), TAG (54:5-18:2), and TAG (52:3-16:1)) and show consistent shifts, highlighting their joint role in classification. </a:t>
            </a:r>
            <a:endParaRPr b="0" lang="en-US" sz="1200" strike="noStrike" u="none">
              <a:solidFill>
                <a:srgbClr val="000000"/>
              </a:solidFill>
              <a:effectLst/>
              <a:uFillTx/>
              <a:latin typeface="Arial"/>
            </a:endParaRPr>
          </a:p>
          <a:p>
            <a:pPr marL="216000" indent="-216000" defTabSz="914400">
              <a:lnSpc>
                <a:spcPct val="100000"/>
              </a:lnSpc>
              <a:spcBef>
                <a:spcPts val="1191"/>
              </a:spcBef>
              <a:spcAft>
                <a:spcPts val="992"/>
              </a:spcAft>
              <a:buClr>
                <a:srgbClr val="000000"/>
              </a:buClr>
              <a:buSzPct val="45000"/>
              <a:buFont typeface="Wingdings" charset="2"/>
              <a:buChar char=""/>
            </a:pPr>
            <a:r>
              <a:rPr b="0" lang="en-US" sz="1200" strike="noStrike" u="none">
                <a:solidFill>
                  <a:srgbClr val="000000"/>
                </a:solidFill>
                <a:effectLst/>
                <a:uFillTx/>
                <a:latin typeface="Arial"/>
                <a:ea typeface="DejaVu Sans"/>
              </a:rPr>
              <a:t>PAs, and Valine tend to be elevated in diabetic samples. In contrast, PCs are relatively higher in healthy individuals.</a:t>
            </a:r>
            <a:endParaRPr b="0" lang="en-US" sz="1200" strike="noStrike" u="none">
              <a:solidFill>
                <a:srgbClr val="000000"/>
              </a:solidFill>
              <a:effectLst/>
              <a:uFillTx/>
              <a:latin typeface="Arial"/>
            </a:endParaRPr>
          </a:p>
          <a:p>
            <a:pPr marL="216000" indent="-216000" defTabSz="914400">
              <a:lnSpc>
                <a:spcPct val="100000"/>
              </a:lnSpc>
              <a:spcBef>
                <a:spcPts val="1191"/>
              </a:spcBef>
              <a:spcAft>
                <a:spcPts val="992"/>
              </a:spcAft>
              <a:buClr>
                <a:srgbClr val="000000"/>
              </a:buClr>
              <a:buSzPct val="45000"/>
              <a:buFont typeface="Wingdings" charset="2"/>
              <a:buChar char=""/>
            </a:pPr>
            <a:r>
              <a:rPr b="0" lang="en-US" sz="1200" strike="noStrike" u="none">
                <a:solidFill>
                  <a:srgbClr val="000000"/>
                </a:solidFill>
                <a:effectLst/>
                <a:uFillTx/>
                <a:latin typeface="Arial"/>
                <a:ea typeface="DejaVu Sans"/>
              </a:rPr>
              <a:t>Diabetics generally show higher levels of Valine, TAGs, Fumaric acid and PAs, while healthy individuals tend to have higher levels of PCs.</a:t>
            </a:r>
            <a:r>
              <a:rPr b="0" lang="en-US" sz="1000" strike="noStrike" u="none">
                <a:solidFill>
                  <a:srgbClr val="000000"/>
                </a:solidFill>
                <a:effectLst/>
                <a:uFillTx/>
                <a:latin typeface="Arial"/>
                <a:ea typeface="DejaVu Sans"/>
              </a:rPr>
              <a:t> </a:t>
            </a:r>
            <a:endParaRPr b="0" lang="en-US" sz="1000" strike="noStrike" u="none">
              <a:solidFill>
                <a:srgbClr val="000000"/>
              </a:solidFill>
              <a:effectLst/>
              <a:uFillTx/>
              <a:latin typeface="Arial"/>
            </a:endParaRPr>
          </a:p>
        </p:txBody>
      </p:sp>
      <p:pic>
        <p:nvPicPr>
          <p:cNvPr id="146" name="" descr=""/>
          <p:cNvPicPr/>
          <p:nvPr/>
        </p:nvPicPr>
        <p:blipFill>
          <a:blip r:embed="rId1"/>
          <a:stretch/>
        </p:blipFill>
        <p:spPr>
          <a:xfrm>
            <a:off x="0" y="914400"/>
            <a:ext cx="5709960" cy="4750920"/>
          </a:xfrm>
          <a:prstGeom prst="rect">
            <a:avLst/>
          </a:prstGeom>
          <a:noFill/>
          <a:ln w="0">
            <a:noFill/>
          </a:ln>
        </p:spPr>
      </p:pic>
      <p:sp>
        <p:nvSpPr>
          <p:cNvPr id="3" name="PlaceHolder 2"/>
          <p:cNvSpPr>
            <a:spLocks noGrp="1"/>
          </p:cNvSpPr>
          <p:nvPr>
            <p:ph type="sldNum" idx="11"/>
          </p:nvPr>
        </p:nvSpPr>
        <p:spPr/>
        <p:txBody>
          <a:bodyPr/>
          <a:p>
            <a:fld id="{82AFA3E8-425F-4692-96B5-1F10B3F2D48C}" type="slidenum">
              <a:t>18</a:t>
            </a:fld>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7" name="PlaceHolder 1"/>
          <p:cNvSpPr>
            <a:spLocks noGrp="1"/>
          </p:cNvSpPr>
          <p:nvPr>
            <p:ph type="title"/>
          </p:nvPr>
        </p:nvSpPr>
        <p:spPr>
          <a:xfrm>
            <a:off x="360000" y="68400"/>
            <a:ext cx="9342720" cy="684720"/>
          </a:xfrm>
          <a:prstGeom prst="rect">
            <a:avLst/>
          </a:prstGeom>
          <a:noFill/>
          <a:ln w="0">
            <a:noFill/>
          </a:ln>
        </p:spPr>
        <p:txBody>
          <a:bodyPr lIns="0" rIns="0" tIns="0" bIns="0" anchor="ctr">
            <a:spAutoFit/>
          </a:bodyPr>
          <a:p>
            <a:pPr indent="0" algn="ctr">
              <a:lnSpc>
                <a:spcPct val="100000"/>
              </a:lnSpc>
              <a:buNone/>
              <a:tabLst>
                <a:tab algn="l" pos="0"/>
              </a:tabLst>
            </a:pPr>
            <a:r>
              <a:rPr b="0" lang="en-US" sz="3000" strike="noStrike" u="none">
                <a:solidFill>
                  <a:srgbClr val="ffffff"/>
                </a:solidFill>
                <a:effectLst/>
                <a:uFillTx/>
                <a:latin typeface="Arial"/>
              </a:rPr>
              <a:t>Elastic Net: Predicted Probability (P(T2DM))</a:t>
            </a:r>
            <a:endParaRPr b="0" lang="en-US" sz="3000" strike="noStrike" u="none">
              <a:solidFill>
                <a:srgbClr val="000000"/>
              </a:solidFill>
              <a:effectLst/>
              <a:uFillTx/>
              <a:latin typeface="Arial"/>
            </a:endParaRPr>
          </a:p>
        </p:txBody>
      </p:sp>
      <p:sp>
        <p:nvSpPr>
          <p:cNvPr id="148" name=""/>
          <p:cNvSpPr/>
          <p:nvPr/>
        </p:nvSpPr>
        <p:spPr>
          <a:xfrm>
            <a:off x="6172200" y="914400"/>
            <a:ext cx="3871800" cy="4307400"/>
          </a:xfrm>
          <a:prstGeom prst="rect">
            <a:avLst/>
          </a:prstGeom>
          <a:noFill/>
          <a:ln w="0">
            <a:noFill/>
          </a:ln>
        </p:spPr>
        <p:style>
          <a:lnRef idx="0"/>
          <a:fillRef idx="0"/>
          <a:effectRef idx="0"/>
          <a:fontRef idx="minor"/>
        </p:style>
        <p:txBody>
          <a:bodyPr lIns="90000" rIns="90000" tIns="45000" bIns="45000" anchor="t">
            <a:spAutoFit/>
          </a:bodyPr>
          <a:p>
            <a:pPr marL="216000" indent="-216000" defTabSz="914400">
              <a:lnSpc>
                <a:spcPct val="100000"/>
              </a:lnSpc>
              <a:spcBef>
                <a:spcPts val="1191"/>
              </a:spcBef>
              <a:spcAft>
                <a:spcPts val="992"/>
              </a:spcAft>
              <a:buClr>
                <a:srgbClr val="000000"/>
              </a:buClr>
              <a:buSzPct val="45000"/>
              <a:buFont typeface="Wingdings" charset="2"/>
              <a:buChar char=""/>
            </a:pPr>
            <a:r>
              <a:rPr b="0" lang="en-US" sz="1200" strike="noStrike" u="none">
                <a:solidFill>
                  <a:srgbClr val="000000"/>
                </a:solidFill>
                <a:effectLst/>
                <a:uFillTx/>
                <a:latin typeface="Arial"/>
                <a:ea typeface="DejaVu Sans"/>
              </a:rPr>
              <a:t>Waterfall plot</a:t>
            </a:r>
            <a:r>
              <a:rPr b="1" lang="en-US" sz="1200" strike="noStrike" u="none">
                <a:solidFill>
                  <a:srgbClr val="000000"/>
                </a:solidFill>
                <a:effectLst/>
                <a:uFillTx/>
                <a:latin typeface="Arial"/>
                <a:ea typeface="DejaVu Sans"/>
              </a:rPr>
              <a:t> </a:t>
            </a:r>
            <a:r>
              <a:rPr b="0" lang="en-US" sz="1200" strike="noStrike" u="none">
                <a:solidFill>
                  <a:srgbClr val="000000"/>
                </a:solidFill>
                <a:effectLst/>
                <a:uFillTx/>
                <a:latin typeface="Arial"/>
                <a:ea typeface="DejaVu Sans"/>
              </a:rPr>
              <a:t>showing the predicted probability for a single individual (D1), and the contribution of specific metabolites to the final prediction for </a:t>
            </a:r>
            <a:r>
              <a:rPr b="1" i="1" lang="en-US" sz="1200" strike="noStrike" u="none">
                <a:solidFill>
                  <a:srgbClr val="000000"/>
                </a:solidFill>
                <a:effectLst/>
                <a:uFillTx/>
                <a:latin typeface="Arial"/>
                <a:ea typeface="DejaVu Sans"/>
              </a:rPr>
              <a:t>PT2DM</a:t>
            </a:r>
            <a:r>
              <a:rPr b="0" lang="en-US" sz="1200" strike="noStrike" u="none">
                <a:solidFill>
                  <a:srgbClr val="000000"/>
                </a:solidFill>
                <a:effectLst/>
                <a:uFillTx/>
                <a:latin typeface="Arial"/>
                <a:ea typeface="DejaVu Sans"/>
              </a:rPr>
              <a:t> (</a:t>
            </a:r>
            <a:r>
              <a:rPr b="1" i="1" lang="en-US" sz="1200" strike="noStrike" u="none">
                <a:solidFill>
                  <a:srgbClr val="000000"/>
                </a:solidFill>
                <a:effectLst/>
                <a:uFillTx/>
                <a:latin typeface="Arial"/>
                <a:ea typeface="DejaVu Sans"/>
              </a:rPr>
              <a:t>P</a:t>
            </a:r>
            <a:r>
              <a:rPr b="0" lang="en-US" sz="1200" strike="noStrike" u="none">
                <a:solidFill>
                  <a:srgbClr val="000000"/>
                </a:solidFill>
                <a:effectLst/>
                <a:uFillTx/>
                <a:latin typeface="Arial"/>
                <a:ea typeface="DejaVu Sans"/>
              </a:rPr>
              <a:t>robable </a:t>
            </a:r>
            <a:r>
              <a:rPr b="1" i="1" lang="en-US" sz="1200" strike="noStrike" u="none">
                <a:solidFill>
                  <a:srgbClr val="000000"/>
                </a:solidFill>
                <a:effectLst/>
                <a:uFillTx/>
                <a:latin typeface="Arial"/>
                <a:ea typeface="DejaVu Sans"/>
              </a:rPr>
              <a:t>T</a:t>
            </a:r>
            <a:r>
              <a:rPr b="0" lang="en-US" sz="1200" strike="noStrike" u="none">
                <a:solidFill>
                  <a:srgbClr val="000000"/>
                </a:solidFill>
                <a:effectLst/>
                <a:uFillTx/>
                <a:latin typeface="Arial"/>
                <a:ea typeface="DejaVu Sans"/>
              </a:rPr>
              <a:t>ype </a:t>
            </a:r>
            <a:r>
              <a:rPr b="1" i="1" lang="en-US" sz="1200" strike="noStrike" u="none">
                <a:solidFill>
                  <a:srgbClr val="000000"/>
                </a:solidFill>
                <a:effectLst/>
                <a:uFillTx/>
                <a:latin typeface="Arial"/>
                <a:ea typeface="DejaVu Sans"/>
              </a:rPr>
              <a:t>2 D</a:t>
            </a:r>
            <a:r>
              <a:rPr b="0" lang="en-US" sz="1200" strike="noStrike" u="none">
                <a:solidFill>
                  <a:srgbClr val="000000"/>
                </a:solidFill>
                <a:effectLst/>
                <a:uFillTx/>
                <a:latin typeface="Arial"/>
                <a:ea typeface="DejaVu Sans"/>
              </a:rPr>
              <a:t>iabetes </a:t>
            </a:r>
            <a:r>
              <a:rPr b="1" i="1" lang="en-US" sz="1200" strike="noStrike" u="none">
                <a:solidFill>
                  <a:srgbClr val="000000"/>
                </a:solidFill>
                <a:effectLst/>
                <a:uFillTx/>
                <a:latin typeface="Arial"/>
                <a:ea typeface="DejaVu Sans"/>
              </a:rPr>
              <a:t>M</a:t>
            </a:r>
            <a:r>
              <a:rPr b="0" lang="en-US" sz="1200" strike="noStrike" u="none">
                <a:solidFill>
                  <a:srgbClr val="000000"/>
                </a:solidFill>
                <a:effectLst/>
                <a:uFillTx/>
                <a:latin typeface="Arial"/>
                <a:ea typeface="DejaVu Sans"/>
              </a:rPr>
              <a:t>ellitus). </a:t>
            </a:r>
            <a:endParaRPr b="0" lang="en-US" sz="1200" strike="noStrike" u="none">
              <a:solidFill>
                <a:srgbClr val="000000"/>
              </a:solidFill>
              <a:effectLst/>
              <a:uFillTx/>
              <a:latin typeface="Arial"/>
            </a:endParaRPr>
          </a:p>
          <a:p>
            <a:pPr marL="216000" indent="-216000" defTabSz="914400">
              <a:lnSpc>
                <a:spcPct val="100000"/>
              </a:lnSpc>
              <a:spcBef>
                <a:spcPts val="1191"/>
              </a:spcBef>
              <a:spcAft>
                <a:spcPts val="992"/>
              </a:spcAft>
              <a:buClr>
                <a:srgbClr val="000000"/>
              </a:buClr>
              <a:buSzPct val="45000"/>
              <a:buFont typeface="Wingdings" charset="2"/>
              <a:buChar char=""/>
            </a:pPr>
            <a:r>
              <a:rPr b="0" lang="en-US" sz="1200" strike="noStrike" u="none">
                <a:solidFill>
                  <a:srgbClr val="000000"/>
                </a:solidFill>
                <a:effectLst/>
                <a:uFillTx/>
                <a:latin typeface="Arial"/>
                <a:ea typeface="DejaVu Sans"/>
              </a:rPr>
              <a:t>Valine, sphingomyelins (SM (34:1), SM (38:1)), phosphocholine (PC-O (34:3)), triacylglycerol (TAG (54:5-18:2)) are the strongest positive contributors. </a:t>
            </a:r>
            <a:endParaRPr b="0" lang="en-US" sz="1200" strike="noStrike" u="none">
              <a:solidFill>
                <a:srgbClr val="000000"/>
              </a:solidFill>
              <a:effectLst/>
              <a:uFillTx/>
              <a:latin typeface="Arial"/>
            </a:endParaRPr>
          </a:p>
          <a:p>
            <a:pPr marL="216000" indent="-216000" defTabSz="914400">
              <a:lnSpc>
                <a:spcPct val="100000"/>
              </a:lnSpc>
              <a:spcBef>
                <a:spcPts val="1191"/>
              </a:spcBef>
              <a:spcAft>
                <a:spcPts val="992"/>
              </a:spcAft>
              <a:buClr>
                <a:srgbClr val="000000"/>
              </a:buClr>
              <a:buSzPct val="45000"/>
              <a:buFont typeface="Wingdings" charset="2"/>
              <a:buChar char=""/>
            </a:pPr>
            <a:r>
              <a:rPr b="0" lang="en-US" sz="1200" strike="noStrike" u="none">
                <a:solidFill>
                  <a:srgbClr val="000000"/>
                </a:solidFill>
                <a:effectLst/>
                <a:uFillTx/>
                <a:latin typeface="Arial"/>
                <a:ea typeface="DejaVu Sans"/>
              </a:rPr>
              <a:t>Sphingomyelin (SM (36:1)), phosphocholine (PC (38:2)), and triacylglycerols (TAG (52:4-16:1), TAG (48:3-18:3)) are moderate positive contributors.</a:t>
            </a:r>
            <a:endParaRPr b="0" lang="en-US" sz="1200" strike="noStrike" u="none">
              <a:solidFill>
                <a:srgbClr val="000000"/>
              </a:solidFill>
              <a:effectLst/>
              <a:uFillTx/>
              <a:latin typeface="Arial"/>
            </a:endParaRPr>
          </a:p>
          <a:p>
            <a:pPr marL="216000" indent="-216000" defTabSz="914400">
              <a:lnSpc>
                <a:spcPct val="100000"/>
              </a:lnSpc>
              <a:spcBef>
                <a:spcPts val="1191"/>
              </a:spcBef>
              <a:spcAft>
                <a:spcPts val="992"/>
              </a:spcAft>
              <a:buClr>
                <a:srgbClr val="000000"/>
              </a:buClr>
              <a:buSzPct val="45000"/>
              <a:buFont typeface="Wingdings" charset="2"/>
              <a:buChar char=""/>
            </a:pPr>
            <a:r>
              <a:rPr b="0" lang="en-US" sz="1200" strike="noStrike" u="none">
                <a:solidFill>
                  <a:srgbClr val="000000"/>
                </a:solidFill>
                <a:effectLst/>
                <a:uFillTx/>
                <a:latin typeface="Arial"/>
                <a:ea typeface="DejaVu Sans"/>
              </a:rPr>
              <a:t>Glycolate and phosphatidic acid (PA (20:0/20:4)) are negative contributors</a:t>
            </a:r>
            <a:endParaRPr b="0" lang="en-US" sz="1200" strike="noStrike" u="none">
              <a:solidFill>
                <a:srgbClr val="000000"/>
              </a:solidFill>
              <a:effectLst/>
              <a:uFillTx/>
              <a:latin typeface="Arial"/>
            </a:endParaRPr>
          </a:p>
          <a:p>
            <a:pPr marL="216000" indent="-216000" defTabSz="914400">
              <a:lnSpc>
                <a:spcPct val="100000"/>
              </a:lnSpc>
              <a:spcBef>
                <a:spcPts val="1191"/>
              </a:spcBef>
              <a:spcAft>
                <a:spcPts val="992"/>
              </a:spcAft>
              <a:buClr>
                <a:srgbClr val="000000"/>
              </a:buClr>
              <a:buSzPct val="45000"/>
              <a:buFont typeface="Wingdings" charset="2"/>
              <a:buChar char=""/>
            </a:pPr>
            <a:r>
              <a:rPr b="0" lang="en-US" sz="1200" strike="noStrike" u="none">
                <a:solidFill>
                  <a:srgbClr val="000000"/>
                </a:solidFill>
                <a:effectLst/>
                <a:uFillTx/>
                <a:latin typeface="Arial"/>
                <a:ea typeface="DejaVu Sans"/>
              </a:rPr>
              <a:t>Final predicted probability for D1 is much higher than the baseline, primarily due to the strong positive influence of certain sphingomyelins (SM), phosphatidylcholines (PC), and triacylglycerols (TAG). </a:t>
            </a:r>
            <a:endParaRPr b="0" lang="en-US" sz="1200" strike="noStrike" u="none">
              <a:solidFill>
                <a:srgbClr val="000000"/>
              </a:solidFill>
              <a:effectLst/>
              <a:uFillTx/>
              <a:latin typeface="Arial"/>
            </a:endParaRPr>
          </a:p>
        </p:txBody>
      </p:sp>
      <p:pic>
        <p:nvPicPr>
          <p:cNvPr id="149" name="" descr=""/>
          <p:cNvPicPr/>
          <p:nvPr/>
        </p:nvPicPr>
        <p:blipFill>
          <a:blip r:embed="rId1"/>
          <a:stretch/>
        </p:blipFill>
        <p:spPr>
          <a:xfrm>
            <a:off x="0" y="753120"/>
            <a:ext cx="6166800" cy="4911840"/>
          </a:xfrm>
          <a:prstGeom prst="rect">
            <a:avLst/>
          </a:prstGeom>
          <a:noFill/>
          <a:ln w="0">
            <a:noFill/>
          </a:ln>
        </p:spPr>
      </p:pic>
      <p:sp>
        <p:nvSpPr>
          <p:cNvPr id="3" name="PlaceHolder 2"/>
          <p:cNvSpPr>
            <a:spLocks noGrp="1"/>
          </p:cNvSpPr>
          <p:nvPr>
            <p:ph type="sldNum" idx="11"/>
          </p:nvPr>
        </p:nvSpPr>
        <p:spPr/>
        <p:txBody>
          <a:bodyPr/>
          <a:p>
            <a:fld id="{3C808AA2-FA91-4DF6-96A8-6F89B8605CBC}" type="slidenum">
              <a:t>19</a:t>
            </a:fld>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0" name="PlaceHolder 1"/>
          <p:cNvSpPr>
            <a:spLocks noGrp="1"/>
          </p:cNvSpPr>
          <p:nvPr>
            <p:ph type="title"/>
          </p:nvPr>
        </p:nvSpPr>
        <p:spPr>
          <a:xfrm>
            <a:off x="360000" y="68400"/>
            <a:ext cx="9342720" cy="684720"/>
          </a:xfrm>
          <a:prstGeom prst="rect">
            <a:avLst/>
          </a:prstGeom>
          <a:noFill/>
          <a:ln w="0">
            <a:noFill/>
          </a:ln>
        </p:spPr>
        <p:txBody>
          <a:bodyPr lIns="0" rIns="0" tIns="0" bIns="0" anchor="ctr">
            <a:spAutoFit/>
          </a:bodyPr>
          <a:p>
            <a:pPr indent="0" algn="ctr">
              <a:lnSpc>
                <a:spcPct val="100000"/>
              </a:lnSpc>
              <a:buNone/>
              <a:tabLst>
                <a:tab algn="l" pos="0"/>
              </a:tabLst>
            </a:pPr>
            <a:r>
              <a:rPr b="0" lang="en-US" sz="3000" strike="noStrike" u="none">
                <a:solidFill>
                  <a:srgbClr val="ffffff"/>
                </a:solidFill>
                <a:effectLst/>
                <a:uFillTx/>
                <a:latin typeface="Arial"/>
              </a:rPr>
              <a:t>Elastic Net: Conclusions</a:t>
            </a:r>
            <a:endParaRPr b="0" lang="en-US" sz="3000" strike="noStrike" u="none">
              <a:solidFill>
                <a:srgbClr val="000000"/>
              </a:solidFill>
              <a:effectLst/>
              <a:uFillTx/>
              <a:latin typeface="Arial"/>
            </a:endParaRPr>
          </a:p>
        </p:txBody>
      </p:sp>
      <p:sp>
        <p:nvSpPr>
          <p:cNvPr id="151" name=""/>
          <p:cNvSpPr/>
          <p:nvPr/>
        </p:nvSpPr>
        <p:spPr>
          <a:xfrm>
            <a:off x="457200" y="914400"/>
            <a:ext cx="9359280" cy="3635640"/>
          </a:xfrm>
          <a:prstGeom prst="rect">
            <a:avLst/>
          </a:prstGeom>
          <a:noFill/>
          <a:ln w="0">
            <a:noFill/>
          </a:ln>
        </p:spPr>
        <p:style>
          <a:lnRef idx="0"/>
          <a:fillRef idx="0"/>
          <a:effectRef idx="0"/>
          <a:fontRef idx="minor"/>
        </p:style>
        <p:txBody>
          <a:bodyPr lIns="90000" rIns="90000" tIns="45000" bIns="45000" anchor="t">
            <a:spAutoFit/>
          </a:bodyPr>
          <a:p>
            <a:pPr marL="216000" indent="-216000">
              <a:lnSpc>
                <a:spcPct val="100000"/>
              </a:lnSpc>
              <a:spcBef>
                <a:spcPts val="1191"/>
              </a:spcBef>
              <a:spcAft>
                <a:spcPts val="992"/>
              </a:spcAft>
              <a:buClr>
                <a:srgbClr val="000000"/>
              </a:buClr>
              <a:buSzPct val="45000"/>
              <a:buFont typeface="Wingdings" charset="2"/>
              <a:buChar char=""/>
            </a:pPr>
            <a:r>
              <a:rPr b="0" lang="en-US" sz="1600" strike="noStrike" u="none">
                <a:solidFill>
                  <a:srgbClr val="000000"/>
                </a:solidFill>
                <a:effectLst/>
                <a:uFillTx/>
                <a:latin typeface="Arial"/>
                <a:ea typeface="DejaVu Sans"/>
              </a:rPr>
              <a:t>Phosphatidylcholine (PC (38:2)), Valine, Fumaric acid – together define a triad of lipid, amino acid, and energy metabolism disruption.</a:t>
            </a:r>
            <a:endParaRPr b="0" lang="en-US" sz="1600" strike="noStrike" u="none">
              <a:solidFill>
                <a:srgbClr val="000000"/>
              </a:solidFill>
              <a:effectLst/>
              <a:uFillTx/>
              <a:latin typeface="Arial"/>
            </a:endParaRPr>
          </a:p>
          <a:p>
            <a:pPr marL="216000" indent="-216000">
              <a:lnSpc>
                <a:spcPct val="100000"/>
              </a:lnSpc>
              <a:spcBef>
                <a:spcPts val="1191"/>
              </a:spcBef>
              <a:spcAft>
                <a:spcPts val="992"/>
              </a:spcAft>
              <a:buClr>
                <a:srgbClr val="000000"/>
              </a:buClr>
              <a:buSzPct val="45000"/>
              <a:buFont typeface="Wingdings" charset="2"/>
              <a:buChar char=""/>
            </a:pPr>
            <a:r>
              <a:rPr b="0" lang="en-US" sz="1600" strike="noStrike" u="none">
                <a:solidFill>
                  <a:srgbClr val="000000"/>
                </a:solidFill>
                <a:effectLst/>
                <a:uFillTx/>
                <a:latin typeface="Arial"/>
                <a:ea typeface="DejaVu Sans"/>
              </a:rPr>
              <a:t>Phosphatidylcholines, Triacylglycerols, sphingomyelins, and ceramides are lipids that play central roles, reflecting altered lipid homeostasis in PT2DM.</a:t>
            </a:r>
            <a:endParaRPr b="0" lang="en-US" sz="1600" strike="noStrike" u="none">
              <a:solidFill>
                <a:srgbClr val="000000"/>
              </a:solidFill>
              <a:effectLst/>
              <a:uFillTx/>
              <a:latin typeface="Arial"/>
            </a:endParaRPr>
          </a:p>
          <a:p>
            <a:pPr marL="216000" indent="-216000">
              <a:lnSpc>
                <a:spcPct val="100000"/>
              </a:lnSpc>
              <a:spcBef>
                <a:spcPts val="1191"/>
              </a:spcBef>
              <a:spcAft>
                <a:spcPts val="992"/>
              </a:spcAft>
              <a:buClr>
                <a:srgbClr val="000000"/>
              </a:buClr>
              <a:buSzPct val="45000"/>
              <a:buFont typeface="Wingdings" charset="2"/>
              <a:buChar char=""/>
            </a:pPr>
            <a:r>
              <a:rPr b="0" lang="en-US" sz="1600" strike="noStrike" u="none">
                <a:solidFill>
                  <a:srgbClr val="000000"/>
                </a:solidFill>
                <a:effectLst/>
                <a:uFillTx/>
                <a:latin typeface="Arial"/>
                <a:ea typeface="DejaVu Sans"/>
              </a:rPr>
              <a:t>Valine (amino acid) and Fumaric acid (Trichloroacetic cycle) highlight protein and mitochondrial dysfunction.</a:t>
            </a:r>
            <a:endParaRPr b="0" lang="en-US" sz="1600" strike="noStrike" u="none">
              <a:solidFill>
                <a:srgbClr val="000000"/>
              </a:solidFill>
              <a:effectLst/>
              <a:uFillTx/>
              <a:latin typeface="Arial"/>
            </a:endParaRPr>
          </a:p>
          <a:p>
            <a:pPr marL="216000" indent="-216000">
              <a:lnSpc>
                <a:spcPct val="100000"/>
              </a:lnSpc>
              <a:spcBef>
                <a:spcPts val="1191"/>
              </a:spcBef>
              <a:spcAft>
                <a:spcPts val="992"/>
              </a:spcAft>
              <a:buClr>
                <a:srgbClr val="000000"/>
              </a:buClr>
              <a:buSzPct val="45000"/>
              <a:buFont typeface="Wingdings" charset="2"/>
              <a:buChar char=""/>
            </a:pPr>
            <a:r>
              <a:rPr b="0" lang="en-US" sz="1600" strike="noStrike" u="none">
                <a:solidFill>
                  <a:srgbClr val="000000"/>
                </a:solidFill>
                <a:effectLst/>
                <a:uFillTx/>
                <a:latin typeface="Arial"/>
                <a:ea typeface="DejaVu Sans"/>
              </a:rPr>
              <a:t>These metabolites repeatedly appear as top-ranked, with increased directionality clarified by beeswarm and waterfall plots.</a:t>
            </a:r>
            <a:endParaRPr b="0" lang="en-US" sz="1600" strike="noStrike" u="none">
              <a:solidFill>
                <a:srgbClr val="000000"/>
              </a:solidFill>
              <a:effectLst/>
              <a:uFillTx/>
              <a:latin typeface="Arial"/>
            </a:endParaRPr>
          </a:p>
          <a:p>
            <a:pPr marL="216000" indent="-216000">
              <a:lnSpc>
                <a:spcPct val="100000"/>
              </a:lnSpc>
              <a:spcBef>
                <a:spcPts val="1191"/>
              </a:spcBef>
              <a:spcAft>
                <a:spcPts val="992"/>
              </a:spcAft>
              <a:buClr>
                <a:srgbClr val="000000"/>
              </a:buClr>
              <a:buSzPct val="45000"/>
              <a:buFont typeface="Wingdings" charset="2"/>
              <a:buChar char=""/>
            </a:pPr>
            <a:r>
              <a:rPr b="0" lang="en-US" sz="1600" strike="noStrike" u="none">
                <a:solidFill>
                  <a:srgbClr val="000000"/>
                </a:solidFill>
                <a:effectLst/>
                <a:uFillTx/>
                <a:latin typeface="Arial"/>
                <a:ea typeface="DejaVu Sans"/>
              </a:rPr>
              <a:t>While globally these features dominate, individual heatmaps and waterfalls show heterogeneous contributions, aligning with metabolic heterogeneity among individuals.</a:t>
            </a:r>
            <a:endParaRPr b="0" lang="en-US" sz="1600" strike="noStrike" u="none">
              <a:solidFill>
                <a:srgbClr val="000000"/>
              </a:solidFill>
              <a:effectLst/>
              <a:uFillTx/>
              <a:latin typeface="Arial"/>
            </a:endParaRPr>
          </a:p>
        </p:txBody>
      </p:sp>
      <p:sp>
        <p:nvSpPr>
          <p:cNvPr id="3" name="PlaceHolder 2"/>
          <p:cNvSpPr>
            <a:spLocks noGrp="1"/>
          </p:cNvSpPr>
          <p:nvPr>
            <p:ph type="sldNum" idx="11"/>
          </p:nvPr>
        </p:nvSpPr>
        <p:spPr/>
        <p:txBody>
          <a:bodyPr/>
          <a:p>
            <a:fld id="{440970D7-7D47-4463-8053-0D90C8F20626}" type="slidenum">
              <a:t>20</a:t>
            </a:fld>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2" name="PlaceHolder 1"/>
          <p:cNvSpPr>
            <a:spLocks noGrp="1"/>
          </p:cNvSpPr>
          <p:nvPr>
            <p:ph type="title"/>
          </p:nvPr>
        </p:nvSpPr>
        <p:spPr>
          <a:xfrm>
            <a:off x="360000" y="73080"/>
            <a:ext cx="9342720" cy="675000"/>
          </a:xfrm>
          <a:prstGeom prst="rect">
            <a:avLst/>
          </a:prstGeom>
          <a:noFill/>
          <a:ln w="0">
            <a:noFill/>
          </a:ln>
        </p:spPr>
        <p:txBody>
          <a:bodyPr lIns="0" rIns="0" tIns="0" bIns="0" anchor="ctr">
            <a:spAutoFit/>
          </a:bodyPr>
          <a:p>
            <a:pPr indent="0" algn="ctr">
              <a:lnSpc>
                <a:spcPct val="100000"/>
              </a:lnSpc>
              <a:buNone/>
              <a:tabLst>
                <a:tab algn="l" pos="0"/>
              </a:tabLst>
            </a:pPr>
            <a:r>
              <a:rPr b="0" lang="en-US" sz="3000" strike="noStrike" u="none">
                <a:solidFill>
                  <a:srgbClr val="ffffff"/>
                </a:solidFill>
                <a:effectLst/>
                <a:uFillTx/>
                <a:latin typeface="Arial"/>
              </a:rPr>
              <a:t>Random Forest</a:t>
            </a:r>
            <a:endParaRPr b="0" lang="en-US" sz="3000" strike="noStrike" u="none">
              <a:solidFill>
                <a:srgbClr val="000000"/>
              </a:solidFill>
              <a:effectLst/>
              <a:uFillTx/>
              <a:latin typeface="Arial"/>
            </a:endParaRPr>
          </a:p>
        </p:txBody>
      </p:sp>
      <p:sp>
        <p:nvSpPr>
          <p:cNvPr id="153" name="PlaceHolder 2"/>
          <p:cNvSpPr>
            <a:spLocks noGrp="1"/>
          </p:cNvSpPr>
          <p:nvPr>
            <p:ph/>
          </p:nvPr>
        </p:nvSpPr>
        <p:spPr>
          <a:xfrm>
            <a:off x="360000" y="1080000"/>
            <a:ext cx="9342720" cy="3582720"/>
          </a:xfrm>
          <a:prstGeom prst="rect">
            <a:avLst/>
          </a:prstGeom>
          <a:noFill/>
          <a:ln w="0">
            <a:noFill/>
          </a:ln>
        </p:spPr>
        <p:txBody>
          <a:bodyPr lIns="0" rIns="0" tIns="0" bIns="0" anchor="t">
            <a:normAutofit/>
          </a:bodyPr>
          <a:p>
            <a:pPr marL="432000" indent="-324000">
              <a:lnSpc>
                <a:spcPct val="100000"/>
              </a:lnSpc>
              <a:spcBef>
                <a:spcPts val="1191"/>
              </a:spcBef>
              <a:spcAft>
                <a:spcPts val="992"/>
              </a:spcAft>
              <a:buClr>
                <a:srgbClr val="000000"/>
              </a:buClr>
              <a:buSzPct val="45000"/>
              <a:buFont typeface="Wingdings" charset="2"/>
              <a:buChar char=""/>
            </a:pPr>
            <a:r>
              <a:rPr b="0" lang="en-US" sz="1600" strike="noStrike" u="none">
                <a:solidFill>
                  <a:srgbClr val="000000"/>
                </a:solidFill>
                <a:effectLst/>
                <a:uFillTx/>
                <a:latin typeface="Arial"/>
              </a:rPr>
              <a:t>is a machine learning algorithm that uses many decision trees to make better predictions where each tree looks at different random parts of the data and their results are combined by voting for classification or averaging for regression</a:t>
            </a:r>
            <a:endParaRPr b="0" lang="en-US" sz="1600" strike="noStrike" u="none">
              <a:solidFill>
                <a:srgbClr val="000000"/>
              </a:solidFill>
              <a:effectLst/>
              <a:uFillTx/>
              <a:latin typeface="Arial"/>
            </a:endParaRPr>
          </a:p>
          <a:p>
            <a:pPr marL="432000" indent="-324000">
              <a:lnSpc>
                <a:spcPct val="100000"/>
              </a:lnSpc>
              <a:spcBef>
                <a:spcPts val="1191"/>
              </a:spcBef>
              <a:spcAft>
                <a:spcPts val="992"/>
              </a:spcAft>
              <a:buClr>
                <a:srgbClr val="000000"/>
              </a:buClr>
              <a:buSzPct val="45000"/>
              <a:buFont typeface="Wingdings" charset="2"/>
              <a:buChar char=""/>
            </a:pPr>
            <a:r>
              <a:rPr b="0" lang="en-US" sz="1600" strike="noStrike" u="none">
                <a:solidFill>
                  <a:schemeClr val="dk1"/>
                </a:solidFill>
                <a:effectLst/>
                <a:uFillTx/>
                <a:latin typeface="Arial"/>
              </a:rPr>
              <a:t>Key Features </a:t>
            </a:r>
            <a:endParaRPr b="0" lang="en-US" sz="1600" strike="noStrike" u="none">
              <a:solidFill>
                <a:srgbClr val="000000"/>
              </a:solidFill>
              <a:effectLst/>
              <a:uFillTx/>
              <a:latin typeface="Arial"/>
            </a:endParaRPr>
          </a:p>
          <a:p>
            <a:pPr lvl="1" marL="864000" indent="-324000">
              <a:lnSpc>
                <a:spcPct val="100000"/>
              </a:lnSpc>
              <a:spcBef>
                <a:spcPts val="1134"/>
              </a:spcBef>
              <a:buClr>
                <a:srgbClr val="000000"/>
              </a:buClr>
              <a:buSzPct val="75000"/>
              <a:buFont typeface="Symbol" charset="2"/>
              <a:buChar char=""/>
            </a:pPr>
            <a:r>
              <a:rPr b="0" lang="en-US" sz="1600" strike="noStrike" u="none">
                <a:solidFill>
                  <a:schemeClr val="dk1"/>
                </a:solidFill>
                <a:effectLst/>
                <a:uFillTx/>
                <a:latin typeface="Arial"/>
              </a:rPr>
              <a:t>Combines results from many decision trees (ensemble averaging) to improve accuracy. </a:t>
            </a:r>
            <a:endParaRPr b="0" lang="en-US" sz="1600" strike="noStrike" u="none">
              <a:solidFill>
                <a:srgbClr val="000000"/>
              </a:solidFill>
              <a:effectLst/>
              <a:uFillTx/>
              <a:latin typeface="Arial"/>
            </a:endParaRPr>
          </a:p>
          <a:p>
            <a:pPr lvl="1" marL="864000" indent="-324000">
              <a:lnSpc>
                <a:spcPct val="100000"/>
              </a:lnSpc>
              <a:spcBef>
                <a:spcPts val="1134"/>
              </a:spcBef>
              <a:buClr>
                <a:srgbClr val="000000"/>
              </a:buClr>
              <a:buSzPct val="75000"/>
              <a:buFont typeface="Symbol" charset="2"/>
              <a:buChar char=""/>
            </a:pPr>
            <a:r>
              <a:rPr b="0" lang="en-US" sz="1600" strike="noStrike" u="none">
                <a:solidFill>
                  <a:schemeClr val="dk1"/>
                </a:solidFill>
                <a:effectLst/>
                <a:uFillTx/>
                <a:latin typeface="Arial"/>
              </a:rPr>
              <a:t>Uses bootstrapping and random feature selection for decorrelated trees. </a:t>
            </a:r>
            <a:endParaRPr b="0" lang="en-US" sz="1600" strike="noStrike" u="none">
              <a:solidFill>
                <a:srgbClr val="000000"/>
              </a:solidFill>
              <a:effectLst/>
              <a:uFillTx/>
              <a:latin typeface="Arial"/>
            </a:endParaRPr>
          </a:p>
          <a:p>
            <a:pPr lvl="1" marL="864000" indent="-324000">
              <a:lnSpc>
                <a:spcPct val="100000"/>
              </a:lnSpc>
              <a:spcBef>
                <a:spcPts val="1134"/>
              </a:spcBef>
              <a:buClr>
                <a:srgbClr val="000000"/>
              </a:buClr>
              <a:buSzPct val="75000"/>
              <a:buFont typeface="Symbol" charset="2"/>
              <a:buChar char=""/>
            </a:pPr>
            <a:r>
              <a:rPr b="0" lang="en-US" sz="1600" strike="noStrike" u="none">
                <a:solidFill>
                  <a:schemeClr val="dk1"/>
                </a:solidFill>
                <a:effectLst/>
                <a:uFillTx/>
                <a:latin typeface="Arial"/>
              </a:rPr>
              <a:t>Handles nonlinear relationships and complex interactions naturally. </a:t>
            </a:r>
            <a:endParaRPr b="0" lang="en-US" sz="1600" strike="noStrike" u="none">
              <a:solidFill>
                <a:srgbClr val="000000"/>
              </a:solidFill>
              <a:effectLst/>
              <a:uFillTx/>
              <a:latin typeface="Arial"/>
            </a:endParaRPr>
          </a:p>
          <a:p>
            <a:pPr lvl="1" marL="864000" indent="-324000">
              <a:lnSpc>
                <a:spcPct val="100000"/>
              </a:lnSpc>
              <a:spcBef>
                <a:spcPts val="1134"/>
              </a:spcBef>
              <a:buClr>
                <a:srgbClr val="000000"/>
              </a:buClr>
              <a:buSzPct val="75000"/>
              <a:buFont typeface="Symbol" charset="2"/>
              <a:buChar char=""/>
            </a:pPr>
            <a:r>
              <a:rPr b="0" lang="en-US" sz="1600" strike="noStrike" u="none">
                <a:solidFill>
                  <a:schemeClr val="dk1"/>
                </a:solidFill>
                <a:effectLst/>
                <a:uFillTx/>
                <a:latin typeface="Arial"/>
              </a:rPr>
              <a:t>Resistant to noise and overfitting when many trees are used. </a:t>
            </a:r>
            <a:endParaRPr b="0" lang="en-US" sz="1600" strike="noStrike" u="none">
              <a:solidFill>
                <a:srgbClr val="000000"/>
              </a:solidFill>
              <a:effectLst/>
              <a:uFillTx/>
              <a:latin typeface="Arial"/>
            </a:endParaRPr>
          </a:p>
          <a:p>
            <a:pPr lvl="1" marL="864000" indent="-324000">
              <a:lnSpc>
                <a:spcPct val="100000"/>
              </a:lnSpc>
              <a:spcBef>
                <a:spcPts val="1134"/>
              </a:spcBef>
              <a:buClr>
                <a:srgbClr val="000000"/>
              </a:buClr>
              <a:buSzPct val="75000"/>
              <a:buFont typeface="Symbol" charset="2"/>
              <a:buChar char=""/>
            </a:pPr>
            <a:r>
              <a:rPr b="0" lang="en-US" sz="1600" strike="noStrike" u="none">
                <a:solidFill>
                  <a:schemeClr val="dk1"/>
                </a:solidFill>
                <a:effectLst/>
                <a:uFillTx/>
                <a:latin typeface="Arial"/>
              </a:rPr>
              <a:t>Provides variable importance measures and SHAP interpretability.</a:t>
            </a:r>
            <a:r>
              <a:rPr b="0" lang="en-US" sz="1600" strike="noStrike" u="none">
                <a:solidFill>
                  <a:srgbClr val="000000"/>
                </a:solidFill>
                <a:effectLst/>
                <a:uFillTx/>
                <a:latin typeface="Arial"/>
              </a:rPr>
              <a:t> </a:t>
            </a:r>
            <a:endParaRPr b="0" lang="en-US" sz="1600" strike="noStrike" u="none">
              <a:solidFill>
                <a:srgbClr val="000000"/>
              </a:solidFill>
              <a:effectLst/>
              <a:uFillTx/>
              <a:latin typeface="Arial"/>
            </a:endParaRPr>
          </a:p>
        </p:txBody>
      </p:sp>
      <p:sp>
        <p:nvSpPr>
          <p:cNvPr id="4" name="PlaceHolder 3"/>
          <p:cNvSpPr>
            <a:spLocks noGrp="1"/>
          </p:cNvSpPr>
          <p:nvPr>
            <p:ph type="sldNum" idx="11"/>
          </p:nvPr>
        </p:nvSpPr>
        <p:spPr/>
        <p:txBody>
          <a:bodyPr/>
          <a:p>
            <a:fld id="{F4F3C7A4-43D9-4ACA-A693-39E67C9473F6}" type="slidenum">
              <a:t>21</a:t>
            </a:fld>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4" name="PlaceHolder 1"/>
          <p:cNvSpPr>
            <a:spLocks noGrp="1"/>
          </p:cNvSpPr>
          <p:nvPr>
            <p:ph type="title"/>
          </p:nvPr>
        </p:nvSpPr>
        <p:spPr>
          <a:xfrm>
            <a:off x="360000" y="151920"/>
            <a:ext cx="9342720" cy="517320"/>
          </a:xfrm>
          <a:prstGeom prst="rect">
            <a:avLst/>
          </a:prstGeom>
          <a:noFill/>
          <a:ln w="0">
            <a:noFill/>
          </a:ln>
        </p:spPr>
        <p:txBody>
          <a:bodyPr lIns="0" rIns="0" tIns="0" bIns="0" anchor="ctr">
            <a:spAutoFit/>
          </a:bodyPr>
          <a:p>
            <a:pPr indent="0" algn="ctr">
              <a:lnSpc>
                <a:spcPct val="100000"/>
              </a:lnSpc>
              <a:buNone/>
              <a:tabLst>
                <a:tab algn="l" pos="0"/>
              </a:tabLst>
            </a:pPr>
            <a:r>
              <a:rPr b="0" lang="en-US" sz="3000" strike="noStrike" u="none">
                <a:solidFill>
                  <a:srgbClr val="eeeeee"/>
                </a:solidFill>
                <a:effectLst/>
                <a:uFillTx/>
                <a:latin typeface="Arial"/>
              </a:rPr>
              <a:t>Random Forest: Variable Importance</a:t>
            </a:r>
            <a:endParaRPr b="0" lang="en-US" sz="3000" strike="noStrike" u="none">
              <a:solidFill>
                <a:srgbClr val="000000"/>
              </a:solidFill>
              <a:effectLst/>
              <a:uFillTx/>
              <a:latin typeface="Arial"/>
            </a:endParaRPr>
          </a:p>
        </p:txBody>
      </p:sp>
      <p:sp>
        <p:nvSpPr>
          <p:cNvPr id="155" name=""/>
          <p:cNvSpPr/>
          <p:nvPr/>
        </p:nvSpPr>
        <p:spPr>
          <a:xfrm>
            <a:off x="6626520" y="1694520"/>
            <a:ext cx="3413880" cy="246600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en-US" sz="1600" strike="noStrike" u="none">
                <a:solidFill>
                  <a:srgbClr val="000000"/>
                </a:solidFill>
                <a:effectLst/>
                <a:uFillTx/>
                <a:latin typeface="Arial"/>
                <a:ea typeface="DejaVu Sans"/>
              </a:rPr>
              <a:t>Top metabolites ranked by their importance in a Random Forest model, measured using the Mean Decrease in Gini Impurity. The x-axis represents the importance score, where higher values indicate greater contribution to the model's ability to split and classify the data accurately.</a:t>
            </a:r>
            <a:endParaRPr b="0" lang="en-US" sz="1600" strike="noStrike" u="none">
              <a:solidFill>
                <a:srgbClr val="000000"/>
              </a:solidFill>
              <a:effectLst/>
              <a:uFillTx/>
              <a:latin typeface="Arial"/>
            </a:endParaRPr>
          </a:p>
          <a:p>
            <a:pPr>
              <a:lnSpc>
                <a:spcPct val="100000"/>
              </a:lnSpc>
            </a:pPr>
            <a:endParaRPr b="0" lang="en-US" sz="1200" strike="noStrike" u="none">
              <a:solidFill>
                <a:srgbClr val="000000"/>
              </a:solidFill>
              <a:effectLst/>
              <a:uFillTx/>
              <a:latin typeface="Arial"/>
            </a:endParaRPr>
          </a:p>
        </p:txBody>
      </p:sp>
      <p:pic>
        <p:nvPicPr>
          <p:cNvPr id="156" name="" descr=""/>
          <p:cNvPicPr/>
          <p:nvPr/>
        </p:nvPicPr>
        <p:blipFill>
          <a:blip r:embed="rId1"/>
          <a:stretch/>
        </p:blipFill>
        <p:spPr>
          <a:xfrm>
            <a:off x="11520" y="914400"/>
            <a:ext cx="6611400" cy="4744800"/>
          </a:xfrm>
          <a:prstGeom prst="rect">
            <a:avLst/>
          </a:prstGeom>
          <a:noFill/>
          <a:ln w="0">
            <a:noFill/>
          </a:ln>
        </p:spPr>
      </p:pic>
      <p:sp>
        <p:nvSpPr>
          <p:cNvPr id="3" name="PlaceHolder 2"/>
          <p:cNvSpPr>
            <a:spLocks noGrp="1"/>
          </p:cNvSpPr>
          <p:nvPr>
            <p:ph type="sldNum" idx="11"/>
          </p:nvPr>
        </p:nvSpPr>
        <p:spPr/>
        <p:txBody>
          <a:bodyPr/>
          <a:p>
            <a:fld id="{1A7CD4B0-A7B2-43E2-9B48-730AF7774F6E}" type="slidenum">
              <a:t>22</a:t>
            </a:fld>
          </a:p>
        </p:txBody>
      </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7" name=""/>
          <p:cNvSpPr/>
          <p:nvPr/>
        </p:nvSpPr>
        <p:spPr>
          <a:xfrm>
            <a:off x="2021760" y="138960"/>
            <a:ext cx="6663600" cy="546840"/>
          </a:xfrm>
          <a:prstGeom prst="rect">
            <a:avLst/>
          </a:prstGeom>
          <a:noFill/>
          <a:ln w="0">
            <a:noFill/>
          </a:ln>
        </p:spPr>
        <p:style>
          <a:lnRef idx="0"/>
          <a:fillRef idx="0"/>
          <a:effectRef idx="0"/>
          <a:fontRef idx="minor"/>
        </p:style>
        <p:txBody>
          <a:bodyPr lIns="90000" rIns="90000" tIns="45000" bIns="45000" anchor="t" anchorCtr="1">
            <a:spAutoFit/>
          </a:bodyPr>
          <a:p>
            <a:pPr algn="ctr">
              <a:lnSpc>
                <a:spcPct val="100000"/>
              </a:lnSpc>
            </a:pPr>
            <a:r>
              <a:rPr b="0" lang="en-US" sz="3000" strike="noStrike" u="none">
                <a:solidFill>
                  <a:srgbClr val="ffffff"/>
                </a:solidFill>
                <a:effectLst/>
                <a:uFillTx/>
                <a:latin typeface="Arial"/>
                <a:ea typeface="DejaVu Sans"/>
              </a:rPr>
              <a:t>Random Forest: SHAP values</a:t>
            </a:r>
            <a:endParaRPr b="0" lang="en-US" sz="3000" strike="noStrike" u="none">
              <a:solidFill>
                <a:srgbClr val="000000"/>
              </a:solidFill>
              <a:effectLst/>
              <a:uFillTx/>
              <a:latin typeface="Arial"/>
            </a:endParaRPr>
          </a:p>
        </p:txBody>
      </p:sp>
      <p:sp>
        <p:nvSpPr>
          <p:cNvPr id="158" name=""/>
          <p:cNvSpPr/>
          <p:nvPr/>
        </p:nvSpPr>
        <p:spPr>
          <a:xfrm>
            <a:off x="5938920" y="1143000"/>
            <a:ext cx="4100040" cy="2655720"/>
          </a:xfrm>
          <a:prstGeom prst="rect">
            <a:avLst/>
          </a:prstGeom>
          <a:noFill/>
          <a:ln w="0">
            <a:noFill/>
          </a:ln>
        </p:spPr>
        <p:style>
          <a:lnRef idx="0"/>
          <a:fillRef idx="0"/>
          <a:effectRef idx="0"/>
          <a:fontRef idx="minor"/>
        </p:style>
        <p:txBody>
          <a:bodyPr lIns="90000" rIns="90000" tIns="45000" bIns="45000" anchor="t">
            <a:spAutoFit/>
          </a:bodyPr>
          <a:p>
            <a:pPr marL="216000" indent="-216000">
              <a:lnSpc>
                <a:spcPct val="100000"/>
              </a:lnSpc>
              <a:spcBef>
                <a:spcPts val="1191"/>
              </a:spcBef>
              <a:spcAft>
                <a:spcPts val="992"/>
              </a:spcAft>
              <a:buClr>
                <a:srgbClr val="000000"/>
              </a:buClr>
              <a:buSzPct val="45000"/>
              <a:buFont typeface="Wingdings" charset="2"/>
              <a:buChar char=""/>
            </a:pPr>
            <a:r>
              <a:rPr b="0" lang="en-US" sz="1200" strike="noStrike" u="none">
                <a:solidFill>
                  <a:srgbClr val="000000"/>
                </a:solidFill>
                <a:effectLst/>
                <a:uFillTx/>
                <a:latin typeface="Arial"/>
                <a:ea typeface="DejaVu Sans"/>
              </a:rPr>
              <a:t>This graph presents a SHAP (SHapley Additive exPlanations) summary plot displaying the distribution of SHAP values (ϕ) for the most influential features identified by a Random Forest model. SHAP values represent the contribution of each feature to the model's output for individual predictions. </a:t>
            </a:r>
            <a:endParaRPr b="0" lang="en-US" sz="1200" strike="noStrike" u="none">
              <a:solidFill>
                <a:srgbClr val="000000"/>
              </a:solidFill>
              <a:effectLst/>
              <a:uFillTx/>
              <a:latin typeface="Arial"/>
            </a:endParaRPr>
          </a:p>
          <a:p>
            <a:pPr marL="216000" indent="-216000">
              <a:lnSpc>
                <a:spcPct val="100000"/>
              </a:lnSpc>
              <a:spcBef>
                <a:spcPts val="1191"/>
              </a:spcBef>
              <a:spcAft>
                <a:spcPts val="992"/>
              </a:spcAft>
              <a:buClr>
                <a:srgbClr val="000000"/>
              </a:buClr>
              <a:buSzPct val="45000"/>
              <a:buFont typeface="Wingdings" charset="2"/>
              <a:buChar char=""/>
            </a:pPr>
            <a:r>
              <a:rPr b="0" lang="en-US" sz="1200" strike="noStrike" u="none">
                <a:solidFill>
                  <a:srgbClr val="000000"/>
                </a:solidFill>
                <a:effectLst/>
                <a:uFillTx/>
                <a:latin typeface="Arial"/>
                <a:ea typeface="DejaVu Sans"/>
              </a:rPr>
              <a:t>Nearly all metabolites mostly push the model’s prediction toward T2DM.</a:t>
            </a:r>
            <a:endParaRPr b="0" lang="en-US" sz="1200" strike="noStrike" u="none">
              <a:solidFill>
                <a:srgbClr val="000000"/>
              </a:solidFill>
              <a:effectLst/>
              <a:uFillTx/>
              <a:latin typeface="Arial"/>
            </a:endParaRPr>
          </a:p>
          <a:p>
            <a:pPr marL="216000" indent="-216000">
              <a:lnSpc>
                <a:spcPct val="100000"/>
              </a:lnSpc>
              <a:spcBef>
                <a:spcPts val="1191"/>
              </a:spcBef>
              <a:spcAft>
                <a:spcPts val="992"/>
              </a:spcAft>
              <a:buClr>
                <a:srgbClr val="000000"/>
              </a:buClr>
              <a:buSzPct val="45000"/>
              <a:buFont typeface="Wingdings" charset="2"/>
              <a:buChar char=""/>
            </a:pPr>
            <a:r>
              <a:rPr b="0" lang="en-US" sz="1200" strike="noStrike" u="none">
                <a:solidFill>
                  <a:srgbClr val="000000"/>
                </a:solidFill>
                <a:effectLst/>
                <a:uFillTx/>
                <a:latin typeface="Arial"/>
                <a:ea typeface="DejaVu Sans"/>
              </a:rPr>
              <a:t>Several TAGs (triacylglycerols) and SMs (sphingomyelins) dominate as top features indicating that lipid metabolism is a major driver</a:t>
            </a:r>
            <a:r>
              <a:rPr b="0" lang="en-US" sz="1000" strike="noStrike" u="none">
                <a:solidFill>
                  <a:srgbClr val="000000"/>
                </a:solidFill>
                <a:effectLst/>
                <a:uFillTx/>
                <a:latin typeface="Arial"/>
                <a:ea typeface="DejaVu Sans"/>
              </a:rPr>
              <a:t>. </a:t>
            </a:r>
            <a:endParaRPr b="0" lang="en-US" sz="1000" strike="noStrike" u="none">
              <a:solidFill>
                <a:srgbClr val="000000"/>
              </a:solidFill>
              <a:effectLst/>
              <a:uFillTx/>
              <a:latin typeface="Arial"/>
            </a:endParaRPr>
          </a:p>
        </p:txBody>
      </p:sp>
      <p:pic>
        <p:nvPicPr>
          <p:cNvPr id="159" name="" descr=""/>
          <p:cNvPicPr/>
          <p:nvPr/>
        </p:nvPicPr>
        <p:blipFill>
          <a:blip r:embed="rId1"/>
          <a:stretch/>
        </p:blipFill>
        <p:spPr>
          <a:xfrm>
            <a:off x="0" y="914400"/>
            <a:ext cx="5937480" cy="4749840"/>
          </a:xfrm>
          <a:prstGeom prst="rect">
            <a:avLst/>
          </a:prstGeom>
          <a:noFill/>
          <a:ln w="0">
            <a:noFill/>
          </a:ln>
        </p:spPr>
      </p:pic>
      <p:sp>
        <p:nvSpPr>
          <p:cNvPr id="2" name="PlaceHolder 1"/>
          <p:cNvSpPr>
            <a:spLocks noGrp="1"/>
          </p:cNvSpPr>
          <p:nvPr>
            <p:ph type="sldNum" idx="11"/>
          </p:nvPr>
        </p:nvSpPr>
        <p:spPr/>
        <p:txBody>
          <a:bodyPr/>
          <a:p>
            <a:fld id="{3E5360EB-11E1-4FA1-B5C5-CFD56D34913B}" type="slidenum">
              <a:t>23</a:t>
            </a:fld>
          </a:p>
        </p:txBody>
      </p:sp>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0" name="PlaceHolder 1"/>
          <p:cNvSpPr>
            <a:spLocks noGrp="1"/>
          </p:cNvSpPr>
          <p:nvPr>
            <p:ph type="title"/>
          </p:nvPr>
        </p:nvSpPr>
        <p:spPr>
          <a:xfrm>
            <a:off x="360000" y="68400"/>
            <a:ext cx="9342720" cy="684720"/>
          </a:xfrm>
          <a:prstGeom prst="rect">
            <a:avLst/>
          </a:prstGeom>
          <a:noFill/>
          <a:ln w="0">
            <a:noFill/>
          </a:ln>
        </p:spPr>
        <p:txBody>
          <a:bodyPr lIns="0" rIns="0" tIns="0" bIns="0" anchor="ctr">
            <a:spAutoFit/>
          </a:bodyPr>
          <a:p>
            <a:pPr indent="0" algn="ctr">
              <a:lnSpc>
                <a:spcPct val="100000"/>
              </a:lnSpc>
              <a:buNone/>
              <a:tabLst>
                <a:tab algn="l" pos="0"/>
              </a:tabLst>
            </a:pPr>
            <a:r>
              <a:rPr b="0" lang="en-US" sz="3000" strike="noStrike" u="none">
                <a:solidFill>
                  <a:srgbClr val="ffffff"/>
                </a:solidFill>
                <a:effectLst/>
                <a:uFillTx/>
                <a:latin typeface="Arial"/>
              </a:rPr>
              <a:t>Random Forest: SHAP values</a:t>
            </a:r>
            <a:endParaRPr b="0" lang="en-US" sz="3000" strike="noStrike" u="none">
              <a:solidFill>
                <a:srgbClr val="000000"/>
              </a:solidFill>
              <a:effectLst/>
              <a:uFillTx/>
              <a:latin typeface="Arial"/>
            </a:endParaRPr>
          </a:p>
        </p:txBody>
      </p:sp>
      <p:sp>
        <p:nvSpPr>
          <p:cNvPr id="161" name=""/>
          <p:cNvSpPr/>
          <p:nvPr/>
        </p:nvSpPr>
        <p:spPr>
          <a:xfrm>
            <a:off x="5715000" y="753120"/>
            <a:ext cx="4339800" cy="4490280"/>
          </a:xfrm>
          <a:prstGeom prst="rect">
            <a:avLst/>
          </a:prstGeom>
          <a:noFill/>
          <a:ln w="0">
            <a:noFill/>
          </a:ln>
        </p:spPr>
        <p:style>
          <a:lnRef idx="0"/>
          <a:fillRef idx="0"/>
          <a:effectRef idx="0"/>
          <a:fontRef idx="minor"/>
        </p:style>
        <p:txBody>
          <a:bodyPr lIns="90000" rIns="90000" tIns="45000" bIns="45000" anchor="t">
            <a:spAutoFit/>
          </a:bodyPr>
          <a:p>
            <a:pPr marL="216000" indent="-216000">
              <a:lnSpc>
                <a:spcPct val="100000"/>
              </a:lnSpc>
              <a:spcBef>
                <a:spcPts val="1191"/>
              </a:spcBef>
              <a:spcAft>
                <a:spcPts val="992"/>
              </a:spcAft>
              <a:buClr>
                <a:srgbClr val="000000"/>
              </a:buClr>
              <a:buSzPct val="45000"/>
              <a:buFont typeface="Wingdings" charset="2"/>
              <a:buChar char=""/>
            </a:pPr>
            <a:r>
              <a:rPr b="0" lang="en-US" sz="1200" strike="noStrike" u="none">
                <a:solidFill>
                  <a:srgbClr val="000000"/>
                </a:solidFill>
                <a:effectLst/>
                <a:uFillTx/>
                <a:latin typeface="Arial"/>
                <a:ea typeface="DejaVu Sans"/>
              </a:rPr>
              <a:t>SHAP (SHapley Additive exPlanations) summary plot displaying the distribution of SHAP values (ϕ) for the most influential features identified by a Random Forest model. SHAP values represent the contribution of each feature to the model's output for individual predictions. </a:t>
            </a:r>
            <a:endParaRPr b="0" lang="en-US" sz="1200" strike="noStrike" u="none">
              <a:solidFill>
                <a:srgbClr val="000000"/>
              </a:solidFill>
              <a:effectLst/>
              <a:uFillTx/>
              <a:latin typeface="Arial"/>
            </a:endParaRPr>
          </a:p>
          <a:p>
            <a:pPr marL="216000" indent="-216000">
              <a:lnSpc>
                <a:spcPct val="100000"/>
              </a:lnSpc>
              <a:spcBef>
                <a:spcPts val="1191"/>
              </a:spcBef>
              <a:spcAft>
                <a:spcPts val="992"/>
              </a:spcAft>
              <a:buClr>
                <a:srgbClr val="000000"/>
              </a:buClr>
              <a:buSzPct val="45000"/>
              <a:buFont typeface="Wingdings" charset="2"/>
              <a:buChar char=""/>
            </a:pPr>
            <a:r>
              <a:rPr b="0" lang="en-US" sz="1200" strike="noStrike" u="none">
                <a:solidFill>
                  <a:srgbClr val="000000"/>
                </a:solidFill>
                <a:effectLst/>
                <a:uFillTx/>
                <a:latin typeface="Arial"/>
                <a:ea typeface="DejaVu Sans"/>
              </a:rPr>
              <a:t>Triacylglycerol (TAG (54:5-18:2)), sphingomyelin (SM (38:1)), and phsophatidic acid (PA (18:0/22:6)) exhibit the widest SHAP value ranges and strongest overall impact.</a:t>
            </a:r>
            <a:endParaRPr b="0" lang="en-US" sz="1200" strike="noStrike" u="none">
              <a:solidFill>
                <a:srgbClr val="000000"/>
              </a:solidFill>
              <a:effectLst/>
              <a:uFillTx/>
              <a:latin typeface="Arial"/>
            </a:endParaRPr>
          </a:p>
          <a:p>
            <a:pPr marL="216000" indent="-216000">
              <a:lnSpc>
                <a:spcPct val="100000"/>
              </a:lnSpc>
              <a:spcBef>
                <a:spcPts val="1191"/>
              </a:spcBef>
              <a:spcAft>
                <a:spcPts val="992"/>
              </a:spcAft>
              <a:buClr>
                <a:srgbClr val="000000"/>
              </a:buClr>
              <a:buSzPct val="45000"/>
              <a:buFont typeface="Wingdings" charset="2"/>
              <a:buChar char=""/>
            </a:pPr>
            <a:r>
              <a:rPr b="0" lang="en-US" sz="1200" strike="noStrike" u="none">
                <a:solidFill>
                  <a:srgbClr val="000000"/>
                </a:solidFill>
                <a:effectLst/>
                <a:uFillTx/>
                <a:latin typeface="Arial"/>
                <a:ea typeface="DejaVu Sans"/>
              </a:rPr>
              <a:t>Triacylglycerol (TAG (52:4-16:1)) and Valine also contribute notably, linking branched-chain amino acid metabolism with lipid alterations.</a:t>
            </a:r>
            <a:endParaRPr b="0" lang="en-US" sz="1200" strike="noStrike" u="none">
              <a:solidFill>
                <a:srgbClr val="000000"/>
              </a:solidFill>
              <a:effectLst/>
              <a:uFillTx/>
              <a:latin typeface="Arial"/>
            </a:endParaRPr>
          </a:p>
          <a:p>
            <a:pPr marL="216000" indent="-216000">
              <a:lnSpc>
                <a:spcPct val="100000"/>
              </a:lnSpc>
              <a:spcBef>
                <a:spcPts val="1191"/>
              </a:spcBef>
              <a:spcAft>
                <a:spcPts val="992"/>
              </a:spcAft>
              <a:buClr>
                <a:srgbClr val="000000"/>
              </a:buClr>
              <a:buSzPct val="45000"/>
              <a:buFont typeface="Wingdings" charset="2"/>
              <a:buChar char=""/>
            </a:pPr>
            <a:r>
              <a:rPr b="0" lang="en-US" sz="1200" strike="noStrike" u="none">
                <a:solidFill>
                  <a:srgbClr val="000000"/>
                </a:solidFill>
                <a:effectLst/>
                <a:uFillTx/>
                <a:latin typeface="Arial"/>
                <a:ea typeface="DejaVu Sans"/>
              </a:rPr>
              <a:t>Metabolites such as 4-Hydroxyphenyllactate,   diacylglycerol (DAG (14:0/16:0)), and phosphatidylcholine (PC (40:5)) show smaller but consistent effects.</a:t>
            </a:r>
            <a:endParaRPr b="0" lang="en-US" sz="1200" strike="noStrike" u="none">
              <a:solidFill>
                <a:srgbClr val="000000"/>
              </a:solidFill>
              <a:effectLst/>
              <a:uFillTx/>
              <a:latin typeface="Arial"/>
            </a:endParaRPr>
          </a:p>
          <a:p>
            <a:pPr marL="216000" indent="-216000">
              <a:lnSpc>
                <a:spcPct val="100000"/>
              </a:lnSpc>
              <a:spcBef>
                <a:spcPts val="1191"/>
              </a:spcBef>
              <a:spcAft>
                <a:spcPts val="992"/>
              </a:spcAft>
              <a:buClr>
                <a:srgbClr val="000000"/>
              </a:buClr>
              <a:buSzPct val="45000"/>
              <a:buFont typeface="Wingdings" charset="2"/>
              <a:buChar char=""/>
            </a:pPr>
            <a:r>
              <a:rPr b="0" lang="en-US" sz="1200" strike="noStrike" u="none">
                <a:solidFill>
                  <a:srgbClr val="000000"/>
                </a:solidFill>
                <a:effectLst/>
                <a:uFillTx/>
                <a:latin typeface="Arial"/>
                <a:ea typeface="DejaVu Sans"/>
              </a:rPr>
              <a:t>Sphingomyelins (SMs), phosphatidic acids (PAs), and triacylglycerols (TAGs) dominate the SHAP landscape, underscoring dysregulated lipid metabolism as the key differentiator between diabetic and healthy profiles. </a:t>
            </a:r>
            <a:endParaRPr b="0" lang="en-US" sz="1200" strike="noStrike" u="none">
              <a:solidFill>
                <a:srgbClr val="000000"/>
              </a:solidFill>
              <a:effectLst/>
              <a:uFillTx/>
              <a:latin typeface="Arial"/>
            </a:endParaRPr>
          </a:p>
        </p:txBody>
      </p:sp>
      <p:pic>
        <p:nvPicPr>
          <p:cNvPr id="162" name="" descr=""/>
          <p:cNvPicPr/>
          <p:nvPr/>
        </p:nvPicPr>
        <p:blipFill>
          <a:blip r:embed="rId1"/>
          <a:stretch/>
        </p:blipFill>
        <p:spPr>
          <a:xfrm>
            <a:off x="11520" y="753120"/>
            <a:ext cx="5699880" cy="4906080"/>
          </a:xfrm>
          <a:prstGeom prst="rect">
            <a:avLst/>
          </a:prstGeom>
          <a:noFill/>
          <a:ln w="0">
            <a:noFill/>
          </a:ln>
        </p:spPr>
      </p:pic>
      <p:sp>
        <p:nvSpPr>
          <p:cNvPr id="3" name="PlaceHolder 2"/>
          <p:cNvSpPr>
            <a:spLocks noGrp="1"/>
          </p:cNvSpPr>
          <p:nvPr>
            <p:ph type="sldNum" idx="11"/>
          </p:nvPr>
        </p:nvSpPr>
        <p:spPr/>
        <p:txBody>
          <a:bodyPr/>
          <a:p>
            <a:fld id="{C6C06E23-BBB8-4821-A425-B06D66647AD9}" type="slidenum">
              <a:t>24</a:t>
            </a:fld>
          </a:p>
        </p:txBody>
      </p:sp>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3" name="PlaceHolder 1"/>
          <p:cNvSpPr>
            <a:spLocks noGrp="1"/>
          </p:cNvSpPr>
          <p:nvPr>
            <p:ph type="title"/>
          </p:nvPr>
        </p:nvSpPr>
        <p:spPr>
          <a:xfrm>
            <a:off x="360000" y="174240"/>
            <a:ext cx="9342720" cy="472320"/>
          </a:xfrm>
          <a:prstGeom prst="rect">
            <a:avLst/>
          </a:prstGeom>
          <a:noFill/>
          <a:ln w="0">
            <a:noFill/>
          </a:ln>
        </p:spPr>
        <p:txBody>
          <a:bodyPr lIns="0" rIns="0" tIns="0" bIns="0" anchor="ctr">
            <a:spAutoFit/>
          </a:bodyPr>
          <a:p>
            <a:pPr indent="0" algn="ctr">
              <a:lnSpc>
                <a:spcPct val="100000"/>
              </a:lnSpc>
              <a:buNone/>
              <a:tabLst>
                <a:tab algn="l" pos="0"/>
              </a:tabLst>
            </a:pPr>
            <a:r>
              <a:rPr b="0" lang="en-US" sz="3000" strike="noStrike" u="none">
                <a:solidFill>
                  <a:srgbClr val="ffffff"/>
                </a:solidFill>
                <a:effectLst/>
                <a:uFillTx/>
                <a:latin typeface="Arial"/>
              </a:rPr>
              <a:t>Random Forest: Difference Between Groups</a:t>
            </a:r>
            <a:endParaRPr b="0" lang="en-US" sz="3000" strike="noStrike" u="none">
              <a:solidFill>
                <a:srgbClr val="000000"/>
              </a:solidFill>
              <a:effectLst/>
              <a:uFillTx/>
              <a:latin typeface="Arial"/>
            </a:endParaRPr>
          </a:p>
        </p:txBody>
      </p:sp>
      <p:sp>
        <p:nvSpPr>
          <p:cNvPr id="164" name="PlaceHolder 2"/>
          <p:cNvSpPr>
            <a:spLocks noGrp="1"/>
          </p:cNvSpPr>
          <p:nvPr>
            <p:ph/>
          </p:nvPr>
        </p:nvSpPr>
        <p:spPr>
          <a:xfrm>
            <a:off x="360000" y="1080000"/>
            <a:ext cx="9342720" cy="358272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b="0" lang="en-US" sz="2500" strike="noStrike" u="none">
                <a:solidFill>
                  <a:srgbClr val="000000"/>
                </a:solidFill>
                <a:effectLst/>
                <a:uFillTx/>
                <a:latin typeface="Arial"/>
              </a:rPr>
              <a:t>H</a:t>
            </a:r>
            <a:r>
              <a:rPr b="0" lang="en-US" sz="2500" strike="noStrike" u="none" baseline="-8000">
                <a:solidFill>
                  <a:srgbClr val="000000"/>
                </a:solidFill>
                <a:effectLst/>
                <a:uFillTx/>
                <a:latin typeface="Arial"/>
              </a:rPr>
              <a:t>0</a:t>
            </a:r>
            <a:r>
              <a:rPr b="0" lang="en-US" sz="2500" strike="noStrike" u="none">
                <a:solidFill>
                  <a:srgbClr val="000000"/>
                </a:solidFill>
                <a:effectLst/>
                <a:uFillTx/>
                <a:latin typeface="Arial"/>
              </a:rPr>
              <a:t>: no difference in SHAP values between Healthy and Type 2 diabetic people </a:t>
            </a:r>
            <a:br>
              <a:rPr sz="2500"/>
            </a:br>
            <a:r>
              <a:rPr b="0" lang="en-US" sz="2500" strike="noStrike" u="none">
                <a:solidFill>
                  <a:srgbClr val="000000"/>
                </a:solidFill>
                <a:effectLst/>
                <a:uFillTx/>
                <a:latin typeface="Arial"/>
              </a:rPr>
              <a:t>H</a:t>
            </a:r>
            <a:r>
              <a:rPr b="0" lang="en-US" sz="2500" strike="noStrike" u="none" baseline="-8000">
                <a:solidFill>
                  <a:srgbClr val="000000"/>
                </a:solidFill>
                <a:effectLst/>
                <a:uFillTx/>
                <a:latin typeface="Arial"/>
              </a:rPr>
              <a:t>A</a:t>
            </a:r>
            <a:r>
              <a:rPr b="0" lang="en-US" sz="2500" strike="noStrike" u="none">
                <a:solidFill>
                  <a:srgbClr val="000000"/>
                </a:solidFill>
                <a:effectLst/>
                <a:uFillTx/>
                <a:latin typeface="Arial"/>
              </a:rPr>
              <a:t>: difference in SHAP values between Healthy and Type 2 diabetic people</a:t>
            </a:r>
            <a:endParaRPr b="0" lang="en-US" sz="2500" strike="noStrike" u="none">
              <a:solidFill>
                <a:srgbClr val="000000"/>
              </a:solidFill>
              <a:effectLst/>
              <a:uFillTx/>
              <a:latin typeface="Arial"/>
            </a:endParaRPr>
          </a:p>
          <a:p>
            <a:pPr marL="432000" indent="-324000">
              <a:lnSpc>
                <a:spcPct val="100000"/>
              </a:lnSpc>
              <a:spcBef>
                <a:spcPts val="1417"/>
              </a:spcBef>
              <a:buClr>
                <a:srgbClr val="000000"/>
              </a:buClr>
              <a:buSzPct val="45000"/>
              <a:buFont typeface="Wingdings" charset="2"/>
              <a:buChar char=""/>
            </a:pPr>
            <a:r>
              <a:rPr b="0" lang="en-US" sz="2500" strike="noStrike" u="none">
                <a:solidFill>
                  <a:srgbClr val="000000"/>
                </a:solidFill>
                <a:effectLst/>
                <a:uFillTx/>
                <a:latin typeface="Arial"/>
              </a:rPr>
              <a:t>p-value &lt; 2.2x10</a:t>
            </a:r>
            <a:r>
              <a:rPr b="0" lang="en-US" sz="2500" strike="noStrike" u="none" baseline="33000">
                <a:solidFill>
                  <a:srgbClr val="000000"/>
                </a:solidFill>
                <a:effectLst/>
                <a:uFillTx/>
                <a:latin typeface="Arial"/>
              </a:rPr>
              <a:t>-16</a:t>
            </a:r>
            <a:r>
              <a:rPr b="0" lang="en-US" sz="2500" strike="noStrike" u="none">
                <a:solidFill>
                  <a:srgbClr val="000000"/>
                </a:solidFill>
                <a:effectLst/>
                <a:uFillTx/>
                <a:latin typeface="Arial"/>
              </a:rPr>
              <a:t>, i.e., there is a highly significant difference in SHAP values between Healthy and Type 2 diabetic people</a:t>
            </a:r>
            <a:endParaRPr b="0" lang="en-US" sz="2500" strike="noStrike" u="none">
              <a:solidFill>
                <a:srgbClr val="000000"/>
              </a:solidFill>
              <a:effectLst/>
              <a:uFillTx/>
              <a:latin typeface="Arial"/>
            </a:endParaRPr>
          </a:p>
        </p:txBody>
      </p:sp>
      <p:sp>
        <p:nvSpPr>
          <p:cNvPr id="4" name="PlaceHolder 3"/>
          <p:cNvSpPr>
            <a:spLocks noGrp="1"/>
          </p:cNvSpPr>
          <p:nvPr>
            <p:ph type="sldNum" idx="11"/>
          </p:nvPr>
        </p:nvSpPr>
        <p:spPr/>
        <p:txBody>
          <a:bodyPr/>
          <a:p>
            <a:fld id="{C8633A3F-7C8A-46D4-A5D8-9912C7B5C58A}" type="slidenum">
              <a:t>25</a:t>
            </a:fld>
          </a:p>
        </p:txBody>
      </p:sp>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5" name="PlaceHolder 1"/>
          <p:cNvSpPr>
            <a:spLocks noGrp="1"/>
          </p:cNvSpPr>
          <p:nvPr>
            <p:ph type="title"/>
          </p:nvPr>
        </p:nvSpPr>
        <p:spPr>
          <a:xfrm>
            <a:off x="360000" y="68400"/>
            <a:ext cx="9342720" cy="684720"/>
          </a:xfrm>
          <a:prstGeom prst="rect">
            <a:avLst/>
          </a:prstGeom>
          <a:noFill/>
          <a:ln w="0">
            <a:noFill/>
          </a:ln>
        </p:spPr>
        <p:txBody>
          <a:bodyPr lIns="0" rIns="0" tIns="0" bIns="0" anchor="ctr">
            <a:spAutoFit/>
          </a:bodyPr>
          <a:p>
            <a:pPr indent="0" algn="ctr">
              <a:lnSpc>
                <a:spcPct val="100000"/>
              </a:lnSpc>
              <a:buNone/>
              <a:tabLst>
                <a:tab algn="l" pos="0"/>
              </a:tabLst>
            </a:pPr>
            <a:r>
              <a:rPr b="0" lang="en-US" sz="3000" strike="noStrike" u="none">
                <a:solidFill>
                  <a:srgbClr val="ffffff"/>
                </a:solidFill>
                <a:effectLst/>
                <a:uFillTx/>
                <a:latin typeface="Arial"/>
              </a:rPr>
              <a:t>Random Forest: Mean(|SHAP|)</a:t>
            </a:r>
            <a:endParaRPr b="0" lang="en-US" sz="3000" strike="noStrike" u="none">
              <a:solidFill>
                <a:srgbClr val="000000"/>
              </a:solidFill>
              <a:effectLst/>
              <a:uFillTx/>
              <a:latin typeface="Arial"/>
            </a:endParaRPr>
          </a:p>
        </p:txBody>
      </p:sp>
      <p:sp>
        <p:nvSpPr>
          <p:cNvPr id="166" name=""/>
          <p:cNvSpPr/>
          <p:nvPr/>
        </p:nvSpPr>
        <p:spPr>
          <a:xfrm>
            <a:off x="5943600" y="914400"/>
            <a:ext cx="4099680" cy="4490280"/>
          </a:xfrm>
          <a:prstGeom prst="rect">
            <a:avLst/>
          </a:prstGeom>
          <a:noFill/>
          <a:ln w="0">
            <a:noFill/>
          </a:ln>
        </p:spPr>
        <p:style>
          <a:lnRef idx="0"/>
          <a:fillRef idx="0"/>
          <a:effectRef idx="0"/>
          <a:fontRef idx="minor"/>
        </p:style>
        <p:txBody>
          <a:bodyPr lIns="90000" rIns="90000" tIns="45000" bIns="45000" anchor="t">
            <a:spAutoFit/>
          </a:bodyPr>
          <a:p>
            <a:pPr marL="216000" indent="-216000">
              <a:lnSpc>
                <a:spcPct val="100000"/>
              </a:lnSpc>
              <a:spcBef>
                <a:spcPts val="1191"/>
              </a:spcBef>
              <a:spcAft>
                <a:spcPts val="992"/>
              </a:spcAft>
              <a:buClr>
                <a:srgbClr val="000000"/>
              </a:buClr>
              <a:buSzPct val="45000"/>
              <a:buFont typeface="Wingdings" charset="2"/>
              <a:buChar char=""/>
            </a:pPr>
            <a:r>
              <a:rPr b="0" lang="en-US" sz="1200" strike="noStrike" u="none">
                <a:solidFill>
                  <a:srgbClr val="000000"/>
                </a:solidFill>
                <a:effectLst/>
                <a:uFillTx/>
                <a:latin typeface="Arial"/>
                <a:ea typeface="DejaVu Sans"/>
              </a:rPr>
              <a:t>Mean absolute SHAP value for each metabolite for a random forest model, representing its overall importance in the predictive model. </a:t>
            </a:r>
            <a:endParaRPr b="0" lang="en-US" sz="1200" strike="noStrike" u="none">
              <a:solidFill>
                <a:srgbClr val="000000"/>
              </a:solidFill>
              <a:effectLst/>
              <a:uFillTx/>
              <a:latin typeface="Arial"/>
            </a:endParaRPr>
          </a:p>
          <a:p>
            <a:pPr marL="216000" indent="-216000" defTabSz="914400">
              <a:lnSpc>
                <a:spcPct val="100000"/>
              </a:lnSpc>
              <a:spcBef>
                <a:spcPts val="1191"/>
              </a:spcBef>
              <a:spcAft>
                <a:spcPts val="992"/>
              </a:spcAft>
              <a:buClr>
                <a:srgbClr val="000000"/>
              </a:buClr>
              <a:buSzPct val="45000"/>
              <a:buFont typeface="Wingdings" charset="2"/>
              <a:buChar char=""/>
            </a:pPr>
            <a:r>
              <a:rPr b="0" lang="en-US" sz="1200" strike="noStrike" u="none">
                <a:solidFill>
                  <a:srgbClr val="000000"/>
                </a:solidFill>
                <a:effectLst/>
                <a:uFillTx/>
                <a:latin typeface="Arial"/>
                <a:ea typeface="DejaVu Sans"/>
              </a:rPr>
              <a:t>Phosphatidic acid (PA (18.0.22.6)) shows the higher Mean(|SHAP|) value, i.e., it is the most important metabolite for differentiating diabetics from normal individuals, followed by triacylglycerol (TAG (54:5.18:2)) and sphingomyelin (SM (38:1)).</a:t>
            </a:r>
            <a:endParaRPr b="0" lang="en-US" sz="1200" strike="noStrike" u="none">
              <a:solidFill>
                <a:srgbClr val="000000"/>
              </a:solidFill>
              <a:effectLst/>
              <a:uFillTx/>
              <a:latin typeface="Arial"/>
            </a:endParaRPr>
          </a:p>
          <a:p>
            <a:pPr marL="216000" indent="-216000" defTabSz="914400">
              <a:lnSpc>
                <a:spcPct val="100000"/>
              </a:lnSpc>
              <a:spcBef>
                <a:spcPts val="1191"/>
              </a:spcBef>
              <a:spcAft>
                <a:spcPts val="992"/>
              </a:spcAft>
              <a:buClr>
                <a:srgbClr val="000000"/>
              </a:buClr>
              <a:buSzPct val="45000"/>
              <a:buFont typeface="Wingdings" charset="2"/>
              <a:buChar char=""/>
            </a:pPr>
            <a:r>
              <a:rPr b="0" lang="en-US" sz="1200" strike="noStrike" u="none">
                <a:solidFill>
                  <a:srgbClr val="000000"/>
                </a:solidFill>
                <a:effectLst/>
                <a:uFillTx/>
                <a:latin typeface="Arial"/>
                <a:ea typeface="DejaVu Sans"/>
              </a:rPr>
              <a:t>Other phosphatidic acids (PA 20:0/20:4, PA 20:0/18:2) and triacylglycerols (TAG 52:4-16:1, TAG 52:3-16:1) form a mid-tier cluster of lipids with consistent positive contributions.</a:t>
            </a:r>
            <a:endParaRPr b="0" lang="en-US" sz="1200" strike="noStrike" u="none">
              <a:solidFill>
                <a:srgbClr val="000000"/>
              </a:solidFill>
              <a:effectLst/>
              <a:uFillTx/>
              <a:latin typeface="Arial"/>
            </a:endParaRPr>
          </a:p>
          <a:p>
            <a:pPr marL="216000" indent="-216000" defTabSz="914400">
              <a:lnSpc>
                <a:spcPct val="100000"/>
              </a:lnSpc>
              <a:spcBef>
                <a:spcPts val="1191"/>
              </a:spcBef>
              <a:spcAft>
                <a:spcPts val="992"/>
              </a:spcAft>
              <a:buClr>
                <a:srgbClr val="000000"/>
              </a:buClr>
              <a:buSzPct val="45000"/>
              <a:buFont typeface="Wingdings" charset="2"/>
              <a:buChar char=""/>
            </a:pPr>
            <a:r>
              <a:rPr b="0" lang="en-US" sz="1200" strike="noStrike" u="none">
                <a:solidFill>
                  <a:srgbClr val="000000"/>
                </a:solidFill>
                <a:effectLst/>
                <a:uFillTx/>
                <a:latin typeface="Arial"/>
                <a:ea typeface="DejaVu Sans"/>
              </a:rPr>
              <a:t>Valine shows moderate importance, supporting an amino-acid–lipid interaction signal.</a:t>
            </a:r>
            <a:endParaRPr b="0" lang="en-US" sz="1200" strike="noStrike" u="none">
              <a:solidFill>
                <a:srgbClr val="000000"/>
              </a:solidFill>
              <a:effectLst/>
              <a:uFillTx/>
              <a:latin typeface="Arial"/>
            </a:endParaRPr>
          </a:p>
          <a:p>
            <a:pPr marL="216000" indent="-216000" defTabSz="914400">
              <a:lnSpc>
                <a:spcPct val="100000"/>
              </a:lnSpc>
              <a:spcBef>
                <a:spcPts val="1191"/>
              </a:spcBef>
              <a:spcAft>
                <a:spcPts val="992"/>
              </a:spcAft>
              <a:buClr>
                <a:srgbClr val="000000"/>
              </a:buClr>
              <a:buSzPct val="45000"/>
              <a:buFont typeface="Wingdings" charset="2"/>
              <a:buChar char=""/>
            </a:pPr>
            <a:r>
              <a:rPr b="0" lang="en-US" sz="1200" strike="noStrike" u="none">
                <a:solidFill>
                  <a:srgbClr val="000000"/>
                </a:solidFill>
                <a:effectLst/>
                <a:uFillTx/>
                <a:latin typeface="Arial"/>
                <a:ea typeface="DejaVu Sans"/>
              </a:rPr>
              <a:t>Diacylglycerols (DAGs) and phosphatidylcholines (PCs) exhibit smaller Mean(|SHAP|) values, contributing less to discrimination between diabetic and healthy groups. </a:t>
            </a:r>
            <a:endParaRPr b="0" lang="en-US" sz="1200" strike="noStrike" u="none">
              <a:solidFill>
                <a:srgbClr val="000000"/>
              </a:solidFill>
              <a:effectLst/>
              <a:uFillTx/>
              <a:latin typeface="Arial"/>
            </a:endParaRPr>
          </a:p>
        </p:txBody>
      </p:sp>
      <p:pic>
        <p:nvPicPr>
          <p:cNvPr id="167" name="" descr=""/>
          <p:cNvPicPr/>
          <p:nvPr/>
        </p:nvPicPr>
        <p:blipFill>
          <a:blip r:embed="rId1"/>
          <a:stretch/>
        </p:blipFill>
        <p:spPr>
          <a:xfrm>
            <a:off x="11520" y="753120"/>
            <a:ext cx="5925600" cy="4906080"/>
          </a:xfrm>
          <a:prstGeom prst="rect">
            <a:avLst/>
          </a:prstGeom>
          <a:noFill/>
          <a:ln w="0">
            <a:noFill/>
          </a:ln>
        </p:spPr>
      </p:pic>
      <p:sp>
        <p:nvSpPr>
          <p:cNvPr id="3" name="PlaceHolder 2"/>
          <p:cNvSpPr>
            <a:spLocks noGrp="1"/>
          </p:cNvSpPr>
          <p:nvPr>
            <p:ph type="sldNum" idx="11"/>
          </p:nvPr>
        </p:nvSpPr>
        <p:spPr/>
        <p:txBody>
          <a:bodyPr/>
          <a:p>
            <a:fld id="{F659BE40-AA3E-477E-B7D4-811B3AF276EF}" type="slidenum">
              <a:t>26</a:t>
            </a:fld>
          </a:p>
        </p:txBody>
      </p:sp>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8" name="PlaceHolder 1"/>
          <p:cNvSpPr>
            <a:spLocks noGrp="1"/>
          </p:cNvSpPr>
          <p:nvPr>
            <p:ph type="title"/>
          </p:nvPr>
        </p:nvSpPr>
        <p:spPr>
          <a:xfrm>
            <a:off x="360000" y="68400"/>
            <a:ext cx="9342720" cy="684720"/>
          </a:xfrm>
          <a:prstGeom prst="rect">
            <a:avLst/>
          </a:prstGeom>
          <a:noFill/>
          <a:ln w="0">
            <a:noFill/>
          </a:ln>
        </p:spPr>
        <p:txBody>
          <a:bodyPr lIns="0" rIns="0" tIns="0" bIns="0" anchor="ctr">
            <a:spAutoFit/>
          </a:bodyPr>
          <a:p>
            <a:pPr indent="0" algn="ctr">
              <a:lnSpc>
                <a:spcPct val="100000"/>
              </a:lnSpc>
              <a:buNone/>
              <a:tabLst>
                <a:tab algn="l" pos="0"/>
              </a:tabLst>
            </a:pPr>
            <a:r>
              <a:rPr b="0" lang="en-US" sz="3000" strike="noStrike" u="none">
                <a:solidFill>
                  <a:srgbClr val="ffffff"/>
                </a:solidFill>
                <a:effectLst/>
                <a:uFillTx/>
                <a:latin typeface="Arial"/>
              </a:rPr>
              <a:t>Random Forest: Mean(|SHAP|)</a:t>
            </a:r>
            <a:endParaRPr b="0" lang="en-US" sz="3000" strike="noStrike" u="none">
              <a:solidFill>
                <a:srgbClr val="000000"/>
              </a:solidFill>
              <a:effectLst/>
              <a:uFillTx/>
              <a:latin typeface="Arial"/>
            </a:endParaRPr>
          </a:p>
        </p:txBody>
      </p:sp>
      <p:sp>
        <p:nvSpPr>
          <p:cNvPr id="169" name=""/>
          <p:cNvSpPr/>
          <p:nvPr/>
        </p:nvSpPr>
        <p:spPr>
          <a:xfrm>
            <a:off x="5943600" y="914400"/>
            <a:ext cx="4099680" cy="3941640"/>
          </a:xfrm>
          <a:prstGeom prst="rect">
            <a:avLst/>
          </a:prstGeom>
          <a:noFill/>
          <a:ln w="0">
            <a:noFill/>
          </a:ln>
        </p:spPr>
        <p:style>
          <a:lnRef idx="0"/>
          <a:fillRef idx="0"/>
          <a:effectRef idx="0"/>
          <a:fontRef idx="minor"/>
        </p:style>
        <p:txBody>
          <a:bodyPr lIns="90000" rIns="90000" tIns="45000" bIns="45000" anchor="t">
            <a:spAutoFit/>
          </a:bodyPr>
          <a:p>
            <a:pPr marL="216000" indent="-216000">
              <a:lnSpc>
                <a:spcPct val="100000"/>
              </a:lnSpc>
              <a:spcBef>
                <a:spcPts val="1191"/>
              </a:spcBef>
              <a:spcAft>
                <a:spcPts val="992"/>
              </a:spcAft>
              <a:buClr>
                <a:srgbClr val="000000"/>
              </a:buClr>
              <a:buSzPct val="45000"/>
              <a:buFont typeface="Wingdings" charset="2"/>
              <a:buChar char=""/>
            </a:pPr>
            <a:r>
              <a:rPr b="0" lang="en-US" sz="1200" strike="noStrike" u="none">
                <a:solidFill>
                  <a:srgbClr val="000000"/>
                </a:solidFill>
                <a:effectLst/>
                <a:uFillTx/>
                <a:latin typeface="Arial"/>
                <a:ea typeface="DejaVu Sans"/>
              </a:rPr>
              <a:t>Heatmap shows the top 20 metabolites ranked by mean absolute SHAP values as identified by the Random Forest (RF) model.  </a:t>
            </a:r>
            <a:endParaRPr b="0" lang="en-US" sz="1200" strike="noStrike" u="none">
              <a:solidFill>
                <a:srgbClr val="000000"/>
              </a:solidFill>
              <a:effectLst/>
              <a:uFillTx/>
              <a:latin typeface="Arial"/>
            </a:endParaRPr>
          </a:p>
          <a:p>
            <a:pPr marL="216000" indent="-216000">
              <a:lnSpc>
                <a:spcPct val="100000"/>
              </a:lnSpc>
              <a:spcBef>
                <a:spcPts val="1191"/>
              </a:spcBef>
              <a:spcAft>
                <a:spcPts val="992"/>
              </a:spcAft>
              <a:buClr>
                <a:srgbClr val="000000"/>
              </a:buClr>
              <a:buSzPct val="45000"/>
              <a:buFont typeface="Wingdings" charset="2"/>
              <a:buChar char=""/>
            </a:pPr>
            <a:r>
              <a:rPr b="0" lang="en-US" sz="1200" strike="noStrike" u="none">
                <a:solidFill>
                  <a:srgbClr val="000000"/>
                </a:solidFill>
                <a:effectLst/>
                <a:uFillTx/>
                <a:latin typeface="Arial"/>
                <a:ea typeface="DejaVu Sans"/>
              </a:rPr>
              <a:t>Most H (healthy) samples show blue (low) levels of sphingomyelin (SM (34:1)), triacylglycerol (TAG (54:5/18:2)), and phosphatidic acid (PA (18:0/22:6)).</a:t>
            </a:r>
            <a:endParaRPr b="0" lang="en-US" sz="1200" strike="noStrike" u="none">
              <a:solidFill>
                <a:srgbClr val="000000"/>
              </a:solidFill>
              <a:effectLst/>
              <a:uFillTx/>
              <a:latin typeface="Arial"/>
            </a:endParaRPr>
          </a:p>
          <a:p>
            <a:pPr marL="216000" indent="-216000">
              <a:lnSpc>
                <a:spcPct val="100000"/>
              </a:lnSpc>
              <a:spcBef>
                <a:spcPts val="1191"/>
              </a:spcBef>
              <a:spcAft>
                <a:spcPts val="992"/>
              </a:spcAft>
              <a:buClr>
                <a:srgbClr val="000000"/>
              </a:buClr>
              <a:buSzPct val="45000"/>
              <a:buFont typeface="Wingdings" charset="2"/>
              <a:buChar char=""/>
            </a:pPr>
            <a:r>
              <a:rPr b="0" lang="en-US" sz="1200" strike="noStrike" u="none">
                <a:solidFill>
                  <a:srgbClr val="000000"/>
                </a:solidFill>
                <a:effectLst/>
                <a:uFillTx/>
                <a:latin typeface="Arial"/>
                <a:ea typeface="DejaVu Sans"/>
              </a:rPr>
              <a:t>Most D (diabetic) samples show red (high) levels of these same metabolites.</a:t>
            </a:r>
            <a:endParaRPr b="0" lang="en-US" sz="1200" strike="noStrike" u="none">
              <a:solidFill>
                <a:srgbClr val="000000"/>
              </a:solidFill>
              <a:effectLst/>
              <a:uFillTx/>
              <a:latin typeface="Arial"/>
            </a:endParaRPr>
          </a:p>
          <a:p>
            <a:pPr marL="216000" indent="-216000">
              <a:lnSpc>
                <a:spcPct val="100000"/>
              </a:lnSpc>
              <a:spcBef>
                <a:spcPts val="1191"/>
              </a:spcBef>
              <a:spcAft>
                <a:spcPts val="992"/>
              </a:spcAft>
              <a:buClr>
                <a:srgbClr val="000000"/>
              </a:buClr>
              <a:buSzPct val="45000"/>
              <a:buFont typeface="Wingdings" charset="2"/>
              <a:buChar char=""/>
            </a:pPr>
            <a:r>
              <a:rPr b="0" lang="en-US" sz="1200" strike="noStrike" u="none">
                <a:solidFill>
                  <a:srgbClr val="000000"/>
                </a:solidFill>
                <a:effectLst/>
                <a:uFillTx/>
                <a:latin typeface="Arial"/>
                <a:ea typeface="DejaVu Sans"/>
              </a:rPr>
              <a:t>Valine shows a mixed pattern.</a:t>
            </a:r>
            <a:endParaRPr b="0" lang="en-US" sz="1200" strike="noStrike" u="none">
              <a:solidFill>
                <a:srgbClr val="000000"/>
              </a:solidFill>
              <a:effectLst/>
              <a:uFillTx/>
              <a:latin typeface="Arial"/>
            </a:endParaRPr>
          </a:p>
          <a:p>
            <a:pPr marL="216000" indent="-216000">
              <a:lnSpc>
                <a:spcPct val="100000"/>
              </a:lnSpc>
              <a:spcBef>
                <a:spcPts val="1191"/>
              </a:spcBef>
              <a:spcAft>
                <a:spcPts val="992"/>
              </a:spcAft>
              <a:buClr>
                <a:srgbClr val="000000"/>
              </a:buClr>
              <a:buSzPct val="45000"/>
              <a:buFont typeface="Wingdings" charset="2"/>
              <a:buChar char=""/>
            </a:pPr>
            <a:r>
              <a:rPr b="0" lang="en-US" sz="1200" strike="noStrike" u="none">
                <a:solidFill>
                  <a:srgbClr val="000000"/>
                </a:solidFill>
                <a:effectLst/>
                <a:uFillTx/>
                <a:latin typeface="Arial"/>
                <a:ea typeface="DejaVu Sans"/>
              </a:rPr>
              <a:t>While not perfectly distinct, there’s a clear contrast in lipid profiles between diabetic and healthy groups where this pattern supports that dysregulated lipid metabolism (especially TAGs, DAGs, SMs, and PAs) drives model discrimination between T2DM and healthy individuals.</a:t>
            </a:r>
            <a:endParaRPr b="0" lang="en-US" sz="1200" strike="noStrike" u="none">
              <a:solidFill>
                <a:srgbClr val="000000"/>
              </a:solidFill>
              <a:effectLst/>
              <a:uFillTx/>
              <a:latin typeface="Arial"/>
            </a:endParaRPr>
          </a:p>
        </p:txBody>
      </p:sp>
      <p:pic>
        <p:nvPicPr>
          <p:cNvPr id="170" name="" descr=""/>
          <p:cNvPicPr/>
          <p:nvPr/>
        </p:nvPicPr>
        <p:blipFill>
          <a:blip r:embed="rId1"/>
          <a:stretch/>
        </p:blipFill>
        <p:spPr>
          <a:xfrm>
            <a:off x="15120" y="753120"/>
            <a:ext cx="5925600" cy="4906080"/>
          </a:xfrm>
          <a:prstGeom prst="rect">
            <a:avLst/>
          </a:prstGeom>
          <a:noFill/>
          <a:ln w="0">
            <a:noFill/>
          </a:ln>
        </p:spPr>
      </p:pic>
      <p:sp>
        <p:nvSpPr>
          <p:cNvPr id="3" name="PlaceHolder 2"/>
          <p:cNvSpPr>
            <a:spLocks noGrp="1"/>
          </p:cNvSpPr>
          <p:nvPr>
            <p:ph type="sldNum" idx="11"/>
          </p:nvPr>
        </p:nvSpPr>
        <p:spPr/>
        <p:txBody>
          <a:bodyPr/>
          <a:p>
            <a:fld id="{0AF4FBDA-191F-4DE3-9DFA-7AC7D45422EB}" type="slidenum">
              <a:t>27</a:t>
            </a:fld>
          </a:p>
        </p:txBody>
      </p:sp>
    </p:spTree>
  </p:cSld>
  <mc:AlternateContent>
    <mc:Choice Requires="p14">
      <p:transition spd="slow" p14:dur="2000"/>
    </mc:Choice>
    <mc:Fallback>
      <p:transition spd="slow"/>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1" name="PlaceHolder 1"/>
          <p:cNvSpPr>
            <a:spLocks noGrp="1"/>
          </p:cNvSpPr>
          <p:nvPr>
            <p:ph type="title"/>
          </p:nvPr>
        </p:nvSpPr>
        <p:spPr>
          <a:xfrm>
            <a:off x="360000" y="68400"/>
            <a:ext cx="9342720" cy="684720"/>
          </a:xfrm>
          <a:prstGeom prst="rect">
            <a:avLst/>
          </a:prstGeom>
          <a:noFill/>
          <a:ln w="0">
            <a:noFill/>
          </a:ln>
        </p:spPr>
        <p:txBody>
          <a:bodyPr lIns="0" rIns="0" tIns="0" bIns="0" anchor="ctr">
            <a:spAutoFit/>
          </a:bodyPr>
          <a:p>
            <a:pPr indent="0" algn="ctr">
              <a:lnSpc>
                <a:spcPct val="100000"/>
              </a:lnSpc>
              <a:buNone/>
              <a:tabLst>
                <a:tab algn="l" pos="0"/>
              </a:tabLst>
            </a:pPr>
            <a:r>
              <a:rPr b="0" lang="en-US" sz="3000" strike="noStrike" u="none">
                <a:solidFill>
                  <a:srgbClr val="ffffff"/>
                </a:solidFill>
                <a:effectLst/>
                <a:uFillTx/>
                <a:latin typeface="Arial"/>
              </a:rPr>
              <a:t>Random Forest: Predicted Probability (P(T2DM))</a:t>
            </a:r>
            <a:endParaRPr b="0" lang="en-US" sz="3000" strike="noStrike" u="none">
              <a:solidFill>
                <a:srgbClr val="000000"/>
              </a:solidFill>
              <a:effectLst/>
              <a:uFillTx/>
              <a:latin typeface="Arial"/>
            </a:endParaRPr>
          </a:p>
        </p:txBody>
      </p:sp>
      <p:sp>
        <p:nvSpPr>
          <p:cNvPr id="172" name=""/>
          <p:cNvSpPr/>
          <p:nvPr/>
        </p:nvSpPr>
        <p:spPr>
          <a:xfrm>
            <a:off x="5943600" y="914400"/>
            <a:ext cx="4099680" cy="3664440"/>
          </a:xfrm>
          <a:prstGeom prst="rect">
            <a:avLst/>
          </a:prstGeom>
          <a:noFill/>
          <a:ln w="0">
            <a:noFill/>
          </a:ln>
        </p:spPr>
        <p:style>
          <a:lnRef idx="0"/>
          <a:fillRef idx="0"/>
          <a:effectRef idx="0"/>
          <a:fontRef idx="minor"/>
        </p:style>
        <p:txBody>
          <a:bodyPr lIns="90000" rIns="90000" tIns="45000" bIns="45000" anchor="t">
            <a:spAutoFit/>
          </a:bodyPr>
          <a:p>
            <a:pPr marL="216000" indent="-216000">
              <a:lnSpc>
                <a:spcPct val="100000"/>
              </a:lnSpc>
              <a:spcBef>
                <a:spcPts val="1191"/>
              </a:spcBef>
              <a:spcAft>
                <a:spcPts val="992"/>
              </a:spcAft>
              <a:buClr>
                <a:srgbClr val="000000"/>
              </a:buClr>
              <a:buSzPct val="45000"/>
              <a:buFont typeface="Wingdings" charset="2"/>
              <a:buChar char=""/>
            </a:pPr>
            <a:r>
              <a:rPr b="0" lang="en-US" sz="1200" strike="noStrike" u="none">
                <a:solidFill>
                  <a:srgbClr val="000000"/>
                </a:solidFill>
                <a:effectLst/>
                <a:uFillTx/>
                <a:latin typeface="Arial"/>
                <a:ea typeface="DejaVu Sans"/>
              </a:rPr>
              <a:t>Waterfall plot that explains how individual metabolite contributions from a Random Forest (RF) model influence the predicted probability for a specific sample (D1) of having the target outcome (likely PT2DM).</a:t>
            </a:r>
            <a:endParaRPr b="0" lang="en-US" sz="1200" strike="noStrike" u="none">
              <a:solidFill>
                <a:srgbClr val="000000"/>
              </a:solidFill>
              <a:effectLst/>
              <a:uFillTx/>
              <a:latin typeface="Arial"/>
            </a:endParaRPr>
          </a:p>
          <a:p>
            <a:pPr marL="216000" indent="-216000">
              <a:lnSpc>
                <a:spcPct val="100000"/>
              </a:lnSpc>
              <a:spcBef>
                <a:spcPts val="1191"/>
              </a:spcBef>
              <a:spcAft>
                <a:spcPts val="992"/>
              </a:spcAft>
              <a:buClr>
                <a:srgbClr val="000000"/>
              </a:buClr>
              <a:buSzPct val="45000"/>
              <a:buFont typeface="Wingdings" charset="2"/>
              <a:buChar char=""/>
            </a:pPr>
            <a:r>
              <a:rPr b="0" lang="en-US" sz="1200" strike="noStrike" u="none">
                <a:solidFill>
                  <a:srgbClr val="000000"/>
                </a:solidFill>
                <a:effectLst/>
                <a:uFillTx/>
                <a:latin typeface="Arial"/>
                <a:ea typeface="DejaVu Sans"/>
              </a:rPr>
              <a:t>Sphingomyelins (SM(34:1), SM(38:1)), triacylglycerol (TAG(54:5-18:2)), phosphatidic acid (PA(18:0/22:6)), and Valine are the top metabolites that contributed most strongly to pushing the probability upward. </a:t>
            </a:r>
            <a:endParaRPr b="0" lang="en-US" sz="1200" strike="noStrike" u="none">
              <a:solidFill>
                <a:srgbClr val="000000"/>
              </a:solidFill>
              <a:effectLst/>
              <a:uFillTx/>
              <a:latin typeface="Arial"/>
            </a:endParaRPr>
          </a:p>
          <a:p>
            <a:pPr marL="216000" indent="-216000">
              <a:lnSpc>
                <a:spcPct val="100000"/>
              </a:lnSpc>
              <a:spcBef>
                <a:spcPts val="1191"/>
              </a:spcBef>
              <a:spcAft>
                <a:spcPts val="992"/>
              </a:spcAft>
              <a:buClr>
                <a:srgbClr val="000000"/>
              </a:buClr>
              <a:buSzPct val="45000"/>
              <a:buFont typeface="Wingdings" charset="2"/>
              <a:buChar char=""/>
            </a:pPr>
            <a:r>
              <a:rPr b="0" lang="en-US" sz="1200" strike="noStrike" u="none">
                <a:solidFill>
                  <a:srgbClr val="000000"/>
                </a:solidFill>
                <a:effectLst/>
                <a:uFillTx/>
                <a:latin typeface="Arial"/>
                <a:ea typeface="DejaVu Sans"/>
              </a:rPr>
              <a:t>For subject D1, the model’s final predicted probability (~0.4) indicates a tendency toward the healthy class, suggesting lipid and amino acid patterns closer to non-diabetic profiles. </a:t>
            </a:r>
            <a:endParaRPr b="0" lang="en-US" sz="1200" strike="noStrike" u="none">
              <a:solidFill>
                <a:srgbClr val="000000"/>
              </a:solidFill>
              <a:effectLst/>
              <a:uFillTx/>
              <a:latin typeface="Arial"/>
            </a:endParaRPr>
          </a:p>
          <a:p>
            <a:pPr marL="216000" indent="-216000">
              <a:lnSpc>
                <a:spcPct val="100000"/>
              </a:lnSpc>
              <a:spcBef>
                <a:spcPts val="1191"/>
              </a:spcBef>
              <a:spcAft>
                <a:spcPts val="992"/>
              </a:spcAft>
              <a:buClr>
                <a:srgbClr val="000000"/>
              </a:buClr>
              <a:buSzPct val="45000"/>
              <a:buFont typeface="Wingdings" charset="2"/>
              <a:buChar char=""/>
            </a:pPr>
            <a:r>
              <a:rPr b="0" lang="en-US" sz="1200" strike="noStrike" u="none">
                <a:solidFill>
                  <a:srgbClr val="000000"/>
                </a:solidFill>
                <a:effectLst/>
                <a:uFillTx/>
                <a:latin typeface="Arial"/>
                <a:ea typeface="DejaVu Sans"/>
              </a:rPr>
              <a:t>Nearly all metabolites exert small positive effects (green), whereas phosphatidic acid (PA (20:0/18:2)) is the only strong negative contributor (red). </a:t>
            </a:r>
            <a:endParaRPr b="0" lang="en-US" sz="1200" strike="noStrike" u="none">
              <a:solidFill>
                <a:srgbClr val="000000"/>
              </a:solidFill>
              <a:effectLst/>
              <a:uFillTx/>
              <a:latin typeface="Arial"/>
            </a:endParaRPr>
          </a:p>
        </p:txBody>
      </p:sp>
      <p:pic>
        <p:nvPicPr>
          <p:cNvPr id="173" name="" descr=""/>
          <p:cNvPicPr/>
          <p:nvPr/>
        </p:nvPicPr>
        <p:blipFill>
          <a:blip r:embed="rId1"/>
          <a:stretch/>
        </p:blipFill>
        <p:spPr>
          <a:xfrm>
            <a:off x="0" y="753120"/>
            <a:ext cx="5938200" cy="4912200"/>
          </a:xfrm>
          <a:prstGeom prst="rect">
            <a:avLst/>
          </a:prstGeom>
          <a:noFill/>
          <a:ln w="0">
            <a:noFill/>
          </a:ln>
        </p:spPr>
      </p:pic>
      <p:sp>
        <p:nvSpPr>
          <p:cNvPr id="3" name="PlaceHolder 2"/>
          <p:cNvSpPr>
            <a:spLocks noGrp="1"/>
          </p:cNvSpPr>
          <p:nvPr>
            <p:ph type="sldNum" idx="11"/>
          </p:nvPr>
        </p:nvSpPr>
        <p:spPr/>
        <p:txBody>
          <a:bodyPr/>
          <a:p>
            <a:fld id="{4F29E647-982B-455A-8478-12AA5461A3A4}" type="slidenum">
              <a:t>28</a:t>
            </a:fld>
          </a:p>
        </p:txBody>
      </p:sp>
    </p:spTree>
  </p:cSld>
  <mc:AlternateContent>
    <mc:Choice Requires="p14">
      <p:transition spd="slow" p14:dur="2000"/>
    </mc:Choice>
    <mc:Fallback>
      <p:transition spd="slow"/>
    </mc:Fallback>
  </mc:AlternateContent>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4" name="PlaceHolder 1"/>
          <p:cNvSpPr>
            <a:spLocks noGrp="1"/>
          </p:cNvSpPr>
          <p:nvPr>
            <p:ph type="title"/>
          </p:nvPr>
        </p:nvSpPr>
        <p:spPr>
          <a:xfrm>
            <a:off x="360000" y="68400"/>
            <a:ext cx="9342720" cy="684720"/>
          </a:xfrm>
          <a:prstGeom prst="rect">
            <a:avLst/>
          </a:prstGeom>
          <a:noFill/>
          <a:ln w="0">
            <a:noFill/>
          </a:ln>
        </p:spPr>
        <p:txBody>
          <a:bodyPr lIns="0" rIns="0" tIns="0" bIns="0" anchor="ctr">
            <a:spAutoFit/>
          </a:bodyPr>
          <a:p>
            <a:pPr indent="0" algn="ctr">
              <a:lnSpc>
                <a:spcPct val="100000"/>
              </a:lnSpc>
              <a:buNone/>
              <a:tabLst>
                <a:tab algn="l" pos="0"/>
              </a:tabLst>
            </a:pPr>
            <a:r>
              <a:rPr b="0" lang="en-US" sz="3000" strike="noStrike" u="none">
                <a:solidFill>
                  <a:srgbClr val="ffffff"/>
                </a:solidFill>
                <a:effectLst/>
                <a:uFillTx/>
                <a:latin typeface="Arial"/>
              </a:rPr>
              <a:t>Random Forest: Conclusions</a:t>
            </a:r>
            <a:endParaRPr b="0" lang="en-US" sz="3000" strike="noStrike" u="none">
              <a:solidFill>
                <a:srgbClr val="000000"/>
              </a:solidFill>
              <a:effectLst/>
              <a:uFillTx/>
              <a:latin typeface="Arial"/>
            </a:endParaRPr>
          </a:p>
        </p:txBody>
      </p:sp>
      <p:sp>
        <p:nvSpPr>
          <p:cNvPr id="175" name=""/>
          <p:cNvSpPr/>
          <p:nvPr/>
        </p:nvSpPr>
        <p:spPr>
          <a:xfrm>
            <a:off x="228600" y="1764720"/>
            <a:ext cx="9357480" cy="2350080"/>
          </a:xfrm>
          <a:prstGeom prst="rect">
            <a:avLst/>
          </a:prstGeom>
          <a:noFill/>
          <a:ln w="0">
            <a:noFill/>
          </a:ln>
        </p:spPr>
        <p:style>
          <a:lnRef idx="0"/>
          <a:fillRef idx="0"/>
          <a:effectRef idx="0"/>
          <a:fontRef idx="minor"/>
        </p:style>
        <p:txBody>
          <a:bodyPr lIns="90000" rIns="90000" tIns="45000" bIns="45000" anchor="t">
            <a:spAutoFit/>
          </a:bodyPr>
          <a:p>
            <a:pPr marL="216000" indent="-216000">
              <a:lnSpc>
                <a:spcPct val="100000"/>
              </a:lnSpc>
              <a:spcBef>
                <a:spcPts val="1191"/>
              </a:spcBef>
              <a:spcAft>
                <a:spcPts val="992"/>
              </a:spcAft>
              <a:buClr>
                <a:srgbClr val="000000"/>
              </a:buClr>
              <a:buSzPct val="45000"/>
              <a:buFont typeface="Wingdings" charset="2"/>
              <a:buChar char=""/>
            </a:pPr>
            <a:r>
              <a:rPr b="0" lang="en-US" sz="1600" strike="noStrike" u="none">
                <a:solidFill>
                  <a:srgbClr val="000000"/>
                </a:solidFill>
                <a:effectLst/>
                <a:uFillTx/>
                <a:latin typeface="Arial"/>
                <a:ea typeface="DejaVu Sans"/>
              </a:rPr>
              <a:t>Across multiple SHAP-based analyses, the Random Forest model identifies a lipid-centric metabolic signature characterized by elevated sphingomyelins (SMs), triacylglycerols (TAGs), and phosphatidic acids (PAs) as the strongest predictors of disease probability.</a:t>
            </a:r>
            <a:endParaRPr b="0" lang="en-US" sz="1600" strike="noStrike" u="none">
              <a:solidFill>
                <a:srgbClr val="000000"/>
              </a:solidFill>
              <a:effectLst/>
              <a:uFillTx/>
              <a:latin typeface="Arial"/>
            </a:endParaRPr>
          </a:p>
          <a:p>
            <a:pPr marL="216000" indent="-216000">
              <a:lnSpc>
                <a:spcPct val="100000"/>
              </a:lnSpc>
              <a:spcBef>
                <a:spcPts val="1191"/>
              </a:spcBef>
              <a:spcAft>
                <a:spcPts val="992"/>
              </a:spcAft>
              <a:buClr>
                <a:srgbClr val="000000"/>
              </a:buClr>
              <a:buSzPct val="45000"/>
              <a:buFont typeface="Wingdings" charset="2"/>
              <a:buChar char=""/>
            </a:pPr>
            <a:r>
              <a:rPr b="0" lang="en-US" sz="1600" strike="noStrike" u="none">
                <a:solidFill>
                  <a:srgbClr val="000000"/>
                </a:solidFill>
                <a:effectLst/>
                <a:uFillTx/>
                <a:latin typeface="Arial"/>
                <a:ea typeface="DejaVu Sans"/>
              </a:rPr>
              <a:t>Amino acid metabolism (Valine) contributes secondarily, suggesting interconnected lipid–amino acid dysregulation. </a:t>
            </a:r>
            <a:endParaRPr b="0" lang="en-US" sz="1600" strike="noStrike" u="none">
              <a:solidFill>
                <a:srgbClr val="000000"/>
              </a:solidFill>
              <a:effectLst/>
              <a:uFillTx/>
              <a:latin typeface="Arial"/>
            </a:endParaRPr>
          </a:p>
          <a:p>
            <a:pPr marL="216000" indent="-216000">
              <a:lnSpc>
                <a:spcPct val="100000"/>
              </a:lnSpc>
              <a:spcBef>
                <a:spcPts val="1191"/>
              </a:spcBef>
              <a:spcAft>
                <a:spcPts val="992"/>
              </a:spcAft>
              <a:buClr>
                <a:srgbClr val="000000"/>
              </a:buClr>
              <a:buSzPct val="45000"/>
              <a:buFont typeface="Wingdings" charset="2"/>
              <a:buChar char=""/>
            </a:pPr>
            <a:r>
              <a:rPr b="0" lang="en-US" sz="1600" strike="noStrike" u="none">
                <a:solidFill>
                  <a:srgbClr val="000000"/>
                </a:solidFill>
                <a:effectLst/>
                <a:uFillTx/>
                <a:latin typeface="Arial"/>
                <a:ea typeface="DejaVu Sans"/>
              </a:rPr>
              <a:t>The collective evidence supports the notion that perturbations in complex lipid metabolism are major discriminants between the studied groups. </a:t>
            </a:r>
            <a:endParaRPr b="0" lang="en-US" sz="1600" strike="noStrike" u="none">
              <a:solidFill>
                <a:srgbClr val="000000"/>
              </a:solidFill>
              <a:effectLst/>
              <a:uFillTx/>
              <a:latin typeface="Arial"/>
            </a:endParaRPr>
          </a:p>
        </p:txBody>
      </p:sp>
      <p:sp>
        <p:nvSpPr>
          <p:cNvPr id="3" name="PlaceHolder 2"/>
          <p:cNvSpPr>
            <a:spLocks noGrp="1"/>
          </p:cNvSpPr>
          <p:nvPr>
            <p:ph type="sldNum" idx="11"/>
          </p:nvPr>
        </p:nvSpPr>
        <p:spPr/>
        <p:txBody>
          <a:bodyPr/>
          <a:p>
            <a:fld id="{128ED372-9664-4E72-B02E-748C67F2339B}" type="slidenum">
              <a:t>29</a:t>
            </a:fld>
          </a:p>
        </p:txBody>
      </p:sp>
    </p:spTree>
  </p:cSld>
  <mc:AlternateContent>
    <mc:Choice Requires="p14">
      <p:transition spd="slow" p14:dur="2000"/>
    </mc:Choice>
    <mc:Fallback>
      <p:transition spd="slow"/>
    </mc:Fallback>
  </mc:AlternateContent>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6" name="PlaceHolder 1"/>
          <p:cNvSpPr>
            <a:spLocks noGrp="1"/>
          </p:cNvSpPr>
          <p:nvPr>
            <p:ph type="title"/>
          </p:nvPr>
        </p:nvSpPr>
        <p:spPr>
          <a:xfrm>
            <a:off x="360000" y="73080"/>
            <a:ext cx="9342720" cy="675000"/>
          </a:xfrm>
          <a:prstGeom prst="rect">
            <a:avLst/>
          </a:prstGeom>
          <a:noFill/>
          <a:ln w="0">
            <a:noFill/>
          </a:ln>
        </p:spPr>
        <p:txBody>
          <a:bodyPr lIns="0" rIns="0" tIns="0" bIns="0" anchor="ctr">
            <a:spAutoFit/>
          </a:bodyPr>
          <a:p>
            <a:pPr indent="0" algn="ctr">
              <a:lnSpc>
                <a:spcPct val="100000"/>
              </a:lnSpc>
              <a:buNone/>
              <a:tabLst>
                <a:tab algn="l" pos="0"/>
              </a:tabLst>
            </a:pPr>
            <a:r>
              <a:rPr b="0" lang="en-US" sz="3000" strike="noStrike" u="none">
                <a:solidFill>
                  <a:srgbClr val="ffffff"/>
                </a:solidFill>
                <a:effectLst/>
                <a:uFillTx/>
                <a:latin typeface="Arial"/>
              </a:rPr>
              <a:t>XGBoost</a:t>
            </a:r>
            <a:endParaRPr b="0" lang="en-US" sz="3000" strike="noStrike" u="none">
              <a:solidFill>
                <a:srgbClr val="000000"/>
              </a:solidFill>
              <a:effectLst/>
              <a:uFillTx/>
              <a:latin typeface="Arial"/>
            </a:endParaRPr>
          </a:p>
        </p:txBody>
      </p:sp>
      <p:sp>
        <p:nvSpPr>
          <p:cNvPr id="177" name="PlaceHolder 2"/>
          <p:cNvSpPr>
            <a:spLocks noGrp="1"/>
          </p:cNvSpPr>
          <p:nvPr>
            <p:ph/>
          </p:nvPr>
        </p:nvSpPr>
        <p:spPr>
          <a:xfrm>
            <a:off x="360000" y="1080000"/>
            <a:ext cx="9342720" cy="3582720"/>
          </a:xfrm>
          <a:prstGeom prst="rect">
            <a:avLst/>
          </a:prstGeom>
          <a:noFill/>
          <a:ln w="0">
            <a:noFill/>
          </a:ln>
        </p:spPr>
        <p:txBody>
          <a:bodyPr lIns="0" rIns="0" tIns="0" bIns="0" anchor="t">
            <a:normAutofit/>
          </a:bodyPr>
          <a:p>
            <a:pPr marL="343080" indent="-343080" defTabSz="457200">
              <a:lnSpc>
                <a:spcPct val="100000"/>
              </a:lnSpc>
              <a:spcBef>
                <a:spcPts val="641"/>
              </a:spcBef>
              <a:spcAft>
                <a:spcPts val="1001"/>
              </a:spcAft>
              <a:buClr>
                <a:srgbClr val="000000"/>
              </a:buClr>
              <a:buFont typeface="Arial"/>
              <a:buChar char="•"/>
            </a:pPr>
            <a:r>
              <a:rPr b="0" lang="en-US" sz="1600" strike="noStrike" u="none">
                <a:solidFill>
                  <a:schemeClr val="dk1"/>
                </a:solidFill>
                <a:effectLst/>
                <a:uFillTx/>
                <a:latin typeface="Arial"/>
              </a:rPr>
              <a:t>is an advanced machine learning algorithm based on gradient-boosted decision trees.</a:t>
            </a:r>
            <a:endParaRPr b="0" lang="en-US" sz="1600" strike="noStrike" u="none">
              <a:solidFill>
                <a:srgbClr val="000000"/>
              </a:solidFill>
              <a:effectLst/>
              <a:uFillTx/>
              <a:latin typeface="Arial"/>
            </a:endParaRPr>
          </a:p>
          <a:p>
            <a:pPr marL="343080" indent="-343080" defTabSz="457200">
              <a:lnSpc>
                <a:spcPct val="100000"/>
              </a:lnSpc>
              <a:spcBef>
                <a:spcPts val="641"/>
              </a:spcBef>
              <a:spcAft>
                <a:spcPts val="1001"/>
              </a:spcAft>
              <a:buClr>
                <a:srgbClr val="000000"/>
              </a:buClr>
              <a:buFont typeface="Arial"/>
              <a:buChar char="•"/>
            </a:pPr>
            <a:r>
              <a:rPr b="0" lang="en-US" sz="1600" strike="noStrike" u="none">
                <a:solidFill>
                  <a:schemeClr val="dk1"/>
                </a:solidFill>
                <a:effectLst/>
                <a:uFillTx/>
                <a:latin typeface="Arial"/>
              </a:rPr>
              <a:t>It builds models sequentially, where each tree corrects the errors of the previous one, leading to high predictive performance and strong generalization.</a:t>
            </a:r>
            <a:endParaRPr b="0" lang="en-US" sz="1600" strike="noStrike" u="none">
              <a:solidFill>
                <a:srgbClr val="000000"/>
              </a:solidFill>
              <a:effectLst/>
              <a:uFillTx/>
              <a:latin typeface="Arial"/>
            </a:endParaRPr>
          </a:p>
          <a:p>
            <a:pPr marL="343080" indent="-343080" defTabSz="457200">
              <a:lnSpc>
                <a:spcPct val="100000"/>
              </a:lnSpc>
              <a:spcBef>
                <a:spcPts val="641"/>
              </a:spcBef>
              <a:spcAft>
                <a:spcPts val="1001"/>
              </a:spcAft>
              <a:buClr>
                <a:srgbClr val="000000"/>
              </a:buClr>
              <a:buFont typeface="Arial"/>
              <a:buChar char="•"/>
            </a:pPr>
            <a:r>
              <a:rPr b="0" lang="en-US" sz="1600" strike="noStrike" u="none">
                <a:solidFill>
                  <a:schemeClr val="dk1"/>
                </a:solidFill>
                <a:effectLst/>
                <a:uFillTx/>
                <a:latin typeface="Arial"/>
              </a:rPr>
              <a:t>Key Features </a:t>
            </a:r>
            <a:endParaRPr b="0" lang="en-US" sz="1600" strike="noStrike" u="none">
              <a:solidFill>
                <a:srgbClr val="000000"/>
              </a:solidFill>
              <a:effectLst/>
              <a:uFillTx/>
              <a:latin typeface="Arial"/>
            </a:endParaRPr>
          </a:p>
          <a:p>
            <a:pPr lvl="1" marL="864000" indent="-324000" defTabSz="457200">
              <a:lnSpc>
                <a:spcPct val="100000"/>
              </a:lnSpc>
              <a:spcBef>
                <a:spcPts val="1134"/>
              </a:spcBef>
              <a:buClr>
                <a:srgbClr val="000000"/>
              </a:buClr>
              <a:buSzPct val="75000"/>
              <a:buFont typeface="Symbol" charset="2"/>
              <a:buChar char=""/>
            </a:pPr>
            <a:r>
              <a:rPr b="0" lang="en-US" sz="1600" strike="noStrike" u="none">
                <a:solidFill>
                  <a:schemeClr val="dk1"/>
                </a:solidFill>
                <a:effectLst/>
                <a:uFillTx/>
                <a:latin typeface="Arial"/>
              </a:rPr>
              <a:t>Ensemble of decision trees that minimize prediction error through gradient descent. </a:t>
            </a:r>
            <a:endParaRPr b="0" lang="en-US" sz="1600" strike="noStrike" u="none">
              <a:solidFill>
                <a:srgbClr val="000000"/>
              </a:solidFill>
              <a:effectLst/>
              <a:uFillTx/>
              <a:latin typeface="Arial"/>
            </a:endParaRPr>
          </a:p>
          <a:p>
            <a:pPr lvl="1" marL="864000" indent="-324000" defTabSz="457200">
              <a:lnSpc>
                <a:spcPct val="100000"/>
              </a:lnSpc>
              <a:spcBef>
                <a:spcPts val="1134"/>
              </a:spcBef>
              <a:buClr>
                <a:srgbClr val="000000"/>
              </a:buClr>
              <a:buSzPct val="75000"/>
              <a:buFont typeface="Symbol" charset="2"/>
              <a:buChar char=""/>
            </a:pPr>
            <a:r>
              <a:rPr b="0" lang="en-US" sz="1600" strike="noStrike" u="none">
                <a:solidFill>
                  <a:schemeClr val="dk1"/>
                </a:solidFill>
                <a:effectLst/>
                <a:uFillTx/>
                <a:latin typeface="Arial"/>
              </a:rPr>
              <a:t>Incorporates regularization (L1 &amp; L2) to reduce overfitting. </a:t>
            </a:r>
            <a:endParaRPr b="0" lang="en-US" sz="1600" strike="noStrike" u="none">
              <a:solidFill>
                <a:srgbClr val="000000"/>
              </a:solidFill>
              <a:effectLst/>
              <a:uFillTx/>
              <a:latin typeface="Arial"/>
            </a:endParaRPr>
          </a:p>
          <a:p>
            <a:pPr lvl="1" marL="864000" indent="-324000" defTabSz="457200">
              <a:lnSpc>
                <a:spcPct val="100000"/>
              </a:lnSpc>
              <a:spcBef>
                <a:spcPts val="1134"/>
              </a:spcBef>
              <a:buClr>
                <a:srgbClr val="000000"/>
              </a:buClr>
              <a:buSzPct val="75000"/>
              <a:buFont typeface="Symbol" charset="2"/>
              <a:buChar char=""/>
            </a:pPr>
            <a:r>
              <a:rPr b="0" lang="en-US" sz="1600" strike="noStrike" u="none">
                <a:solidFill>
                  <a:schemeClr val="dk1"/>
                </a:solidFill>
                <a:effectLst/>
                <a:uFillTx/>
                <a:latin typeface="Arial"/>
              </a:rPr>
              <a:t>Handles missing data internally and captures nonlinear feature interactions. </a:t>
            </a:r>
            <a:endParaRPr b="0" lang="en-US" sz="1600" strike="noStrike" u="none">
              <a:solidFill>
                <a:srgbClr val="000000"/>
              </a:solidFill>
              <a:effectLst/>
              <a:uFillTx/>
              <a:latin typeface="Arial"/>
            </a:endParaRPr>
          </a:p>
          <a:p>
            <a:pPr lvl="1" marL="864000" indent="-324000" defTabSz="457200">
              <a:lnSpc>
                <a:spcPct val="100000"/>
              </a:lnSpc>
              <a:spcBef>
                <a:spcPts val="1134"/>
              </a:spcBef>
              <a:buClr>
                <a:srgbClr val="000000"/>
              </a:buClr>
              <a:buSzPct val="75000"/>
              <a:buFont typeface="Symbol" charset="2"/>
              <a:buChar char=""/>
            </a:pPr>
            <a:r>
              <a:rPr b="0" lang="en-US" sz="1600" strike="noStrike" u="none">
                <a:solidFill>
                  <a:schemeClr val="dk1"/>
                </a:solidFill>
                <a:effectLst/>
                <a:uFillTx/>
                <a:latin typeface="Arial"/>
              </a:rPr>
              <a:t>Highly efficient with parallel computation and tree pruning. </a:t>
            </a:r>
            <a:endParaRPr b="0" lang="en-US" sz="1600" strike="noStrike" u="none">
              <a:solidFill>
                <a:srgbClr val="000000"/>
              </a:solidFill>
              <a:effectLst/>
              <a:uFillTx/>
              <a:latin typeface="Arial"/>
            </a:endParaRPr>
          </a:p>
          <a:p>
            <a:pPr lvl="1" marL="864000" indent="-324000" defTabSz="457200">
              <a:lnSpc>
                <a:spcPct val="100000"/>
              </a:lnSpc>
              <a:spcBef>
                <a:spcPts val="1134"/>
              </a:spcBef>
              <a:buClr>
                <a:srgbClr val="000000"/>
              </a:buClr>
              <a:buSzPct val="75000"/>
              <a:buFont typeface="Symbol" charset="2"/>
              <a:buChar char=""/>
            </a:pPr>
            <a:r>
              <a:rPr b="0" lang="en-US" sz="1600" strike="noStrike" u="none">
                <a:solidFill>
                  <a:schemeClr val="dk1"/>
                </a:solidFill>
                <a:effectLst/>
                <a:uFillTx/>
                <a:latin typeface="Arial"/>
              </a:rPr>
              <a:t>Provides SHAP values for model interpretability.</a:t>
            </a:r>
            <a:endParaRPr b="0" lang="en-US" sz="1600" strike="noStrike" u="none">
              <a:solidFill>
                <a:srgbClr val="000000"/>
              </a:solidFill>
              <a:effectLst/>
              <a:uFillTx/>
              <a:latin typeface="Arial"/>
            </a:endParaRPr>
          </a:p>
        </p:txBody>
      </p:sp>
      <p:sp>
        <p:nvSpPr>
          <p:cNvPr id="4" name="PlaceHolder 3"/>
          <p:cNvSpPr>
            <a:spLocks noGrp="1"/>
          </p:cNvSpPr>
          <p:nvPr>
            <p:ph type="sldNum" idx="11"/>
          </p:nvPr>
        </p:nvSpPr>
        <p:spPr/>
        <p:txBody>
          <a:bodyPr/>
          <a:p>
            <a:fld id="{20BF87BD-57D3-4CFD-AFF7-67FA37E37160}" type="slidenum">
              <a:t>30</a:t>
            </a:fld>
          </a:p>
        </p:txBody>
      </p:sp>
    </p:spTree>
  </p:cSld>
  <mc:AlternateContent>
    <mc:Choice Requires="p14">
      <p:transition spd="slow" p14:dur="2000"/>
    </mc:Choice>
    <mc:Fallback>
      <p:transition spd="slow"/>
    </mc:Fallback>
  </mc:AlternateContent>
</p:sld>
</file>

<file path=ppt/slides/slide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8" name="PlaceHolder 1"/>
          <p:cNvSpPr>
            <a:spLocks noGrp="1"/>
          </p:cNvSpPr>
          <p:nvPr>
            <p:ph type="title"/>
          </p:nvPr>
        </p:nvSpPr>
        <p:spPr>
          <a:xfrm>
            <a:off x="360000" y="2520"/>
            <a:ext cx="9342720" cy="683280"/>
          </a:xfrm>
          <a:prstGeom prst="rect">
            <a:avLst/>
          </a:prstGeom>
          <a:noFill/>
          <a:ln w="0">
            <a:noFill/>
          </a:ln>
        </p:spPr>
        <p:txBody>
          <a:bodyPr lIns="0" rIns="0" tIns="0" bIns="0" anchor="ctr">
            <a:spAutoFit/>
          </a:bodyPr>
          <a:p>
            <a:pPr indent="0" algn="ctr">
              <a:lnSpc>
                <a:spcPct val="100000"/>
              </a:lnSpc>
              <a:buNone/>
              <a:tabLst>
                <a:tab algn="l" pos="0"/>
              </a:tabLst>
            </a:pPr>
            <a:r>
              <a:rPr b="0" lang="en-US" sz="3000" strike="noStrike" u="none">
                <a:solidFill>
                  <a:srgbClr val="eeeeee"/>
                </a:solidFill>
                <a:effectLst/>
                <a:uFillTx/>
                <a:latin typeface="Arial"/>
              </a:rPr>
              <a:t>XGBoost: Top 20 metabolites by Gain</a:t>
            </a:r>
            <a:endParaRPr b="0" lang="en-US" sz="3000" strike="noStrike" u="none">
              <a:solidFill>
                <a:srgbClr val="000000"/>
              </a:solidFill>
              <a:effectLst/>
              <a:uFillTx/>
              <a:latin typeface="Arial"/>
            </a:endParaRPr>
          </a:p>
        </p:txBody>
      </p:sp>
      <p:sp>
        <p:nvSpPr>
          <p:cNvPr id="179" name=""/>
          <p:cNvSpPr/>
          <p:nvPr/>
        </p:nvSpPr>
        <p:spPr>
          <a:xfrm>
            <a:off x="6172200" y="1828800"/>
            <a:ext cx="3871080" cy="203940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en-US" sz="1600" strike="noStrike" u="none">
                <a:solidFill>
                  <a:srgbClr val="000000"/>
                </a:solidFill>
                <a:effectLst/>
                <a:uFillTx/>
                <a:latin typeface="Arial"/>
                <a:ea typeface="DejaVu Sans"/>
              </a:rPr>
              <a:t>This visualizes the most influential features in an XGBoost model based on their gain, which reflects each variable's relative contribution to reducing model error across all decision trees. The x-axis represents the gain score, where higher values indicate a more significant impact on the model’s predictive performance.</a:t>
            </a:r>
            <a:r>
              <a:rPr b="0" lang="en-US" sz="1400" strike="noStrike" u="none">
                <a:solidFill>
                  <a:srgbClr val="000000"/>
                </a:solidFill>
                <a:effectLst/>
                <a:uFillTx/>
                <a:latin typeface="Arial"/>
                <a:ea typeface="DejaVu Sans"/>
              </a:rPr>
              <a:t> </a:t>
            </a:r>
            <a:endParaRPr b="0" lang="en-US" sz="1400" strike="noStrike" u="none">
              <a:solidFill>
                <a:srgbClr val="000000"/>
              </a:solidFill>
              <a:effectLst/>
              <a:uFillTx/>
              <a:latin typeface="Arial"/>
            </a:endParaRPr>
          </a:p>
        </p:txBody>
      </p:sp>
      <p:pic>
        <p:nvPicPr>
          <p:cNvPr id="180" name="" descr=""/>
          <p:cNvPicPr/>
          <p:nvPr/>
        </p:nvPicPr>
        <p:blipFill>
          <a:blip r:embed="rId1"/>
          <a:stretch/>
        </p:blipFill>
        <p:spPr>
          <a:xfrm>
            <a:off x="0" y="914400"/>
            <a:ext cx="6166800" cy="4750560"/>
          </a:xfrm>
          <a:prstGeom prst="rect">
            <a:avLst/>
          </a:prstGeom>
          <a:noFill/>
          <a:ln w="0">
            <a:noFill/>
          </a:ln>
        </p:spPr>
      </p:pic>
      <p:sp>
        <p:nvSpPr>
          <p:cNvPr id="3" name="PlaceHolder 2"/>
          <p:cNvSpPr>
            <a:spLocks noGrp="1"/>
          </p:cNvSpPr>
          <p:nvPr>
            <p:ph type="sldNum" idx="11"/>
          </p:nvPr>
        </p:nvSpPr>
        <p:spPr/>
        <p:txBody>
          <a:bodyPr/>
          <a:p>
            <a:fld id="{757BC8A8-43B6-476F-86FD-71A57CDD5C8F}" type="slidenum">
              <a:t>31</a:t>
            </a:fld>
          </a:p>
        </p:txBody>
      </p:sp>
    </p:spTree>
  </p:cSld>
  <mc:AlternateContent>
    <mc:Choice Requires="p14">
      <p:transition spd="slow" p14:dur="2000"/>
    </mc:Choice>
    <mc:Fallback>
      <p:transition spd="slow"/>
    </mc:Fallback>
  </mc:AlternateContent>
</p:sld>
</file>

<file path=ppt/slides/slide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1" name="PlaceHolder 1"/>
          <p:cNvSpPr>
            <a:spLocks noGrp="1"/>
          </p:cNvSpPr>
          <p:nvPr>
            <p:ph type="title"/>
          </p:nvPr>
        </p:nvSpPr>
        <p:spPr>
          <a:xfrm>
            <a:off x="360000" y="-6840"/>
            <a:ext cx="9342720" cy="684720"/>
          </a:xfrm>
          <a:prstGeom prst="rect">
            <a:avLst/>
          </a:prstGeom>
          <a:noFill/>
          <a:ln w="0">
            <a:noFill/>
          </a:ln>
        </p:spPr>
        <p:txBody>
          <a:bodyPr lIns="0" rIns="0" tIns="0" bIns="0" anchor="ctr">
            <a:spAutoFit/>
          </a:bodyPr>
          <a:p>
            <a:pPr indent="0" algn="ctr">
              <a:lnSpc>
                <a:spcPct val="100000"/>
              </a:lnSpc>
              <a:buNone/>
              <a:tabLst>
                <a:tab algn="l" pos="0"/>
              </a:tabLst>
            </a:pPr>
            <a:r>
              <a:rPr b="0" lang="en-US" sz="3000" strike="noStrike" u="none">
                <a:solidFill>
                  <a:srgbClr val="ffffff"/>
                </a:solidFill>
                <a:effectLst/>
                <a:uFillTx/>
                <a:latin typeface="Arial"/>
              </a:rPr>
              <a:t>XGBoost: SHAP values</a:t>
            </a:r>
            <a:r>
              <a:rPr b="0" lang="en-US" sz="4400" strike="noStrike" u="none">
                <a:solidFill>
                  <a:srgbClr val="ffffff"/>
                </a:solidFill>
                <a:effectLst/>
                <a:uFillTx/>
                <a:latin typeface="Arial"/>
              </a:rPr>
              <a:t> </a:t>
            </a:r>
            <a:endParaRPr b="0" lang="en-US" sz="4400" strike="noStrike" u="none">
              <a:solidFill>
                <a:srgbClr val="000000"/>
              </a:solidFill>
              <a:effectLst/>
              <a:uFillTx/>
              <a:latin typeface="Arial"/>
            </a:endParaRPr>
          </a:p>
        </p:txBody>
      </p:sp>
      <p:sp>
        <p:nvSpPr>
          <p:cNvPr id="182" name=""/>
          <p:cNvSpPr/>
          <p:nvPr/>
        </p:nvSpPr>
        <p:spPr>
          <a:xfrm>
            <a:off x="5271480" y="813240"/>
            <a:ext cx="4556880" cy="4124520"/>
          </a:xfrm>
          <a:prstGeom prst="rect">
            <a:avLst/>
          </a:prstGeom>
          <a:noFill/>
          <a:ln w="0">
            <a:noFill/>
          </a:ln>
        </p:spPr>
        <p:style>
          <a:lnRef idx="0"/>
          <a:fillRef idx="0"/>
          <a:effectRef idx="0"/>
          <a:fontRef idx="minor"/>
        </p:style>
        <p:txBody>
          <a:bodyPr lIns="90000" rIns="90000" tIns="45000" bIns="45000" anchor="t">
            <a:spAutoFit/>
          </a:bodyPr>
          <a:p>
            <a:pPr marL="216000" indent="-216000">
              <a:lnSpc>
                <a:spcPct val="100000"/>
              </a:lnSpc>
              <a:spcBef>
                <a:spcPts val="1191"/>
              </a:spcBef>
              <a:spcAft>
                <a:spcPts val="992"/>
              </a:spcAft>
              <a:buClr>
                <a:srgbClr val="000000"/>
              </a:buClr>
              <a:buSzPct val="45000"/>
              <a:buFont typeface="Wingdings" charset="2"/>
              <a:buChar char=""/>
            </a:pPr>
            <a:r>
              <a:rPr b="0" lang="en-US" sz="1200" strike="noStrike" u="none">
                <a:solidFill>
                  <a:srgbClr val="000000"/>
                </a:solidFill>
                <a:effectLst/>
                <a:uFillTx/>
                <a:latin typeface="Arial"/>
                <a:ea typeface="DejaVu Sans"/>
              </a:rPr>
              <a:t>This graph presents a SHAP summary for the top 20 metabolites that most strongly influence the prediction of Type 2 Diabetes Mellitus (T2DM) in an XGBoost model. It uses violin plots to visualize the distribution of SHAP values, which quantify each metabolite's impact on the model's predicted log-odds for T2DM.</a:t>
            </a:r>
            <a:endParaRPr b="0" lang="en-US" sz="1200" strike="noStrike" u="none">
              <a:solidFill>
                <a:srgbClr val="000000"/>
              </a:solidFill>
              <a:effectLst/>
              <a:uFillTx/>
              <a:latin typeface="Arial"/>
            </a:endParaRPr>
          </a:p>
          <a:p>
            <a:pPr marL="216000" indent="-216000">
              <a:lnSpc>
                <a:spcPct val="100000"/>
              </a:lnSpc>
              <a:spcBef>
                <a:spcPts val="1191"/>
              </a:spcBef>
              <a:spcAft>
                <a:spcPts val="992"/>
              </a:spcAft>
              <a:buClr>
                <a:srgbClr val="000000"/>
              </a:buClr>
              <a:buSzPct val="45000"/>
              <a:buFont typeface="Wingdings" charset="2"/>
              <a:buChar char=""/>
            </a:pPr>
            <a:r>
              <a:rPr b="0" lang="en-US" sz="1200" strike="noStrike" u="none">
                <a:solidFill>
                  <a:srgbClr val="000000"/>
                </a:solidFill>
                <a:effectLst/>
                <a:uFillTx/>
                <a:latin typeface="Arial"/>
                <a:ea typeface="DejaVu Sans"/>
              </a:rPr>
              <a:t>4-Hydroxyphenyllactate mostly decreases the predicted probability of T2DM. </a:t>
            </a:r>
            <a:endParaRPr b="0" lang="en-US" sz="1200" strike="noStrike" u="none">
              <a:solidFill>
                <a:srgbClr val="000000"/>
              </a:solidFill>
              <a:effectLst/>
              <a:uFillTx/>
              <a:latin typeface="Arial"/>
            </a:endParaRPr>
          </a:p>
          <a:p>
            <a:pPr marL="216000" indent="-216000">
              <a:lnSpc>
                <a:spcPct val="100000"/>
              </a:lnSpc>
              <a:spcBef>
                <a:spcPts val="1191"/>
              </a:spcBef>
              <a:spcAft>
                <a:spcPts val="992"/>
              </a:spcAft>
              <a:buClr>
                <a:srgbClr val="000000"/>
              </a:buClr>
              <a:buSzPct val="45000"/>
              <a:buFont typeface="Wingdings" charset="2"/>
              <a:buChar char=""/>
            </a:pPr>
            <a:r>
              <a:rPr b="0" lang="en-US" sz="1200" strike="noStrike" u="none">
                <a:solidFill>
                  <a:srgbClr val="000000"/>
                </a:solidFill>
                <a:effectLst/>
                <a:uFillTx/>
                <a:latin typeface="Arial"/>
                <a:ea typeface="DejaVu Sans"/>
              </a:rPr>
              <a:t>Triacylglycerol (TAG (54:5-18:2)), diacylglycerols (DAG (14:0/16:0), DAG (18:1/20:4)), sphingomyelin (SM (34:1)), Valine, and phosphatidic acid (PA (18:0/22:6)) mostly  increase the predicted probability of T2DM.</a:t>
            </a:r>
            <a:endParaRPr b="0" lang="en-US" sz="1200" strike="noStrike" u="none">
              <a:solidFill>
                <a:srgbClr val="000000"/>
              </a:solidFill>
              <a:effectLst/>
              <a:uFillTx/>
              <a:latin typeface="Arial"/>
            </a:endParaRPr>
          </a:p>
          <a:p>
            <a:pPr marL="216000" indent="-216000">
              <a:lnSpc>
                <a:spcPct val="100000"/>
              </a:lnSpc>
              <a:spcBef>
                <a:spcPts val="1191"/>
              </a:spcBef>
              <a:spcAft>
                <a:spcPts val="992"/>
              </a:spcAft>
              <a:buClr>
                <a:srgbClr val="000000"/>
              </a:buClr>
              <a:buSzPct val="45000"/>
              <a:buFont typeface="Wingdings" charset="2"/>
              <a:buChar char=""/>
            </a:pPr>
            <a:r>
              <a:rPr b="0" lang="en-US" sz="1200" strike="noStrike" u="none">
                <a:solidFill>
                  <a:srgbClr val="000000"/>
                </a:solidFill>
                <a:effectLst/>
                <a:uFillTx/>
                <a:latin typeface="Arial"/>
                <a:ea typeface="DejaVu Sans"/>
              </a:rPr>
              <a:t>3-Hydroxypropionic acid, phosphatidylcholines (PC (40:5), PC (40:6)) and triacylglycerol (TAG (52:3-18:1)) show a mixed pattern</a:t>
            </a:r>
            <a:endParaRPr b="0" lang="en-US" sz="1200" strike="noStrike" u="none">
              <a:solidFill>
                <a:srgbClr val="000000"/>
              </a:solidFill>
              <a:effectLst/>
              <a:uFillTx/>
              <a:latin typeface="Arial"/>
            </a:endParaRPr>
          </a:p>
          <a:p>
            <a:pPr marL="216000" indent="-216000">
              <a:lnSpc>
                <a:spcPct val="100000"/>
              </a:lnSpc>
              <a:spcBef>
                <a:spcPts val="1191"/>
              </a:spcBef>
              <a:spcAft>
                <a:spcPts val="992"/>
              </a:spcAft>
              <a:buClr>
                <a:srgbClr val="000000"/>
              </a:buClr>
              <a:buSzPct val="45000"/>
              <a:buFont typeface="Wingdings" charset="2"/>
              <a:buChar char=""/>
            </a:pPr>
            <a:r>
              <a:rPr b="0" lang="en-US" sz="1200" strike="noStrike" u="none">
                <a:solidFill>
                  <a:srgbClr val="000000"/>
                </a:solidFill>
                <a:effectLst/>
                <a:uFillTx/>
                <a:latin typeface="Arial"/>
                <a:ea typeface="DejaVu Sans"/>
              </a:rPr>
              <a:t>Many of the impactful metabolites are lipids</a:t>
            </a:r>
            <a:endParaRPr b="0" lang="en-US" sz="1200" strike="noStrike" u="none">
              <a:solidFill>
                <a:srgbClr val="000000"/>
              </a:solidFill>
              <a:effectLst/>
              <a:uFillTx/>
              <a:latin typeface="Arial"/>
            </a:endParaRPr>
          </a:p>
        </p:txBody>
      </p:sp>
      <p:pic>
        <p:nvPicPr>
          <p:cNvPr id="183" name="" descr=""/>
          <p:cNvPicPr/>
          <p:nvPr/>
        </p:nvPicPr>
        <p:blipFill>
          <a:blip r:embed="rId1"/>
          <a:stretch/>
        </p:blipFill>
        <p:spPr>
          <a:xfrm>
            <a:off x="0" y="914400"/>
            <a:ext cx="5251320" cy="4744800"/>
          </a:xfrm>
          <a:prstGeom prst="rect">
            <a:avLst/>
          </a:prstGeom>
          <a:noFill/>
          <a:ln w="0">
            <a:noFill/>
          </a:ln>
        </p:spPr>
      </p:pic>
      <p:sp>
        <p:nvSpPr>
          <p:cNvPr id="3" name="PlaceHolder 2"/>
          <p:cNvSpPr>
            <a:spLocks noGrp="1"/>
          </p:cNvSpPr>
          <p:nvPr>
            <p:ph type="sldNum" idx="11"/>
          </p:nvPr>
        </p:nvSpPr>
        <p:spPr/>
        <p:txBody>
          <a:bodyPr/>
          <a:p>
            <a:fld id="{72F4B644-A717-4576-B104-F5EBC0F2414E}" type="slidenum">
              <a:t>32</a:t>
            </a:fld>
          </a:p>
        </p:txBody>
      </p:sp>
    </p:spTree>
  </p:cSld>
  <mc:AlternateContent>
    <mc:Choice Requires="p14">
      <p:transition spd="slow" p14:dur="2000"/>
    </mc:Choice>
    <mc:Fallback>
      <p:transition spd="slow"/>
    </mc:Fallback>
  </mc:AlternateContent>
</p:sld>
</file>

<file path=ppt/slides/slide3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4" name="PlaceHolder 1"/>
          <p:cNvSpPr>
            <a:spLocks noGrp="1"/>
          </p:cNvSpPr>
          <p:nvPr>
            <p:ph type="title"/>
          </p:nvPr>
        </p:nvSpPr>
        <p:spPr>
          <a:xfrm>
            <a:off x="360000" y="68400"/>
            <a:ext cx="9342720" cy="684360"/>
          </a:xfrm>
          <a:prstGeom prst="rect">
            <a:avLst/>
          </a:prstGeom>
          <a:noFill/>
          <a:ln w="0">
            <a:noFill/>
          </a:ln>
        </p:spPr>
        <p:txBody>
          <a:bodyPr lIns="0" rIns="0" tIns="0" bIns="0" anchor="ctr">
            <a:spAutoFit/>
          </a:bodyPr>
          <a:p>
            <a:pPr indent="0" algn="ctr">
              <a:lnSpc>
                <a:spcPct val="100000"/>
              </a:lnSpc>
              <a:buNone/>
              <a:tabLst>
                <a:tab algn="l" pos="0"/>
              </a:tabLst>
            </a:pPr>
            <a:r>
              <a:rPr b="0" lang="en-US" sz="3000" strike="noStrike" u="none">
                <a:solidFill>
                  <a:srgbClr val="ffffff"/>
                </a:solidFill>
                <a:effectLst/>
                <a:uFillTx/>
                <a:latin typeface="Arial"/>
              </a:rPr>
              <a:t>XGBoost: SHAP values</a:t>
            </a:r>
            <a:endParaRPr b="0" lang="en-US" sz="3000" strike="noStrike" u="none">
              <a:solidFill>
                <a:srgbClr val="000000"/>
              </a:solidFill>
              <a:effectLst/>
              <a:uFillTx/>
              <a:latin typeface="Arial"/>
            </a:endParaRPr>
          </a:p>
        </p:txBody>
      </p:sp>
      <p:sp>
        <p:nvSpPr>
          <p:cNvPr id="185" name=""/>
          <p:cNvSpPr/>
          <p:nvPr/>
        </p:nvSpPr>
        <p:spPr>
          <a:xfrm>
            <a:off x="5943600" y="1011600"/>
            <a:ext cx="4099680" cy="3758760"/>
          </a:xfrm>
          <a:prstGeom prst="rect">
            <a:avLst/>
          </a:prstGeom>
          <a:noFill/>
          <a:ln w="0">
            <a:noFill/>
          </a:ln>
        </p:spPr>
        <p:style>
          <a:lnRef idx="0"/>
          <a:fillRef idx="0"/>
          <a:effectRef idx="0"/>
          <a:fontRef idx="minor"/>
        </p:style>
        <p:txBody>
          <a:bodyPr lIns="90000" rIns="90000" tIns="45000" bIns="45000" anchor="t">
            <a:spAutoFit/>
          </a:bodyPr>
          <a:p>
            <a:pPr marL="216000" indent="-216000">
              <a:lnSpc>
                <a:spcPct val="100000"/>
              </a:lnSpc>
              <a:spcBef>
                <a:spcPts val="1191"/>
              </a:spcBef>
              <a:spcAft>
                <a:spcPts val="992"/>
              </a:spcAft>
              <a:buClr>
                <a:srgbClr val="000000"/>
              </a:buClr>
              <a:buSzPct val="45000"/>
              <a:buFont typeface="Wingdings" charset="2"/>
              <a:buChar char=""/>
            </a:pPr>
            <a:r>
              <a:rPr b="0" lang="en-US" sz="1200" strike="noStrike" u="none">
                <a:solidFill>
                  <a:srgbClr val="000000"/>
                </a:solidFill>
                <a:effectLst/>
                <a:uFillTx/>
                <a:latin typeface="Arial"/>
                <a:ea typeface="DejaVu Sans"/>
              </a:rPr>
              <a:t>This is a beeswarm SHAP plot for an XGBoost model, showing the contribution of individual metabolites to the model’s predictions. </a:t>
            </a:r>
            <a:endParaRPr b="0" lang="en-US" sz="1200" strike="noStrike" u="none">
              <a:solidFill>
                <a:srgbClr val="000000"/>
              </a:solidFill>
              <a:effectLst/>
              <a:uFillTx/>
              <a:latin typeface="Arial"/>
            </a:endParaRPr>
          </a:p>
          <a:p>
            <a:pPr marL="216000" indent="-216000">
              <a:lnSpc>
                <a:spcPct val="100000"/>
              </a:lnSpc>
              <a:spcBef>
                <a:spcPts val="1191"/>
              </a:spcBef>
              <a:spcAft>
                <a:spcPts val="992"/>
              </a:spcAft>
              <a:buClr>
                <a:srgbClr val="000000"/>
              </a:buClr>
              <a:buSzPct val="45000"/>
              <a:buFont typeface="Wingdings" charset="2"/>
              <a:buChar char=""/>
            </a:pPr>
            <a:r>
              <a:rPr b="0" lang="en-US" sz="1200" strike="noStrike" u="none">
                <a:solidFill>
                  <a:srgbClr val="000000"/>
                </a:solidFill>
                <a:effectLst/>
                <a:uFillTx/>
                <a:latin typeface="Arial"/>
                <a:ea typeface="DejaVu Sans"/>
              </a:rPr>
              <a:t>Sphingomyelin (SM (38:1)), phosphatidic acid (PA (18:0/22:6)) and triacylglycerol (TAG (54:5-18:2)) have the strongest influence on the model’s predictions.</a:t>
            </a:r>
            <a:endParaRPr b="0" lang="en-US" sz="1200" strike="noStrike" u="none">
              <a:solidFill>
                <a:srgbClr val="000000"/>
              </a:solidFill>
              <a:effectLst/>
              <a:uFillTx/>
              <a:latin typeface="Arial"/>
            </a:endParaRPr>
          </a:p>
          <a:p>
            <a:pPr marL="216000" indent="-216000">
              <a:lnSpc>
                <a:spcPct val="100000"/>
              </a:lnSpc>
              <a:spcBef>
                <a:spcPts val="1191"/>
              </a:spcBef>
              <a:spcAft>
                <a:spcPts val="992"/>
              </a:spcAft>
              <a:buClr>
                <a:srgbClr val="000000"/>
              </a:buClr>
              <a:buSzPct val="45000"/>
              <a:buFont typeface="Wingdings" charset="2"/>
              <a:buChar char=""/>
            </a:pPr>
            <a:r>
              <a:rPr b="0" lang="en-US" sz="1200" strike="noStrike" u="none">
                <a:solidFill>
                  <a:srgbClr val="000000"/>
                </a:solidFill>
                <a:effectLst/>
                <a:uFillTx/>
                <a:latin typeface="Arial"/>
                <a:ea typeface="DejaVu Sans"/>
              </a:rPr>
              <a:t>For sphingomyelin (SM (38:1)) and phosphatidic acid (PA (18:0/22:6)), lower metabolite levels (purple) are associated with negative SHAP values. </a:t>
            </a:r>
            <a:endParaRPr b="0" lang="en-US" sz="1200" strike="noStrike" u="none">
              <a:solidFill>
                <a:srgbClr val="000000"/>
              </a:solidFill>
              <a:effectLst/>
              <a:uFillTx/>
              <a:latin typeface="Arial"/>
            </a:endParaRPr>
          </a:p>
          <a:p>
            <a:pPr marL="216000" indent="-216000">
              <a:lnSpc>
                <a:spcPct val="100000"/>
              </a:lnSpc>
              <a:spcBef>
                <a:spcPts val="1191"/>
              </a:spcBef>
              <a:spcAft>
                <a:spcPts val="992"/>
              </a:spcAft>
              <a:buClr>
                <a:srgbClr val="000000"/>
              </a:buClr>
              <a:buSzPct val="45000"/>
              <a:buFont typeface="Wingdings" charset="2"/>
              <a:buChar char=""/>
            </a:pPr>
            <a:r>
              <a:rPr b="0" lang="en-US" sz="1200" strike="noStrike" u="none">
                <a:solidFill>
                  <a:srgbClr val="000000"/>
                </a:solidFill>
                <a:effectLst/>
                <a:uFillTx/>
                <a:latin typeface="Arial"/>
                <a:ea typeface="DejaVu Sans"/>
              </a:rPr>
              <a:t>Triacylglycerol species such as TAG (52:3-18:1) and TAG (56:7-18:2) show both positive and negative SHAP values. </a:t>
            </a:r>
            <a:endParaRPr b="0" lang="en-US" sz="1200" strike="noStrike" u="none">
              <a:solidFill>
                <a:srgbClr val="000000"/>
              </a:solidFill>
              <a:effectLst/>
              <a:uFillTx/>
              <a:latin typeface="Arial"/>
            </a:endParaRPr>
          </a:p>
          <a:p>
            <a:pPr marL="216000" indent="-216000">
              <a:lnSpc>
                <a:spcPct val="100000"/>
              </a:lnSpc>
              <a:spcBef>
                <a:spcPts val="1191"/>
              </a:spcBef>
              <a:spcAft>
                <a:spcPts val="992"/>
              </a:spcAft>
              <a:buClr>
                <a:srgbClr val="000000"/>
              </a:buClr>
              <a:buSzPct val="45000"/>
              <a:buFont typeface="Wingdings" charset="2"/>
              <a:buChar char=""/>
            </a:pPr>
            <a:r>
              <a:rPr b="0" lang="en-US" sz="1200" strike="noStrike" u="none">
                <a:solidFill>
                  <a:srgbClr val="000000"/>
                </a:solidFill>
                <a:effectLst/>
                <a:uFillTx/>
                <a:latin typeface="Arial"/>
                <a:ea typeface="DejaVu Sans"/>
              </a:rPr>
              <a:t>Organic acids (4-Hydroxyphenyllactate and 3-Hydroxypropionic acid) are moderately relevant. </a:t>
            </a:r>
            <a:endParaRPr b="0" lang="en-US" sz="1200" strike="noStrike" u="none">
              <a:solidFill>
                <a:srgbClr val="000000"/>
              </a:solidFill>
              <a:effectLst/>
              <a:uFillTx/>
              <a:latin typeface="Arial"/>
            </a:endParaRPr>
          </a:p>
        </p:txBody>
      </p:sp>
      <p:pic>
        <p:nvPicPr>
          <p:cNvPr id="186" name="" descr=""/>
          <p:cNvPicPr/>
          <p:nvPr/>
        </p:nvPicPr>
        <p:blipFill>
          <a:blip r:embed="rId1"/>
          <a:stretch/>
        </p:blipFill>
        <p:spPr>
          <a:xfrm>
            <a:off x="0" y="752760"/>
            <a:ext cx="5937840" cy="4911840"/>
          </a:xfrm>
          <a:prstGeom prst="rect">
            <a:avLst/>
          </a:prstGeom>
          <a:noFill/>
          <a:ln w="0">
            <a:noFill/>
          </a:ln>
        </p:spPr>
      </p:pic>
      <p:sp>
        <p:nvSpPr>
          <p:cNvPr id="3" name="PlaceHolder 2"/>
          <p:cNvSpPr>
            <a:spLocks noGrp="1"/>
          </p:cNvSpPr>
          <p:nvPr>
            <p:ph type="sldNum" idx="53"/>
          </p:nvPr>
        </p:nvSpPr>
        <p:spPr/>
        <p:txBody>
          <a:bodyPr/>
          <a:p>
            <a:fld id="{6E9FBCFB-7415-472B-A9A3-65D7F9848F44}" type="slidenum">
              <a:t>33</a:t>
            </a:fld>
          </a:p>
        </p:txBody>
      </p:sp>
    </p:spTree>
  </p:cSld>
  <mc:AlternateContent>
    <mc:Choice Requires="p14">
      <p:transition spd="slow" p14:dur="2000"/>
    </mc:Choice>
    <mc:Fallback>
      <p:transition spd="slow"/>
    </mc:Fallback>
  </mc:AlternateContent>
</p:sld>
</file>

<file path=ppt/slides/slide3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7" name=""/>
          <p:cNvSpPr/>
          <p:nvPr/>
        </p:nvSpPr>
        <p:spPr>
          <a:xfrm>
            <a:off x="1371600" y="0"/>
            <a:ext cx="7766640" cy="546840"/>
          </a:xfrm>
          <a:prstGeom prst="rect">
            <a:avLst/>
          </a:prstGeom>
          <a:noFill/>
          <a:ln w="0">
            <a:noFill/>
          </a:ln>
        </p:spPr>
        <p:style>
          <a:lnRef idx="0"/>
          <a:fillRef idx="0"/>
          <a:effectRef idx="0"/>
          <a:fontRef idx="minor"/>
        </p:style>
        <p:txBody>
          <a:bodyPr lIns="90000" rIns="90000" tIns="45000" bIns="45000" anchor="t" anchorCtr="1">
            <a:spAutoFit/>
          </a:bodyPr>
          <a:p>
            <a:pPr algn="ctr">
              <a:lnSpc>
                <a:spcPct val="100000"/>
              </a:lnSpc>
            </a:pPr>
            <a:r>
              <a:rPr b="0" lang="en-US" sz="3000" strike="noStrike" u="none">
                <a:solidFill>
                  <a:srgbClr val="ffffff"/>
                </a:solidFill>
                <a:effectLst/>
                <a:uFillTx/>
                <a:latin typeface="Arial"/>
                <a:ea typeface="DejaVu Sans"/>
              </a:rPr>
              <a:t>XGBoost: Difference Between Groups</a:t>
            </a:r>
            <a:endParaRPr b="0" lang="en-US" sz="3000" strike="noStrike" u="none">
              <a:solidFill>
                <a:srgbClr val="000000"/>
              </a:solidFill>
              <a:effectLst/>
              <a:uFillTx/>
              <a:latin typeface="Arial"/>
            </a:endParaRPr>
          </a:p>
        </p:txBody>
      </p:sp>
      <p:sp>
        <p:nvSpPr>
          <p:cNvPr id="188" name=""/>
          <p:cNvSpPr/>
          <p:nvPr/>
        </p:nvSpPr>
        <p:spPr>
          <a:xfrm>
            <a:off x="360000" y="1080000"/>
            <a:ext cx="9342720" cy="3582720"/>
          </a:xfrm>
          <a:prstGeom prst="rect">
            <a:avLst/>
          </a:prstGeom>
          <a:noFill/>
          <a:ln w="0">
            <a:noFill/>
          </a:ln>
        </p:spPr>
        <p:style>
          <a:lnRef idx="0"/>
          <a:fillRef idx="0"/>
          <a:effectRef idx="0"/>
          <a:fontRef idx="minor"/>
        </p:style>
        <p:txBody>
          <a:bodyPr lIns="0" rIns="0" tIns="0" bIns="0" anchor="t">
            <a:normAutofit/>
          </a:bodyPr>
          <a:p>
            <a:pPr marL="432000" indent="-324000">
              <a:lnSpc>
                <a:spcPct val="100000"/>
              </a:lnSpc>
              <a:spcBef>
                <a:spcPts val="1417"/>
              </a:spcBef>
              <a:buClr>
                <a:srgbClr val="000000"/>
              </a:buClr>
              <a:buSzPct val="45000"/>
              <a:buFont typeface="Wingdings" charset="2"/>
              <a:buChar char=""/>
            </a:pPr>
            <a:r>
              <a:rPr b="0" lang="en-US" sz="2500" strike="noStrike" u="none">
                <a:solidFill>
                  <a:srgbClr val="000000"/>
                </a:solidFill>
                <a:effectLst/>
                <a:uFillTx/>
                <a:latin typeface="Arial"/>
                <a:ea typeface="DejaVu Sans"/>
              </a:rPr>
              <a:t>H</a:t>
            </a:r>
            <a:r>
              <a:rPr b="0" lang="en-US" sz="2500" strike="noStrike" u="none" baseline="-8000">
                <a:solidFill>
                  <a:srgbClr val="000000"/>
                </a:solidFill>
                <a:effectLst/>
                <a:uFillTx/>
                <a:latin typeface="Arial"/>
                <a:ea typeface="DejaVu Sans"/>
              </a:rPr>
              <a:t>0</a:t>
            </a:r>
            <a:r>
              <a:rPr b="0" lang="en-US" sz="2500" strike="noStrike" u="none">
                <a:solidFill>
                  <a:srgbClr val="000000"/>
                </a:solidFill>
                <a:effectLst/>
                <a:uFillTx/>
                <a:latin typeface="Arial"/>
                <a:ea typeface="DejaVu Sans"/>
              </a:rPr>
              <a:t>: no difference in SHAP values between Healthy and Type 2 diabetic subjects </a:t>
            </a:r>
            <a:br>
              <a:rPr sz="2500"/>
            </a:br>
            <a:r>
              <a:rPr b="0" lang="en-US" sz="2500" strike="noStrike" u="none">
                <a:solidFill>
                  <a:srgbClr val="000000"/>
                </a:solidFill>
                <a:effectLst/>
                <a:uFillTx/>
                <a:latin typeface="Arial"/>
                <a:ea typeface="DejaVu Sans"/>
              </a:rPr>
              <a:t>H</a:t>
            </a:r>
            <a:r>
              <a:rPr b="0" lang="en-US" sz="2500" strike="noStrike" u="none" baseline="-8000">
                <a:solidFill>
                  <a:srgbClr val="000000"/>
                </a:solidFill>
                <a:effectLst/>
                <a:uFillTx/>
                <a:latin typeface="Arial"/>
                <a:ea typeface="DejaVu Sans"/>
              </a:rPr>
              <a:t>A</a:t>
            </a:r>
            <a:r>
              <a:rPr b="0" lang="en-US" sz="2500" strike="noStrike" u="none">
                <a:solidFill>
                  <a:srgbClr val="000000"/>
                </a:solidFill>
                <a:effectLst/>
                <a:uFillTx/>
                <a:latin typeface="Arial"/>
                <a:ea typeface="DejaVu Sans"/>
              </a:rPr>
              <a:t>: difference in SHAP values between Healthy and Type 2 diabetic subjects</a:t>
            </a:r>
            <a:endParaRPr b="0" lang="en-US" sz="2500" strike="noStrike" u="none">
              <a:solidFill>
                <a:srgbClr val="000000"/>
              </a:solidFill>
              <a:effectLst/>
              <a:uFillTx/>
              <a:latin typeface="Arial"/>
            </a:endParaRPr>
          </a:p>
          <a:p>
            <a:pPr marL="432000" indent="-324000">
              <a:lnSpc>
                <a:spcPct val="100000"/>
              </a:lnSpc>
              <a:spcBef>
                <a:spcPts val="1417"/>
              </a:spcBef>
              <a:buClr>
                <a:srgbClr val="000000"/>
              </a:buClr>
              <a:buSzPct val="45000"/>
              <a:buFont typeface="Wingdings" charset="2"/>
              <a:buChar char=""/>
            </a:pPr>
            <a:r>
              <a:rPr b="0" lang="en-US" sz="2500" strike="noStrike" u="none">
                <a:solidFill>
                  <a:srgbClr val="000000"/>
                </a:solidFill>
                <a:effectLst/>
                <a:uFillTx/>
                <a:latin typeface="Arial"/>
                <a:ea typeface="DejaVu Sans"/>
              </a:rPr>
              <a:t>p-value &lt; 2.2x10</a:t>
            </a:r>
            <a:r>
              <a:rPr b="0" lang="en-US" sz="2500" strike="noStrike" u="none" baseline="33000">
                <a:solidFill>
                  <a:srgbClr val="000000"/>
                </a:solidFill>
                <a:effectLst/>
                <a:uFillTx/>
                <a:latin typeface="Arial"/>
                <a:ea typeface="DejaVu Sans"/>
              </a:rPr>
              <a:t>-16</a:t>
            </a:r>
            <a:r>
              <a:rPr b="0" lang="en-US" sz="2500" strike="noStrike" u="none">
                <a:solidFill>
                  <a:srgbClr val="000000"/>
                </a:solidFill>
                <a:effectLst/>
                <a:uFillTx/>
                <a:latin typeface="Arial"/>
                <a:ea typeface="DejaVu Sans"/>
              </a:rPr>
              <a:t>, i.e., there is a highly significant difference in SHAP values between Healthy and Type 2 diabetic subjects</a:t>
            </a:r>
            <a:endParaRPr b="0" lang="en-US" sz="2500" strike="noStrike" u="none">
              <a:solidFill>
                <a:srgbClr val="000000"/>
              </a:solidFill>
              <a:effectLst/>
              <a:uFillTx/>
              <a:latin typeface="Arial"/>
            </a:endParaRPr>
          </a:p>
        </p:txBody>
      </p:sp>
      <p:sp>
        <p:nvSpPr>
          <p:cNvPr id="2" name="PlaceHolder 1"/>
          <p:cNvSpPr>
            <a:spLocks noGrp="1"/>
          </p:cNvSpPr>
          <p:nvPr>
            <p:ph type="sldNum" idx="53"/>
          </p:nvPr>
        </p:nvSpPr>
        <p:spPr/>
        <p:txBody>
          <a:bodyPr/>
          <a:p>
            <a:fld id="{BC09A70B-D241-4616-B663-67A3AB714076}" type="slidenum">
              <a:t>34</a:t>
            </a:fld>
          </a:p>
        </p:txBody>
      </p:sp>
    </p:spTree>
  </p:cSld>
  <mc:AlternateContent>
    <mc:Choice Requires="p14">
      <p:transition spd="slow" p14:dur="2000"/>
    </mc:Choice>
    <mc:Fallback>
      <p:transition spd="slow"/>
    </mc:Fallback>
  </mc:AlternateContent>
</p:sld>
</file>

<file path=ppt/slides/slide3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9" name="PlaceHolder 1"/>
          <p:cNvSpPr>
            <a:spLocks noGrp="1"/>
          </p:cNvSpPr>
          <p:nvPr>
            <p:ph type="title"/>
          </p:nvPr>
        </p:nvSpPr>
        <p:spPr>
          <a:xfrm>
            <a:off x="360000" y="68400"/>
            <a:ext cx="9342720" cy="684720"/>
          </a:xfrm>
          <a:prstGeom prst="rect">
            <a:avLst/>
          </a:prstGeom>
          <a:noFill/>
          <a:ln w="0">
            <a:noFill/>
          </a:ln>
        </p:spPr>
        <p:txBody>
          <a:bodyPr lIns="0" rIns="0" tIns="0" bIns="0" anchor="ctr">
            <a:spAutoFit/>
          </a:bodyPr>
          <a:p>
            <a:pPr indent="0" algn="ctr">
              <a:lnSpc>
                <a:spcPct val="100000"/>
              </a:lnSpc>
              <a:buNone/>
              <a:tabLst>
                <a:tab algn="l" pos="0"/>
              </a:tabLst>
            </a:pPr>
            <a:r>
              <a:rPr b="0" lang="en-US" sz="3000" strike="noStrike" u="none">
                <a:solidFill>
                  <a:srgbClr val="ffffff"/>
                </a:solidFill>
                <a:effectLst/>
                <a:uFillTx/>
                <a:latin typeface="Arial"/>
              </a:rPr>
              <a:t>XGBoost: Mean(|SHAP|)</a:t>
            </a:r>
            <a:endParaRPr b="0" lang="en-US" sz="3000" strike="noStrike" u="none">
              <a:solidFill>
                <a:srgbClr val="000000"/>
              </a:solidFill>
              <a:effectLst/>
              <a:uFillTx/>
              <a:latin typeface="Arial"/>
            </a:endParaRPr>
          </a:p>
        </p:txBody>
      </p:sp>
      <p:sp>
        <p:nvSpPr>
          <p:cNvPr id="190" name=""/>
          <p:cNvSpPr/>
          <p:nvPr/>
        </p:nvSpPr>
        <p:spPr>
          <a:xfrm>
            <a:off x="5943600" y="953280"/>
            <a:ext cx="4099680" cy="3298680"/>
          </a:xfrm>
          <a:prstGeom prst="rect">
            <a:avLst/>
          </a:prstGeom>
          <a:noFill/>
          <a:ln w="0">
            <a:noFill/>
          </a:ln>
        </p:spPr>
        <p:style>
          <a:lnRef idx="0"/>
          <a:fillRef idx="0"/>
          <a:effectRef idx="0"/>
          <a:fontRef idx="minor"/>
        </p:style>
        <p:txBody>
          <a:bodyPr lIns="90000" rIns="90000" tIns="45000" bIns="45000" anchor="t">
            <a:spAutoFit/>
          </a:bodyPr>
          <a:p>
            <a:pPr marL="216000" indent="-216000">
              <a:lnSpc>
                <a:spcPct val="100000"/>
              </a:lnSpc>
              <a:spcBef>
                <a:spcPts val="1191"/>
              </a:spcBef>
              <a:spcAft>
                <a:spcPts val="992"/>
              </a:spcAft>
              <a:buClr>
                <a:srgbClr val="000000"/>
              </a:buClr>
              <a:buSzPct val="45000"/>
              <a:buFont typeface="Wingdings" charset="2"/>
              <a:buChar char=""/>
            </a:pPr>
            <a:r>
              <a:rPr b="0" lang="en-US" sz="1200" strike="noStrike" u="none">
                <a:solidFill>
                  <a:srgbClr val="000000"/>
                </a:solidFill>
                <a:effectLst/>
                <a:uFillTx/>
                <a:latin typeface="Arial"/>
                <a:ea typeface="DejaVu Sans"/>
              </a:rPr>
              <a:t>This plot is a bar chart that shows the global importance of metabolites in a predictive model based on the average magnitude of their SHAP (Shapley Additive Explanations) values. </a:t>
            </a:r>
            <a:endParaRPr b="0" lang="en-US" sz="1200" strike="noStrike" u="none">
              <a:solidFill>
                <a:srgbClr val="000000"/>
              </a:solidFill>
              <a:effectLst/>
              <a:uFillTx/>
              <a:latin typeface="Arial"/>
            </a:endParaRPr>
          </a:p>
          <a:p>
            <a:pPr marL="216000" indent="-216000">
              <a:lnSpc>
                <a:spcPct val="100000"/>
              </a:lnSpc>
              <a:spcBef>
                <a:spcPts val="1191"/>
              </a:spcBef>
              <a:spcAft>
                <a:spcPts val="992"/>
              </a:spcAft>
              <a:buClr>
                <a:srgbClr val="000000"/>
              </a:buClr>
              <a:buSzPct val="45000"/>
              <a:buFont typeface="Wingdings" charset="2"/>
              <a:buChar char=""/>
            </a:pPr>
            <a:r>
              <a:rPr b="0" lang="en-US" sz="1200" strike="noStrike" u="none">
                <a:solidFill>
                  <a:srgbClr val="000000"/>
                </a:solidFill>
                <a:effectLst/>
                <a:uFillTx/>
                <a:latin typeface="Arial"/>
                <a:ea typeface="DejaVu Sans"/>
              </a:rPr>
              <a:t>Sphingomyelin (SM (38:1)), phosphatidic acid (PA (18:0/22:6)), and triacylglycerol (TAG (54:5-18:2)) are the most influential metabolites in determining the model’s predictions. </a:t>
            </a:r>
            <a:endParaRPr b="0" lang="en-US" sz="1200" strike="noStrike" u="none">
              <a:solidFill>
                <a:srgbClr val="000000"/>
              </a:solidFill>
              <a:effectLst/>
              <a:uFillTx/>
              <a:latin typeface="Arial"/>
            </a:endParaRPr>
          </a:p>
          <a:p>
            <a:pPr marL="216000" indent="-216000">
              <a:lnSpc>
                <a:spcPct val="100000"/>
              </a:lnSpc>
              <a:spcBef>
                <a:spcPts val="1191"/>
              </a:spcBef>
              <a:spcAft>
                <a:spcPts val="992"/>
              </a:spcAft>
              <a:buClr>
                <a:srgbClr val="000000"/>
              </a:buClr>
              <a:buSzPct val="45000"/>
              <a:buFont typeface="Wingdings" charset="2"/>
              <a:buChar char=""/>
            </a:pPr>
            <a:r>
              <a:rPr b="0" lang="en-US" sz="1200" strike="noStrike" u="none">
                <a:solidFill>
                  <a:srgbClr val="000000"/>
                </a:solidFill>
                <a:effectLst/>
                <a:uFillTx/>
                <a:latin typeface="Arial"/>
                <a:ea typeface="DejaVu Sans"/>
              </a:rPr>
              <a:t>Valine, triacylglycerol (TAG (52:4-16:1)), and phosphatidylcholine (PC (38:2)) also contribute significantly, though less than the top three. </a:t>
            </a:r>
            <a:endParaRPr b="0" lang="en-US" sz="1200" strike="noStrike" u="none">
              <a:solidFill>
                <a:srgbClr val="000000"/>
              </a:solidFill>
              <a:effectLst/>
              <a:uFillTx/>
              <a:latin typeface="Arial"/>
            </a:endParaRPr>
          </a:p>
          <a:p>
            <a:pPr marL="216000" indent="-216000">
              <a:lnSpc>
                <a:spcPct val="100000"/>
              </a:lnSpc>
              <a:spcBef>
                <a:spcPts val="1191"/>
              </a:spcBef>
              <a:spcAft>
                <a:spcPts val="992"/>
              </a:spcAft>
              <a:buClr>
                <a:srgbClr val="000000"/>
              </a:buClr>
              <a:buSzPct val="45000"/>
              <a:buFont typeface="Wingdings" charset="2"/>
              <a:buChar char=""/>
            </a:pPr>
            <a:r>
              <a:rPr b="0" lang="en-US" sz="1200" strike="noStrike" u="none">
                <a:solidFill>
                  <a:srgbClr val="000000"/>
                </a:solidFill>
                <a:effectLst/>
                <a:uFillTx/>
                <a:latin typeface="Arial"/>
                <a:ea typeface="DejaVu Sans"/>
              </a:rPr>
              <a:t>The rest of the metabolites show progressively smaller mean absolute SHAP values. </a:t>
            </a:r>
            <a:endParaRPr b="0" lang="en-US" sz="1200" strike="noStrike" u="none">
              <a:solidFill>
                <a:srgbClr val="000000"/>
              </a:solidFill>
              <a:effectLst/>
              <a:uFillTx/>
              <a:latin typeface="Arial"/>
            </a:endParaRPr>
          </a:p>
        </p:txBody>
      </p:sp>
      <p:pic>
        <p:nvPicPr>
          <p:cNvPr id="191" name="" descr=""/>
          <p:cNvPicPr/>
          <p:nvPr/>
        </p:nvPicPr>
        <p:blipFill>
          <a:blip r:embed="rId1"/>
          <a:stretch/>
        </p:blipFill>
        <p:spPr>
          <a:xfrm>
            <a:off x="0" y="753120"/>
            <a:ext cx="5937840" cy="4911480"/>
          </a:xfrm>
          <a:prstGeom prst="rect">
            <a:avLst/>
          </a:prstGeom>
          <a:noFill/>
          <a:ln w="0">
            <a:noFill/>
          </a:ln>
        </p:spPr>
      </p:pic>
      <p:sp>
        <p:nvSpPr>
          <p:cNvPr id="3" name="PlaceHolder 2"/>
          <p:cNvSpPr>
            <a:spLocks noGrp="1"/>
          </p:cNvSpPr>
          <p:nvPr>
            <p:ph type="sldNum" idx="11"/>
          </p:nvPr>
        </p:nvSpPr>
        <p:spPr/>
        <p:txBody>
          <a:bodyPr/>
          <a:p>
            <a:fld id="{A068E933-9E71-49A2-BFA5-EE9C255D09F3}" type="slidenum">
              <a:t>35</a:t>
            </a:fld>
          </a:p>
        </p:txBody>
      </p:sp>
    </p:spTree>
  </p:cSld>
  <mc:AlternateContent>
    <mc:Choice Requires="p14">
      <p:transition spd="slow" p14:dur="2000"/>
    </mc:Choice>
    <mc:Fallback>
      <p:transition spd="slow"/>
    </mc:Fallback>
  </mc:AlternateContent>
</p:sld>
</file>

<file path=ppt/slides/slide3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2" name="PlaceHolder 1"/>
          <p:cNvSpPr>
            <a:spLocks noGrp="1"/>
          </p:cNvSpPr>
          <p:nvPr>
            <p:ph type="title"/>
          </p:nvPr>
        </p:nvSpPr>
        <p:spPr>
          <a:xfrm>
            <a:off x="360000" y="68400"/>
            <a:ext cx="9342720" cy="684720"/>
          </a:xfrm>
          <a:prstGeom prst="rect">
            <a:avLst/>
          </a:prstGeom>
          <a:noFill/>
          <a:ln w="0">
            <a:noFill/>
          </a:ln>
        </p:spPr>
        <p:txBody>
          <a:bodyPr lIns="0" rIns="0" tIns="0" bIns="0" anchor="ctr">
            <a:spAutoFit/>
          </a:bodyPr>
          <a:p>
            <a:pPr indent="0" algn="ctr">
              <a:lnSpc>
                <a:spcPct val="100000"/>
              </a:lnSpc>
              <a:buNone/>
              <a:tabLst>
                <a:tab algn="l" pos="0"/>
              </a:tabLst>
            </a:pPr>
            <a:r>
              <a:rPr b="0" lang="en-US" sz="3000" strike="noStrike" u="none">
                <a:solidFill>
                  <a:srgbClr val="ffffff"/>
                </a:solidFill>
                <a:effectLst/>
                <a:uFillTx/>
                <a:latin typeface="Arial"/>
              </a:rPr>
              <a:t>XGBoost: Mean(|SHAP|) per Metabolite</a:t>
            </a:r>
            <a:endParaRPr b="0" lang="en-US" sz="3000" strike="noStrike" u="none">
              <a:solidFill>
                <a:srgbClr val="000000"/>
              </a:solidFill>
              <a:effectLst/>
              <a:uFillTx/>
              <a:latin typeface="Arial"/>
            </a:endParaRPr>
          </a:p>
        </p:txBody>
      </p:sp>
      <p:sp>
        <p:nvSpPr>
          <p:cNvPr id="193" name=""/>
          <p:cNvSpPr/>
          <p:nvPr/>
        </p:nvSpPr>
        <p:spPr>
          <a:xfrm>
            <a:off x="5943600" y="914400"/>
            <a:ext cx="4099680" cy="4490280"/>
          </a:xfrm>
          <a:prstGeom prst="rect">
            <a:avLst/>
          </a:prstGeom>
          <a:noFill/>
          <a:ln w="0">
            <a:noFill/>
          </a:ln>
        </p:spPr>
        <p:style>
          <a:lnRef idx="0"/>
          <a:fillRef idx="0"/>
          <a:effectRef idx="0"/>
          <a:fontRef idx="minor"/>
        </p:style>
        <p:txBody>
          <a:bodyPr lIns="90000" rIns="90000" tIns="45000" bIns="45000" anchor="t">
            <a:spAutoFit/>
          </a:bodyPr>
          <a:p>
            <a:pPr marL="216000" indent="-216000">
              <a:lnSpc>
                <a:spcPct val="100000"/>
              </a:lnSpc>
              <a:spcBef>
                <a:spcPts val="1191"/>
              </a:spcBef>
              <a:spcAft>
                <a:spcPts val="992"/>
              </a:spcAft>
              <a:buClr>
                <a:srgbClr val="000000"/>
              </a:buClr>
              <a:buSzPct val="45000"/>
              <a:buFont typeface="Wingdings" charset="2"/>
              <a:buChar char=""/>
            </a:pPr>
            <a:r>
              <a:rPr b="0" lang="en-US" sz="1200" strike="noStrike" u="none">
                <a:solidFill>
                  <a:srgbClr val="000000"/>
                </a:solidFill>
                <a:effectLst/>
                <a:uFillTx/>
                <a:latin typeface="Arial"/>
                <a:ea typeface="DejaVu Sans"/>
              </a:rPr>
              <a:t>Heatmap that shows the top 20 metabolites ranked by mean absolute SHAP values from the XGBoost (XGB) model. </a:t>
            </a:r>
            <a:endParaRPr b="0" lang="en-US" sz="1200" strike="noStrike" u="none">
              <a:solidFill>
                <a:srgbClr val="000000"/>
              </a:solidFill>
              <a:effectLst/>
              <a:uFillTx/>
              <a:latin typeface="Arial"/>
            </a:endParaRPr>
          </a:p>
          <a:p>
            <a:pPr marL="216000" indent="-216000">
              <a:lnSpc>
                <a:spcPct val="100000"/>
              </a:lnSpc>
              <a:spcBef>
                <a:spcPts val="1191"/>
              </a:spcBef>
              <a:spcAft>
                <a:spcPts val="992"/>
              </a:spcAft>
              <a:buClr>
                <a:srgbClr val="000000"/>
              </a:buClr>
              <a:buSzPct val="45000"/>
              <a:buFont typeface="Wingdings" charset="2"/>
              <a:buChar char=""/>
            </a:pPr>
            <a:r>
              <a:rPr b="0" lang="en-US" sz="1200" strike="noStrike" u="none">
                <a:solidFill>
                  <a:srgbClr val="000000"/>
                </a:solidFill>
                <a:effectLst/>
                <a:uFillTx/>
                <a:latin typeface="Arial"/>
                <a:ea typeface="DejaVu Sans"/>
              </a:rPr>
              <a:t>Sphingomyelin (SM (38:1)), phosphatidic acid (PA (18:0/22:6)), triacylglycerols (TAG (54:5-18:2), TAG (52:4-16:1)), and Valine appear prominently, suggesting strong discriminative power in XGBoost. </a:t>
            </a:r>
            <a:endParaRPr b="0" lang="en-US" sz="1200" strike="noStrike" u="none">
              <a:solidFill>
                <a:srgbClr val="000000"/>
              </a:solidFill>
              <a:effectLst/>
              <a:uFillTx/>
              <a:latin typeface="Arial"/>
            </a:endParaRPr>
          </a:p>
          <a:p>
            <a:pPr marL="216000" indent="-216000">
              <a:lnSpc>
                <a:spcPct val="100000"/>
              </a:lnSpc>
              <a:spcBef>
                <a:spcPts val="1191"/>
              </a:spcBef>
              <a:spcAft>
                <a:spcPts val="992"/>
              </a:spcAft>
              <a:buClr>
                <a:srgbClr val="000000"/>
              </a:buClr>
              <a:buSzPct val="45000"/>
              <a:buFont typeface="Wingdings" charset="2"/>
              <a:buChar char=""/>
            </a:pPr>
            <a:r>
              <a:rPr b="0" lang="en-US" sz="1200" strike="noStrike" u="none">
                <a:solidFill>
                  <a:srgbClr val="000000"/>
                </a:solidFill>
                <a:effectLst/>
                <a:uFillTx/>
                <a:latin typeface="Arial"/>
                <a:ea typeface="DejaVu Sans"/>
              </a:rPr>
              <a:t>Upper samples (H-prefix) tend to show lower z-scores (purple) in some metabolites like sphingomyelin (SM(38:1)), and phosphatidic acid (PA(18:0/22:6)) while lower samples (D-prefix) often show red (higher values) for these same metabolites, and DAG species. </a:t>
            </a:r>
            <a:endParaRPr b="0" lang="en-US" sz="1200" strike="noStrike" u="none">
              <a:solidFill>
                <a:srgbClr val="000000"/>
              </a:solidFill>
              <a:effectLst/>
              <a:uFillTx/>
              <a:latin typeface="Arial"/>
            </a:endParaRPr>
          </a:p>
          <a:p>
            <a:pPr marL="216000" indent="-216000">
              <a:lnSpc>
                <a:spcPct val="100000"/>
              </a:lnSpc>
              <a:spcBef>
                <a:spcPts val="1191"/>
              </a:spcBef>
              <a:spcAft>
                <a:spcPts val="992"/>
              </a:spcAft>
              <a:buClr>
                <a:srgbClr val="000000"/>
              </a:buClr>
              <a:buSzPct val="45000"/>
              <a:buFont typeface="Wingdings" charset="2"/>
              <a:buChar char=""/>
            </a:pPr>
            <a:r>
              <a:rPr b="0" lang="en-US" sz="1200" strike="noStrike" u="none">
                <a:solidFill>
                  <a:srgbClr val="000000"/>
                </a:solidFill>
                <a:effectLst/>
                <a:uFillTx/>
                <a:latin typeface="Arial"/>
                <a:ea typeface="DejaVu Sans"/>
              </a:rPr>
              <a:t>Sphingomyelins (SMs), phosphatidic acids (PAs), and triacylglycerols (TAGs) show coherent variation across groups. </a:t>
            </a:r>
            <a:endParaRPr b="0" lang="en-US" sz="1200" strike="noStrike" u="none">
              <a:solidFill>
                <a:srgbClr val="000000"/>
              </a:solidFill>
              <a:effectLst/>
              <a:uFillTx/>
              <a:latin typeface="Arial"/>
            </a:endParaRPr>
          </a:p>
          <a:p>
            <a:pPr marL="216000" indent="-216000">
              <a:lnSpc>
                <a:spcPct val="100000"/>
              </a:lnSpc>
              <a:spcBef>
                <a:spcPts val="1191"/>
              </a:spcBef>
              <a:spcAft>
                <a:spcPts val="992"/>
              </a:spcAft>
              <a:buClr>
                <a:srgbClr val="000000"/>
              </a:buClr>
              <a:buSzPct val="45000"/>
              <a:buFont typeface="Wingdings" charset="2"/>
              <a:buChar char=""/>
            </a:pPr>
            <a:r>
              <a:rPr b="0" lang="en-US" sz="1200" strike="noStrike" u="none">
                <a:solidFill>
                  <a:srgbClr val="000000"/>
                </a:solidFill>
                <a:effectLst/>
                <a:uFillTx/>
                <a:latin typeface="Arial"/>
                <a:ea typeface="DejaVu Sans"/>
              </a:rPr>
              <a:t>Valine (an amino acid) also emerges as a key marker, reinforcing the role of branched-chain amino acids in T2DM metabolism. </a:t>
            </a:r>
            <a:endParaRPr b="0" lang="en-US" sz="1200" strike="noStrike" u="none">
              <a:solidFill>
                <a:srgbClr val="000000"/>
              </a:solidFill>
              <a:effectLst/>
              <a:uFillTx/>
              <a:latin typeface="Arial"/>
            </a:endParaRPr>
          </a:p>
        </p:txBody>
      </p:sp>
      <p:pic>
        <p:nvPicPr>
          <p:cNvPr id="194" name="" descr=""/>
          <p:cNvPicPr/>
          <p:nvPr/>
        </p:nvPicPr>
        <p:blipFill>
          <a:blip r:embed="rId1"/>
          <a:stretch/>
        </p:blipFill>
        <p:spPr>
          <a:xfrm>
            <a:off x="0" y="753120"/>
            <a:ext cx="5937840" cy="4911840"/>
          </a:xfrm>
          <a:prstGeom prst="rect">
            <a:avLst/>
          </a:prstGeom>
          <a:noFill/>
          <a:ln w="0">
            <a:noFill/>
          </a:ln>
        </p:spPr>
      </p:pic>
      <p:sp>
        <p:nvSpPr>
          <p:cNvPr id="3" name="PlaceHolder 2"/>
          <p:cNvSpPr>
            <a:spLocks noGrp="1"/>
          </p:cNvSpPr>
          <p:nvPr>
            <p:ph type="sldNum" idx="11"/>
          </p:nvPr>
        </p:nvSpPr>
        <p:spPr/>
        <p:txBody>
          <a:bodyPr/>
          <a:p>
            <a:fld id="{70FCFF3C-8AF4-49E2-A248-5E615192F5F7}" type="slidenum">
              <a:t>36</a:t>
            </a:fld>
          </a:p>
        </p:txBody>
      </p:sp>
    </p:spTree>
  </p:cSld>
  <mc:AlternateContent>
    <mc:Choice Requires="p14">
      <p:transition spd="slow" p14:dur="2000"/>
    </mc:Choice>
    <mc:Fallback>
      <p:transition spd="slow"/>
    </mc:Fallback>
  </mc:AlternateContent>
</p:sld>
</file>

<file path=ppt/slides/slide3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5" name="PlaceHolder 1"/>
          <p:cNvSpPr>
            <a:spLocks noGrp="1"/>
          </p:cNvSpPr>
          <p:nvPr>
            <p:ph type="title"/>
          </p:nvPr>
        </p:nvSpPr>
        <p:spPr>
          <a:xfrm>
            <a:off x="360000" y="68400"/>
            <a:ext cx="9342720" cy="684720"/>
          </a:xfrm>
          <a:prstGeom prst="rect">
            <a:avLst/>
          </a:prstGeom>
          <a:noFill/>
          <a:ln w="0">
            <a:noFill/>
          </a:ln>
        </p:spPr>
        <p:txBody>
          <a:bodyPr lIns="0" rIns="0" tIns="0" bIns="0" anchor="ctr">
            <a:spAutoFit/>
          </a:bodyPr>
          <a:p>
            <a:pPr indent="0" algn="ctr">
              <a:lnSpc>
                <a:spcPct val="100000"/>
              </a:lnSpc>
              <a:buNone/>
              <a:tabLst>
                <a:tab algn="l" pos="0"/>
              </a:tabLst>
            </a:pPr>
            <a:r>
              <a:rPr b="0" lang="en-US" sz="3000" strike="noStrike" u="none">
                <a:solidFill>
                  <a:srgbClr val="ffffff"/>
                </a:solidFill>
                <a:effectLst/>
                <a:uFillTx/>
                <a:latin typeface="Arial"/>
              </a:rPr>
              <a:t>XGBoost: Predicted probability (P(T2DM))</a:t>
            </a:r>
            <a:endParaRPr b="0" lang="en-US" sz="3000" strike="noStrike" u="none">
              <a:solidFill>
                <a:srgbClr val="000000"/>
              </a:solidFill>
              <a:effectLst/>
              <a:uFillTx/>
              <a:latin typeface="Arial"/>
            </a:endParaRPr>
          </a:p>
        </p:txBody>
      </p:sp>
      <p:sp>
        <p:nvSpPr>
          <p:cNvPr id="196" name=""/>
          <p:cNvSpPr/>
          <p:nvPr/>
        </p:nvSpPr>
        <p:spPr>
          <a:xfrm>
            <a:off x="5257800" y="753120"/>
            <a:ext cx="4796640" cy="4767480"/>
          </a:xfrm>
          <a:prstGeom prst="rect">
            <a:avLst/>
          </a:prstGeom>
          <a:noFill/>
          <a:ln w="0">
            <a:noFill/>
          </a:ln>
        </p:spPr>
        <p:style>
          <a:lnRef idx="0"/>
          <a:fillRef idx="0"/>
          <a:effectRef idx="0"/>
          <a:fontRef idx="minor"/>
        </p:style>
        <p:txBody>
          <a:bodyPr lIns="90000" rIns="90000" tIns="45000" bIns="45000" anchor="t">
            <a:spAutoFit/>
          </a:bodyPr>
          <a:p>
            <a:pPr marL="216000" indent="-216000">
              <a:lnSpc>
                <a:spcPct val="100000"/>
              </a:lnSpc>
              <a:spcBef>
                <a:spcPts val="1191"/>
              </a:spcBef>
              <a:spcAft>
                <a:spcPts val="992"/>
              </a:spcAft>
              <a:buClr>
                <a:srgbClr val="000000"/>
              </a:buClr>
              <a:buSzPct val="45000"/>
              <a:buFont typeface="Wingdings" charset="2"/>
              <a:buChar char=""/>
            </a:pPr>
            <a:r>
              <a:rPr b="0" lang="en-US" sz="1200" strike="noStrike" u="none">
                <a:solidFill>
                  <a:srgbClr val="000000"/>
                </a:solidFill>
                <a:effectLst/>
                <a:uFillTx/>
                <a:latin typeface="Arial"/>
                <a:ea typeface="DejaVu Sans"/>
              </a:rPr>
              <a:t>This Waterfall Plot for D1 (XGBoost) visualizes the contribution of individual metabolites to the predicted probability of a specific sample (D1) having PT2DM according to the XGBoost model. </a:t>
            </a:r>
            <a:endParaRPr b="0" lang="en-US" sz="1200" strike="noStrike" u="none">
              <a:solidFill>
                <a:srgbClr val="000000"/>
              </a:solidFill>
              <a:effectLst/>
              <a:uFillTx/>
              <a:latin typeface="Arial"/>
            </a:endParaRPr>
          </a:p>
          <a:p>
            <a:pPr marL="216000" indent="-216000">
              <a:lnSpc>
                <a:spcPct val="100000"/>
              </a:lnSpc>
              <a:spcBef>
                <a:spcPts val="1191"/>
              </a:spcBef>
              <a:spcAft>
                <a:spcPts val="992"/>
              </a:spcAft>
              <a:buClr>
                <a:srgbClr val="000000"/>
              </a:buClr>
              <a:buSzPct val="45000"/>
              <a:buFont typeface="Wingdings" charset="2"/>
              <a:buChar char=""/>
            </a:pPr>
            <a:r>
              <a:rPr b="0" lang="en-US" sz="1200" strike="noStrike" u="none">
                <a:solidFill>
                  <a:srgbClr val="000000"/>
                </a:solidFill>
                <a:effectLst/>
                <a:uFillTx/>
                <a:latin typeface="Arial"/>
                <a:ea typeface="DejaVu Sans"/>
              </a:rPr>
              <a:t>Top positive contributors for this sample are phosphatidic acid (PA (18:0/22:6)), sphingomyelin (SM (38:1)) and triacylglycerol (TAG (54:5-18:2)).</a:t>
            </a:r>
            <a:endParaRPr b="0" lang="en-US" sz="1200" strike="noStrike" u="none">
              <a:solidFill>
                <a:srgbClr val="000000"/>
              </a:solidFill>
              <a:effectLst/>
              <a:uFillTx/>
              <a:latin typeface="Arial"/>
            </a:endParaRPr>
          </a:p>
          <a:p>
            <a:pPr marL="216000" indent="-216000">
              <a:lnSpc>
                <a:spcPct val="100000"/>
              </a:lnSpc>
              <a:spcBef>
                <a:spcPts val="1191"/>
              </a:spcBef>
              <a:spcAft>
                <a:spcPts val="992"/>
              </a:spcAft>
              <a:buClr>
                <a:srgbClr val="000000"/>
              </a:buClr>
              <a:buSzPct val="45000"/>
              <a:buFont typeface="Wingdings" charset="2"/>
              <a:buChar char=""/>
            </a:pPr>
            <a:r>
              <a:rPr b="0" lang="en-US" sz="1200" strike="noStrike" u="none">
                <a:solidFill>
                  <a:srgbClr val="000000"/>
                </a:solidFill>
                <a:effectLst/>
                <a:uFillTx/>
                <a:latin typeface="Arial"/>
                <a:ea typeface="DejaVu Sans"/>
              </a:rPr>
              <a:t>Triacylglycerols (TAG (56:7-18:2), TAG (52:4-16:1)), and Valine have a moderate positive impact. </a:t>
            </a:r>
            <a:endParaRPr b="0" lang="en-US" sz="1200" strike="noStrike" u="none">
              <a:solidFill>
                <a:srgbClr val="000000"/>
              </a:solidFill>
              <a:effectLst/>
              <a:uFillTx/>
              <a:latin typeface="Arial"/>
            </a:endParaRPr>
          </a:p>
          <a:p>
            <a:pPr marL="216000" indent="-216000">
              <a:lnSpc>
                <a:spcPct val="100000"/>
              </a:lnSpc>
              <a:spcBef>
                <a:spcPts val="1191"/>
              </a:spcBef>
              <a:spcAft>
                <a:spcPts val="992"/>
              </a:spcAft>
              <a:buClr>
                <a:srgbClr val="000000"/>
              </a:buClr>
              <a:buSzPct val="45000"/>
              <a:buFont typeface="Wingdings" charset="2"/>
              <a:buChar char=""/>
            </a:pPr>
            <a:r>
              <a:rPr b="0" lang="en-US" sz="1200" strike="noStrike" u="none">
                <a:solidFill>
                  <a:srgbClr val="000000"/>
                </a:solidFill>
                <a:effectLst/>
                <a:uFillTx/>
                <a:latin typeface="Arial"/>
                <a:ea typeface="DejaVu Sans"/>
              </a:rPr>
              <a:t>Small positive contributors include cholesteryl ester (CE (22:5)), triacylglycerol (TAG (54:3-18:1)), and various diacylglycerol, sphingomyelin, and phosphatidylcholine species. </a:t>
            </a:r>
            <a:endParaRPr b="0" lang="en-US" sz="1200" strike="noStrike" u="none">
              <a:solidFill>
                <a:srgbClr val="000000"/>
              </a:solidFill>
              <a:effectLst/>
              <a:uFillTx/>
              <a:latin typeface="Arial"/>
            </a:endParaRPr>
          </a:p>
          <a:p>
            <a:pPr marL="216000" indent="-216000">
              <a:lnSpc>
                <a:spcPct val="100000"/>
              </a:lnSpc>
              <a:spcBef>
                <a:spcPts val="1191"/>
              </a:spcBef>
              <a:spcAft>
                <a:spcPts val="992"/>
              </a:spcAft>
              <a:buClr>
                <a:srgbClr val="000000"/>
              </a:buClr>
              <a:buSzPct val="45000"/>
              <a:buFont typeface="Wingdings" charset="2"/>
              <a:buChar char=""/>
            </a:pPr>
            <a:r>
              <a:rPr b="0" lang="en-US" sz="1200" strike="noStrike" u="none">
                <a:solidFill>
                  <a:srgbClr val="000000"/>
                </a:solidFill>
                <a:effectLst/>
                <a:uFillTx/>
                <a:latin typeface="Arial"/>
                <a:ea typeface="DejaVu Sans"/>
              </a:rPr>
              <a:t>Negative contributors (red bars) are minimal in magnitude for this sample, with phosphatidic acid (PA (20:0/20:4)) having the most notable downward pull.</a:t>
            </a:r>
            <a:endParaRPr b="0" lang="en-US" sz="1200" strike="noStrike" u="none">
              <a:solidFill>
                <a:srgbClr val="000000"/>
              </a:solidFill>
              <a:effectLst/>
              <a:uFillTx/>
              <a:latin typeface="Arial"/>
            </a:endParaRPr>
          </a:p>
          <a:p>
            <a:pPr marL="216000" indent="-216000">
              <a:lnSpc>
                <a:spcPct val="100000"/>
              </a:lnSpc>
              <a:spcBef>
                <a:spcPts val="1191"/>
              </a:spcBef>
              <a:spcAft>
                <a:spcPts val="992"/>
              </a:spcAft>
              <a:buClr>
                <a:srgbClr val="000000"/>
              </a:buClr>
              <a:buSzPct val="45000"/>
              <a:buFont typeface="Wingdings" charset="2"/>
              <a:buChar char=""/>
            </a:pPr>
            <a:r>
              <a:rPr b="0" lang="en-US" sz="1200" strike="noStrike" u="none">
                <a:solidFill>
                  <a:srgbClr val="000000"/>
                </a:solidFill>
                <a:effectLst/>
                <a:uFillTx/>
                <a:latin typeface="Arial"/>
                <a:ea typeface="DejaVu Sans"/>
              </a:rPr>
              <a:t>For sample D1, the XGBoost model’s prediction is strongly driven upward by a handful of lipids—particularly phosphatidic acid (PA (18:0/22:6)), sphingomyelin (SM (38:1)), and triacylglycerol (TAG (54:5-18:2))</a:t>
            </a:r>
            <a:endParaRPr b="0" lang="en-US" sz="1200" strike="noStrike" u="none">
              <a:solidFill>
                <a:srgbClr val="000000"/>
              </a:solidFill>
              <a:effectLst/>
              <a:uFillTx/>
              <a:latin typeface="Arial"/>
            </a:endParaRPr>
          </a:p>
        </p:txBody>
      </p:sp>
      <p:pic>
        <p:nvPicPr>
          <p:cNvPr id="197" name="" descr=""/>
          <p:cNvPicPr/>
          <p:nvPr/>
        </p:nvPicPr>
        <p:blipFill>
          <a:blip r:embed="rId1"/>
          <a:stretch/>
        </p:blipFill>
        <p:spPr>
          <a:xfrm>
            <a:off x="0" y="753120"/>
            <a:ext cx="5236920" cy="4911840"/>
          </a:xfrm>
          <a:prstGeom prst="rect">
            <a:avLst/>
          </a:prstGeom>
          <a:noFill/>
          <a:ln w="0">
            <a:noFill/>
          </a:ln>
        </p:spPr>
      </p:pic>
      <p:sp>
        <p:nvSpPr>
          <p:cNvPr id="3" name="PlaceHolder 2"/>
          <p:cNvSpPr>
            <a:spLocks noGrp="1"/>
          </p:cNvSpPr>
          <p:nvPr>
            <p:ph type="sldNum" idx="11"/>
          </p:nvPr>
        </p:nvSpPr>
        <p:spPr/>
        <p:txBody>
          <a:bodyPr/>
          <a:p>
            <a:fld id="{B53459CE-367D-47F2-A23B-8456A08A3548}" type="slidenum">
              <a:t>37</a:t>
            </a:fld>
          </a:p>
        </p:txBody>
      </p:sp>
    </p:spTree>
  </p:cSld>
  <mc:AlternateContent>
    <mc:Choice Requires="p14">
      <p:transition spd="slow" p14:dur="2000"/>
    </mc:Choice>
    <mc:Fallback>
      <p:transition spd="slow"/>
    </mc:Fallback>
  </mc:AlternateContent>
</p:sld>
</file>

<file path=ppt/slides/slide3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8" name="PlaceHolder 1"/>
          <p:cNvSpPr>
            <a:spLocks noGrp="1"/>
          </p:cNvSpPr>
          <p:nvPr>
            <p:ph type="title"/>
          </p:nvPr>
        </p:nvSpPr>
        <p:spPr>
          <a:xfrm>
            <a:off x="360000" y="73080"/>
            <a:ext cx="9342720" cy="675000"/>
          </a:xfrm>
          <a:prstGeom prst="rect">
            <a:avLst/>
          </a:prstGeom>
          <a:noFill/>
          <a:ln w="0">
            <a:noFill/>
          </a:ln>
        </p:spPr>
        <p:txBody>
          <a:bodyPr lIns="0" rIns="0" tIns="0" bIns="0" anchor="ctr">
            <a:spAutoFit/>
          </a:bodyPr>
          <a:p>
            <a:pPr indent="0" algn="ctr">
              <a:lnSpc>
                <a:spcPct val="100000"/>
              </a:lnSpc>
              <a:buNone/>
              <a:tabLst>
                <a:tab algn="l" pos="0"/>
              </a:tabLst>
            </a:pPr>
            <a:r>
              <a:rPr b="0" lang="en-US" sz="3000" strike="noStrike" u="none">
                <a:solidFill>
                  <a:srgbClr val="ffffff"/>
                </a:solidFill>
                <a:effectLst/>
                <a:uFillTx/>
                <a:latin typeface="Arial"/>
              </a:rPr>
              <a:t>XGBoost: Conclusions</a:t>
            </a:r>
            <a:endParaRPr b="0" lang="en-US" sz="3000" strike="noStrike" u="none">
              <a:solidFill>
                <a:srgbClr val="000000"/>
              </a:solidFill>
              <a:effectLst/>
              <a:uFillTx/>
              <a:latin typeface="Arial"/>
            </a:endParaRPr>
          </a:p>
        </p:txBody>
      </p:sp>
      <p:sp>
        <p:nvSpPr>
          <p:cNvPr id="199" name="PlaceHolder 2"/>
          <p:cNvSpPr>
            <a:spLocks noGrp="1"/>
          </p:cNvSpPr>
          <p:nvPr>
            <p:ph/>
          </p:nvPr>
        </p:nvSpPr>
        <p:spPr>
          <a:xfrm>
            <a:off x="360000" y="1080000"/>
            <a:ext cx="9342720" cy="3582720"/>
          </a:xfrm>
          <a:prstGeom prst="rect">
            <a:avLst/>
          </a:prstGeom>
          <a:noFill/>
          <a:ln w="0">
            <a:noFill/>
          </a:ln>
        </p:spPr>
        <p:txBody>
          <a:bodyPr lIns="0" rIns="0" tIns="0" bIns="0" anchor="t">
            <a:normAutofit/>
          </a:bodyPr>
          <a:p>
            <a:pPr marL="432000" indent="-324000">
              <a:lnSpc>
                <a:spcPct val="100000"/>
              </a:lnSpc>
              <a:spcBef>
                <a:spcPts val="1191"/>
              </a:spcBef>
              <a:spcAft>
                <a:spcPts val="992"/>
              </a:spcAft>
              <a:buClr>
                <a:srgbClr val="000000"/>
              </a:buClr>
              <a:buSzPct val="45000"/>
              <a:buFont typeface="Wingdings" charset="2"/>
              <a:buChar char=""/>
            </a:pPr>
            <a:r>
              <a:rPr b="0" lang="en-US" sz="1600" strike="noStrike" u="none">
                <a:solidFill>
                  <a:srgbClr val="000000"/>
                </a:solidFill>
                <a:effectLst/>
                <a:uFillTx/>
                <a:latin typeface="Arial"/>
                <a:ea typeface="Microsoft YaHei"/>
              </a:rPr>
              <a:t>Sphingomyelin (SM (38:1)), phosphatidic acid (PA (18:0/22:6)), triaglycerol (TAG (54:5-18:2)), and Valine are the strongest and most consistent drivers of T2DM classification. </a:t>
            </a:r>
            <a:endParaRPr b="0" lang="en-US" sz="1600" strike="noStrike" u="none">
              <a:solidFill>
                <a:srgbClr val="000000"/>
              </a:solidFill>
              <a:effectLst/>
              <a:uFillTx/>
              <a:latin typeface="Arial"/>
            </a:endParaRPr>
          </a:p>
          <a:p>
            <a:pPr marL="432000" indent="-324000">
              <a:lnSpc>
                <a:spcPct val="100000"/>
              </a:lnSpc>
              <a:spcBef>
                <a:spcPts val="1191"/>
              </a:spcBef>
              <a:spcAft>
                <a:spcPts val="992"/>
              </a:spcAft>
              <a:buClr>
                <a:srgbClr val="000000"/>
              </a:buClr>
              <a:buSzPct val="45000"/>
              <a:buFont typeface="Wingdings" charset="2"/>
              <a:buChar char=""/>
            </a:pPr>
            <a:r>
              <a:rPr b="0" lang="en-US" sz="1600" strike="noStrike" u="none">
                <a:solidFill>
                  <a:srgbClr val="000000"/>
                </a:solidFill>
                <a:effectLst/>
                <a:uFillTx/>
                <a:latin typeface="Arial"/>
                <a:ea typeface="Microsoft YaHei"/>
              </a:rPr>
              <a:t>High levels of sphingomyelin and phosphatidic acid lipids generally increase predicted T2DM risk; TAGs and amino acids show more nuanced effects. </a:t>
            </a:r>
            <a:endParaRPr b="0" lang="en-US" sz="1600" strike="noStrike" u="none">
              <a:solidFill>
                <a:srgbClr val="000000"/>
              </a:solidFill>
              <a:effectLst/>
              <a:uFillTx/>
              <a:latin typeface="Arial"/>
            </a:endParaRPr>
          </a:p>
          <a:p>
            <a:pPr marL="432000" indent="-324000">
              <a:lnSpc>
                <a:spcPct val="100000"/>
              </a:lnSpc>
              <a:spcBef>
                <a:spcPts val="1191"/>
              </a:spcBef>
              <a:spcAft>
                <a:spcPts val="992"/>
              </a:spcAft>
              <a:buClr>
                <a:srgbClr val="000000"/>
              </a:buClr>
              <a:buSzPct val="45000"/>
              <a:buFont typeface="Wingdings" charset="2"/>
              <a:buChar char=""/>
            </a:pPr>
            <a:r>
              <a:rPr b="0" lang="en-US" sz="1600" strike="noStrike" u="none">
                <a:solidFill>
                  <a:srgbClr val="000000"/>
                </a:solidFill>
                <a:effectLst/>
                <a:uFillTx/>
                <a:latin typeface="Arial"/>
                <a:ea typeface="Microsoft YaHei"/>
              </a:rPr>
              <a:t>The metabolites prioritized by SHAP mean importance also dominate in patient-level waterfall plots and cluster in heatmaps, strengthening confidence in their biological relevance. </a:t>
            </a:r>
            <a:endParaRPr b="0" lang="en-US" sz="1600" strike="noStrike" u="none">
              <a:solidFill>
                <a:srgbClr val="000000"/>
              </a:solidFill>
              <a:effectLst/>
              <a:uFillTx/>
              <a:latin typeface="Arial"/>
            </a:endParaRPr>
          </a:p>
          <a:p>
            <a:pPr marL="432000" indent="-324000">
              <a:lnSpc>
                <a:spcPct val="100000"/>
              </a:lnSpc>
              <a:spcBef>
                <a:spcPts val="1191"/>
              </a:spcBef>
              <a:spcAft>
                <a:spcPts val="992"/>
              </a:spcAft>
              <a:buClr>
                <a:srgbClr val="000000"/>
              </a:buClr>
              <a:buSzPct val="45000"/>
              <a:buFont typeface="Wingdings" charset="2"/>
              <a:buChar char=""/>
            </a:pPr>
            <a:r>
              <a:rPr b="0" lang="en-US" sz="1600" strike="noStrike" u="none">
                <a:solidFill>
                  <a:srgbClr val="000000"/>
                </a:solidFill>
                <a:effectLst/>
                <a:uFillTx/>
                <a:latin typeface="Arial"/>
                <a:ea typeface="Microsoft YaHei"/>
              </a:rPr>
              <a:t>These metabolites point toward lipid dysregulation and amino acid metabolism—consistent with known metabolic signatures of T2DM. </a:t>
            </a:r>
            <a:endParaRPr b="0" lang="en-US" sz="1600" strike="noStrike" u="none">
              <a:solidFill>
                <a:srgbClr val="000000"/>
              </a:solidFill>
              <a:effectLst/>
              <a:uFillTx/>
              <a:latin typeface="Arial"/>
            </a:endParaRPr>
          </a:p>
        </p:txBody>
      </p:sp>
      <p:sp>
        <p:nvSpPr>
          <p:cNvPr id="4" name="PlaceHolder 3"/>
          <p:cNvSpPr>
            <a:spLocks noGrp="1"/>
          </p:cNvSpPr>
          <p:nvPr>
            <p:ph type="sldNum" idx="11"/>
          </p:nvPr>
        </p:nvSpPr>
        <p:spPr/>
        <p:txBody>
          <a:bodyPr/>
          <a:p>
            <a:fld id="{F1B97FD1-1B44-4210-83CE-D606EF635C32}" type="slidenum">
              <a:t>38</a:t>
            </a:fld>
          </a:p>
        </p:txBody>
      </p:sp>
    </p:spTree>
  </p:cSld>
  <mc:AlternateContent>
    <mc:Choice Requires="p14">
      <p:transition spd="slow" p14:dur="2000"/>
    </mc:Choice>
    <mc:Fallback>
      <p:transition spd="slow"/>
    </mc:Fallback>
  </mc:AlternateContent>
</p:sld>
</file>

<file path=ppt/slides/slide3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0" name="PlaceHolder 1"/>
          <p:cNvSpPr>
            <a:spLocks noGrp="1"/>
          </p:cNvSpPr>
          <p:nvPr>
            <p:ph type="title"/>
          </p:nvPr>
        </p:nvSpPr>
        <p:spPr>
          <a:xfrm>
            <a:off x="360000" y="73080"/>
            <a:ext cx="9342720" cy="675000"/>
          </a:xfrm>
          <a:prstGeom prst="rect">
            <a:avLst/>
          </a:prstGeom>
          <a:noFill/>
          <a:ln w="0">
            <a:noFill/>
          </a:ln>
        </p:spPr>
        <p:txBody>
          <a:bodyPr lIns="0" rIns="0" tIns="0" bIns="0" anchor="ctr">
            <a:spAutoFit/>
          </a:bodyPr>
          <a:p>
            <a:pPr indent="0" algn="ctr">
              <a:lnSpc>
                <a:spcPct val="100000"/>
              </a:lnSpc>
              <a:buNone/>
              <a:tabLst>
                <a:tab algn="l" pos="0"/>
              </a:tabLst>
            </a:pPr>
            <a:r>
              <a:rPr b="0" lang="en-US" sz="3000" strike="noStrike" u="none">
                <a:solidFill>
                  <a:srgbClr val="ffffff"/>
                </a:solidFill>
                <a:effectLst/>
                <a:uFillTx/>
                <a:latin typeface="Arial"/>
              </a:rPr>
              <a:t>All three models</a:t>
            </a:r>
            <a:endParaRPr b="0" lang="en-US" sz="3000" strike="noStrike" u="none">
              <a:solidFill>
                <a:srgbClr val="000000"/>
              </a:solidFill>
              <a:effectLst/>
              <a:uFillTx/>
              <a:latin typeface="Arial"/>
            </a:endParaRPr>
          </a:p>
        </p:txBody>
      </p:sp>
      <p:sp>
        <p:nvSpPr>
          <p:cNvPr id="201" name="PlaceHolder 2"/>
          <p:cNvSpPr>
            <a:spLocks noGrp="1"/>
          </p:cNvSpPr>
          <p:nvPr>
            <p:ph/>
          </p:nvPr>
        </p:nvSpPr>
        <p:spPr>
          <a:xfrm>
            <a:off x="360000" y="1080000"/>
            <a:ext cx="9342720" cy="3582720"/>
          </a:xfrm>
          <a:prstGeom prst="rect">
            <a:avLst/>
          </a:prstGeom>
          <a:noFill/>
          <a:ln w="0">
            <a:noFill/>
          </a:ln>
        </p:spPr>
        <p:txBody>
          <a:bodyPr lIns="0" rIns="0" tIns="0" bIns="0" anchor="t">
            <a:normAutofit/>
          </a:bodyPr>
          <a:p>
            <a:pPr marL="432000" indent="-324000">
              <a:lnSpc>
                <a:spcPct val="100000"/>
              </a:lnSpc>
              <a:spcBef>
                <a:spcPts val="1191"/>
              </a:spcBef>
              <a:spcAft>
                <a:spcPts val="992"/>
              </a:spcAft>
              <a:buClr>
                <a:srgbClr val="000000"/>
              </a:buClr>
              <a:buSzPct val="45000"/>
              <a:buFont typeface="Wingdings" charset="2"/>
              <a:buChar char=""/>
            </a:pPr>
            <a:r>
              <a:rPr b="0" lang="en-US" sz="1700" strike="noStrike" u="none">
                <a:solidFill>
                  <a:srgbClr val="000000"/>
                </a:solidFill>
                <a:effectLst/>
                <a:uFillTx/>
                <a:latin typeface="Arial"/>
              </a:rPr>
              <a:t>All models consistently identify elevated complex lipids (sphingomyelin, triaglycerol, phosphatidic acid, phosphatidylcholine) as increasing predicted disease probability (positive SHAP values), while amino and organic acids often show protective or inverse effects (negative SHAP values). </a:t>
            </a:r>
            <a:endParaRPr b="0" lang="en-US" sz="1700" strike="noStrike" u="none">
              <a:solidFill>
                <a:srgbClr val="000000"/>
              </a:solidFill>
              <a:effectLst/>
              <a:uFillTx/>
              <a:latin typeface="Arial"/>
            </a:endParaRPr>
          </a:p>
          <a:p>
            <a:pPr marL="432000" indent="-324000">
              <a:lnSpc>
                <a:spcPct val="100000"/>
              </a:lnSpc>
              <a:spcBef>
                <a:spcPts val="1191"/>
              </a:spcBef>
              <a:spcAft>
                <a:spcPts val="992"/>
              </a:spcAft>
              <a:buClr>
                <a:srgbClr val="000000"/>
              </a:buClr>
              <a:buSzPct val="45000"/>
              <a:buFont typeface="Wingdings" charset="2"/>
              <a:buChar char=""/>
            </a:pPr>
            <a:r>
              <a:rPr b="0" lang="en-US" sz="1700" strike="noStrike" u="none">
                <a:solidFill>
                  <a:srgbClr val="000000"/>
                </a:solidFill>
                <a:effectLst/>
                <a:uFillTx/>
                <a:latin typeface="Arial"/>
              </a:rPr>
              <a:t>EN isolates core, directionally consistent biomarkers that linearly scale with disease risk. </a:t>
            </a:r>
            <a:endParaRPr b="0" lang="en-US" sz="1700" strike="noStrike" u="none">
              <a:solidFill>
                <a:srgbClr val="000000"/>
              </a:solidFill>
              <a:effectLst/>
              <a:uFillTx/>
              <a:latin typeface="Arial"/>
            </a:endParaRPr>
          </a:p>
          <a:p>
            <a:pPr marL="432000" indent="-324000">
              <a:lnSpc>
                <a:spcPct val="100000"/>
              </a:lnSpc>
              <a:spcBef>
                <a:spcPts val="1191"/>
              </a:spcBef>
              <a:spcAft>
                <a:spcPts val="992"/>
              </a:spcAft>
              <a:buClr>
                <a:srgbClr val="000000"/>
              </a:buClr>
              <a:buSzPct val="45000"/>
              <a:buFont typeface="Wingdings" charset="2"/>
              <a:buChar char=""/>
            </a:pPr>
            <a:r>
              <a:rPr b="0" lang="en-US" sz="1700" strike="noStrike" u="none">
                <a:solidFill>
                  <a:srgbClr val="000000"/>
                </a:solidFill>
                <a:effectLst/>
                <a:uFillTx/>
                <a:latin typeface="Arial"/>
              </a:rPr>
              <a:t>RF suggests synergistic lipid effects — combined increases in sphingomyelins and triaglycerols amplify risk.</a:t>
            </a:r>
            <a:endParaRPr b="0" lang="en-US" sz="1700" strike="noStrike" u="none">
              <a:solidFill>
                <a:srgbClr val="000000"/>
              </a:solidFill>
              <a:effectLst/>
              <a:uFillTx/>
              <a:latin typeface="Arial"/>
            </a:endParaRPr>
          </a:p>
          <a:p>
            <a:pPr marL="432000" indent="-324000">
              <a:lnSpc>
                <a:spcPct val="100000"/>
              </a:lnSpc>
              <a:spcBef>
                <a:spcPts val="1191"/>
              </a:spcBef>
              <a:spcAft>
                <a:spcPts val="992"/>
              </a:spcAft>
              <a:buClr>
                <a:srgbClr val="000000"/>
              </a:buClr>
              <a:buSzPct val="45000"/>
              <a:buFont typeface="Wingdings" charset="2"/>
              <a:buChar char=""/>
            </a:pPr>
            <a:r>
              <a:rPr b="0" lang="en-US" sz="1700" strike="noStrike" u="none">
                <a:solidFill>
                  <a:srgbClr val="000000"/>
                </a:solidFill>
                <a:effectLst/>
                <a:uFillTx/>
                <a:latin typeface="Arial"/>
              </a:rPr>
              <a:t>XGBoost emphasizes sharp threshold effects: once lipid concentrations surpass specific levels, risk probability increases steeply.</a:t>
            </a:r>
            <a:r>
              <a:rPr b="0" lang="en-US" sz="1000" strike="noStrike" u="none">
                <a:solidFill>
                  <a:srgbClr val="000000"/>
                </a:solidFill>
                <a:effectLst/>
                <a:uFillTx/>
                <a:latin typeface="Arial"/>
              </a:rPr>
              <a:t> </a:t>
            </a:r>
            <a:endParaRPr b="0" lang="en-US" sz="1000" strike="noStrike" u="none">
              <a:solidFill>
                <a:srgbClr val="000000"/>
              </a:solidFill>
              <a:effectLst/>
              <a:uFillTx/>
              <a:latin typeface="Arial"/>
            </a:endParaRPr>
          </a:p>
        </p:txBody>
      </p:sp>
      <p:sp>
        <p:nvSpPr>
          <p:cNvPr id="4" name="PlaceHolder 3"/>
          <p:cNvSpPr>
            <a:spLocks noGrp="1"/>
          </p:cNvSpPr>
          <p:nvPr>
            <p:ph type="sldNum" idx="11"/>
          </p:nvPr>
        </p:nvSpPr>
        <p:spPr/>
        <p:txBody>
          <a:bodyPr/>
          <a:p>
            <a:fld id="{47D21F4E-BF75-4AB6-8D29-D42AEB954114}" type="slidenum">
              <a:t>39</a:t>
            </a:fld>
          </a:p>
        </p:txBody>
      </p:sp>
    </p:spTree>
  </p:cSld>
  <mc:AlternateContent>
    <mc:Choice Requires="p14">
      <p:transition spd="slow" p14:dur="2000"/>
    </mc:Choice>
    <mc:Fallback>
      <p:transition spd="slow"/>
    </mc:Fallback>
  </mc:AlternateContent>
</p:sld>
</file>

<file path=ppt/slides/slide4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2" name="PlaceHolder 1"/>
          <p:cNvSpPr>
            <a:spLocks noGrp="1"/>
          </p:cNvSpPr>
          <p:nvPr>
            <p:ph type="title"/>
          </p:nvPr>
        </p:nvSpPr>
        <p:spPr>
          <a:xfrm>
            <a:off x="360000" y="73080"/>
            <a:ext cx="9342720" cy="675000"/>
          </a:xfrm>
          <a:prstGeom prst="rect">
            <a:avLst/>
          </a:prstGeom>
          <a:noFill/>
          <a:ln w="0">
            <a:noFill/>
          </a:ln>
        </p:spPr>
        <p:txBody>
          <a:bodyPr lIns="0" rIns="0" tIns="0" bIns="0" anchor="ctr">
            <a:spAutoFit/>
          </a:bodyPr>
          <a:p>
            <a:pPr indent="0" algn="ctr">
              <a:lnSpc>
                <a:spcPct val="100000"/>
              </a:lnSpc>
              <a:buNone/>
              <a:tabLst>
                <a:tab algn="l" pos="0"/>
              </a:tabLst>
            </a:pPr>
            <a:r>
              <a:rPr b="0" lang="en-US" sz="3000" strike="noStrike" u="none">
                <a:solidFill>
                  <a:srgbClr val="ffffff"/>
                </a:solidFill>
                <a:effectLst/>
                <a:uFillTx/>
                <a:latin typeface="Arial"/>
              </a:rPr>
              <a:t>All three models</a:t>
            </a:r>
            <a:endParaRPr b="0" lang="en-US" sz="3000" strike="noStrike" u="none">
              <a:solidFill>
                <a:srgbClr val="000000"/>
              </a:solidFill>
              <a:effectLst/>
              <a:uFillTx/>
              <a:latin typeface="Arial"/>
            </a:endParaRPr>
          </a:p>
        </p:txBody>
      </p:sp>
      <p:sp>
        <p:nvSpPr>
          <p:cNvPr id="203" name="PlaceHolder 2"/>
          <p:cNvSpPr>
            <a:spLocks noGrp="1"/>
          </p:cNvSpPr>
          <p:nvPr>
            <p:ph/>
          </p:nvPr>
        </p:nvSpPr>
        <p:spPr>
          <a:xfrm>
            <a:off x="360000" y="1080000"/>
            <a:ext cx="9342720" cy="4166280"/>
          </a:xfrm>
          <a:prstGeom prst="rect">
            <a:avLst/>
          </a:prstGeom>
          <a:noFill/>
          <a:ln w="0">
            <a:noFill/>
          </a:ln>
        </p:spPr>
        <p:txBody>
          <a:bodyPr lIns="0" rIns="0" tIns="0" bIns="0" anchor="t">
            <a:normAutofit/>
          </a:bodyPr>
          <a:p>
            <a:pPr marL="432000" indent="-324000">
              <a:lnSpc>
                <a:spcPct val="100000"/>
              </a:lnSpc>
              <a:spcBef>
                <a:spcPts val="1191"/>
              </a:spcBef>
              <a:spcAft>
                <a:spcPts val="992"/>
              </a:spcAft>
              <a:buClr>
                <a:srgbClr val="000000"/>
              </a:buClr>
              <a:buSzPct val="45000"/>
              <a:buFont typeface="Wingdings" charset="2"/>
              <a:buChar char=""/>
            </a:pPr>
            <a:r>
              <a:rPr b="0" lang="en-US" sz="1700" strike="noStrike" u="none">
                <a:solidFill>
                  <a:srgbClr val="000000"/>
                </a:solidFill>
                <a:effectLst/>
                <a:uFillTx/>
                <a:latin typeface="Arial"/>
              </a:rPr>
              <a:t>Core lipid species (sphingomyelin, triacylglycerol, phosphatidic acid) remain significant across linear and nonlinear frameworks, confirming biological and statistical robustness. </a:t>
            </a:r>
            <a:endParaRPr b="0" lang="en-US" sz="1700" strike="noStrike" u="none">
              <a:solidFill>
                <a:srgbClr val="000000"/>
              </a:solidFill>
              <a:effectLst/>
              <a:uFillTx/>
              <a:latin typeface="Arial"/>
            </a:endParaRPr>
          </a:p>
          <a:p>
            <a:pPr marL="432000" indent="-324000">
              <a:lnSpc>
                <a:spcPct val="100000"/>
              </a:lnSpc>
              <a:spcBef>
                <a:spcPts val="1191"/>
              </a:spcBef>
              <a:spcAft>
                <a:spcPts val="992"/>
              </a:spcAft>
              <a:buClr>
                <a:srgbClr val="000000"/>
              </a:buClr>
              <a:buSzPct val="45000"/>
              <a:buFont typeface="Wingdings" charset="2"/>
              <a:buChar char=""/>
            </a:pPr>
            <a:r>
              <a:rPr b="0" lang="en-US" sz="1700" strike="noStrike" u="none">
                <a:solidFill>
                  <a:srgbClr val="000000"/>
                </a:solidFill>
                <a:effectLst/>
                <a:uFillTx/>
                <a:latin typeface="Arial"/>
              </a:rPr>
              <a:t>Tree models (RF, XGB) add nuance—revealing interaction and threshold effects, whereas Elastic Net isolates the baseline linear contribution of each metabolite.</a:t>
            </a:r>
            <a:endParaRPr b="0" lang="en-US" sz="1700" strike="noStrike" u="none">
              <a:solidFill>
                <a:srgbClr val="000000"/>
              </a:solidFill>
              <a:effectLst/>
              <a:uFillTx/>
              <a:latin typeface="Arial"/>
            </a:endParaRPr>
          </a:p>
          <a:p>
            <a:pPr marL="432000" indent="-324000">
              <a:lnSpc>
                <a:spcPct val="100000"/>
              </a:lnSpc>
              <a:spcBef>
                <a:spcPts val="1191"/>
              </a:spcBef>
              <a:spcAft>
                <a:spcPts val="992"/>
              </a:spcAft>
              <a:buClr>
                <a:srgbClr val="000000"/>
              </a:buClr>
              <a:buSzPct val="45000"/>
              <a:buFont typeface="Wingdings" charset="2"/>
              <a:buChar char=""/>
            </a:pPr>
            <a:r>
              <a:rPr b="0" lang="en-US" sz="1700" strike="noStrike" u="none">
                <a:solidFill>
                  <a:srgbClr val="000000"/>
                </a:solidFill>
                <a:effectLst/>
                <a:uFillTx/>
                <a:latin typeface="Arial"/>
              </a:rPr>
              <a:t>In all models, heatmaps show that disease samples (D group) exhibit higher Z-scores (red) for triacylglycerols, sphingomyelins, and phosphatidic acids, while control samples (H group) show lower or neutral levels (blue). </a:t>
            </a:r>
            <a:endParaRPr b="0" lang="en-US" sz="1700" strike="noStrike" u="none">
              <a:solidFill>
                <a:srgbClr val="000000"/>
              </a:solidFill>
              <a:effectLst/>
              <a:uFillTx/>
              <a:latin typeface="Arial"/>
            </a:endParaRPr>
          </a:p>
          <a:p>
            <a:pPr marL="432000" indent="-324000">
              <a:lnSpc>
                <a:spcPct val="100000"/>
              </a:lnSpc>
              <a:spcBef>
                <a:spcPts val="1191"/>
              </a:spcBef>
              <a:spcAft>
                <a:spcPts val="992"/>
              </a:spcAft>
              <a:buClr>
                <a:srgbClr val="000000"/>
              </a:buClr>
              <a:buSzPct val="45000"/>
              <a:buFont typeface="Wingdings" charset="2"/>
              <a:buChar char=""/>
            </a:pPr>
            <a:r>
              <a:rPr b="0" lang="en-US" sz="1700" strike="noStrike" u="none">
                <a:solidFill>
                  <a:srgbClr val="000000"/>
                </a:solidFill>
                <a:effectLst/>
                <a:uFillTx/>
                <a:latin typeface="Arial"/>
              </a:rPr>
              <a:t>Waterfall plots for individual D1 demonstrate additive positive contributions from the same metabolites that dominate the global model, confirming local-to-global consistency. </a:t>
            </a:r>
            <a:endParaRPr b="0" lang="en-US" sz="1700" strike="noStrike" u="none">
              <a:solidFill>
                <a:srgbClr val="000000"/>
              </a:solidFill>
              <a:effectLst/>
              <a:uFillTx/>
              <a:latin typeface="Arial"/>
            </a:endParaRPr>
          </a:p>
        </p:txBody>
      </p:sp>
      <p:sp>
        <p:nvSpPr>
          <p:cNvPr id="4" name="PlaceHolder 3"/>
          <p:cNvSpPr>
            <a:spLocks noGrp="1"/>
          </p:cNvSpPr>
          <p:nvPr>
            <p:ph type="sldNum" idx="11"/>
          </p:nvPr>
        </p:nvSpPr>
        <p:spPr/>
        <p:txBody>
          <a:bodyPr/>
          <a:p>
            <a:fld id="{F36B9553-F60E-4C7F-8D87-9F7AE81D3BFC}" type="slidenum">
              <a:t>40</a:t>
            </a:fld>
          </a:p>
        </p:txBody>
      </p:sp>
    </p:spTree>
  </p:cSld>
  <mc:AlternateContent>
    <mc:Choice Requires="p14">
      <p:transition spd="slow" p14:dur="2000"/>
    </mc:Choice>
    <mc:Fallback>
      <p:transition spd="slow"/>
    </mc:Fallback>
  </mc:AlternateContent>
</p:sld>
</file>

<file path=ppt/slides/slide4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4" name="PlaceHolder 1"/>
          <p:cNvSpPr>
            <a:spLocks noGrp="1"/>
          </p:cNvSpPr>
          <p:nvPr>
            <p:ph type="title"/>
          </p:nvPr>
        </p:nvSpPr>
        <p:spPr>
          <a:xfrm>
            <a:off x="360000" y="73080"/>
            <a:ext cx="9342720" cy="675000"/>
          </a:xfrm>
          <a:prstGeom prst="rect">
            <a:avLst/>
          </a:prstGeom>
          <a:noFill/>
          <a:ln w="0">
            <a:noFill/>
          </a:ln>
        </p:spPr>
        <p:txBody>
          <a:bodyPr lIns="0" rIns="0" tIns="0" bIns="0" anchor="ctr">
            <a:spAutoFit/>
          </a:bodyPr>
          <a:p>
            <a:pPr indent="0" algn="ctr">
              <a:lnSpc>
                <a:spcPct val="100000"/>
              </a:lnSpc>
              <a:buNone/>
              <a:tabLst>
                <a:tab algn="l" pos="0"/>
              </a:tabLst>
            </a:pPr>
            <a:r>
              <a:rPr b="0" lang="en-US" sz="3000" strike="noStrike" u="none">
                <a:solidFill>
                  <a:srgbClr val="ffffff"/>
                </a:solidFill>
                <a:effectLst/>
                <a:uFillTx/>
                <a:latin typeface="Arial"/>
              </a:rPr>
              <a:t>All three models</a:t>
            </a:r>
            <a:endParaRPr b="0" lang="en-US" sz="3000" strike="noStrike" u="none">
              <a:solidFill>
                <a:srgbClr val="000000"/>
              </a:solidFill>
              <a:effectLst/>
              <a:uFillTx/>
              <a:latin typeface="Arial"/>
            </a:endParaRPr>
          </a:p>
        </p:txBody>
      </p:sp>
      <p:sp>
        <p:nvSpPr>
          <p:cNvPr id="205" name="PlaceHolder 2"/>
          <p:cNvSpPr>
            <a:spLocks noGrp="1"/>
          </p:cNvSpPr>
          <p:nvPr>
            <p:ph/>
          </p:nvPr>
        </p:nvSpPr>
        <p:spPr>
          <a:xfrm>
            <a:off x="360000" y="1080000"/>
            <a:ext cx="9342720" cy="3582720"/>
          </a:xfrm>
          <a:prstGeom prst="rect">
            <a:avLst/>
          </a:prstGeom>
          <a:noFill/>
          <a:ln w="0">
            <a:noFill/>
          </a:ln>
        </p:spPr>
        <p:txBody>
          <a:bodyPr lIns="0" rIns="0" tIns="0" bIns="0" anchor="t">
            <a:normAutofit/>
          </a:bodyPr>
          <a:p>
            <a:pPr marL="432000" indent="-324000">
              <a:lnSpc>
                <a:spcPct val="100000"/>
              </a:lnSpc>
              <a:spcBef>
                <a:spcPts val="1191"/>
              </a:spcBef>
              <a:spcAft>
                <a:spcPts val="992"/>
              </a:spcAft>
              <a:buClr>
                <a:srgbClr val="000000"/>
              </a:buClr>
              <a:buSzPct val="45000"/>
              <a:buFont typeface="Wingdings" charset="2"/>
              <a:buChar char=""/>
            </a:pPr>
            <a:r>
              <a:rPr b="0" lang="en-US" sz="1700" strike="noStrike" u="none">
                <a:solidFill>
                  <a:srgbClr val="000000"/>
                </a:solidFill>
                <a:effectLst/>
                <a:uFillTx/>
                <a:latin typeface="Arial"/>
              </a:rPr>
              <a:t>Dysregulation of lipid metabolism—particularly sphingolipids, phosphatidic acids, and triacylglycerols—is central to the metabolic phenotype. </a:t>
            </a:r>
            <a:endParaRPr b="0" lang="en-US" sz="1700" strike="noStrike" u="none">
              <a:solidFill>
                <a:srgbClr val="000000"/>
              </a:solidFill>
              <a:effectLst/>
              <a:uFillTx/>
              <a:latin typeface="Arial"/>
            </a:endParaRPr>
          </a:p>
          <a:p>
            <a:pPr marL="432000" indent="-324000">
              <a:lnSpc>
                <a:spcPct val="100000"/>
              </a:lnSpc>
              <a:spcBef>
                <a:spcPts val="1191"/>
              </a:spcBef>
              <a:spcAft>
                <a:spcPts val="992"/>
              </a:spcAft>
              <a:buClr>
                <a:srgbClr val="000000"/>
              </a:buClr>
              <a:buSzPct val="45000"/>
              <a:buFont typeface="Wingdings" charset="2"/>
              <a:buChar char=""/>
            </a:pPr>
            <a:r>
              <a:rPr b="0" lang="en-US" sz="1700" strike="noStrike" u="none">
                <a:solidFill>
                  <a:srgbClr val="000000"/>
                </a:solidFill>
                <a:effectLst/>
                <a:uFillTx/>
                <a:latin typeface="Arial"/>
              </a:rPr>
              <a:t>These patterns reflect lipotoxicity, disrupted membrane signaling, and oxidative stress, consistent with insulin resistance and Type 2 diabetes–related metabolic dysfunction. </a:t>
            </a:r>
            <a:endParaRPr b="0" lang="en-US" sz="1700" strike="noStrike" u="none">
              <a:solidFill>
                <a:srgbClr val="000000"/>
              </a:solidFill>
              <a:effectLst/>
              <a:uFillTx/>
              <a:latin typeface="Arial"/>
            </a:endParaRPr>
          </a:p>
          <a:p>
            <a:pPr marL="432000" indent="-324000">
              <a:lnSpc>
                <a:spcPct val="100000"/>
              </a:lnSpc>
              <a:spcBef>
                <a:spcPts val="1191"/>
              </a:spcBef>
              <a:spcAft>
                <a:spcPts val="992"/>
              </a:spcAft>
              <a:buClr>
                <a:srgbClr val="000000"/>
              </a:buClr>
              <a:buSzPct val="45000"/>
              <a:buFont typeface="Wingdings" charset="2"/>
              <a:buChar char=""/>
            </a:pPr>
            <a:r>
              <a:rPr b="0" lang="en-US" sz="1700" strike="noStrike" u="none">
                <a:solidFill>
                  <a:srgbClr val="000000"/>
                </a:solidFill>
                <a:effectLst/>
                <a:uFillTx/>
                <a:latin typeface="Arial"/>
              </a:rPr>
              <a:t>Amino acid and organic acid markers (Valine, Fumaric acid, 4-Hydroxyphenyllactate) indicate mitochondrial and redox perturbations, reinforcing the systemic metabolic shift. </a:t>
            </a:r>
            <a:endParaRPr b="0" lang="en-US" sz="1700" strike="noStrike" u="none">
              <a:solidFill>
                <a:srgbClr val="000000"/>
              </a:solidFill>
              <a:effectLst/>
              <a:uFillTx/>
              <a:latin typeface="Arial"/>
            </a:endParaRPr>
          </a:p>
        </p:txBody>
      </p:sp>
      <p:sp>
        <p:nvSpPr>
          <p:cNvPr id="4" name="PlaceHolder 3"/>
          <p:cNvSpPr>
            <a:spLocks noGrp="1"/>
          </p:cNvSpPr>
          <p:nvPr>
            <p:ph type="sldNum" idx="11"/>
          </p:nvPr>
        </p:nvSpPr>
        <p:spPr/>
        <p:txBody>
          <a:bodyPr/>
          <a:p>
            <a:fld id="{D215A45C-8D0D-449B-AFF7-04CCCCBABE2B}" type="slidenum">
              <a:t>41</a:t>
            </a:fld>
          </a:p>
        </p:txBody>
      </p:sp>
    </p:spTree>
  </p:cSld>
  <mc:AlternateContent>
    <mc:Choice Requires="p14">
      <p:transition spd="slow" p14:dur="2000"/>
    </mc:Choice>
    <mc:Fallback>
      <p:transition spd="slow"/>
    </mc:Fallback>
  </mc:AlternateContent>
</p:sld>
</file>

<file path=ppt/slides/slide4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6" name="PlaceHolder 1"/>
          <p:cNvSpPr>
            <a:spLocks noGrp="1"/>
          </p:cNvSpPr>
          <p:nvPr>
            <p:ph type="title"/>
          </p:nvPr>
        </p:nvSpPr>
        <p:spPr>
          <a:xfrm>
            <a:off x="360000" y="69840"/>
            <a:ext cx="9342720" cy="681840"/>
          </a:xfrm>
          <a:prstGeom prst="rect">
            <a:avLst/>
          </a:prstGeom>
          <a:noFill/>
          <a:ln w="0">
            <a:noFill/>
          </a:ln>
        </p:spPr>
        <p:txBody>
          <a:bodyPr lIns="0" rIns="0" tIns="0" bIns="0" anchor="ctr">
            <a:spAutoFit/>
          </a:bodyPr>
          <a:p>
            <a:pPr indent="0" algn="ctr">
              <a:lnSpc>
                <a:spcPct val="100000"/>
              </a:lnSpc>
              <a:buNone/>
              <a:tabLst>
                <a:tab algn="l" pos="0"/>
              </a:tabLst>
            </a:pPr>
            <a:r>
              <a:rPr b="0" lang="en-US" sz="3000" strike="noStrike" u="none">
                <a:solidFill>
                  <a:srgbClr val="ffffff"/>
                </a:solidFill>
                <a:effectLst/>
                <a:uFillTx/>
                <a:latin typeface="Arial"/>
              </a:rPr>
              <a:t>All three models</a:t>
            </a:r>
            <a:endParaRPr b="0" lang="en-US" sz="3000" strike="noStrike" u="none">
              <a:solidFill>
                <a:srgbClr val="000000"/>
              </a:solidFill>
              <a:effectLst/>
              <a:uFillTx/>
              <a:latin typeface="Arial"/>
            </a:endParaRPr>
          </a:p>
        </p:txBody>
      </p:sp>
      <p:sp>
        <p:nvSpPr>
          <p:cNvPr id="207" name="PlaceHolder 2"/>
          <p:cNvSpPr>
            <a:spLocks noGrp="1"/>
          </p:cNvSpPr>
          <p:nvPr>
            <p:ph/>
          </p:nvPr>
        </p:nvSpPr>
        <p:spPr>
          <a:xfrm>
            <a:off x="360000" y="1080000"/>
            <a:ext cx="9342720" cy="3582720"/>
          </a:xfrm>
          <a:prstGeom prst="rect">
            <a:avLst/>
          </a:prstGeom>
          <a:noFill/>
          <a:ln w="0">
            <a:noFill/>
          </a:ln>
        </p:spPr>
        <p:txBody>
          <a:bodyPr lIns="0" rIns="0" tIns="0" bIns="0" anchor="t">
            <a:normAutofit lnSpcReduction="9999"/>
          </a:bodyPr>
          <a:p>
            <a:pPr marL="432000" indent="-324000">
              <a:lnSpc>
                <a:spcPct val="100000"/>
              </a:lnSpc>
              <a:spcBef>
                <a:spcPts val="1191"/>
              </a:spcBef>
              <a:spcAft>
                <a:spcPts val="992"/>
              </a:spcAft>
              <a:buClr>
                <a:srgbClr val="000000"/>
              </a:buClr>
              <a:buSzPct val="45000"/>
              <a:buFont typeface="Wingdings" charset="2"/>
              <a:buChar char=""/>
            </a:pPr>
            <a:r>
              <a:rPr b="0" lang="en-US" sz="1900" strike="noStrike" u="none">
                <a:solidFill>
                  <a:srgbClr val="000000"/>
                </a:solidFill>
                <a:effectLst/>
                <a:uFillTx/>
                <a:latin typeface="Arial"/>
              </a:rPr>
              <a:t>Across XGBoost, Random Forest, and Elastic Net:</a:t>
            </a:r>
            <a:endParaRPr b="0" lang="en-US" sz="1900" strike="noStrike" u="none">
              <a:solidFill>
                <a:srgbClr val="000000"/>
              </a:solidFill>
              <a:effectLst/>
              <a:uFillTx/>
              <a:latin typeface="Arial"/>
            </a:endParaRPr>
          </a:p>
          <a:p>
            <a:pPr lvl="1" marL="864000" indent="-324000">
              <a:lnSpc>
                <a:spcPct val="100000"/>
              </a:lnSpc>
              <a:spcBef>
                <a:spcPts val="1134"/>
              </a:spcBef>
              <a:buClr>
                <a:srgbClr val="000000"/>
              </a:buClr>
              <a:buSzPct val="75000"/>
              <a:buFont typeface="Symbol" charset="2"/>
              <a:buChar char=""/>
            </a:pPr>
            <a:r>
              <a:rPr b="0" lang="en-US" sz="1900" strike="noStrike" u="none">
                <a:solidFill>
                  <a:srgbClr val="000000"/>
                </a:solidFill>
                <a:effectLst/>
                <a:uFillTx/>
                <a:latin typeface="Arial"/>
              </a:rPr>
              <a:t>Lipid metabolism dominates prediction, with sphingomyelin (SM (38:1)), triacylglycerol (TAG (54:5-18:2)), and phosphatidic acid (PA (18:0/22:6)) as the most reproducible discriminants.</a:t>
            </a:r>
            <a:endParaRPr b="0" lang="en-US" sz="1900" strike="noStrike" u="none">
              <a:solidFill>
                <a:srgbClr val="000000"/>
              </a:solidFill>
              <a:effectLst/>
              <a:uFillTx/>
              <a:latin typeface="Arial"/>
            </a:endParaRPr>
          </a:p>
          <a:p>
            <a:pPr lvl="1" marL="864000" indent="-324000">
              <a:lnSpc>
                <a:spcPct val="100000"/>
              </a:lnSpc>
              <a:spcBef>
                <a:spcPts val="1134"/>
              </a:spcBef>
              <a:buClr>
                <a:srgbClr val="000000"/>
              </a:buClr>
              <a:buSzPct val="75000"/>
              <a:buFont typeface="Symbol" charset="2"/>
              <a:buChar char=""/>
            </a:pPr>
            <a:r>
              <a:rPr b="0" lang="en-US" sz="1900" strike="noStrike" u="none">
                <a:solidFill>
                  <a:srgbClr val="000000"/>
                </a:solidFill>
                <a:effectLst/>
                <a:uFillTx/>
                <a:latin typeface="Arial"/>
              </a:rPr>
              <a:t>Valine and organic acids contribute secondary, but biologically meaningful, information.</a:t>
            </a:r>
            <a:endParaRPr b="0" lang="en-US" sz="1900" strike="noStrike" u="none">
              <a:solidFill>
                <a:srgbClr val="000000"/>
              </a:solidFill>
              <a:effectLst/>
              <a:uFillTx/>
              <a:latin typeface="Arial"/>
            </a:endParaRPr>
          </a:p>
          <a:p>
            <a:pPr lvl="1" marL="864000" indent="-324000">
              <a:lnSpc>
                <a:spcPct val="100000"/>
              </a:lnSpc>
              <a:spcBef>
                <a:spcPts val="1134"/>
              </a:spcBef>
              <a:buClr>
                <a:srgbClr val="000000"/>
              </a:buClr>
              <a:buSzPct val="75000"/>
              <a:buFont typeface="Symbol" charset="2"/>
              <a:buChar char=""/>
            </a:pPr>
            <a:r>
              <a:rPr b="0" lang="en-US" sz="1900" strike="noStrike" u="none">
                <a:solidFill>
                  <a:srgbClr val="000000"/>
                </a:solidFill>
                <a:effectLst/>
                <a:uFillTx/>
                <a:latin typeface="Arial"/>
              </a:rPr>
              <a:t>Consistency across algorithms underscores a robust metabolic signature, not model-dependent noise.</a:t>
            </a:r>
            <a:endParaRPr b="0" lang="en-US" sz="1900" strike="noStrike" u="none">
              <a:solidFill>
                <a:srgbClr val="000000"/>
              </a:solidFill>
              <a:effectLst/>
              <a:uFillTx/>
              <a:latin typeface="Arial"/>
            </a:endParaRPr>
          </a:p>
          <a:p>
            <a:pPr lvl="1" marL="864000" indent="-324000">
              <a:lnSpc>
                <a:spcPct val="100000"/>
              </a:lnSpc>
              <a:spcBef>
                <a:spcPts val="1134"/>
              </a:spcBef>
              <a:buClr>
                <a:srgbClr val="000000"/>
              </a:buClr>
              <a:buSzPct val="75000"/>
              <a:buFont typeface="Symbol" charset="2"/>
              <a:buChar char=""/>
            </a:pPr>
            <a:r>
              <a:rPr b="0" lang="en-US" sz="1900" strike="noStrike" u="none">
                <a:solidFill>
                  <a:srgbClr val="000000"/>
                </a:solidFill>
                <a:effectLst/>
                <a:uFillTx/>
                <a:latin typeface="Arial"/>
              </a:rPr>
              <a:t>Tree-based models highlight nonlinear thresholds and lipid–lipid interactions, while Elastic Net confirms directional, linear relationships.</a:t>
            </a:r>
            <a:endParaRPr b="0" lang="en-US" sz="1900" strike="noStrike" u="none">
              <a:solidFill>
                <a:srgbClr val="000000"/>
              </a:solidFill>
              <a:effectLst/>
              <a:uFillTx/>
              <a:latin typeface="Arial"/>
            </a:endParaRPr>
          </a:p>
          <a:p>
            <a:pPr marL="432000" indent="0">
              <a:lnSpc>
                <a:spcPct val="100000"/>
              </a:lnSpc>
              <a:spcBef>
                <a:spcPts val="1191"/>
              </a:spcBef>
              <a:spcAft>
                <a:spcPts val="992"/>
              </a:spcAft>
              <a:buNone/>
              <a:tabLst>
                <a:tab algn="l" pos="0"/>
              </a:tabLst>
            </a:pPr>
            <a:endParaRPr b="0" lang="en-US" sz="1900" strike="noStrike" u="none">
              <a:solidFill>
                <a:srgbClr val="000000"/>
              </a:solidFill>
              <a:effectLst/>
              <a:uFillTx/>
              <a:latin typeface="Arial"/>
            </a:endParaRPr>
          </a:p>
        </p:txBody>
      </p:sp>
      <p:sp>
        <p:nvSpPr>
          <p:cNvPr id="4" name="PlaceHolder 3"/>
          <p:cNvSpPr>
            <a:spLocks noGrp="1"/>
          </p:cNvSpPr>
          <p:nvPr>
            <p:ph type="sldNum" idx="50"/>
          </p:nvPr>
        </p:nvSpPr>
        <p:spPr/>
        <p:txBody>
          <a:bodyPr/>
          <a:p>
            <a:fld id="{C9069749-5A20-410D-9DB1-EA7427F3F59C}" type="slidenum">
              <a:t>42</a:t>
            </a:fld>
          </a:p>
        </p:txBody>
      </p:sp>
    </p:spTree>
  </p:cSld>
  <mc:AlternateContent>
    <mc:Choice Requires="p14">
      <p:transition spd="slow" p14:dur="2000"/>
    </mc:Choice>
    <mc:Fallback>
      <p:transition spd="slow"/>
    </mc:Fallback>
  </mc:AlternateContent>
</p:sld>
</file>

<file path=ppt/slides/slide4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8" name="PlaceHolder 1"/>
          <p:cNvSpPr>
            <a:spLocks noGrp="1"/>
          </p:cNvSpPr>
          <p:nvPr>
            <p:ph type="title"/>
          </p:nvPr>
        </p:nvSpPr>
        <p:spPr>
          <a:xfrm>
            <a:off x="360000" y="91080"/>
            <a:ext cx="9342720" cy="638640"/>
          </a:xfrm>
          <a:prstGeom prst="rect">
            <a:avLst/>
          </a:prstGeom>
          <a:noFill/>
          <a:ln w="0">
            <a:noFill/>
          </a:ln>
        </p:spPr>
        <p:txBody>
          <a:bodyPr lIns="0" rIns="0" tIns="0" bIns="0" anchor="ctr">
            <a:spAutoFit/>
          </a:bodyPr>
          <a:p>
            <a:pPr indent="0" algn="ctr">
              <a:lnSpc>
                <a:spcPct val="100000"/>
              </a:lnSpc>
              <a:buNone/>
              <a:tabLst>
                <a:tab algn="l" pos="0"/>
              </a:tabLst>
            </a:pPr>
            <a:r>
              <a:rPr b="0" lang="en-US" sz="3000" strike="noStrike" u="none">
                <a:solidFill>
                  <a:srgbClr val="ffffff"/>
                </a:solidFill>
                <a:effectLst/>
                <a:uFillTx/>
                <a:latin typeface="Arial"/>
              </a:rPr>
              <a:t>Metabolite Importance Based on Rank Sum</a:t>
            </a:r>
            <a:endParaRPr b="0" lang="en-US" sz="3000" strike="noStrike" u="none">
              <a:solidFill>
                <a:srgbClr val="000000"/>
              </a:solidFill>
              <a:effectLst/>
              <a:uFillTx/>
              <a:latin typeface="Arial"/>
            </a:endParaRPr>
          </a:p>
        </p:txBody>
      </p:sp>
      <p:sp>
        <p:nvSpPr>
          <p:cNvPr id="209" name=""/>
          <p:cNvSpPr/>
          <p:nvPr/>
        </p:nvSpPr>
        <p:spPr>
          <a:xfrm>
            <a:off x="5715000" y="819000"/>
            <a:ext cx="4330080" cy="4210200"/>
          </a:xfrm>
          <a:prstGeom prst="rect">
            <a:avLst/>
          </a:prstGeom>
          <a:noFill/>
          <a:ln w="0">
            <a:noFill/>
          </a:ln>
        </p:spPr>
        <p:style>
          <a:lnRef idx="0"/>
          <a:fillRef idx="0"/>
          <a:effectRef idx="0"/>
          <a:fontRef idx="minor"/>
        </p:style>
        <p:txBody>
          <a:bodyPr lIns="90000" rIns="90000" tIns="45000" bIns="45000" anchor="t">
            <a:spAutoFit/>
          </a:bodyPr>
          <a:p>
            <a:pPr marL="216000" indent="-216000">
              <a:lnSpc>
                <a:spcPct val="100000"/>
              </a:lnSpc>
              <a:spcBef>
                <a:spcPts val="1191"/>
              </a:spcBef>
              <a:spcAft>
                <a:spcPts val="992"/>
              </a:spcAft>
              <a:buClr>
                <a:srgbClr val="000000"/>
              </a:buClr>
              <a:buSzPct val="45000"/>
              <a:buFont typeface="Wingdings" charset="2"/>
              <a:buChar char=""/>
            </a:pPr>
            <a:r>
              <a:rPr b="0" lang="en-US" sz="1800" strike="noStrike" u="none">
                <a:solidFill>
                  <a:srgbClr val="000000"/>
                </a:solidFill>
                <a:effectLst/>
                <a:uFillTx/>
                <a:latin typeface="Arial"/>
                <a:ea typeface="DejaVu Sans"/>
              </a:rPr>
              <a:t>Sphingomyelins (SM(34:1), SM(38:1)) and triacylglycerols (TAG(54:5-18:2), TAG(52:4-16:1)) are the top consensus metabolites </a:t>
            </a:r>
            <a:endParaRPr b="0" lang="en-US" sz="1800" strike="noStrike" u="none">
              <a:solidFill>
                <a:srgbClr val="000000"/>
              </a:solidFill>
              <a:effectLst/>
              <a:uFillTx/>
              <a:latin typeface="Arial"/>
            </a:endParaRPr>
          </a:p>
          <a:p>
            <a:pPr>
              <a:lnSpc>
                <a:spcPct val="100000"/>
              </a:lnSpc>
            </a:pPr>
            <a:endParaRPr b="0" lang="en-US" sz="1800" strike="noStrike" u="none">
              <a:solidFill>
                <a:srgbClr val="000000"/>
              </a:solidFill>
              <a:effectLst/>
              <a:uFillTx/>
              <a:latin typeface="Arial"/>
            </a:endParaRPr>
          </a:p>
          <a:p>
            <a:pPr marL="216000" indent="-216000">
              <a:lnSpc>
                <a:spcPct val="100000"/>
              </a:lnSpc>
              <a:spcBef>
                <a:spcPts val="1191"/>
              </a:spcBef>
              <a:spcAft>
                <a:spcPts val="992"/>
              </a:spcAft>
              <a:buClr>
                <a:srgbClr val="000000"/>
              </a:buClr>
              <a:buSzPct val="45000"/>
              <a:buFont typeface="Wingdings" charset="2"/>
              <a:buChar char=""/>
            </a:pPr>
            <a:r>
              <a:rPr b="0" lang="en-US" sz="1800" strike="noStrike" u="none">
                <a:solidFill>
                  <a:srgbClr val="000000"/>
                </a:solidFill>
                <a:effectLst/>
                <a:uFillTx/>
                <a:latin typeface="Arial"/>
                <a:ea typeface="DejaVu Sans"/>
              </a:rPr>
              <a:t>Triacylglycerol (TAG(54:3-18:1)) and phosphatidylcholines (PC (36:1-2), PC (40:5)) are the middle-ranked metabolites </a:t>
            </a:r>
            <a:endParaRPr b="0" lang="en-US" sz="1800" strike="noStrike" u="none">
              <a:solidFill>
                <a:srgbClr val="000000"/>
              </a:solidFill>
              <a:effectLst/>
              <a:uFillTx/>
              <a:latin typeface="Arial"/>
            </a:endParaRPr>
          </a:p>
          <a:p>
            <a:pPr>
              <a:lnSpc>
                <a:spcPct val="100000"/>
              </a:lnSpc>
            </a:pPr>
            <a:endParaRPr b="0" lang="en-US" sz="1800" strike="noStrike" u="none">
              <a:solidFill>
                <a:srgbClr val="000000"/>
              </a:solidFill>
              <a:effectLst/>
              <a:uFillTx/>
              <a:latin typeface="Arial"/>
            </a:endParaRPr>
          </a:p>
          <a:p>
            <a:pPr marL="216000" indent="-216000">
              <a:lnSpc>
                <a:spcPct val="100000"/>
              </a:lnSpc>
              <a:spcBef>
                <a:spcPts val="1191"/>
              </a:spcBef>
              <a:spcAft>
                <a:spcPts val="992"/>
              </a:spcAft>
              <a:buClr>
                <a:srgbClr val="000000"/>
              </a:buClr>
              <a:buSzPct val="45000"/>
              <a:buFont typeface="Wingdings" charset="2"/>
              <a:buChar char=""/>
            </a:pPr>
            <a:r>
              <a:rPr b="0" lang="en-US" sz="1800" strike="noStrike" u="none">
                <a:solidFill>
                  <a:srgbClr val="000000"/>
                </a:solidFill>
                <a:effectLst/>
                <a:uFillTx/>
                <a:latin typeface="Arial"/>
                <a:ea typeface="DejaVu Sans"/>
              </a:rPr>
              <a:t>Triacylglycerols (TAG(56:5-18:1),  TAG(52:3-18:1)) are the lower consensus metabolites</a:t>
            </a:r>
            <a:endParaRPr b="0" lang="en-US" sz="1800" strike="noStrike" u="none">
              <a:solidFill>
                <a:srgbClr val="000000"/>
              </a:solidFill>
              <a:effectLst/>
              <a:uFillTx/>
              <a:latin typeface="Arial"/>
            </a:endParaRPr>
          </a:p>
        </p:txBody>
      </p:sp>
      <p:pic>
        <p:nvPicPr>
          <p:cNvPr id="210" name="" descr=""/>
          <p:cNvPicPr/>
          <p:nvPr/>
        </p:nvPicPr>
        <p:blipFill>
          <a:blip r:embed="rId1"/>
          <a:stretch/>
        </p:blipFill>
        <p:spPr>
          <a:xfrm>
            <a:off x="52560" y="730440"/>
            <a:ext cx="5655600" cy="4749120"/>
          </a:xfrm>
          <a:prstGeom prst="rect">
            <a:avLst/>
          </a:prstGeom>
          <a:noFill/>
          <a:ln w="0">
            <a:noFill/>
          </a:ln>
        </p:spPr>
      </p:pic>
      <p:sp>
        <p:nvSpPr>
          <p:cNvPr id="3" name="PlaceHolder 2"/>
          <p:cNvSpPr>
            <a:spLocks noGrp="1"/>
          </p:cNvSpPr>
          <p:nvPr>
            <p:ph type="sldNum" idx="11"/>
          </p:nvPr>
        </p:nvSpPr>
        <p:spPr/>
        <p:txBody>
          <a:bodyPr/>
          <a:p>
            <a:fld id="{483F39A7-7BBF-443F-9ABB-5EA269259261}" type="slidenum">
              <a:t>43</a:t>
            </a:fld>
          </a:p>
        </p:txBody>
      </p:sp>
    </p:spTree>
  </p:cSld>
  <mc:AlternateContent>
    <mc:Choice Requires="p14">
      <p:transition spd="slow" p14:dur="2000"/>
    </mc:Choice>
    <mc:Fallback>
      <p:transition spd="slow"/>
    </mc:Fallback>
  </mc:AlternateContent>
</p:sld>
</file>

<file path=ppt/slides/slide4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1" name="PlaceHolder 1"/>
          <p:cNvSpPr>
            <a:spLocks noGrp="1"/>
          </p:cNvSpPr>
          <p:nvPr>
            <p:ph type="title"/>
          </p:nvPr>
        </p:nvSpPr>
        <p:spPr>
          <a:xfrm>
            <a:off x="360000" y="70200"/>
            <a:ext cx="9342720" cy="680400"/>
          </a:xfrm>
          <a:prstGeom prst="rect">
            <a:avLst/>
          </a:prstGeom>
          <a:noFill/>
          <a:ln w="0">
            <a:noFill/>
          </a:ln>
        </p:spPr>
        <p:txBody>
          <a:bodyPr lIns="0" rIns="0" tIns="0" bIns="0" anchor="ctr">
            <a:spAutoFit/>
          </a:bodyPr>
          <a:p>
            <a:pPr indent="0" algn="ctr">
              <a:lnSpc>
                <a:spcPct val="100000"/>
              </a:lnSpc>
              <a:buNone/>
              <a:tabLst>
                <a:tab algn="l" pos="0"/>
              </a:tabLst>
            </a:pPr>
            <a:r>
              <a:rPr b="0" lang="en-US" sz="3000" strike="noStrike" u="none">
                <a:solidFill>
                  <a:srgbClr val="ffffff"/>
                </a:solidFill>
                <a:effectLst/>
                <a:uFillTx/>
                <a:latin typeface="Arial"/>
              </a:rPr>
              <a:t>Model with Covariates added</a:t>
            </a:r>
            <a:endParaRPr b="0" lang="en-US" sz="3000" strike="noStrike" u="none">
              <a:solidFill>
                <a:srgbClr val="000000"/>
              </a:solidFill>
              <a:effectLst/>
              <a:uFillTx/>
              <a:latin typeface="Arial"/>
            </a:endParaRPr>
          </a:p>
        </p:txBody>
      </p:sp>
      <p:sp>
        <p:nvSpPr>
          <p:cNvPr id="212" name="PlaceHolder 2"/>
          <p:cNvSpPr>
            <a:spLocks noGrp="1"/>
          </p:cNvSpPr>
          <p:nvPr>
            <p:ph/>
          </p:nvPr>
        </p:nvSpPr>
        <p:spPr>
          <a:xfrm>
            <a:off x="360000" y="1080000"/>
            <a:ext cx="9342720" cy="358272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b="0" lang="en-US" sz="3200" strike="noStrike" u="none">
                <a:solidFill>
                  <a:srgbClr val="000000"/>
                </a:solidFill>
                <a:effectLst/>
                <a:uFillTx/>
                <a:latin typeface="Arial"/>
              </a:rPr>
              <a:t>Age – age of the participant</a:t>
            </a:r>
            <a:endParaRPr b="0" lang="en-US" sz="3200" strike="noStrike" u="none">
              <a:solidFill>
                <a:srgbClr val="000000"/>
              </a:solidFill>
              <a:effectLst/>
              <a:uFillTx/>
              <a:latin typeface="Arial"/>
            </a:endParaRPr>
          </a:p>
          <a:p>
            <a:pPr marL="432000" indent="-324000">
              <a:lnSpc>
                <a:spcPct val="100000"/>
              </a:lnSpc>
              <a:spcBef>
                <a:spcPts val="1417"/>
              </a:spcBef>
              <a:buClr>
                <a:srgbClr val="000000"/>
              </a:buClr>
              <a:buSzPct val="45000"/>
              <a:buFont typeface="Wingdings" charset="2"/>
              <a:buChar char=""/>
            </a:pPr>
            <a:r>
              <a:rPr b="0" lang="en-US" sz="3200" strike="noStrike" u="none">
                <a:solidFill>
                  <a:srgbClr val="000000"/>
                </a:solidFill>
                <a:effectLst/>
                <a:uFillTx/>
                <a:latin typeface="Arial"/>
              </a:rPr>
              <a:t>Gender – sex of the participant (male or female)</a:t>
            </a:r>
            <a:endParaRPr b="0" lang="en-US" sz="3200" strike="noStrike" u="none">
              <a:solidFill>
                <a:srgbClr val="000000"/>
              </a:solidFill>
              <a:effectLst/>
              <a:uFillTx/>
              <a:latin typeface="Arial"/>
            </a:endParaRPr>
          </a:p>
          <a:p>
            <a:pPr marL="432000" indent="-324000">
              <a:lnSpc>
                <a:spcPct val="100000"/>
              </a:lnSpc>
              <a:spcBef>
                <a:spcPts val="1417"/>
              </a:spcBef>
              <a:buClr>
                <a:srgbClr val="000000"/>
              </a:buClr>
              <a:buSzPct val="45000"/>
              <a:buFont typeface="Wingdings" charset="2"/>
              <a:buChar char=""/>
            </a:pPr>
            <a:r>
              <a:rPr b="0" lang="en-US" sz="3200" strike="noStrike" u="none">
                <a:solidFill>
                  <a:srgbClr val="000000"/>
                </a:solidFill>
                <a:effectLst/>
                <a:uFillTx/>
                <a:latin typeface="Arial"/>
              </a:rPr>
              <a:t>BMI – body mass index of the participant</a:t>
            </a:r>
            <a:endParaRPr b="0" lang="en-US" sz="3200" strike="noStrike" u="none">
              <a:solidFill>
                <a:srgbClr val="000000"/>
              </a:solidFill>
              <a:effectLst/>
              <a:uFillTx/>
              <a:latin typeface="Arial"/>
            </a:endParaRPr>
          </a:p>
          <a:p>
            <a:pPr marL="432000" indent="-324000">
              <a:lnSpc>
                <a:spcPct val="100000"/>
              </a:lnSpc>
              <a:spcBef>
                <a:spcPts val="1417"/>
              </a:spcBef>
              <a:buClr>
                <a:srgbClr val="000000"/>
              </a:buClr>
              <a:buSzPct val="45000"/>
              <a:buFont typeface="Wingdings" charset="2"/>
              <a:buChar char=""/>
            </a:pPr>
            <a:r>
              <a:rPr b="0" lang="en-US" sz="3200" strike="noStrike" u="none">
                <a:solidFill>
                  <a:srgbClr val="000000"/>
                </a:solidFill>
                <a:effectLst/>
                <a:uFillTx/>
                <a:latin typeface="Arial"/>
              </a:rPr>
              <a:t>Waistline (cm) – participant’s weight circumference measured in centimeters</a:t>
            </a:r>
            <a:endParaRPr b="0" lang="en-US" sz="3200" strike="noStrike" u="none">
              <a:solidFill>
                <a:srgbClr val="000000"/>
              </a:solidFill>
              <a:effectLst/>
              <a:uFillTx/>
              <a:latin typeface="Arial"/>
            </a:endParaRPr>
          </a:p>
        </p:txBody>
      </p:sp>
      <p:sp>
        <p:nvSpPr>
          <p:cNvPr id="4" name="PlaceHolder 3"/>
          <p:cNvSpPr>
            <a:spLocks noGrp="1"/>
          </p:cNvSpPr>
          <p:nvPr>
            <p:ph type="sldNum" idx="11"/>
          </p:nvPr>
        </p:nvSpPr>
        <p:spPr/>
        <p:txBody>
          <a:bodyPr/>
          <a:p>
            <a:fld id="{78A5DFF9-1F7B-4052-9E39-D29C90E49664}" type="slidenum">
              <a:t>44</a:t>
            </a:fld>
          </a:p>
        </p:txBody>
      </p:sp>
    </p:spTree>
  </p:cSld>
  <mc:AlternateContent>
    <mc:Choice Requires="p14">
      <p:transition spd="slow" p14:dur="2000"/>
    </mc:Choice>
    <mc:Fallback>
      <p:transition spd="slow"/>
    </mc:Fallback>
  </mc:AlternateContent>
</p:sld>
</file>

<file path=ppt/slides/slide4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3" name="PlaceHolder 1"/>
          <p:cNvSpPr>
            <a:spLocks noGrp="1"/>
          </p:cNvSpPr>
          <p:nvPr>
            <p:ph type="title"/>
          </p:nvPr>
        </p:nvSpPr>
        <p:spPr>
          <a:xfrm>
            <a:off x="360000" y="69840"/>
            <a:ext cx="9342720" cy="681120"/>
          </a:xfrm>
          <a:prstGeom prst="rect">
            <a:avLst/>
          </a:prstGeom>
          <a:noFill/>
          <a:ln w="0">
            <a:noFill/>
          </a:ln>
        </p:spPr>
        <p:txBody>
          <a:bodyPr lIns="0" rIns="0" tIns="0" bIns="0" anchor="ctr">
            <a:spAutoFit/>
          </a:bodyPr>
          <a:p>
            <a:pPr indent="0" algn="ctr">
              <a:lnSpc>
                <a:spcPct val="100000"/>
              </a:lnSpc>
              <a:buNone/>
              <a:tabLst>
                <a:tab algn="l" pos="0"/>
              </a:tabLst>
            </a:pPr>
            <a:r>
              <a:rPr b="0" lang="en-US" sz="3300" strike="noStrike" u="none">
                <a:solidFill>
                  <a:srgbClr val="eeeeee"/>
                </a:solidFill>
                <a:effectLst/>
                <a:uFillTx/>
                <a:latin typeface="Arial"/>
              </a:rPr>
              <a:t>Elastic Net Variable Importance</a:t>
            </a:r>
            <a:endParaRPr b="0" lang="en-US" sz="3300" strike="noStrike" u="none">
              <a:solidFill>
                <a:srgbClr val="000000"/>
              </a:solidFill>
              <a:effectLst/>
              <a:uFillTx/>
              <a:latin typeface="Arial"/>
            </a:endParaRPr>
          </a:p>
        </p:txBody>
      </p:sp>
      <p:sp>
        <p:nvSpPr>
          <p:cNvPr id="214" name=""/>
          <p:cNvSpPr/>
          <p:nvPr/>
        </p:nvSpPr>
        <p:spPr>
          <a:xfrm>
            <a:off x="6180480" y="914400"/>
            <a:ext cx="3642480" cy="3778920"/>
          </a:xfrm>
          <a:prstGeom prst="rect">
            <a:avLst/>
          </a:prstGeom>
          <a:noFill/>
          <a:ln w="0">
            <a:noFill/>
          </a:ln>
        </p:spPr>
        <p:style>
          <a:lnRef idx="0"/>
          <a:fillRef idx="0"/>
          <a:effectRef idx="0"/>
          <a:fontRef idx="minor"/>
        </p:style>
        <p:txBody>
          <a:bodyPr lIns="90000" rIns="90000" tIns="45000" bIns="45000" anchor="t">
            <a:spAutoFit/>
          </a:bodyPr>
          <a:p>
            <a:pPr marL="216000" indent="-216000">
              <a:lnSpc>
                <a:spcPct val="100000"/>
              </a:lnSpc>
              <a:spcBef>
                <a:spcPts val="1191"/>
              </a:spcBef>
              <a:spcAft>
                <a:spcPts val="992"/>
              </a:spcAft>
              <a:buClr>
                <a:srgbClr val="000000"/>
              </a:buClr>
              <a:buSzPct val="45000"/>
              <a:buFont typeface="Wingdings" charset="2"/>
              <a:buChar char=""/>
            </a:pPr>
            <a:r>
              <a:rPr b="0" lang="en-US" sz="1600" strike="noStrike" u="none">
                <a:solidFill>
                  <a:srgbClr val="000000"/>
                </a:solidFill>
                <a:effectLst/>
                <a:uFillTx/>
                <a:latin typeface="Arial"/>
                <a:ea typeface="DejaVu Sans"/>
              </a:rPr>
              <a:t>This displays the top 20 metabolites ranked by their absolute coefficient values ∣β∣ from an elastic net regression model assuming that age, gender, BMI and Waistline (cm) are in the model. The x-axis represents the importance of each variable, measured by the magnitude of the corresponding regression coefficient, while the y-axis lists the metabolite names.</a:t>
            </a:r>
            <a:endParaRPr b="0" lang="en-US" sz="1600" strike="noStrike" u="none">
              <a:solidFill>
                <a:srgbClr val="000000"/>
              </a:solidFill>
              <a:effectLst/>
              <a:uFillTx/>
              <a:latin typeface="Arial"/>
            </a:endParaRPr>
          </a:p>
          <a:p>
            <a:pPr marL="216000" indent="-216000">
              <a:lnSpc>
                <a:spcPct val="100000"/>
              </a:lnSpc>
              <a:spcBef>
                <a:spcPts val="1191"/>
              </a:spcBef>
              <a:spcAft>
                <a:spcPts val="992"/>
              </a:spcAft>
              <a:buClr>
                <a:srgbClr val="000000"/>
              </a:buClr>
              <a:buSzPct val="45000"/>
              <a:buFont typeface="Wingdings" charset="2"/>
              <a:buChar char=""/>
            </a:pPr>
            <a:r>
              <a:rPr b="0" lang="en-US" sz="1600" strike="noStrike" u="none">
                <a:solidFill>
                  <a:srgbClr val="000000"/>
                </a:solidFill>
                <a:effectLst/>
                <a:uFillTx/>
                <a:latin typeface="Arial"/>
                <a:ea typeface="Liberation Mono;Cumberland AMT;Courier New;DejaVu Sans Mono;Lucida Sans Typewriter"/>
              </a:rPr>
              <a:t>p-value = 0.3535, i.e., the most important metabolites tend not to be highly abundant overall.</a:t>
            </a:r>
            <a:r>
              <a:rPr b="0" lang="en-US" sz="1600" strike="noStrike" u="none">
                <a:solidFill>
                  <a:srgbClr val="000000"/>
                </a:solidFill>
                <a:effectLst/>
                <a:uFillTx/>
                <a:latin typeface="Arial"/>
                <a:ea typeface="DejaVu Sans"/>
              </a:rPr>
              <a:t> </a:t>
            </a:r>
            <a:endParaRPr b="0" lang="en-US" sz="1600" strike="noStrike" u="none">
              <a:solidFill>
                <a:srgbClr val="000000"/>
              </a:solidFill>
              <a:effectLst/>
              <a:uFillTx/>
              <a:latin typeface="Arial"/>
            </a:endParaRPr>
          </a:p>
        </p:txBody>
      </p:sp>
      <p:pic>
        <p:nvPicPr>
          <p:cNvPr id="215" name="" descr=""/>
          <p:cNvPicPr/>
          <p:nvPr/>
        </p:nvPicPr>
        <p:blipFill>
          <a:blip r:embed="rId1"/>
          <a:stretch/>
        </p:blipFill>
        <p:spPr>
          <a:xfrm>
            <a:off x="0" y="750960"/>
            <a:ext cx="6170400" cy="4913640"/>
          </a:xfrm>
          <a:prstGeom prst="rect">
            <a:avLst/>
          </a:prstGeom>
          <a:noFill/>
          <a:ln w="0">
            <a:noFill/>
          </a:ln>
        </p:spPr>
      </p:pic>
      <p:sp>
        <p:nvSpPr>
          <p:cNvPr id="3" name="PlaceHolder 2"/>
          <p:cNvSpPr>
            <a:spLocks noGrp="1"/>
          </p:cNvSpPr>
          <p:nvPr>
            <p:ph type="sldNum" idx="11"/>
          </p:nvPr>
        </p:nvSpPr>
        <p:spPr/>
        <p:txBody>
          <a:bodyPr/>
          <a:p>
            <a:fld id="{DDAEF801-407F-42CE-A54D-A46B8166694C}" type="slidenum">
              <a:t>45</a:t>
            </a:fld>
          </a:p>
        </p:txBody>
      </p:sp>
    </p:spTree>
  </p:cSld>
  <mc:AlternateContent>
    <mc:Choice Requires="p14">
      <p:transition spd="slow" p14:dur="2000"/>
    </mc:Choice>
    <mc:Fallback>
      <p:transition spd="slow"/>
    </mc:Fallback>
  </mc:AlternateContent>
</p:sld>
</file>

<file path=ppt/slides/slide4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6" name="PlaceHolder 1"/>
          <p:cNvSpPr>
            <a:spLocks noGrp="1"/>
          </p:cNvSpPr>
          <p:nvPr>
            <p:ph type="title"/>
          </p:nvPr>
        </p:nvSpPr>
        <p:spPr>
          <a:xfrm>
            <a:off x="360000" y="195840"/>
            <a:ext cx="9342720" cy="428760"/>
          </a:xfrm>
          <a:prstGeom prst="rect">
            <a:avLst/>
          </a:prstGeom>
          <a:noFill/>
          <a:ln w="0">
            <a:noFill/>
          </a:ln>
        </p:spPr>
        <p:txBody>
          <a:bodyPr lIns="0" rIns="0" tIns="0" bIns="0" anchor="ctr">
            <a:spAutoFit/>
          </a:bodyPr>
          <a:p>
            <a:pPr indent="0" algn="ctr">
              <a:lnSpc>
                <a:spcPct val="100000"/>
              </a:lnSpc>
              <a:buNone/>
              <a:tabLst>
                <a:tab algn="l" pos="0"/>
              </a:tabLst>
            </a:pPr>
            <a:r>
              <a:rPr b="0" lang="en-US" sz="3000" strike="noStrike" u="none">
                <a:solidFill>
                  <a:srgbClr val="ffffff"/>
                </a:solidFill>
                <a:effectLst/>
                <a:uFillTx/>
                <a:latin typeface="Arial"/>
              </a:rPr>
              <a:t>Elastic Net: SHAP Values</a:t>
            </a:r>
            <a:endParaRPr b="0" lang="en-US" sz="3000" strike="noStrike" u="none">
              <a:solidFill>
                <a:srgbClr val="000000"/>
              </a:solidFill>
              <a:effectLst/>
              <a:uFillTx/>
              <a:latin typeface="Arial"/>
            </a:endParaRPr>
          </a:p>
        </p:txBody>
      </p:sp>
      <p:pic>
        <p:nvPicPr>
          <p:cNvPr id="217" name="" descr=""/>
          <p:cNvPicPr/>
          <p:nvPr/>
        </p:nvPicPr>
        <p:blipFill>
          <a:blip r:embed="rId1"/>
          <a:stretch/>
        </p:blipFill>
        <p:spPr>
          <a:xfrm>
            <a:off x="0" y="730080"/>
            <a:ext cx="5940360" cy="4753080"/>
          </a:xfrm>
          <a:prstGeom prst="rect">
            <a:avLst/>
          </a:prstGeom>
          <a:noFill/>
          <a:ln w="0">
            <a:noFill/>
          </a:ln>
        </p:spPr>
      </p:pic>
      <p:sp>
        <p:nvSpPr>
          <p:cNvPr id="218" name=""/>
          <p:cNvSpPr/>
          <p:nvPr/>
        </p:nvSpPr>
        <p:spPr>
          <a:xfrm>
            <a:off x="5943600" y="717840"/>
            <a:ext cx="4154760" cy="4912920"/>
          </a:xfrm>
          <a:prstGeom prst="rect">
            <a:avLst/>
          </a:prstGeom>
          <a:noFill/>
          <a:ln w="0">
            <a:noFill/>
          </a:ln>
        </p:spPr>
        <p:style>
          <a:lnRef idx="0"/>
          <a:fillRef idx="0"/>
          <a:effectRef idx="0"/>
          <a:fontRef idx="minor"/>
        </p:style>
        <p:txBody>
          <a:bodyPr lIns="90000" rIns="90000" tIns="45000" bIns="45000" anchor="t">
            <a:spAutoFit/>
          </a:bodyPr>
          <a:p>
            <a:pPr marL="216000" indent="-216000">
              <a:lnSpc>
                <a:spcPct val="100000"/>
              </a:lnSpc>
              <a:buClr>
                <a:srgbClr val="000000"/>
              </a:buClr>
              <a:buSzPct val="45000"/>
              <a:buFont typeface="Wingdings" charset="2"/>
              <a:buChar char=""/>
            </a:pPr>
            <a:r>
              <a:rPr b="0" lang="en-US" sz="1200" strike="noStrike" u="none">
                <a:solidFill>
                  <a:srgbClr val="000000"/>
                </a:solidFill>
                <a:effectLst/>
                <a:uFillTx/>
                <a:latin typeface="Arial"/>
                <a:ea typeface="DejaVu Sans"/>
              </a:rPr>
              <a:t>This is a SHAP (SHapley Additive exPlanations) summary plot showing the distribution of SHAP values for the 20 most impactful metabolites in an elastic-net model assuming that age, gender, BMI and Waistline (cm) are in the model. Each violin plot represents the range and density of SHAP values, i.e., how much a feature influences the model prediction in log-odds) across all samples. </a:t>
            </a:r>
            <a:endParaRPr b="0" lang="en-US" sz="1200" strike="noStrike" u="none">
              <a:solidFill>
                <a:srgbClr val="000000"/>
              </a:solidFill>
              <a:effectLst/>
              <a:uFillTx/>
              <a:latin typeface="Arial"/>
            </a:endParaRPr>
          </a:p>
          <a:p>
            <a:pPr>
              <a:lnSpc>
                <a:spcPct val="100000"/>
              </a:lnSpc>
            </a:pPr>
            <a:endParaRPr b="0" lang="en-US" sz="1200" strike="noStrike" u="none">
              <a:solidFill>
                <a:srgbClr val="000000"/>
              </a:solidFill>
              <a:effectLst/>
              <a:uFillTx/>
              <a:latin typeface="Arial"/>
            </a:endParaRPr>
          </a:p>
          <a:p>
            <a:pPr marL="216000" indent="-216000">
              <a:lnSpc>
                <a:spcPct val="100000"/>
              </a:lnSpc>
              <a:spcBef>
                <a:spcPts val="1191"/>
              </a:spcBef>
              <a:spcAft>
                <a:spcPts val="992"/>
              </a:spcAft>
              <a:buClr>
                <a:srgbClr val="000000"/>
              </a:buClr>
              <a:buSzPct val="45000"/>
              <a:buFont typeface="Wingdings" charset="2"/>
              <a:buChar char=""/>
            </a:pPr>
            <a:r>
              <a:rPr b="0" lang="en-US" sz="1200" strike="noStrike" u="none">
                <a:solidFill>
                  <a:srgbClr val="000000"/>
                </a:solidFill>
                <a:effectLst/>
                <a:uFillTx/>
                <a:latin typeface="Arial"/>
                <a:ea typeface="DejaVu Sans"/>
              </a:rPr>
              <a:t>Fumaric acid, Galactaric acid, and Valine show SHAP distributions centered near zero but slightly skewed negative, suggesting a mild protective association. </a:t>
            </a:r>
            <a:endParaRPr b="0" lang="en-US" sz="1200" strike="noStrike" u="none">
              <a:solidFill>
                <a:srgbClr val="000000"/>
              </a:solidFill>
              <a:effectLst/>
              <a:uFillTx/>
              <a:latin typeface="Arial"/>
            </a:endParaRPr>
          </a:p>
          <a:p>
            <a:pPr marL="216000" indent="-216000">
              <a:lnSpc>
                <a:spcPct val="100000"/>
              </a:lnSpc>
              <a:spcBef>
                <a:spcPts val="1191"/>
              </a:spcBef>
              <a:spcAft>
                <a:spcPts val="992"/>
              </a:spcAft>
              <a:buClr>
                <a:srgbClr val="000000"/>
              </a:buClr>
              <a:buSzPct val="45000"/>
              <a:buFont typeface="Wingdings" charset="2"/>
              <a:buChar char=""/>
            </a:pPr>
            <a:r>
              <a:rPr b="0" lang="en-US" sz="1200" strike="noStrike" u="none">
                <a:solidFill>
                  <a:srgbClr val="000000"/>
                </a:solidFill>
                <a:effectLst/>
                <a:uFillTx/>
                <a:latin typeface="Arial"/>
                <a:ea typeface="DejaVu Sans"/>
              </a:rPr>
              <a:t>Multiple TAG species appear in the plot, many showing SHAP distributions skewed positive (blue) </a:t>
            </a:r>
            <a:endParaRPr b="0" lang="en-US" sz="1200" strike="noStrike" u="none">
              <a:solidFill>
                <a:srgbClr val="000000"/>
              </a:solidFill>
              <a:effectLst/>
              <a:uFillTx/>
              <a:latin typeface="Arial"/>
            </a:endParaRPr>
          </a:p>
          <a:p>
            <a:pPr marL="216000" indent="-216000">
              <a:lnSpc>
                <a:spcPct val="100000"/>
              </a:lnSpc>
              <a:spcBef>
                <a:spcPts val="1191"/>
              </a:spcBef>
              <a:spcAft>
                <a:spcPts val="992"/>
              </a:spcAft>
              <a:buClr>
                <a:srgbClr val="000000"/>
              </a:buClr>
              <a:buSzPct val="45000"/>
              <a:buFont typeface="Wingdings" charset="2"/>
              <a:buChar char=""/>
            </a:pPr>
            <a:r>
              <a:rPr b="0" lang="en-US" sz="1200" strike="noStrike" u="none">
                <a:solidFill>
                  <a:srgbClr val="000000"/>
                </a:solidFill>
                <a:effectLst/>
                <a:uFillTx/>
                <a:latin typeface="Arial"/>
                <a:ea typeface="DejaVu Sans"/>
              </a:rPr>
              <a:t>PA species (phosphatidic acids), such as PA (20:0/18:2) and PA (18:0/20:4), display broader negative SHAP ranges, suggesting these lipids may lower T2DM probability in the model.</a:t>
            </a:r>
            <a:r>
              <a:rPr b="0" lang="en-US" sz="1000" strike="noStrike" u="none">
                <a:solidFill>
                  <a:srgbClr val="000000"/>
                </a:solidFill>
                <a:effectLst/>
                <a:uFillTx/>
                <a:latin typeface="Arial"/>
                <a:ea typeface="DejaVu Sans"/>
              </a:rPr>
              <a:t> </a:t>
            </a:r>
            <a:endParaRPr b="0" lang="en-US" sz="1000" strike="noStrike" u="none">
              <a:solidFill>
                <a:srgbClr val="000000"/>
              </a:solidFill>
              <a:effectLst/>
              <a:uFillTx/>
              <a:latin typeface="Arial"/>
            </a:endParaRPr>
          </a:p>
          <a:p>
            <a:pPr marL="216000" indent="-216000">
              <a:lnSpc>
                <a:spcPct val="100000"/>
              </a:lnSpc>
              <a:spcBef>
                <a:spcPts val="1191"/>
              </a:spcBef>
              <a:spcAft>
                <a:spcPts val="992"/>
              </a:spcAft>
              <a:buClr>
                <a:srgbClr val="000000"/>
              </a:buClr>
              <a:buSzPct val="45000"/>
              <a:buFont typeface="Wingdings" charset="2"/>
              <a:buChar char=""/>
            </a:pPr>
            <a:r>
              <a:rPr b="0" lang="en-US" sz="1200" strike="noStrike" u="none">
                <a:solidFill>
                  <a:srgbClr val="000000"/>
                </a:solidFill>
                <a:effectLst/>
                <a:uFillTx/>
                <a:latin typeface="Arial"/>
                <a:ea typeface="DejaVu Sans"/>
              </a:rPr>
              <a:t>The free fatty acid (FFA (20:4)-5/12-OH) has one of the widest SHAP distributions, spanning strongly negative values. </a:t>
            </a:r>
            <a:endParaRPr b="0" lang="en-US" sz="1200" strike="noStrike" u="none">
              <a:solidFill>
                <a:srgbClr val="000000"/>
              </a:solidFill>
              <a:effectLst/>
              <a:uFillTx/>
              <a:latin typeface="Arial"/>
            </a:endParaRPr>
          </a:p>
        </p:txBody>
      </p:sp>
      <p:sp>
        <p:nvSpPr>
          <p:cNvPr id="3" name="PlaceHolder 2"/>
          <p:cNvSpPr>
            <a:spLocks noGrp="1"/>
          </p:cNvSpPr>
          <p:nvPr>
            <p:ph type="sldNum" idx="11"/>
          </p:nvPr>
        </p:nvSpPr>
        <p:spPr/>
        <p:txBody>
          <a:bodyPr/>
          <a:p>
            <a:fld id="{78FC9F40-2E95-44EF-BE50-156C3237A2E4}" type="slidenum">
              <a:t>46</a:t>
            </a:fld>
          </a:p>
        </p:txBody>
      </p:sp>
    </p:spTree>
  </p:cSld>
  <mc:AlternateContent>
    <mc:Choice Requires="p14">
      <p:transition spd="slow" p14:dur="2000"/>
    </mc:Choice>
    <mc:Fallback>
      <p:transition spd="slow"/>
    </mc:Fallback>
  </mc:AlternateContent>
</p:sld>
</file>

<file path=ppt/slides/slide4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9" name="PlaceHolder 1"/>
          <p:cNvSpPr>
            <a:spLocks noGrp="1"/>
          </p:cNvSpPr>
          <p:nvPr>
            <p:ph type="title"/>
          </p:nvPr>
        </p:nvSpPr>
        <p:spPr>
          <a:xfrm>
            <a:off x="360000" y="195840"/>
            <a:ext cx="9342720" cy="428760"/>
          </a:xfrm>
          <a:prstGeom prst="rect">
            <a:avLst/>
          </a:prstGeom>
          <a:noFill/>
          <a:ln w="0">
            <a:noFill/>
          </a:ln>
        </p:spPr>
        <p:txBody>
          <a:bodyPr lIns="0" rIns="0" tIns="0" bIns="0" anchor="ctr">
            <a:spAutoFit/>
          </a:bodyPr>
          <a:p>
            <a:pPr indent="0" algn="ctr">
              <a:lnSpc>
                <a:spcPct val="100000"/>
              </a:lnSpc>
              <a:buNone/>
              <a:tabLst>
                <a:tab algn="l" pos="0"/>
              </a:tabLst>
            </a:pPr>
            <a:r>
              <a:rPr b="0" lang="en-US" sz="3000" strike="noStrike" u="none">
                <a:solidFill>
                  <a:srgbClr val="ffffff"/>
                </a:solidFill>
                <a:effectLst/>
                <a:uFillTx/>
                <a:latin typeface="Arial"/>
              </a:rPr>
              <a:t>Elastic Net: SHAP Values</a:t>
            </a:r>
            <a:endParaRPr b="0" lang="en-US" sz="3000" strike="noStrike" u="none">
              <a:solidFill>
                <a:srgbClr val="000000"/>
              </a:solidFill>
              <a:effectLst/>
              <a:uFillTx/>
              <a:latin typeface="Arial"/>
            </a:endParaRPr>
          </a:p>
        </p:txBody>
      </p:sp>
      <p:pic>
        <p:nvPicPr>
          <p:cNvPr id="220" name="" descr=""/>
          <p:cNvPicPr/>
          <p:nvPr/>
        </p:nvPicPr>
        <p:blipFill>
          <a:blip r:embed="rId1"/>
          <a:stretch/>
        </p:blipFill>
        <p:spPr>
          <a:xfrm>
            <a:off x="0" y="914400"/>
            <a:ext cx="5711760" cy="4748040"/>
          </a:xfrm>
          <a:prstGeom prst="rect">
            <a:avLst/>
          </a:prstGeom>
          <a:noFill/>
          <a:ln w="0">
            <a:noFill/>
          </a:ln>
        </p:spPr>
      </p:pic>
      <p:sp>
        <p:nvSpPr>
          <p:cNvPr id="221" name=""/>
          <p:cNvSpPr/>
          <p:nvPr/>
        </p:nvSpPr>
        <p:spPr>
          <a:xfrm>
            <a:off x="5940000" y="914400"/>
            <a:ext cx="4115160" cy="3727080"/>
          </a:xfrm>
          <a:prstGeom prst="rect">
            <a:avLst/>
          </a:prstGeom>
          <a:noFill/>
          <a:ln w="0">
            <a:noFill/>
          </a:ln>
        </p:spPr>
        <p:style>
          <a:lnRef idx="0"/>
          <a:fillRef idx="0"/>
          <a:effectRef idx="0"/>
          <a:fontRef idx="minor"/>
        </p:style>
        <p:txBody>
          <a:bodyPr lIns="90000" rIns="90000" tIns="45000" bIns="45000" anchor="t">
            <a:spAutoFit/>
          </a:bodyPr>
          <a:p>
            <a:pPr marL="216000" indent="-216000">
              <a:lnSpc>
                <a:spcPct val="100000"/>
              </a:lnSpc>
              <a:buClr>
                <a:srgbClr val="000000"/>
              </a:buClr>
              <a:buSzPct val="45000"/>
              <a:buFont typeface="Wingdings" charset="2"/>
              <a:buChar char=""/>
            </a:pPr>
            <a:r>
              <a:rPr b="0" lang="en-US" sz="1200" strike="noStrike" u="none">
                <a:solidFill>
                  <a:srgbClr val="000000"/>
                </a:solidFill>
                <a:effectLst/>
                <a:uFillTx/>
                <a:latin typeface="Arial"/>
                <a:ea typeface="DejaVu Sans"/>
              </a:rPr>
              <a:t>Bees-warm plot showing how each metabolite influences the model’s output across all samples.</a:t>
            </a:r>
            <a:endParaRPr b="0" lang="en-US" sz="1200" strike="noStrike" u="none">
              <a:solidFill>
                <a:srgbClr val="000000"/>
              </a:solidFill>
              <a:effectLst/>
              <a:uFillTx/>
              <a:latin typeface="Arial"/>
            </a:endParaRPr>
          </a:p>
          <a:p>
            <a:pPr marL="216000" indent="-216000">
              <a:lnSpc>
                <a:spcPct val="100000"/>
              </a:lnSpc>
              <a:spcBef>
                <a:spcPts val="1191"/>
              </a:spcBef>
              <a:spcAft>
                <a:spcPts val="992"/>
              </a:spcAft>
              <a:buClr>
                <a:srgbClr val="000000"/>
              </a:buClr>
              <a:buSzPct val="45000"/>
              <a:buFont typeface="Wingdings" charset="2"/>
              <a:buChar char=""/>
            </a:pPr>
            <a:r>
              <a:rPr b="0" lang="en-US" sz="1200" strike="noStrike" u="none">
                <a:solidFill>
                  <a:srgbClr val="000000"/>
                </a:solidFill>
                <a:effectLst/>
                <a:uFillTx/>
                <a:latin typeface="Arial"/>
                <a:ea typeface="DejaVu Sans"/>
              </a:rPr>
              <a:t>Several TAG species cluster around positive SHAP values.</a:t>
            </a:r>
            <a:endParaRPr b="0" lang="en-US" sz="1200" strike="noStrike" u="none">
              <a:solidFill>
                <a:srgbClr val="000000"/>
              </a:solidFill>
              <a:effectLst/>
              <a:uFillTx/>
              <a:latin typeface="Arial"/>
            </a:endParaRPr>
          </a:p>
          <a:p>
            <a:pPr marL="216000" indent="-216000">
              <a:lnSpc>
                <a:spcPct val="100000"/>
              </a:lnSpc>
              <a:spcBef>
                <a:spcPts val="1191"/>
              </a:spcBef>
              <a:spcAft>
                <a:spcPts val="992"/>
              </a:spcAft>
              <a:buClr>
                <a:srgbClr val="000000"/>
              </a:buClr>
              <a:buSzPct val="45000"/>
              <a:buFont typeface="Wingdings" charset="2"/>
              <a:buChar char=""/>
            </a:pPr>
            <a:r>
              <a:rPr b="0" lang="en-US" sz="1200" strike="noStrike" u="none">
                <a:solidFill>
                  <a:srgbClr val="000000"/>
                </a:solidFill>
                <a:effectLst/>
                <a:uFillTx/>
                <a:latin typeface="Arial"/>
                <a:ea typeface="DejaVu Sans"/>
              </a:rPr>
              <a:t>Some PC species show both positive and negative SHAP contributions, indicating mixed or context-dependent effects. </a:t>
            </a:r>
            <a:endParaRPr b="0" lang="en-US" sz="1200" strike="noStrike" u="none">
              <a:solidFill>
                <a:srgbClr val="000000"/>
              </a:solidFill>
              <a:effectLst/>
              <a:uFillTx/>
              <a:latin typeface="Arial"/>
            </a:endParaRPr>
          </a:p>
          <a:p>
            <a:pPr marL="216000" indent="-216000">
              <a:lnSpc>
                <a:spcPct val="100000"/>
              </a:lnSpc>
              <a:spcBef>
                <a:spcPts val="1191"/>
              </a:spcBef>
              <a:spcAft>
                <a:spcPts val="992"/>
              </a:spcAft>
              <a:buClr>
                <a:srgbClr val="000000"/>
              </a:buClr>
              <a:buSzPct val="45000"/>
              <a:buFont typeface="Wingdings" charset="2"/>
              <a:buChar char=""/>
            </a:pPr>
            <a:r>
              <a:rPr b="0" lang="en-US" sz="1200" strike="noStrike" u="none">
                <a:solidFill>
                  <a:srgbClr val="000000"/>
                </a:solidFill>
                <a:effectLst/>
                <a:uFillTx/>
                <a:latin typeface="Arial"/>
                <a:ea typeface="DejaVu Sans"/>
              </a:rPr>
              <a:t>PA species often have negative SHAP values.</a:t>
            </a:r>
            <a:endParaRPr b="0" lang="en-US" sz="1200" strike="noStrike" u="none">
              <a:solidFill>
                <a:srgbClr val="000000"/>
              </a:solidFill>
              <a:effectLst/>
              <a:uFillTx/>
              <a:latin typeface="Arial"/>
            </a:endParaRPr>
          </a:p>
          <a:p>
            <a:pPr marL="216000" indent="-216000">
              <a:lnSpc>
                <a:spcPct val="100000"/>
              </a:lnSpc>
              <a:spcBef>
                <a:spcPts val="1191"/>
              </a:spcBef>
              <a:spcAft>
                <a:spcPts val="992"/>
              </a:spcAft>
              <a:buClr>
                <a:srgbClr val="000000"/>
              </a:buClr>
              <a:buSzPct val="45000"/>
              <a:buFont typeface="Wingdings" charset="2"/>
              <a:buChar char=""/>
            </a:pPr>
            <a:r>
              <a:rPr b="0" lang="en-US" sz="1200" strike="noStrike" u="none">
                <a:solidFill>
                  <a:srgbClr val="000000"/>
                </a:solidFill>
                <a:effectLst/>
                <a:uFillTx/>
                <a:latin typeface="Arial"/>
                <a:ea typeface="DejaVu Sans"/>
              </a:rPr>
              <a:t>Organic acids (Fumaric acid, Galactaric acid) generally produce negative SHAP values, meaning higher levels reduce T2DM probability in the model. </a:t>
            </a:r>
            <a:endParaRPr b="0" lang="en-US" sz="1200" strike="noStrike" u="none">
              <a:solidFill>
                <a:srgbClr val="000000"/>
              </a:solidFill>
              <a:effectLst/>
              <a:uFillTx/>
              <a:latin typeface="Arial"/>
            </a:endParaRPr>
          </a:p>
          <a:p>
            <a:pPr marL="216000" indent="-216000">
              <a:lnSpc>
                <a:spcPct val="100000"/>
              </a:lnSpc>
              <a:spcBef>
                <a:spcPts val="1191"/>
              </a:spcBef>
              <a:spcAft>
                <a:spcPts val="992"/>
              </a:spcAft>
              <a:buClr>
                <a:srgbClr val="000000"/>
              </a:buClr>
              <a:buSzPct val="45000"/>
              <a:buFont typeface="Wingdings" charset="2"/>
              <a:buChar char=""/>
            </a:pPr>
            <a:r>
              <a:rPr b="0" lang="en-US" sz="1200" strike="noStrike" u="none">
                <a:solidFill>
                  <a:srgbClr val="000000"/>
                </a:solidFill>
                <a:effectLst/>
                <a:uFillTx/>
                <a:latin typeface="Arial"/>
                <a:ea typeface="DejaVu Sans"/>
              </a:rPr>
              <a:t>The free fatty acid (FFA (20:4)-5/12-OH) has very large spread.</a:t>
            </a:r>
            <a:endParaRPr b="0" lang="en-US" sz="1200" strike="noStrike" u="none">
              <a:solidFill>
                <a:srgbClr val="000000"/>
              </a:solidFill>
              <a:effectLst/>
              <a:uFillTx/>
              <a:latin typeface="Arial"/>
            </a:endParaRPr>
          </a:p>
        </p:txBody>
      </p:sp>
      <p:sp>
        <p:nvSpPr>
          <p:cNvPr id="3" name="PlaceHolder 2"/>
          <p:cNvSpPr>
            <a:spLocks noGrp="1"/>
          </p:cNvSpPr>
          <p:nvPr>
            <p:ph type="sldNum" idx="11"/>
          </p:nvPr>
        </p:nvSpPr>
        <p:spPr/>
        <p:txBody>
          <a:bodyPr/>
          <a:p>
            <a:fld id="{46235B23-821A-459B-8C7D-B864A6546253}" type="slidenum">
              <a:t>47</a:t>
            </a:fld>
          </a:p>
        </p:txBody>
      </p:sp>
    </p:spTree>
  </p:cSld>
  <mc:AlternateContent>
    <mc:Choice Requires="p14">
      <p:transition spd="slow" p14:dur="2000"/>
    </mc:Choice>
    <mc:Fallback>
      <p:transition spd="slow"/>
    </mc:Fallback>
  </mc:AlternateContent>
</p:sld>
</file>

<file path=ppt/slides/slide4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2" name="PlaceHolder 1"/>
          <p:cNvSpPr>
            <a:spLocks noGrp="1"/>
          </p:cNvSpPr>
          <p:nvPr>
            <p:ph type="title"/>
          </p:nvPr>
        </p:nvSpPr>
        <p:spPr>
          <a:xfrm>
            <a:off x="360000" y="195840"/>
            <a:ext cx="9342720" cy="428760"/>
          </a:xfrm>
          <a:prstGeom prst="rect">
            <a:avLst/>
          </a:prstGeom>
          <a:noFill/>
          <a:ln w="0">
            <a:noFill/>
          </a:ln>
        </p:spPr>
        <p:txBody>
          <a:bodyPr lIns="0" rIns="0" tIns="0" bIns="0" anchor="ctr">
            <a:spAutoFit/>
          </a:bodyPr>
          <a:p>
            <a:pPr indent="0" algn="ctr">
              <a:lnSpc>
                <a:spcPct val="100000"/>
              </a:lnSpc>
              <a:buNone/>
              <a:tabLst>
                <a:tab algn="l" pos="0"/>
              </a:tabLst>
            </a:pPr>
            <a:r>
              <a:rPr b="0" lang="en-US" sz="3000" strike="noStrike" u="none">
                <a:solidFill>
                  <a:srgbClr val="ffffff"/>
                </a:solidFill>
                <a:effectLst/>
                <a:uFillTx/>
                <a:latin typeface="Arial"/>
              </a:rPr>
              <a:t>Elastic Net: Difference Between Groups</a:t>
            </a:r>
            <a:endParaRPr b="0" lang="en-US" sz="3000" strike="noStrike" u="none">
              <a:solidFill>
                <a:srgbClr val="000000"/>
              </a:solidFill>
              <a:effectLst/>
              <a:uFillTx/>
              <a:latin typeface="Arial"/>
            </a:endParaRPr>
          </a:p>
        </p:txBody>
      </p:sp>
      <p:sp>
        <p:nvSpPr>
          <p:cNvPr id="223" name="PlaceHolder 2"/>
          <p:cNvSpPr>
            <a:spLocks noGrp="1"/>
          </p:cNvSpPr>
          <p:nvPr>
            <p:ph/>
          </p:nvPr>
        </p:nvSpPr>
        <p:spPr>
          <a:xfrm>
            <a:off x="360000" y="1080000"/>
            <a:ext cx="9342720" cy="358272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b="0" lang="en-US" sz="2500" strike="noStrike" u="none">
                <a:solidFill>
                  <a:srgbClr val="000000"/>
                </a:solidFill>
                <a:effectLst/>
                <a:uFillTx/>
                <a:latin typeface="Arial"/>
                <a:ea typeface="DejaVu Sans"/>
              </a:rPr>
              <a:t>H</a:t>
            </a:r>
            <a:r>
              <a:rPr b="0" lang="en-US" sz="2500" strike="noStrike" u="none" baseline="-8000">
                <a:solidFill>
                  <a:srgbClr val="000000"/>
                </a:solidFill>
                <a:effectLst/>
                <a:uFillTx/>
                <a:latin typeface="Arial"/>
                <a:ea typeface="DejaVu Sans"/>
              </a:rPr>
              <a:t>0</a:t>
            </a:r>
            <a:r>
              <a:rPr b="0" lang="en-US" sz="2500" strike="noStrike" u="none">
                <a:solidFill>
                  <a:srgbClr val="000000"/>
                </a:solidFill>
                <a:effectLst/>
                <a:uFillTx/>
                <a:latin typeface="Arial"/>
                <a:ea typeface="DejaVu Sans"/>
              </a:rPr>
              <a:t>: no difference in SHAP values between Healthy and Type 2 diabetic subjects </a:t>
            </a:r>
            <a:br>
              <a:rPr sz="2500"/>
            </a:br>
            <a:r>
              <a:rPr b="0" lang="en-US" sz="2500" strike="noStrike" u="none">
                <a:solidFill>
                  <a:srgbClr val="000000"/>
                </a:solidFill>
                <a:effectLst/>
                <a:uFillTx/>
                <a:latin typeface="Arial"/>
                <a:ea typeface="DejaVu Sans"/>
              </a:rPr>
              <a:t>H</a:t>
            </a:r>
            <a:r>
              <a:rPr b="0" lang="en-US" sz="2500" strike="noStrike" u="none" baseline="-8000">
                <a:solidFill>
                  <a:srgbClr val="000000"/>
                </a:solidFill>
                <a:effectLst/>
                <a:uFillTx/>
                <a:latin typeface="Arial"/>
                <a:ea typeface="DejaVu Sans"/>
              </a:rPr>
              <a:t>A</a:t>
            </a:r>
            <a:r>
              <a:rPr b="0" lang="en-US" sz="2500" strike="noStrike" u="none">
                <a:solidFill>
                  <a:srgbClr val="000000"/>
                </a:solidFill>
                <a:effectLst/>
                <a:uFillTx/>
                <a:latin typeface="Arial"/>
                <a:ea typeface="DejaVu Sans"/>
              </a:rPr>
              <a:t>: difference in SHAP values between Healthy and Type 2 diabetic subjects</a:t>
            </a:r>
            <a:endParaRPr b="0" lang="en-US" sz="2500" strike="noStrike" u="none">
              <a:solidFill>
                <a:srgbClr val="000000"/>
              </a:solidFill>
              <a:effectLst/>
              <a:uFillTx/>
              <a:latin typeface="Arial"/>
            </a:endParaRPr>
          </a:p>
          <a:p>
            <a:pPr marL="432000" indent="-324000">
              <a:lnSpc>
                <a:spcPct val="100000"/>
              </a:lnSpc>
              <a:spcBef>
                <a:spcPts val="1417"/>
              </a:spcBef>
              <a:buClr>
                <a:srgbClr val="000000"/>
              </a:buClr>
              <a:buSzPct val="45000"/>
              <a:buFont typeface="Wingdings" charset="2"/>
              <a:buChar char=""/>
            </a:pPr>
            <a:r>
              <a:rPr b="0" lang="en-US" sz="2500" strike="noStrike" u="none">
                <a:solidFill>
                  <a:srgbClr val="000000"/>
                </a:solidFill>
                <a:effectLst/>
                <a:uFillTx/>
                <a:latin typeface="Arial"/>
                <a:ea typeface="DejaVu Sans"/>
              </a:rPr>
              <a:t>p-value &lt; 2.2x10</a:t>
            </a:r>
            <a:r>
              <a:rPr b="0" lang="en-US" sz="2500" strike="noStrike" u="none" baseline="33000">
                <a:solidFill>
                  <a:srgbClr val="000000"/>
                </a:solidFill>
                <a:effectLst/>
                <a:uFillTx/>
                <a:latin typeface="Arial"/>
                <a:ea typeface="DejaVu Sans"/>
              </a:rPr>
              <a:t>-16</a:t>
            </a:r>
            <a:r>
              <a:rPr b="0" lang="en-US" sz="2500" strike="noStrike" u="none">
                <a:solidFill>
                  <a:srgbClr val="000000"/>
                </a:solidFill>
                <a:effectLst/>
                <a:uFillTx/>
                <a:latin typeface="Arial"/>
                <a:ea typeface="DejaVu Sans"/>
              </a:rPr>
              <a:t>, i.e., there is a highly significant difference in SHAP values between Healthy and Type 2 diabetic subjects</a:t>
            </a:r>
            <a:endParaRPr b="0" lang="en-US" sz="2500" strike="noStrike" u="none">
              <a:solidFill>
                <a:srgbClr val="000000"/>
              </a:solidFill>
              <a:effectLst/>
              <a:uFillTx/>
              <a:latin typeface="Arial"/>
            </a:endParaRPr>
          </a:p>
        </p:txBody>
      </p:sp>
      <p:sp>
        <p:nvSpPr>
          <p:cNvPr id="4" name="PlaceHolder 3"/>
          <p:cNvSpPr>
            <a:spLocks noGrp="1"/>
          </p:cNvSpPr>
          <p:nvPr>
            <p:ph type="sldNum" idx="11"/>
          </p:nvPr>
        </p:nvSpPr>
        <p:spPr/>
        <p:txBody>
          <a:bodyPr/>
          <a:p>
            <a:fld id="{D2E9B390-BD37-41C3-B4A7-94E69B5774FF}" type="slidenum">
              <a:t>48</a:t>
            </a:fld>
          </a:p>
        </p:txBody>
      </p:sp>
    </p:spTree>
  </p:cSld>
  <mc:AlternateContent>
    <mc:Choice Requires="p14">
      <p:transition spd="slow" p14:dur="2000"/>
    </mc:Choice>
    <mc:Fallback>
      <p:transition spd="slow"/>
    </mc:Fallback>
  </mc:AlternateContent>
</p:sld>
</file>

<file path=ppt/slides/slide4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4" name="PlaceHolder 1"/>
          <p:cNvSpPr>
            <a:spLocks noGrp="1"/>
          </p:cNvSpPr>
          <p:nvPr>
            <p:ph type="title"/>
          </p:nvPr>
        </p:nvSpPr>
        <p:spPr>
          <a:xfrm>
            <a:off x="360000" y="181080"/>
            <a:ext cx="9342720" cy="458280"/>
          </a:xfrm>
          <a:prstGeom prst="rect">
            <a:avLst/>
          </a:prstGeom>
          <a:noFill/>
          <a:ln w="0">
            <a:noFill/>
          </a:ln>
        </p:spPr>
        <p:txBody>
          <a:bodyPr lIns="0" rIns="0" tIns="0" bIns="0" anchor="ctr">
            <a:spAutoFit/>
          </a:bodyPr>
          <a:p>
            <a:pPr indent="0" algn="ctr">
              <a:lnSpc>
                <a:spcPct val="100000"/>
              </a:lnSpc>
              <a:buNone/>
              <a:tabLst>
                <a:tab algn="l" pos="0"/>
              </a:tabLst>
            </a:pPr>
            <a:r>
              <a:rPr b="0" lang="en-US" sz="3000" strike="noStrike" u="none">
                <a:solidFill>
                  <a:srgbClr val="ffffff"/>
                </a:solidFill>
                <a:effectLst/>
                <a:uFillTx/>
                <a:latin typeface="Arial"/>
              </a:rPr>
              <a:t>Elastic Net: Mean(|SHAP|)</a:t>
            </a:r>
            <a:endParaRPr b="0" lang="en-US" sz="3000" strike="noStrike" u="none">
              <a:solidFill>
                <a:srgbClr val="000000"/>
              </a:solidFill>
              <a:effectLst/>
              <a:uFillTx/>
              <a:latin typeface="Arial"/>
            </a:endParaRPr>
          </a:p>
        </p:txBody>
      </p:sp>
      <p:pic>
        <p:nvPicPr>
          <p:cNvPr id="225" name="" descr=""/>
          <p:cNvPicPr/>
          <p:nvPr/>
        </p:nvPicPr>
        <p:blipFill>
          <a:blip r:embed="rId1"/>
          <a:stretch/>
        </p:blipFill>
        <p:spPr>
          <a:xfrm>
            <a:off x="0" y="914400"/>
            <a:ext cx="6168960" cy="4752720"/>
          </a:xfrm>
          <a:prstGeom prst="rect">
            <a:avLst/>
          </a:prstGeom>
          <a:noFill/>
          <a:ln w="0">
            <a:noFill/>
          </a:ln>
        </p:spPr>
      </p:pic>
      <p:sp>
        <p:nvSpPr>
          <p:cNvPr id="226" name=""/>
          <p:cNvSpPr/>
          <p:nvPr/>
        </p:nvSpPr>
        <p:spPr>
          <a:xfrm>
            <a:off x="6172200" y="827280"/>
            <a:ext cx="3828600" cy="4181400"/>
          </a:xfrm>
          <a:prstGeom prst="rect">
            <a:avLst/>
          </a:prstGeom>
          <a:noFill/>
          <a:ln w="0">
            <a:noFill/>
          </a:ln>
        </p:spPr>
        <p:style>
          <a:lnRef idx="0"/>
          <a:fillRef idx="0"/>
          <a:effectRef idx="0"/>
          <a:fontRef idx="minor"/>
        </p:style>
        <p:txBody>
          <a:bodyPr lIns="90000" rIns="90000" tIns="45000" bIns="45000" anchor="t">
            <a:spAutoFit/>
          </a:bodyPr>
          <a:p>
            <a:pPr marL="216000" indent="-216000">
              <a:lnSpc>
                <a:spcPct val="100000"/>
              </a:lnSpc>
              <a:buClr>
                <a:srgbClr val="000000"/>
              </a:buClr>
              <a:buSzPct val="45000"/>
              <a:buFont typeface="Wingdings" charset="2"/>
              <a:buChar char=""/>
            </a:pPr>
            <a:r>
              <a:rPr b="0" lang="en-US" sz="1200" strike="noStrike" u="none">
                <a:solidFill>
                  <a:srgbClr val="000000"/>
                </a:solidFill>
                <a:effectLst/>
                <a:uFillTx/>
                <a:latin typeface="Arial"/>
                <a:ea typeface="DejaVu Sans"/>
              </a:rPr>
              <a:t>Bar plot showing the average absolute SHAP value for each metabolite, i.e., its overall importance in the predictive model, regardless of whether its effect increases or decreases the predicted probability. </a:t>
            </a:r>
            <a:endParaRPr b="0" lang="en-US" sz="1200" strike="noStrike" u="none">
              <a:solidFill>
                <a:srgbClr val="000000"/>
              </a:solidFill>
              <a:effectLst/>
              <a:uFillTx/>
              <a:latin typeface="Arial"/>
            </a:endParaRPr>
          </a:p>
          <a:p>
            <a:pPr>
              <a:lnSpc>
                <a:spcPct val="100000"/>
              </a:lnSpc>
            </a:pPr>
            <a:endParaRPr b="0" lang="en-US" sz="1200" strike="noStrike" u="none">
              <a:solidFill>
                <a:srgbClr val="000000"/>
              </a:solidFill>
              <a:effectLst/>
              <a:uFillTx/>
              <a:latin typeface="Arial"/>
            </a:endParaRPr>
          </a:p>
          <a:p>
            <a:pPr marL="216000" indent="-216000">
              <a:lnSpc>
                <a:spcPct val="100000"/>
              </a:lnSpc>
              <a:spcBef>
                <a:spcPts val="1191"/>
              </a:spcBef>
              <a:spcAft>
                <a:spcPts val="992"/>
              </a:spcAft>
              <a:buClr>
                <a:srgbClr val="000000"/>
              </a:buClr>
              <a:buSzPct val="45000"/>
              <a:buFont typeface="Wingdings" charset="2"/>
              <a:buChar char=""/>
            </a:pPr>
            <a:r>
              <a:rPr b="0" lang="en-US" sz="1200" strike="noStrike" u="none">
                <a:solidFill>
                  <a:srgbClr val="000000"/>
                </a:solidFill>
                <a:effectLst/>
                <a:uFillTx/>
                <a:latin typeface="Arial"/>
                <a:ea typeface="DejaVu Sans"/>
              </a:rPr>
              <a:t>The fatty acid (FFA (20:4)-5/12-OH) is the single strongest predictor, with the highest Mean(|SHAP|).</a:t>
            </a:r>
            <a:endParaRPr b="0" lang="en-US" sz="1200" strike="noStrike" u="none">
              <a:solidFill>
                <a:srgbClr val="000000"/>
              </a:solidFill>
              <a:effectLst/>
              <a:uFillTx/>
              <a:latin typeface="Arial"/>
            </a:endParaRPr>
          </a:p>
          <a:p>
            <a:pPr marL="216000" indent="-216000">
              <a:lnSpc>
                <a:spcPct val="100000"/>
              </a:lnSpc>
              <a:spcBef>
                <a:spcPts val="1191"/>
              </a:spcBef>
              <a:spcAft>
                <a:spcPts val="992"/>
              </a:spcAft>
              <a:buClr>
                <a:srgbClr val="000000"/>
              </a:buClr>
              <a:buSzPct val="45000"/>
              <a:buFont typeface="Wingdings" charset="2"/>
              <a:buChar char=""/>
            </a:pPr>
            <a:r>
              <a:rPr b="0" lang="en-US" sz="1200" strike="noStrike" u="none">
                <a:solidFill>
                  <a:srgbClr val="000000"/>
                </a:solidFill>
                <a:effectLst/>
                <a:uFillTx/>
                <a:latin typeface="Arial"/>
                <a:ea typeface="DejaVu Sans"/>
              </a:rPr>
              <a:t>Multiple TAG species (e.g., TAG 54:5-18:2, TAG 52:4-18:2)  also show high SHAP influence, consistent with known lipid changes in T2DM. </a:t>
            </a:r>
            <a:endParaRPr b="0" lang="en-US" sz="1200" strike="noStrike" u="none">
              <a:solidFill>
                <a:srgbClr val="000000"/>
              </a:solidFill>
              <a:effectLst/>
              <a:uFillTx/>
              <a:latin typeface="Arial"/>
            </a:endParaRPr>
          </a:p>
          <a:p>
            <a:pPr marL="216000" indent="-216000">
              <a:lnSpc>
                <a:spcPct val="100000"/>
              </a:lnSpc>
              <a:spcBef>
                <a:spcPts val="1191"/>
              </a:spcBef>
              <a:spcAft>
                <a:spcPts val="992"/>
              </a:spcAft>
              <a:buClr>
                <a:srgbClr val="000000"/>
              </a:buClr>
              <a:buSzPct val="45000"/>
              <a:buFont typeface="Wingdings" charset="2"/>
              <a:buChar char=""/>
            </a:pPr>
            <a:r>
              <a:rPr b="0" lang="en-US" sz="1200" strike="noStrike" u="none">
                <a:solidFill>
                  <a:srgbClr val="000000"/>
                </a:solidFill>
                <a:effectLst/>
                <a:uFillTx/>
                <a:latin typeface="Arial"/>
                <a:ea typeface="DejaVu Sans"/>
              </a:rPr>
              <a:t>Phosphatidylcholines (PC 36:1-2, PC 38:3, PC 40:5) show intermediate importance.</a:t>
            </a:r>
            <a:endParaRPr b="0" lang="en-US" sz="1200" strike="noStrike" u="none">
              <a:solidFill>
                <a:srgbClr val="000000"/>
              </a:solidFill>
              <a:effectLst/>
              <a:uFillTx/>
              <a:latin typeface="Arial"/>
            </a:endParaRPr>
          </a:p>
          <a:p>
            <a:pPr marL="216000" indent="-216000">
              <a:lnSpc>
                <a:spcPct val="100000"/>
              </a:lnSpc>
              <a:spcBef>
                <a:spcPts val="1191"/>
              </a:spcBef>
              <a:spcAft>
                <a:spcPts val="992"/>
              </a:spcAft>
              <a:buClr>
                <a:srgbClr val="000000"/>
              </a:buClr>
              <a:buSzPct val="45000"/>
              <a:buFont typeface="Wingdings" charset="2"/>
              <a:buChar char=""/>
            </a:pPr>
            <a:r>
              <a:rPr b="0" lang="en-US" sz="1200" strike="noStrike" u="none">
                <a:solidFill>
                  <a:srgbClr val="000000"/>
                </a:solidFill>
                <a:effectLst/>
                <a:uFillTx/>
                <a:latin typeface="Arial"/>
                <a:ea typeface="DejaVu Sans"/>
              </a:rPr>
              <a:t>Organic acids (Fumaric acid, Galactaric acid) appear among the top 20 predictors, though with smaller SHAP values.</a:t>
            </a:r>
            <a:endParaRPr b="0" lang="en-US" sz="1200" strike="noStrike" u="none">
              <a:solidFill>
                <a:srgbClr val="000000"/>
              </a:solidFill>
              <a:effectLst/>
              <a:uFillTx/>
              <a:latin typeface="Arial"/>
            </a:endParaRPr>
          </a:p>
        </p:txBody>
      </p:sp>
      <p:sp>
        <p:nvSpPr>
          <p:cNvPr id="3" name="PlaceHolder 2"/>
          <p:cNvSpPr>
            <a:spLocks noGrp="1"/>
          </p:cNvSpPr>
          <p:nvPr>
            <p:ph type="sldNum" idx="11"/>
          </p:nvPr>
        </p:nvSpPr>
        <p:spPr/>
        <p:txBody>
          <a:bodyPr/>
          <a:p>
            <a:fld id="{2AED4656-5385-4654-AAD6-BA5AB826A5EA}" type="slidenum">
              <a:t>49</a:t>
            </a:fld>
          </a:p>
        </p:txBody>
      </p:sp>
    </p:spTree>
  </p:cSld>
  <mc:AlternateContent>
    <mc:Choice Requires="p14">
      <p:transition spd="slow" p14:dur="2000"/>
    </mc:Choice>
    <mc:Fallback>
      <p:transition spd="slow"/>
    </mc:Fallback>
  </mc:AlternateContent>
</p:sld>
</file>

<file path=ppt/slides/slide5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7" name="PlaceHolder 1"/>
          <p:cNvSpPr>
            <a:spLocks noGrp="1"/>
          </p:cNvSpPr>
          <p:nvPr>
            <p:ph type="title"/>
          </p:nvPr>
        </p:nvSpPr>
        <p:spPr>
          <a:xfrm>
            <a:off x="360000" y="195840"/>
            <a:ext cx="9342720" cy="428760"/>
          </a:xfrm>
          <a:prstGeom prst="rect">
            <a:avLst/>
          </a:prstGeom>
          <a:noFill/>
          <a:ln w="0">
            <a:noFill/>
          </a:ln>
        </p:spPr>
        <p:txBody>
          <a:bodyPr lIns="0" rIns="0" tIns="0" bIns="0" anchor="ctr">
            <a:spAutoFit/>
          </a:bodyPr>
          <a:p>
            <a:pPr indent="0" algn="ctr">
              <a:lnSpc>
                <a:spcPct val="100000"/>
              </a:lnSpc>
              <a:buNone/>
              <a:tabLst>
                <a:tab algn="l" pos="0"/>
              </a:tabLst>
            </a:pPr>
            <a:r>
              <a:rPr b="0" lang="en-US" sz="3000" strike="noStrike" u="none">
                <a:solidFill>
                  <a:srgbClr val="ffffff"/>
                </a:solidFill>
                <a:effectLst/>
                <a:uFillTx/>
                <a:latin typeface="Arial"/>
              </a:rPr>
              <a:t>Elastic Net: Mean(|SHAP|) per Metabolite</a:t>
            </a:r>
            <a:endParaRPr b="0" lang="en-US" sz="3000" strike="noStrike" u="none">
              <a:solidFill>
                <a:srgbClr val="000000"/>
              </a:solidFill>
              <a:effectLst/>
              <a:uFillTx/>
              <a:latin typeface="Arial"/>
            </a:endParaRPr>
          </a:p>
        </p:txBody>
      </p:sp>
      <p:pic>
        <p:nvPicPr>
          <p:cNvPr id="228" name="" descr=""/>
          <p:cNvPicPr/>
          <p:nvPr/>
        </p:nvPicPr>
        <p:blipFill>
          <a:blip r:embed="rId1"/>
          <a:stretch/>
        </p:blipFill>
        <p:spPr>
          <a:xfrm>
            <a:off x="0" y="914400"/>
            <a:ext cx="5940360" cy="4752720"/>
          </a:xfrm>
          <a:prstGeom prst="rect">
            <a:avLst/>
          </a:prstGeom>
          <a:noFill/>
          <a:ln w="0">
            <a:noFill/>
          </a:ln>
        </p:spPr>
      </p:pic>
      <p:sp>
        <p:nvSpPr>
          <p:cNvPr id="229" name=""/>
          <p:cNvSpPr/>
          <p:nvPr/>
        </p:nvSpPr>
        <p:spPr>
          <a:xfrm>
            <a:off x="5872320" y="914400"/>
            <a:ext cx="3954240" cy="4219200"/>
          </a:xfrm>
          <a:prstGeom prst="rect">
            <a:avLst/>
          </a:prstGeom>
          <a:noFill/>
          <a:ln w="0">
            <a:noFill/>
          </a:ln>
        </p:spPr>
        <p:style>
          <a:lnRef idx="0"/>
          <a:fillRef idx="0"/>
          <a:effectRef idx="0"/>
          <a:fontRef idx="minor"/>
        </p:style>
        <p:txBody>
          <a:bodyPr lIns="90000" rIns="90000" tIns="45000" bIns="45000" anchor="t">
            <a:spAutoFit/>
          </a:bodyPr>
          <a:p>
            <a:pPr marL="216000" indent="-216000">
              <a:lnSpc>
                <a:spcPct val="100000"/>
              </a:lnSpc>
              <a:buClr>
                <a:srgbClr val="000000"/>
              </a:buClr>
              <a:buSzPct val="45000"/>
              <a:buFont typeface="Wingdings" charset="2"/>
              <a:buChar char=""/>
            </a:pPr>
            <a:r>
              <a:rPr b="0" lang="en-US" sz="1200" strike="noStrike" u="none">
                <a:solidFill>
                  <a:srgbClr val="000000"/>
                </a:solidFill>
                <a:effectLst/>
                <a:uFillTx/>
                <a:latin typeface="Arial"/>
                <a:ea typeface="DejaVu Sans"/>
              </a:rPr>
              <a:t>Heatmap showing the top 20 metabolites ranked by mean absolute SHAP values, with each metabolite’s z-score abundance displayed across individual samples.</a:t>
            </a:r>
            <a:endParaRPr b="0" lang="en-US" sz="1200" strike="noStrike" u="none">
              <a:solidFill>
                <a:srgbClr val="000000"/>
              </a:solidFill>
              <a:effectLst/>
              <a:uFillTx/>
              <a:latin typeface="Arial"/>
            </a:endParaRPr>
          </a:p>
          <a:p>
            <a:pPr>
              <a:lnSpc>
                <a:spcPct val="100000"/>
              </a:lnSpc>
            </a:pPr>
            <a:endParaRPr b="0" lang="en-US" sz="1200" strike="noStrike" u="none">
              <a:solidFill>
                <a:srgbClr val="000000"/>
              </a:solidFill>
              <a:effectLst/>
              <a:uFillTx/>
              <a:latin typeface="Arial"/>
            </a:endParaRPr>
          </a:p>
          <a:p>
            <a:pPr marL="216000" indent="-216000">
              <a:lnSpc>
                <a:spcPct val="100000"/>
              </a:lnSpc>
              <a:spcBef>
                <a:spcPts val="1191"/>
              </a:spcBef>
              <a:spcAft>
                <a:spcPts val="992"/>
              </a:spcAft>
              <a:buClr>
                <a:srgbClr val="000000"/>
              </a:buClr>
              <a:buSzPct val="45000"/>
              <a:buFont typeface="Wingdings" charset="2"/>
              <a:buChar char=""/>
            </a:pPr>
            <a:r>
              <a:rPr b="0" lang="en-US" sz="1200" strike="noStrike" u="none">
                <a:solidFill>
                  <a:srgbClr val="000000"/>
                </a:solidFill>
                <a:effectLst/>
                <a:uFillTx/>
                <a:latin typeface="Arial"/>
                <a:ea typeface="DejaVu Sans"/>
              </a:rPr>
              <a:t>Many T2DM samples (bottom) show higher levels (red) of TAGs, phosphatidylinositol (PI (14:0/18:2)), phosphatidic acid (PA (20:0/20:4)) and certain PCs.</a:t>
            </a:r>
            <a:endParaRPr b="0" lang="en-US" sz="1200" strike="noStrike" u="none">
              <a:solidFill>
                <a:srgbClr val="000000"/>
              </a:solidFill>
              <a:effectLst/>
              <a:uFillTx/>
              <a:latin typeface="Arial"/>
            </a:endParaRPr>
          </a:p>
          <a:p>
            <a:pPr marL="216000" indent="-216000">
              <a:lnSpc>
                <a:spcPct val="100000"/>
              </a:lnSpc>
              <a:spcBef>
                <a:spcPts val="1191"/>
              </a:spcBef>
              <a:spcAft>
                <a:spcPts val="992"/>
              </a:spcAft>
              <a:buClr>
                <a:srgbClr val="000000"/>
              </a:buClr>
              <a:buSzPct val="45000"/>
              <a:buFont typeface="Wingdings" charset="2"/>
              <a:buChar char=""/>
            </a:pPr>
            <a:r>
              <a:rPr b="0" lang="en-US" sz="1200" strike="noStrike" u="none">
                <a:solidFill>
                  <a:srgbClr val="000000"/>
                </a:solidFill>
                <a:effectLst/>
                <a:uFillTx/>
                <a:latin typeface="Arial"/>
                <a:ea typeface="DejaVu Sans"/>
              </a:rPr>
              <a:t>Organic acids (e.g., Fumaric acid, Galactaric acid) appear more balanced with milder deviations.</a:t>
            </a:r>
            <a:endParaRPr b="0" lang="en-US" sz="1200" strike="noStrike" u="none">
              <a:solidFill>
                <a:srgbClr val="000000"/>
              </a:solidFill>
              <a:effectLst/>
              <a:uFillTx/>
              <a:latin typeface="Arial"/>
            </a:endParaRPr>
          </a:p>
          <a:p>
            <a:pPr marL="216000" indent="-216000">
              <a:lnSpc>
                <a:spcPct val="100000"/>
              </a:lnSpc>
              <a:spcBef>
                <a:spcPts val="1191"/>
              </a:spcBef>
              <a:spcAft>
                <a:spcPts val="992"/>
              </a:spcAft>
              <a:buClr>
                <a:srgbClr val="000000"/>
              </a:buClr>
              <a:buSzPct val="45000"/>
              <a:buFont typeface="Wingdings" charset="2"/>
              <a:buChar char=""/>
            </a:pPr>
            <a:r>
              <a:rPr b="0" lang="en-US" sz="1200" strike="noStrike" u="none">
                <a:solidFill>
                  <a:srgbClr val="000000"/>
                </a:solidFill>
                <a:effectLst/>
                <a:uFillTx/>
                <a:latin typeface="Arial"/>
                <a:ea typeface="DejaVu Sans"/>
              </a:rPr>
              <a:t>The fatty acid (FFA (20:4)-5/12-OH) shows a very strong red/blue pattern across individuals, reinforcing its high SHAP importance.</a:t>
            </a:r>
            <a:endParaRPr b="0" lang="en-US" sz="1200" strike="noStrike" u="none">
              <a:solidFill>
                <a:srgbClr val="000000"/>
              </a:solidFill>
              <a:effectLst/>
              <a:uFillTx/>
              <a:latin typeface="Arial"/>
            </a:endParaRPr>
          </a:p>
          <a:p>
            <a:pPr marL="216000" indent="-216000">
              <a:lnSpc>
                <a:spcPct val="100000"/>
              </a:lnSpc>
              <a:spcBef>
                <a:spcPts val="1191"/>
              </a:spcBef>
              <a:spcAft>
                <a:spcPts val="992"/>
              </a:spcAft>
              <a:buClr>
                <a:srgbClr val="000000"/>
              </a:buClr>
              <a:buSzPct val="45000"/>
              <a:buFont typeface="Wingdings" charset="2"/>
              <a:buChar char=""/>
            </a:pPr>
            <a:r>
              <a:rPr b="0" lang="en-US" sz="1200" strike="noStrike" u="none">
                <a:solidFill>
                  <a:srgbClr val="000000"/>
                </a:solidFill>
                <a:effectLst/>
                <a:uFillTx/>
                <a:latin typeface="Arial"/>
                <a:ea typeface="DejaVu Sans"/>
              </a:rPr>
              <a:t>Valine (amino acid) shows moderate variation, consistent with known alterations in branched-chain amino acid metabolism in metabolic disease.</a:t>
            </a:r>
            <a:endParaRPr b="0" lang="en-US" sz="1200" strike="noStrike" u="none">
              <a:solidFill>
                <a:srgbClr val="000000"/>
              </a:solidFill>
              <a:effectLst/>
              <a:uFillTx/>
              <a:latin typeface="Arial"/>
            </a:endParaRPr>
          </a:p>
          <a:p>
            <a:pPr>
              <a:lnSpc>
                <a:spcPct val="100000"/>
              </a:lnSpc>
              <a:spcBef>
                <a:spcPts val="1191"/>
              </a:spcBef>
              <a:spcAft>
                <a:spcPts val="992"/>
              </a:spcAft>
            </a:pPr>
            <a:endParaRPr b="0" lang="en-US" sz="1000" strike="noStrike" u="none">
              <a:solidFill>
                <a:srgbClr val="000000"/>
              </a:solidFill>
              <a:effectLst/>
              <a:uFillTx/>
              <a:latin typeface="Arial"/>
            </a:endParaRPr>
          </a:p>
        </p:txBody>
      </p:sp>
      <p:sp>
        <p:nvSpPr>
          <p:cNvPr id="3" name="PlaceHolder 2"/>
          <p:cNvSpPr>
            <a:spLocks noGrp="1"/>
          </p:cNvSpPr>
          <p:nvPr>
            <p:ph type="sldNum" idx="11"/>
          </p:nvPr>
        </p:nvSpPr>
        <p:spPr/>
        <p:txBody>
          <a:bodyPr/>
          <a:p>
            <a:fld id="{BE1CB897-1E14-404F-BD2E-798326718850}" type="slidenum">
              <a:t>50</a:t>
            </a:fld>
          </a:p>
        </p:txBody>
      </p:sp>
    </p:spTree>
  </p:cSld>
  <mc:AlternateContent>
    <mc:Choice Requires="p14">
      <p:transition spd="slow" p14:dur="2000"/>
    </mc:Choice>
    <mc:Fallback>
      <p:transition spd="slow"/>
    </mc:Fallback>
  </mc:AlternateContent>
</p:sld>
</file>

<file path=ppt/slides/slide5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0" name="PlaceHolder 1"/>
          <p:cNvSpPr>
            <a:spLocks noGrp="1"/>
          </p:cNvSpPr>
          <p:nvPr>
            <p:ph type="title"/>
          </p:nvPr>
        </p:nvSpPr>
        <p:spPr>
          <a:xfrm>
            <a:off x="360000" y="195840"/>
            <a:ext cx="9342720" cy="428760"/>
          </a:xfrm>
          <a:prstGeom prst="rect">
            <a:avLst/>
          </a:prstGeom>
          <a:noFill/>
          <a:ln w="0">
            <a:noFill/>
          </a:ln>
        </p:spPr>
        <p:txBody>
          <a:bodyPr lIns="0" rIns="0" tIns="0" bIns="0" anchor="ctr">
            <a:spAutoFit/>
          </a:bodyPr>
          <a:p>
            <a:pPr indent="0" algn="ctr">
              <a:lnSpc>
                <a:spcPct val="100000"/>
              </a:lnSpc>
              <a:buNone/>
              <a:tabLst>
                <a:tab algn="l" pos="0"/>
              </a:tabLst>
            </a:pPr>
            <a:r>
              <a:rPr b="0" lang="en-US" sz="3000" strike="noStrike" u="none">
                <a:solidFill>
                  <a:srgbClr val="ffffff"/>
                </a:solidFill>
                <a:effectLst/>
                <a:uFillTx/>
                <a:latin typeface="Arial"/>
              </a:rPr>
              <a:t>Elastic Net: Predicted Probability (P(T2DM))</a:t>
            </a:r>
            <a:endParaRPr b="0" lang="en-US" sz="3000" strike="noStrike" u="none">
              <a:solidFill>
                <a:srgbClr val="000000"/>
              </a:solidFill>
              <a:effectLst/>
              <a:uFillTx/>
              <a:latin typeface="Arial"/>
            </a:endParaRPr>
          </a:p>
        </p:txBody>
      </p:sp>
      <p:pic>
        <p:nvPicPr>
          <p:cNvPr id="231" name="" descr=""/>
          <p:cNvPicPr/>
          <p:nvPr/>
        </p:nvPicPr>
        <p:blipFill>
          <a:blip r:embed="rId1"/>
          <a:stretch/>
        </p:blipFill>
        <p:spPr>
          <a:xfrm>
            <a:off x="0" y="914400"/>
            <a:ext cx="5711760" cy="4748040"/>
          </a:xfrm>
          <a:prstGeom prst="rect">
            <a:avLst/>
          </a:prstGeom>
          <a:noFill/>
          <a:ln w="0">
            <a:noFill/>
          </a:ln>
        </p:spPr>
      </p:pic>
      <p:sp>
        <p:nvSpPr>
          <p:cNvPr id="232" name=""/>
          <p:cNvSpPr/>
          <p:nvPr/>
        </p:nvSpPr>
        <p:spPr>
          <a:xfrm>
            <a:off x="5715000" y="827280"/>
            <a:ext cx="4199760" cy="4205520"/>
          </a:xfrm>
          <a:prstGeom prst="rect">
            <a:avLst/>
          </a:prstGeom>
          <a:noFill/>
          <a:ln w="0">
            <a:noFill/>
          </a:ln>
        </p:spPr>
        <p:style>
          <a:lnRef idx="0"/>
          <a:fillRef idx="0"/>
          <a:effectRef idx="0"/>
          <a:fontRef idx="minor"/>
        </p:style>
        <p:txBody>
          <a:bodyPr lIns="90000" rIns="90000" tIns="45000" bIns="45000" anchor="t">
            <a:spAutoFit/>
          </a:bodyPr>
          <a:p>
            <a:pPr marL="216000" indent="-216000">
              <a:lnSpc>
                <a:spcPct val="100000"/>
              </a:lnSpc>
              <a:buClr>
                <a:srgbClr val="000000"/>
              </a:buClr>
              <a:buSzPct val="45000"/>
              <a:buFont typeface="Wingdings" charset="2"/>
              <a:buChar char=""/>
            </a:pPr>
            <a:r>
              <a:rPr b="0" lang="en-US" sz="1200" strike="noStrike" u="none">
                <a:solidFill>
                  <a:srgbClr val="000000"/>
                </a:solidFill>
                <a:effectLst/>
                <a:uFillTx/>
                <a:latin typeface="Arial"/>
                <a:ea typeface="DejaVu Sans"/>
              </a:rPr>
              <a:t>Waterfall plot</a:t>
            </a:r>
            <a:r>
              <a:rPr b="1" lang="en-US" sz="1200" strike="noStrike" u="none">
                <a:solidFill>
                  <a:srgbClr val="000000"/>
                </a:solidFill>
                <a:effectLst/>
                <a:uFillTx/>
                <a:latin typeface="Arial"/>
                <a:ea typeface="DejaVu Sans"/>
              </a:rPr>
              <a:t> </a:t>
            </a:r>
            <a:r>
              <a:rPr b="0" lang="en-US" sz="1200" strike="noStrike" u="none">
                <a:solidFill>
                  <a:srgbClr val="000000"/>
                </a:solidFill>
                <a:effectLst/>
                <a:uFillTx/>
                <a:latin typeface="Arial"/>
                <a:ea typeface="DejaVu Sans"/>
              </a:rPr>
              <a:t>showing the predicted probability for a single individual (D1), and the contribution of specific metabolites to the final prediction for </a:t>
            </a:r>
            <a:r>
              <a:rPr b="1" i="1" lang="en-US" sz="1200" strike="noStrike" u="none">
                <a:solidFill>
                  <a:srgbClr val="000000"/>
                </a:solidFill>
                <a:effectLst/>
                <a:uFillTx/>
                <a:latin typeface="Arial"/>
                <a:ea typeface="DejaVu Sans"/>
              </a:rPr>
              <a:t>PT2DM</a:t>
            </a:r>
            <a:r>
              <a:rPr b="0" lang="en-US" sz="1200" strike="noStrike" u="none">
                <a:solidFill>
                  <a:srgbClr val="000000"/>
                </a:solidFill>
                <a:effectLst/>
                <a:uFillTx/>
                <a:latin typeface="Arial"/>
                <a:ea typeface="DejaVu Sans"/>
              </a:rPr>
              <a:t> (</a:t>
            </a:r>
            <a:r>
              <a:rPr b="1" i="1" lang="en-US" sz="1200" strike="noStrike" u="none">
                <a:solidFill>
                  <a:srgbClr val="000000"/>
                </a:solidFill>
                <a:effectLst/>
                <a:uFillTx/>
                <a:latin typeface="Arial"/>
                <a:ea typeface="DejaVu Sans"/>
              </a:rPr>
              <a:t>P</a:t>
            </a:r>
            <a:r>
              <a:rPr b="0" lang="en-US" sz="1200" strike="noStrike" u="none">
                <a:solidFill>
                  <a:srgbClr val="000000"/>
                </a:solidFill>
                <a:effectLst/>
                <a:uFillTx/>
                <a:latin typeface="Arial"/>
                <a:ea typeface="DejaVu Sans"/>
              </a:rPr>
              <a:t>robable </a:t>
            </a:r>
            <a:r>
              <a:rPr b="1" i="1" lang="en-US" sz="1200" strike="noStrike" u="none">
                <a:solidFill>
                  <a:srgbClr val="000000"/>
                </a:solidFill>
                <a:effectLst/>
                <a:uFillTx/>
                <a:latin typeface="Arial"/>
                <a:ea typeface="DejaVu Sans"/>
              </a:rPr>
              <a:t>T</a:t>
            </a:r>
            <a:r>
              <a:rPr b="0" lang="en-US" sz="1200" strike="noStrike" u="none">
                <a:solidFill>
                  <a:srgbClr val="000000"/>
                </a:solidFill>
                <a:effectLst/>
                <a:uFillTx/>
                <a:latin typeface="Arial"/>
                <a:ea typeface="DejaVu Sans"/>
              </a:rPr>
              <a:t>ype </a:t>
            </a:r>
            <a:r>
              <a:rPr b="1" i="1" lang="en-US" sz="1200" strike="noStrike" u="none">
                <a:solidFill>
                  <a:srgbClr val="000000"/>
                </a:solidFill>
                <a:effectLst/>
                <a:uFillTx/>
                <a:latin typeface="Arial"/>
                <a:ea typeface="DejaVu Sans"/>
              </a:rPr>
              <a:t>2 D</a:t>
            </a:r>
            <a:r>
              <a:rPr b="0" lang="en-US" sz="1200" strike="noStrike" u="none">
                <a:solidFill>
                  <a:srgbClr val="000000"/>
                </a:solidFill>
                <a:effectLst/>
                <a:uFillTx/>
                <a:latin typeface="Arial"/>
                <a:ea typeface="DejaVu Sans"/>
              </a:rPr>
              <a:t>iabetes </a:t>
            </a:r>
            <a:r>
              <a:rPr b="1" i="1" lang="en-US" sz="1200" strike="noStrike" u="none">
                <a:solidFill>
                  <a:srgbClr val="000000"/>
                </a:solidFill>
                <a:effectLst/>
                <a:uFillTx/>
                <a:latin typeface="Arial"/>
                <a:ea typeface="DejaVu Sans"/>
              </a:rPr>
              <a:t>M</a:t>
            </a:r>
            <a:r>
              <a:rPr b="0" lang="en-US" sz="1200" strike="noStrike" u="none">
                <a:solidFill>
                  <a:srgbClr val="000000"/>
                </a:solidFill>
                <a:effectLst/>
                <a:uFillTx/>
                <a:latin typeface="Arial"/>
                <a:ea typeface="DejaVu Sans"/>
              </a:rPr>
              <a:t>ellitus).</a:t>
            </a:r>
            <a:endParaRPr b="0" lang="en-US" sz="1200" strike="noStrike" u="none">
              <a:solidFill>
                <a:srgbClr val="000000"/>
              </a:solidFill>
              <a:effectLst/>
              <a:uFillTx/>
              <a:latin typeface="Arial"/>
            </a:endParaRPr>
          </a:p>
          <a:p>
            <a:pPr>
              <a:lnSpc>
                <a:spcPct val="100000"/>
              </a:lnSpc>
            </a:pPr>
            <a:endParaRPr b="0" lang="en-US" sz="1200" strike="noStrike" u="none">
              <a:solidFill>
                <a:srgbClr val="000000"/>
              </a:solidFill>
              <a:effectLst/>
              <a:uFillTx/>
              <a:latin typeface="Arial"/>
            </a:endParaRPr>
          </a:p>
          <a:p>
            <a:pPr marL="216000" indent="-216000">
              <a:lnSpc>
                <a:spcPct val="100000"/>
              </a:lnSpc>
              <a:buClr>
                <a:srgbClr val="000000"/>
              </a:buClr>
              <a:buSzPct val="45000"/>
              <a:buFont typeface="Wingdings" charset="2"/>
              <a:buChar char=""/>
            </a:pPr>
            <a:r>
              <a:rPr b="0" lang="en-US" sz="1200" strike="noStrike" u="none">
                <a:solidFill>
                  <a:srgbClr val="000000"/>
                </a:solidFill>
                <a:effectLst/>
                <a:uFillTx/>
                <a:latin typeface="Arial"/>
                <a:ea typeface="DejaVu Sans"/>
              </a:rPr>
              <a:t>The fatty acid (FFA (20:4)-5/12-OH) is the largest positive contributor.</a:t>
            </a:r>
            <a:endParaRPr b="0" lang="en-US" sz="1200" strike="noStrike" u="none">
              <a:solidFill>
                <a:srgbClr val="000000"/>
              </a:solidFill>
              <a:effectLst/>
              <a:uFillTx/>
              <a:latin typeface="Arial"/>
            </a:endParaRPr>
          </a:p>
          <a:p>
            <a:pPr>
              <a:lnSpc>
                <a:spcPct val="100000"/>
              </a:lnSpc>
            </a:pPr>
            <a:endParaRPr b="0" lang="en-US" sz="1200" strike="noStrike" u="none">
              <a:solidFill>
                <a:srgbClr val="000000"/>
              </a:solidFill>
              <a:effectLst/>
              <a:uFillTx/>
              <a:latin typeface="Arial"/>
            </a:endParaRPr>
          </a:p>
          <a:p>
            <a:pPr marL="216000" indent="-216000">
              <a:lnSpc>
                <a:spcPct val="100000"/>
              </a:lnSpc>
              <a:spcBef>
                <a:spcPts val="1191"/>
              </a:spcBef>
              <a:spcAft>
                <a:spcPts val="992"/>
              </a:spcAft>
              <a:buClr>
                <a:srgbClr val="000000"/>
              </a:buClr>
              <a:buSzPct val="45000"/>
              <a:buFont typeface="Wingdings" charset="2"/>
              <a:buChar char=""/>
            </a:pPr>
            <a:r>
              <a:rPr b="0" lang="en-US" sz="1200" strike="noStrike" u="none">
                <a:solidFill>
                  <a:srgbClr val="000000"/>
                </a:solidFill>
                <a:effectLst/>
                <a:uFillTx/>
                <a:latin typeface="Arial"/>
                <a:ea typeface="DejaVu Sans"/>
              </a:rPr>
              <a:t>Phosphatidylcholines (PC (36:1-2), PC(38:3)) and , phosphatidic acids (PA(18:0/20:4), PA(20:0/20:4)) are moderate positive contributors.</a:t>
            </a:r>
            <a:endParaRPr b="0" lang="en-US" sz="1200" strike="noStrike" u="none">
              <a:solidFill>
                <a:srgbClr val="000000"/>
              </a:solidFill>
              <a:effectLst/>
              <a:uFillTx/>
              <a:latin typeface="Arial"/>
            </a:endParaRPr>
          </a:p>
          <a:p>
            <a:pPr marL="216000" indent="-216000">
              <a:lnSpc>
                <a:spcPct val="100000"/>
              </a:lnSpc>
              <a:spcBef>
                <a:spcPts val="1191"/>
              </a:spcBef>
              <a:spcAft>
                <a:spcPts val="992"/>
              </a:spcAft>
              <a:buClr>
                <a:srgbClr val="000000"/>
              </a:buClr>
              <a:buSzPct val="45000"/>
              <a:buFont typeface="Wingdings" charset="2"/>
              <a:buChar char=""/>
            </a:pPr>
            <a:r>
              <a:rPr b="0" lang="en-US" sz="1200" strike="noStrike" u="none">
                <a:solidFill>
                  <a:srgbClr val="000000"/>
                </a:solidFill>
                <a:effectLst/>
                <a:uFillTx/>
                <a:latin typeface="Arial"/>
                <a:ea typeface="DejaVu Sans"/>
              </a:rPr>
              <a:t>Negative contributors are Galactaric acid, Fumaric acid, cholesteryl ester (CE (22:5)) and phosphatidic acid (PA (20:0/18:2)).</a:t>
            </a:r>
            <a:endParaRPr b="0" lang="en-US" sz="1200" strike="noStrike" u="none">
              <a:solidFill>
                <a:srgbClr val="000000"/>
              </a:solidFill>
              <a:effectLst/>
              <a:uFillTx/>
              <a:latin typeface="Arial"/>
            </a:endParaRPr>
          </a:p>
          <a:p>
            <a:pPr marL="216000" indent="-216000">
              <a:lnSpc>
                <a:spcPct val="100000"/>
              </a:lnSpc>
              <a:spcBef>
                <a:spcPts val="1191"/>
              </a:spcBef>
              <a:spcAft>
                <a:spcPts val="992"/>
              </a:spcAft>
              <a:buClr>
                <a:srgbClr val="000000"/>
              </a:buClr>
              <a:buSzPct val="45000"/>
              <a:buFont typeface="Wingdings" charset="2"/>
              <a:buChar char=""/>
            </a:pPr>
            <a:r>
              <a:rPr b="0" lang="en-US" sz="1200" strike="noStrike" u="none">
                <a:solidFill>
                  <a:srgbClr val="000000"/>
                </a:solidFill>
                <a:effectLst/>
                <a:uFillTx/>
                <a:latin typeface="Arial"/>
                <a:ea typeface="DejaVu Sans"/>
              </a:rPr>
              <a:t>The plot shows that the model’s prediction for this individual is shaped primarily by elevated FFAs and TAGs, certain glycerophospholipids (PCs, PAs), organic acids and some lipids where by summing these contributions, the model arrives at the patient’s final predicted risk.</a:t>
            </a:r>
            <a:endParaRPr b="0" lang="en-US" sz="1200" strike="noStrike" u="none">
              <a:solidFill>
                <a:srgbClr val="000000"/>
              </a:solidFill>
              <a:effectLst/>
              <a:uFillTx/>
              <a:latin typeface="Arial"/>
            </a:endParaRPr>
          </a:p>
        </p:txBody>
      </p:sp>
      <p:sp>
        <p:nvSpPr>
          <p:cNvPr id="3" name="PlaceHolder 2"/>
          <p:cNvSpPr>
            <a:spLocks noGrp="1"/>
          </p:cNvSpPr>
          <p:nvPr>
            <p:ph type="sldNum" idx="11"/>
          </p:nvPr>
        </p:nvSpPr>
        <p:spPr/>
        <p:txBody>
          <a:bodyPr/>
          <a:p>
            <a:fld id="{6150E2BE-F960-4C03-ACCE-05CF5986C25C}" type="slidenum">
              <a:t>51</a:t>
            </a:fld>
          </a:p>
        </p:txBody>
      </p:sp>
    </p:spTree>
  </p:cSld>
  <mc:AlternateContent>
    <mc:Choice Requires="p14">
      <p:transition spd="slow" p14:dur="2000"/>
    </mc:Choice>
    <mc:Fallback>
      <p:transition spd="slow"/>
    </mc:Fallback>
  </mc:AlternateContent>
</p:sld>
</file>

<file path=ppt/slides/slide5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3" name="PlaceHolder 1"/>
          <p:cNvSpPr>
            <a:spLocks noGrp="1"/>
          </p:cNvSpPr>
          <p:nvPr>
            <p:ph type="title"/>
          </p:nvPr>
        </p:nvSpPr>
        <p:spPr>
          <a:xfrm>
            <a:off x="360000" y="74880"/>
            <a:ext cx="9342720" cy="671400"/>
          </a:xfrm>
          <a:prstGeom prst="rect">
            <a:avLst/>
          </a:prstGeom>
          <a:noFill/>
          <a:ln w="0">
            <a:noFill/>
          </a:ln>
        </p:spPr>
        <p:txBody>
          <a:bodyPr lIns="0" rIns="0" tIns="0" bIns="0" anchor="ctr">
            <a:spAutoFit/>
          </a:bodyPr>
          <a:p>
            <a:pPr indent="0" algn="ctr">
              <a:lnSpc>
                <a:spcPct val="100000"/>
              </a:lnSpc>
              <a:buNone/>
              <a:tabLst>
                <a:tab algn="l" pos="0"/>
              </a:tabLst>
            </a:pPr>
            <a:r>
              <a:rPr b="0" lang="en-US" sz="3000" strike="noStrike" u="none">
                <a:solidFill>
                  <a:srgbClr val="ffffff"/>
                </a:solidFill>
                <a:effectLst/>
                <a:uFillTx/>
                <a:latin typeface="Arial"/>
              </a:rPr>
              <a:t>Elastic Net: Conclusions</a:t>
            </a:r>
            <a:endParaRPr b="0" lang="en-US" sz="3000" strike="noStrike" u="none">
              <a:solidFill>
                <a:srgbClr val="000000"/>
              </a:solidFill>
              <a:effectLst/>
              <a:uFillTx/>
              <a:latin typeface="Arial"/>
            </a:endParaRPr>
          </a:p>
        </p:txBody>
      </p:sp>
      <p:sp>
        <p:nvSpPr>
          <p:cNvPr id="234" name="PlaceHolder 2"/>
          <p:cNvSpPr>
            <a:spLocks noGrp="1"/>
          </p:cNvSpPr>
          <p:nvPr>
            <p:ph/>
          </p:nvPr>
        </p:nvSpPr>
        <p:spPr>
          <a:xfrm>
            <a:off x="360000" y="1080000"/>
            <a:ext cx="9342720" cy="3582720"/>
          </a:xfrm>
          <a:prstGeom prst="rect">
            <a:avLst/>
          </a:prstGeom>
          <a:noFill/>
          <a:ln w="0">
            <a:noFill/>
          </a:ln>
        </p:spPr>
        <p:txBody>
          <a:bodyPr lIns="0" rIns="0" tIns="0" bIns="0" anchor="t">
            <a:normAutofit lnSpcReduction="9999"/>
          </a:bodyPr>
          <a:p>
            <a:pPr marL="432000" indent="-324000">
              <a:lnSpc>
                <a:spcPct val="100000"/>
              </a:lnSpc>
              <a:spcBef>
                <a:spcPts val="1191"/>
              </a:spcBef>
              <a:spcAft>
                <a:spcPts val="992"/>
              </a:spcAft>
              <a:buClr>
                <a:srgbClr val="000000"/>
              </a:buClr>
              <a:buSzPct val="45000"/>
              <a:buFont typeface="Wingdings" charset="2"/>
              <a:buChar char=""/>
            </a:pPr>
            <a:r>
              <a:rPr b="0" lang="en-US" sz="1600" strike="noStrike" u="none">
                <a:solidFill>
                  <a:srgbClr val="000000"/>
                </a:solidFill>
                <a:effectLst/>
                <a:uFillTx/>
                <a:latin typeface="Arial"/>
              </a:rPr>
              <a:t>Triacylglycerols (TAGs) account for most of the top SHAP values across all plots where in turn, the model captures dysregulated lipid storage and elevated TAG turnover, a known hallmark of insulin resistance. </a:t>
            </a:r>
            <a:endParaRPr b="0" lang="en-US" sz="1600" strike="noStrike" u="none">
              <a:solidFill>
                <a:srgbClr val="000000"/>
              </a:solidFill>
              <a:effectLst/>
              <a:uFillTx/>
              <a:latin typeface="Arial"/>
            </a:endParaRPr>
          </a:p>
          <a:p>
            <a:pPr marL="432000" indent="-324000">
              <a:lnSpc>
                <a:spcPct val="100000"/>
              </a:lnSpc>
              <a:spcBef>
                <a:spcPts val="1191"/>
              </a:spcBef>
              <a:spcAft>
                <a:spcPts val="992"/>
              </a:spcAft>
              <a:buClr>
                <a:srgbClr val="000000"/>
              </a:buClr>
              <a:buSzPct val="45000"/>
              <a:buFont typeface="Wingdings" charset="2"/>
              <a:buChar char=""/>
            </a:pPr>
            <a:r>
              <a:rPr b="0" lang="en-US" sz="1600" strike="noStrike" u="none">
                <a:solidFill>
                  <a:srgbClr val="000000"/>
                </a:solidFill>
                <a:effectLst/>
                <a:uFillTx/>
                <a:latin typeface="Arial"/>
              </a:rPr>
              <a:t>The most influential single predictor is the fatty acid (FFA (20:4)-5/12-OH) where hence, elevated FFAs indicate increased lipolysis, impaired insulin action, and mitochondrial stress—all patterns associated with T2DM. </a:t>
            </a:r>
            <a:endParaRPr b="0" lang="en-US" sz="1600" strike="noStrike" u="none">
              <a:solidFill>
                <a:srgbClr val="000000"/>
              </a:solidFill>
              <a:effectLst/>
              <a:uFillTx/>
              <a:latin typeface="Arial"/>
            </a:endParaRPr>
          </a:p>
          <a:p>
            <a:pPr marL="432000" indent="-324000">
              <a:lnSpc>
                <a:spcPct val="100000"/>
              </a:lnSpc>
              <a:spcBef>
                <a:spcPts val="1191"/>
              </a:spcBef>
              <a:spcAft>
                <a:spcPts val="992"/>
              </a:spcAft>
              <a:buClr>
                <a:srgbClr val="000000"/>
              </a:buClr>
              <a:buSzPct val="45000"/>
              <a:buFont typeface="Wingdings" charset="2"/>
              <a:buChar char=""/>
            </a:pPr>
            <a:r>
              <a:rPr b="0" lang="en-US" sz="1600" strike="noStrike" u="none">
                <a:solidFill>
                  <a:srgbClr val="000000"/>
                </a:solidFill>
                <a:effectLst/>
                <a:uFillTx/>
                <a:latin typeface="Arial"/>
              </a:rPr>
              <a:t>T2DM classification is overwhelmingly driven by disordered lipid metabolism (TAGs → PAs → FFAs), with organic acids acting as strong protective signals.</a:t>
            </a:r>
            <a:r>
              <a:rPr b="0" lang="en-US" sz="1000" strike="noStrike" u="none">
                <a:solidFill>
                  <a:srgbClr val="000000"/>
                </a:solidFill>
                <a:effectLst/>
                <a:uFillTx/>
                <a:latin typeface="Arial"/>
              </a:rPr>
              <a:t> </a:t>
            </a:r>
            <a:endParaRPr b="0" lang="en-US" sz="1000" strike="noStrike" u="none">
              <a:solidFill>
                <a:srgbClr val="000000"/>
              </a:solidFill>
              <a:effectLst/>
              <a:uFillTx/>
              <a:latin typeface="Arial"/>
            </a:endParaRPr>
          </a:p>
          <a:p>
            <a:pPr marL="432000" indent="-324000">
              <a:lnSpc>
                <a:spcPct val="100000"/>
              </a:lnSpc>
              <a:spcBef>
                <a:spcPts val="1191"/>
              </a:spcBef>
              <a:spcAft>
                <a:spcPts val="992"/>
              </a:spcAft>
              <a:buClr>
                <a:srgbClr val="000000"/>
              </a:buClr>
              <a:buSzPct val="45000"/>
              <a:buFont typeface="Wingdings" charset="2"/>
              <a:buChar char=""/>
            </a:pPr>
            <a:r>
              <a:rPr b="0" lang="en-US" sz="1600" strike="noStrike" u="none">
                <a:solidFill>
                  <a:srgbClr val="000000"/>
                </a:solidFill>
                <a:effectLst/>
                <a:uFillTx/>
                <a:latin typeface="Arial"/>
              </a:rPr>
              <a:t>The Elastic Net model globally predicts Type 2 Diabetes based primarily on a dyslipidemia signature—high triacylglycerols, free fatty acids, and phosphatidic acids increase risk, while organic acids like fumaric and galactaric acid strongly reduce it—reflecting classic metabolic features of insulin resistance and impaired mitochondrial function. </a:t>
            </a:r>
            <a:endParaRPr b="0" lang="en-US" sz="1600" strike="noStrike" u="none">
              <a:solidFill>
                <a:srgbClr val="000000"/>
              </a:solidFill>
              <a:effectLst/>
              <a:uFillTx/>
              <a:latin typeface="Arial"/>
            </a:endParaRPr>
          </a:p>
        </p:txBody>
      </p:sp>
      <p:sp>
        <p:nvSpPr>
          <p:cNvPr id="4" name="PlaceHolder 3"/>
          <p:cNvSpPr>
            <a:spLocks noGrp="1"/>
          </p:cNvSpPr>
          <p:nvPr>
            <p:ph type="sldNum" idx="11"/>
          </p:nvPr>
        </p:nvSpPr>
        <p:spPr/>
        <p:txBody>
          <a:bodyPr/>
          <a:p>
            <a:fld id="{B27AA3EC-BC69-447F-858C-524281E887A8}" type="slidenum">
              <a:t>52</a:t>
            </a:fld>
          </a:p>
        </p:txBody>
      </p:sp>
    </p:spTree>
  </p:cSld>
  <mc:AlternateContent>
    <mc:Choice Requires="p14">
      <p:transition spd="slow" p14:dur="2000"/>
    </mc:Choice>
    <mc:Fallback>
      <p:transition spd="slow"/>
    </mc:Fallback>
  </mc:AlternateContent>
</p:sld>
</file>

<file path=ppt/slides/slide5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5" name="PlaceHolder 1"/>
          <p:cNvSpPr>
            <a:spLocks noGrp="1"/>
          </p:cNvSpPr>
          <p:nvPr>
            <p:ph type="title"/>
          </p:nvPr>
        </p:nvSpPr>
        <p:spPr>
          <a:xfrm>
            <a:off x="360000" y="92160"/>
            <a:ext cx="9342720" cy="636480"/>
          </a:xfrm>
          <a:prstGeom prst="rect">
            <a:avLst/>
          </a:prstGeom>
          <a:noFill/>
          <a:ln w="0">
            <a:noFill/>
          </a:ln>
        </p:spPr>
        <p:txBody>
          <a:bodyPr lIns="0" rIns="0" tIns="0" bIns="0" anchor="ctr">
            <a:spAutoFit/>
          </a:bodyPr>
          <a:p>
            <a:pPr indent="0" algn="ctr">
              <a:lnSpc>
                <a:spcPct val="100000"/>
              </a:lnSpc>
              <a:buNone/>
              <a:tabLst>
                <a:tab algn="l" pos="0"/>
              </a:tabLst>
            </a:pPr>
            <a:r>
              <a:rPr b="0" lang="en-US" sz="3000" strike="noStrike" u="none">
                <a:solidFill>
                  <a:srgbClr val="eeeeee"/>
                </a:solidFill>
                <a:effectLst/>
                <a:uFillTx/>
                <a:latin typeface="Arial"/>
              </a:rPr>
              <a:t>Random Forest Variable Importance</a:t>
            </a:r>
            <a:endParaRPr b="0" lang="en-US" sz="3000" strike="noStrike" u="none">
              <a:solidFill>
                <a:srgbClr val="000000"/>
              </a:solidFill>
              <a:effectLst/>
              <a:uFillTx/>
              <a:latin typeface="Arial"/>
            </a:endParaRPr>
          </a:p>
        </p:txBody>
      </p:sp>
      <p:sp>
        <p:nvSpPr>
          <p:cNvPr id="236" name=""/>
          <p:cNvSpPr/>
          <p:nvPr/>
        </p:nvSpPr>
        <p:spPr>
          <a:xfrm>
            <a:off x="6179040" y="1371600"/>
            <a:ext cx="3647160" cy="252684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en-US" sz="1600" strike="noStrike" u="none">
                <a:solidFill>
                  <a:srgbClr val="000000"/>
                </a:solidFill>
                <a:effectLst/>
                <a:uFillTx/>
                <a:latin typeface="Arial"/>
                <a:ea typeface="DejaVu Sans"/>
              </a:rPr>
              <a:t>This shows the top metabolites ranked by their importance in a Random Forest model assuming that age, gender, BMI and Waistline (cm) are in the model, measured using the Mean Decrease in Gini Impurity. The x-axis represents the importance score, where higher values indicate greater contribution to the model's ability to split and classify the data accurately.</a:t>
            </a:r>
            <a:r>
              <a:rPr b="0" lang="en-US" sz="1200" strike="noStrike" u="none">
                <a:solidFill>
                  <a:srgbClr val="000000"/>
                </a:solidFill>
                <a:effectLst/>
                <a:uFillTx/>
                <a:latin typeface="Arial"/>
                <a:ea typeface="DejaVu Sans"/>
              </a:rPr>
              <a:t> </a:t>
            </a:r>
            <a:endParaRPr b="0" lang="en-US" sz="1200" strike="noStrike" u="none">
              <a:solidFill>
                <a:srgbClr val="000000"/>
              </a:solidFill>
              <a:effectLst/>
              <a:uFillTx/>
              <a:latin typeface="Arial"/>
            </a:endParaRPr>
          </a:p>
        </p:txBody>
      </p:sp>
      <p:pic>
        <p:nvPicPr>
          <p:cNvPr id="237" name="" descr=""/>
          <p:cNvPicPr/>
          <p:nvPr/>
        </p:nvPicPr>
        <p:blipFill>
          <a:blip r:embed="rId1"/>
          <a:stretch/>
        </p:blipFill>
        <p:spPr>
          <a:xfrm>
            <a:off x="39240" y="735120"/>
            <a:ext cx="6129360" cy="4744800"/>
          </a:xfrm>
          <a:prstGeom prst="rect">
            <a:avLst/>
          </a:prstGeom>
          <a:noFill/>
          <a:ln w="0">
            <a:noFill/>
          </a:ln>
        </p:spPr>
      </p:pic>
      <p:sp>
        <p:nvSpPr>
          <p:cNvPr id="3" name="PlaceHolder 2"/>
          <p:cNvSpPr>
            <a:spLocks noGrp="1"/>
          </p:cNvSpPr>
          <p:nvPr>
            <p:ph type="sldNum" idx="11"/>
          </p:nvPr>
        </p:nvSpPr>
        <p:spPr/>
        <p:txBody>
          <a:bodyPr/>
          <a:p>
            <a:fld id="{FE745146-3515-4D57-8879-D5113A033A87}" type="slidenum">
              <a:t>53</a:t>
            </a:fld>
          </a:p>
        </p:txBody>
      </p:sp>
    </p:spTree>
  </p:cSld>
  <mc:AlternateContent>
    <mc:Choice Requires="p14">
      <p:transition spd="slow" p14:dur="2000"/>
    </mc:Choice>
    <mc:Fallback>
      <p:transition spd="slow"/>
    </mc:Fallback>
  </mc:AlternateContent>
</p:sld>
</file>

<file path=ppt/slides/slide5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8" name="PlaceHolder 1"/>
          <p:cNvSpPr>
            <a:spLocks noGrp="1"/>
          </p:cNvSpPr>
          <p:nvPr>
            <p:ph type="title"/>
          </p:nvPr>
        </p:nvSpPr>
        <p:spPr>
          <a:xfrm>
            <a:off x="360000" y="195840"/>
            <a:ext cx="9342720" cy="428760"/>
          </a:xfrm>
          <a:prstGeom prst="rect">
            <a:avLst/>
          </a:prstGeom>
          <a:noFill/>
          <a:ln w="0">
            <a:noFill/>
          </a:ln>
        </p:spPr>
        <p:txBody>
          <a:bodyPr lIns="0" rIns="0" tIns="0" bIns="0" anchor="ctr">
            <a:spAutoFit/>
          </a:bodyPr>
          <a:p>
            <a:pPr indent="0" algn="ctr">
              <a:lnSpc>
                <a:spcPct val="100000"/>
              </a:lnSpc>
              <a:buNone/>
              <a:tabLst>
                <a:tab algn="l" pos="0"/>
              </a:tabLst>
            </a:pPr>
            <a:r>
              <a:rPr b="0" lang="en-US" sz="3000" strike="noStrike" u="none">
                <a:solidFill>
                  <a:srgbClr val="ffffff"/>
                </a:solidFill>
                <a:effectLst/>
                <a:uFillTx/>
                <a:latin typeface="Arial"/>
              </a:rPr>
              <a:t>Random Forest: SHAP Values</a:t>
            </a:r>
            <a:endParaRPr b="0" lang="en-US" sz="3000" strike="noStrike" u="none">
              <a:solidFill>
                <a:srgbClr val="000000"/>
              </a:solidFill>
              <a:effectLst/>
              <a:uFillTx/>
              <a:latin typeface="Arial"/>
            </a:endParaRPr>
          </a:p>
        </p:txBody>
      </p:sp>
      <p:pic>
        <p:nvPicPr>
          <p:cNvPr id="239" name="" descr=""/>
          <p:cNvPicPr/>
          <p:nvPr/>
        </p:nvPicPr>
        <p:blipFill>
          <a:blip r:embed="rId1"/>
          <a:stretch/>
        </p:blipFill>
        <p:spPr>
          <a:xfrm>
            <a:off x="0" y="730440"/>
            <a:ext cx="5940360" cy="4752720"/>
          </a:xfrm>
          <a:prstGeom prst="rect">
            <a:avLst/>
          </a:prstGeom>
          <a:noFill/>
          <a:ln w="0">
            <a:noFill/>
          </a:ln>
        </p:spPr>
      </p:pic>
      <p:sp>
        <p:nvSpPr>
          <p:cNvPr id="240" name=""/>
          <p:cNvSpPr/>
          <p:nvPr/>
        </p:nvSpPr>
        <p:spPr>
          <a:xfrm>
            <a:off x="5943600" y="914400"/>
            <a:ext cx="4211640" cy="4364280"/>
          </a:xfrm>
          <a:prstGeom prst="rect">
            <a:avLst/>
          </a:prstGeom>
          <a:noFill/>
          <a:ln w="0">
            <a:noFill/>
          </a:ln>
        </p:spPr>
        <p:style>
          <a:lnRef idx="0"/>
          <a:fillRef idx="0"/>
          <a:effectRef idx="0"/>
          <a:fontRef idx="minor"/>
        </p:style>
        <p:txBody>
          <a:bodyPr lIns="90000" rIns="90000" tIns="45000" bIns="45000" anchor="t">
            <a:spAutoFit/>
          </a:bodyPr>
          <a:p>
            <a:pPr marL="216000" indent="-216000">
              <a:lnSpc>
                <a:spcPct val="100000"/>
              </a:lnSpc>
              <a:buClr>
                <a:srgbClr val="000000"/>
              </a:buClr>
              <a:buSzPct val="45000"/>
              <a:buFont typeface="Wingdings" charset="2"/>
              <a:buChar char=""/>
            </a:pPr>
            <a:r>
              <a:rPr b="0" lang="en-US" sz="1200" strike="noStrike" u="none">
                <a:solidFill>
                  <a:srgbClr val="000000"/>
                </a:solidFill>
                <a:effectLst/>
                <a:uFillTx/>
                <a:latin typeface="Arial"/>
                <a:ea typeface="DejaVu Sans"/>
              </a:rPr>
              <a:t>This graph presents a SHAP (SHapley Additive exPlanations) summary plot displaying the distribution of SHAP values (ϕ) for the most influential features identified by a Random Forest model assuming that age, gender, BMI and Waistline (cm) are in the model. SHAP values represent the contribution of each feature to the model's output for individual predictions.</a:t>
            </a:r>
            <a:endParaRPr b="0" lang="en-US" sz="1200" strike="noStrike" u="none">
              <a:solidFill>
                <a:srgbClr val="000000"/>
              </a:solidFill>
              <a:effectLst/>
              <a:uFillTx/>
              <a:latin typeface="Arial"/>
            </a:endParaRPr>
          </a:p>
          <a:p>
            <a:pPr>
              <a:lnSpc>
                <a:spcPct val="100000"/>
              </a:lnSpc>
            </a:pPr>
            <a:endParaRPr b="0" lang="en-US" sz="1200" strike="noStrike" u="none">
              <a:solidFill>
                <a:srgbClr val="000000"/>
              </a:solidFill>
              <a:effectLst/>
              <a:uFillTx/>
              <a:latin typeface="Arial"/>
            </a:endParaRPr>
          </a:p>
          <a:p>
            <a:pPr marL="216000" indent="-216000">
              <a:lnSpc>
                <a:spcPct val="100000"/>
              </a:lnSpc>
              <a:spcBef>
                <a:spcPts val="1191"/>
              </a:spcBef>
              <a:spcAft>
                <a:spcPts val="992"/>
              </a:spcAft>
              <a:buClr>
                <a:srgbClr val="000000"/>
              </a:buClr>
              <a:buSzPct val="45000"/>
              <a:buFont typeface="Wingdings" charset="2"/>
              <a:buChar char=""/>
            </a:pPr>
            <a:r>
              <a:rPr b="0" lang="en-US" sz="1200" strike="noStrike" u="none">
                <a:solidFill>
                  <a:srgbClr val="000000"/>
                </a:solidFill>
                <a:effectLst/>
                <a:uFillTx/>
                <a:latin typeface="Arial"/>
                <a:ea typeface="DejaVu Sans"/>
              </a:rPr>
              <a:t>Free fatty acid (FFA (20:4-5/12-OH)) (bottom of plot) shows the largest positive SHAP values </a:t>
            </a:r>
            <a:endParaRPr b="0" lang="en-US" sz="1200" strike="noStrike" u="none">
              <a:solidFill>
                <a:srgbClr val="000000"/>
              </a:solidFill>
              <a:effectLst/>
              <a:uFillTx/>
              <a:latin typeface="Arial"/>
            </a:endParaRPr>
          </a:p>
          <a:p>
            <a:pPr marL="216000" indent="-216000">
              <a:lnSpc>
                <a:spcPct val="100000"/>
              </a:lnSpc>
              <a:spcBef>
                <a:spcPts val="1191"/>
              </a:spcBef>
              <a:spcAft>
                <a:spcPts val="992"/>
              </a:spcAft>
              <a:buClr>
                <a:srgbClr val="000000"/>
              </a:buClr>
              <a:buSzPct val="45000"/>
              <a:buFont typeface="Wingdings" charset="2"/>
              <a:buChar char=""/>
            </a:pPr>
            <a:r>
              <a:rPr b="0" lang="en-US" sz="1200" strike="noStrike" u="none">
                <a:solidFill>
                  <a:srgbClr val="000000"/>
                </a:solidFill>
                <a:effectLst/>
                <a:uFillTx/>
                <a:latin typeface="Arial"/>
                <a:ea typeface="DejaVu Sans"/>
              </a:rPr>
              <a:t>Several TAG species (e.g., TAG 52:3-18:2, TAG 54:5-18:1, TAG 52:5-18:2) consistently display broad blue violins.</a:t>
            </a:r>
            <a:endParaRPr b="0" lang="en-US" sz="1200" strike="noStrike" u="none">
              <a:solidFill>
                <a:srgbClr val="000000"/>
              </a:solidFill>
              <a:effectLst/>
              <a:uFillTx/>
              <a:latin typeface="Arial"/>
            </a:endParaRPr>
          </a:p>
          <a:p>
            <a:pPr marL="216000" indent="-216000">
              <a:lnSpc>
                <a:spcPct val="100000"/>
              </a:lnSpc>
              <a:spcBef>
                <a:spcPts val="1191"/>
              </a:spcBef>
              <a:spcAft>
                <a:spcPts val="992"/>
              </a:spcAft>
              <a:buClr>
                <a:srgbClr val="000000"/>
              </a:buClr>
              <a:buSzPct val="45000"/>
              <a:buFont typeface="Wingdings" charset="2"/>
              <a:buChar char=""/>
            </a:pPr>
            <a:r>
              <a:rPr b="0" lang="en-US" sz="1200" strike="noStrike" u="none">
                <a:solidFill>
                  <a:srgbClr val="000000"/>
                </a:solidFill>
                <a:effectLst/>
                <a:uFillTx/>
                <a:latin typeface="Arial"/>
                <a:ea typeface="DejaVu Sans"/>
              </a:rPr>
              <a:t>Phosphatidic acids (PA 20:0/20:4 and PA 20:0/18:2) show mixed effects.</a:t>
            </a:r>
            <a:endParaRPr b="0" lang="en-US" sz="1200" strike="noStrike" u="none">
              <a:solidFill>
                <a:srgbClr val="000000"/>
              </a:solidFill>
              <a:effectLst/>
              <a:uFillTx/>
              <a:latin typeface="Arial"/>
            </a:endParaRPr>
          </a:p>
          <a:p>
            <a:pPr marL="216000" indent="-216000">
              <a:lnSpc>
                <a:spcPct val="100000"/>
              </a:lnSpc>
              <a:spcBef>
                <a:spcPts val="1191"/>
              </a:spcBef>
              <a:spcAft>
                <a:spcPts val="992"/>
              </a:spcAft>
              <a:buClr>
                <a:srgbClr val="000000"/>
              </a:buClr>
              <a:buSzPct val="45000"/>
              <a:buFont typeface="Wingdings" charset="2"/>
              <a:buChar char=""/>
            </a:pPr>
            <a:r>
              <a:rPr b="0" lang="en-US" sz="1200" strike="noStrike" u="none">
                <a:solidFill>
                  <a:srgbClr val="000000"/>
                </a:solidFill>
                <a:effectLst/>
                <a:uFillTx/>
                <a:latin typeface="Arial"/>
                <a:ea typeface="DejaVu Sans"/>
              </a:rPr>
              <a:t>Phosphatidylcholines (e.g., PC 40:5) and sphingomyelin (SM 38:1) exhibit moderate but consistent positive SHAP ranges.</a:t>
            </a:r>
            <a:endParaRPr b="0" lang="en-US" sz="1200" strike="noStrike" u="none">
              <a:solidFill>
                <a:srgbClr val="000000"/>
              </a:solidFill>
              <a:effectLst/>
              <a:uFillTx/>
              <a:latin typeface="Arial"/>
            </a:endParaRPr>
          </a:p>
        </p:txBody>
      </p:sp>
      <p:sp>
        <p:nvSpPr>
          <p:cNvPr id="3" name="PlaceHolder 2"/>
          <p:cNvSpPr>
            <a:spLocks noGrp="1"/>
          </p:cNvSpPr>
          <p:nvPr>
            <p:ph type="sldNum" idx="11"/>
          </p:nvPr>
        </p:nvSpPr>
        <p:spPr/>
        <p:txBody>
          <a:bodyPr/>
          <a:p>
            <a:fld id="{2070F12D-167F-4A4E-8509-9A76179823BA}" type="slidenum">
              <a:t>54</a:t>
            </a:fld>
          </a:p>
        </p:txBody>
      </p:sp>
    </p:spTree>
  </p:cSld>
  <mc:AlternateContent>
    <mc:Choice Requires="p14">
      <p:transition spd="slow" p14:dur="2000"/>
    </mc:Choice>
    <mc:Fallback>
      <p:transition spd="slow"/>
    </mc:Fallback>
  </mc:AlternateContent>
</p:sld>
</file>

<file path=ppt/slides/slide5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1" name="PlaceHolder 1"/>
          <p:cNvSpPr>
            <a:spLocks noGrp="1"/>
          </p:cNvSpPr>
          <p:nvPr>
            <p:ph type="title"/>
          </p:nvPr>
        </p:nvSpPr>
        <p:spPr>
          <a:xfrm>
            <a:off x="360000" y="195840"/>
            <a:ext cx="9342720" cy="428760"/>
          </a:xfrm>
          <a:prstGeom prst="rect">
            <a:avLst/>
          </a:prstGeom>
          <a:noFill/>
          <a:ln w="0">
            <a:noFill/>
          </a:ln>
        </p:spPr>
        <p:txBody>
          <a:bodyPr lIns="0" rIns="0" tIns="0" bIns="0" anchor="ctr">
            <a:spAutoFit/>
          </a:bodyPr>
          <a:p>
            <a:pPr indent="0" algn="ctr">
              <a:lnSpc>
                <a:spcPct val="100000"/>
              </a:lnSpc>
              <a:buNone/>
              <a:tabLst>
                <a:tab algn="l" pos="0"/>
              </a:tabLst>
            </a:pPr>
            <a:r>
              <a:rPr b="0" lang="en-US" sz="3000" strike="noStrike" u="none">
                <a:solidFill>
                  <a:srgbClr val="ffffff"/>
                </a:solidFill>
                <a:effectLst/>
                <a:uFillTx/>
                <a:latin typeface="Arial"/>
              </a:rPr>
              <a:t>Random Forest: SHAP Values</a:t>
            </a:r>
            <a:endParaRPr b="0" lang="en-US" sz="3000" strike="noStrike" u="none">
              <a:solidFill>
                <a:srgbClr val="000000"/>
              </a:solidFill>
              <a:effectLst/>
              <a:uFillTx/>
              <a:latin typeface="Arial"/>
            </a:endParaRPr>
          </a:p>
        </p:txBody>
      </p:sp>
      <p:pic>
        <p:nvPicPr>
          <p:cNvPr id="242" name="" descr=""/>
          <p:cNvPicPr/>
          <p:nvPr/>
        </p:nvPicPr>
        <p:blipFill>
          <a:blip r:embed="rId1"/>
          <a:stretch/>
        </p:blipFill>
        <p:spPr>
          <a:xfrm>
            <a:off x="0" y="735120"/>
            <a:ext cx="6168960" cy="4748040"/>
          </a:xfrm>
          <a:prstGeom prst="rect">
            <a:avLst/>
          </a:prstGeom>
          <a:noFill/>
          <a:ln w="0">
            <a:noFill/>
          </a:ln>
        </p:spPr>
      </p:pic>
      <p:sp>
        <p:nvSpPr>
          <p:cNvPr id="243" name=""/>
          <p:cNvSpPr/>
          <p:nvPr/>
        </p:nvSpPr>
        <p:spPr>
          <a:xfrm>
            <a:off x="6172200" y="714600"/>
            <a:ext cx="3840120" cy="3800160"/>
          </a:xfrm>
          <a:prstGeom prst="rect">
            <a:avLst/>
          </a:prstGeom>
          <a:noFill/>
          <a:ln w="0">
            <a:noFill/>
          </a:ln>
        </p:spPr>
        <p:style>
          <a:lnRef idx="0"/>
          <a:fillRef idx="0"/>
          <a:effectRef idx="0"/>
          <a:fontRef idx="minor"/>
        </p:style>
        <p:txBody>
          <a:bodyPr lIns="90000" rIns="90000" tIns="45000" bIns="45000" anchor="t">
            <a:spAutoFit/>
          </a:bodyPr>
          <a:p>
            <a:pPr marL="216000" indent="-216000">
              <a:lnSpc>
                <a:spcPct val="100000"/>
              </a:lnSpc>
              <a:buClr>
                <a:srgbClr val="000000"/>
              </a:buClr>
              <a:buSzPct val="45000"/>
              <a:buFont typeface="Wingdings" charset="2"/>
              <a:buChar char=""/>
            </a:pPr>
            <a:r>
              <a:rPr b="0" lang="en-US" sz="1200" strike="noStrike" u="none">
                <a:solidFill>
                  <a:srgbClr val="000000"/>
                </a:solidFill>
                <a:effectLst/>
                <a:uFillTx/>
                <a:latin typeface="Arial"/>
                <a:ea typeface="DejaVu Sans"/>
              </a:rPr>
              <a:t>SHAP (SHapley Additive exPlanations) summary plot displaying the distribution of SHAP values (ϕ) for the most influential features identified by a Random Forest model assuming that age, gender, BMI and Waistline (cm) are in the model. SHAP values represent the contribution of each feature to the model's output for individual predictions.</a:t>
            </a:r>
            <a:endParaRPr b="0" lang="en-US" sz="1200" strike="noStrike" u="none">
              <a:solidFill>
                <a:srgbClr val="000000"/>
              </a:solidFill>
              <a:effectLst/>
              <a:uFillTx/>
              <a:latin typeface="Arial"/>
            </a:endParaRPr>
          </a:p>
          <a:p>
            <a:pPr>
              <a:lnSpc>
                <a:spcPct val="100000"/>
              </a:lnSpc>
            </a:pPr>
            <a:endParaRPr b="0" lang="en-US" sz="1200" strike="noStrike" u="none">
              <a:solidFill>
                <a:srgbClr val="000000"/>
              </a:solidFill>
              <a:effectLst/>
              <a:uFillTx/>
              <a:latin typeface="Arial"/>
            </a:endParaRPr>
          </a:p>
          <a:p>
            <a:pPr marL="216000" indent="-216000">
              <a:lnSpc>
                <a:spcPct val="100000"/>
              </a:lnSpc>
              <a:spcBef>
                <a:spcPts val="1191"/>
              </a:spcBef>
              <a:spcAft>
                <a:spcPts val="992"/>
              </a:spcAft>
              <a:buClr>
                <a:srgbClr val="000000"/>
              </a:buClr>
              <a:buSzPct val="45000"/>
              <a:buFont typeface="Wingdings" charset="2"/>
              <a:buChar char=""/>
            </a:pPr>
            <a:r>
              <a:rPr b="0" lang="en-US" sz="1200" strike="noStrike" u="none">
                <a:solidFill>
                  <a:srgbClr val="000000"/>
                </a:solidFill>
                <a:effectLst/>
                <a:uFillTx/>
                <a:latin typeface="Arial"/>
                <a:ea typeface="DejaVu Sans"/>
              </a:rPr>
              <a:t>TAGs form the largest, strongest, and most consistent risk-increasing cluster.</a:t>
            </a:r>
            <a:endParaRPr b="0" lang="en-US" sz="1200" strike="noStrike" u="none">
              <a:solidFill>
                <a:srgbClr val="000000"/>
              </a:solidFill>
              <a:effectLst/>
              <a:uFillTx/>
              <a:latin typeface="Arial"/>
            </a:endParaRPr>
          </a:p>
          <a:p>
            <a:pPr marL="216000" indent="-216000">
              <a:lnSpc>
                <a:spcPct val="100000"/>
              </a:lnSpc>
              <a:spcBef>
                <a:spcPts val="1191"/>
              </a:spcBef>
              <a:spcAft>
                <a:spcPts val="992"/>
              </a:spcAft>
              <a:buClr>
                <a:srgbClr val="000000"/>
              </a:buClr>
              <a:buSzPct val="45000"/>
              <a:buFont typeface="Wingdings" charset="2"/>
              <a:buChar char=""/>
            </a:pPr>
            <a:r>
              <a:rPr b="0" lang="en-US" sz="1200" strike="noStrike" u="none">
                <a:solidFill>
                  <a:srgbClr val="000000"/>
                </a:solidFill>
                <a:effectLst/>
                <a:uFillTx/>
                <a:latin typeface="Arial"/>
                <a:ea typeface="DejaVu Sans"/>
              </a:rPr>
              <a:t>Free fatty acid (FFA (20:4-5/12-OH) has the strongest effect.</a:t>
            </a:r>
            <a:endParaRPr b="0" lang="en-US" sz="1200" strike="noStrike" u="none">
              <a:solidFill>
                <a:srgbClr val="000000"/>
              </a:solidFill>
              <a:effectLst/>
              <a:uFillTx/>
              <a:latin typeface="Arial"/>
            </a:endParaRPr>
          </a:p>
          <a:p>
            <a:pPr marL="216000" indent="-216000">
              <a:lnSpc>
                <a:spcPct val="100000"/>
              </a:lnSpc>
              <a:spcBef>
                <a:spcPts val="1191"/>
              </a:spcBef>
              <a:spcAft>
                <a:spcPts val="992"/>
              </a:spcAft>
              <a:buClr>
                <a:srgbClr val="000000"/>
              </a:buClr>
              <a:buSzPct val="45000"/>
              <a:buFont typeface="Wingdings" charset="2"/>
              <a:buChar char=""/>
            </a:pPr>
            <a:r>
              <a:rPr b="0" lang="en-US" sz="1200" strike="noStrike" u="none">
                <a:solidFill>
                  <a:srgbClr val="000000"/>
                </a:solidFill>
                <a:effectLst/>
                <a:uFillTx/>
                <a:latin typeface="Arial"/>
                <a:ea typeface="DejaVu Sans"/>
              </a:rPr>
              <a:t>PCs, SMs, and DAGs have moderate effects.</a:t>
            </a:r>
            <a:endParaRPr b="0" lang="en-US" sz="1200" strike="noStrike" u="none">
              <a:solidFill>
                <a:srgbClr val="000000"/>
              </a:solidFill>
              <a:effectLst/>
              <a:uFillTx/>
              <a:latin typeface="Arial"/>
            </a:endParaRPr>
          </a:p>
          <a:p>
            <a:pPr marL="216000" indent="-216000">
              <a:lnSpc>
                <a:spcPct val="100000"/>
              </a:lnSpc>
              <a:spcBef>
                <a:spcPts val="1191"/>
              </a:spcBef>
              <a:spcAft>
                <a:spcPts val="992"/>
              </a:spcAft>
              <a:buClr>
                <a:srgbClr val="000000"/>
              </a:buClr>
              <a:buSzPct val="45000"/>
              <a:buFont typeface="Wingdings" charset="2"/>
              <a:buChar char=""/>
            </a:pPr>
            <a:r>
              <a:rPr b="0" lang="en-US" sz="1200" strike="noStrike" u="none">
                <a:solidFill>
                  <a:srgbClr val="000000"/>
                </a:solidFill>
                <a:effectLst/>
                <a:uFillTx/>
                <a:latin typeface="Arial"/>
                <a:ea typeface="DejaVu Sans"/>
              </a:rPr>
              <a:t>The model identifed dysregulated lipid metabolism as the major driver of T2DM risk, with TAGs and FFAs exerting the greatest influence. </a:t>
            </a:r>
            <a:endParaRPr b="0" lang="en-US" sz="1200" strike="noStrike" u="none">
              <a:solidFill>
                <a:srgbClr val="000000"/>
              </a:solidFill>
              <a:effectLst/>
              <a:uFillTx/>
              <a:latin typeface="Arial"/>
            </a:endParaRPr>
          </a:p>
        </p:txBody>
      </p:sp>
      <p:sp>
        <p:nvSpPr>
          <p:cNvPr id="3" name="PlaceHolder 2"/>
          <p:cNvSpPr>
            <a:spLocks noGrp="1"/>
          </p:cNvSpPr>
          <p:nvPr>
            <p:ph type="sldNum" idx="11"/>
          </p:nvPr>
        </p:nvSpPr>
        <p:spPr/>
        <p:txBody>
          <a:bodyPr/>
          <a:p>
            <a:fld id="{0160BDC2-4B32-4E6A-94FC-5BC9350034DC}" type="slidenum">
              <a:t>55</a:t>
            </a:fld>
          </a:p>
        </p:txBody>
      </p:sp>
    </p:spTree>
  </p:cSld>
  <mc:AlternateContent>
    <mc:Choice Requires="p14">
      <p:transition spd="slow" p14:dur="2000"/>
    </mc:Choice>
    <mc:Fallback>
      <p:transition spd="slow"/>
    </mc:Fallback>
  </mc:AlternateContent>
</p:sld>
</file>

<file path=ppt/slides/slide5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4" name="PlaceHolder 1"/>
          <p:cNvSpPr>
            <a:spLocks noGrp="1"/>
          </p:cNvSpPr>
          <p:nvPr>
            <p:ph type="title"/>
          </p:nvPr>
        </p:nvSpPr>
        <p:spPr>
          <a:xfrm>
            <a:off x="360000" y="195840"/>
            <a:ext cx="9342720" cy="428760"/>
          </a:xfrm>
          <a:prstGeom prst="rect">
            <a:avLst/>
          </a:prstGeom>
          <a:noFill/>
          <a:ln w="0">
            <a:noFill/>
          </a:ln>
        </p:spPr>
        <p:txBody>
          <a:bodyPr lIns="0" rIns="0" tIns="0" bIns="0" anchor="ctr">
            <a:spAutoFit/>
          </a:bodyPr>
          <a:p>
            <a:pPr indent="0" algn="ctr">
              <a:lnSpc>
                <a:spcPct val="100000"/>
              </a:lnSpc>
              <a:buNone/>
              <a:tabLst>
                <a:tab algn="l" pos="0"/>
              </a:tabLst>
            </a:pPr>
            <a:r>
              <a:rPr b="0" lang="en-US" sz="3000" strike="noStrike" u="none">
                <a:solidFill>
                  <a:srgbClr val="ffffff"/>
                </a:solidFill>
                <a:effectLst/>
                <a:uFillTx/>
                <a:latin typeface="Arial"/>
              </a:rPr>
              <a:t>Random Forest: Difference Between Groups</a:t>
            </a:r>
            <a:endParaRPr b="0" lang="en-US" sz="3000" strike="noStrike" u="none">
              <a:solidFill>
                <a:srgbClr val="000000"/>
              </a:solidFill>
              <a:effectLst/>
              <a:uFillTx/>
              <a:latin typeface="Arial"/>
            </a:endParaRPr>
          </a:p>
        </p:txBody>
      </p:sp>
      <p:sp>
        <p:nvSpPr>
          <p:cNvPr id="245" name="PlaceHolder 2"/>
          <p:cNvSpPr>
            <a:spLocks noGrp="1"/>
          </p:cNvSpPr>
          <p:nvPr>
            <p:ph/>
          </p:nvPr>
        </p:nvSpPr>
        <p:spPr>
          <a:xfrm>
            <a:off x="360000" y="1080000"/>
            <a:ext cx="9342720" cy="358272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b="0" lang="en-US" sz="2500" strike="noStrike" u="none">
                <a:solidFill>
                  <a:srgbClr val="000000"/>
                </a:solidFill>
                <a:effectLst/>
                <a:uFillTx/>
                <a:latin typeface="Arial"/>
                <a:ea typeface="DejaVu Sans"/>
              </a:rPr>
              <a:t>H</a:t>
            </a:r>
            <a:r>
              <a:rPr b="0" lang="en-US" sz="2500" strike="noStrike" u="none" baseline="-8000">
                <a:solidFill>
                  <a:srgbClr val="000000"/>
                </a:solidFill>
                <a:effectLst/>
                <a:uFillTx/>
                <a:latin typeface="Arial"/>
                <a:ea typeface="DejaVu Sans"/>
              </a:rPr>
              <a:t>0</a:t>
            </a:r>
            <a:r>
              <a:rPr b="0" lang="en-US" sz="2500" strike="noStrike" u="none">
                <a:solidFill>
                  <a:srgbClr val="000000"/>
                </a:solidFill>
                <a:effectLst/>
                <a:uFillTx/>
                <a:latin typeface="Arial"/>
                <a:ea typeface="DejaVu Sans"/>
              </a:rPr>
              <a:t>: no difference in SHAP values between Healthy and Type 2 diabetic subjects </a:t>
            </a:r>
            <a:br>
              <a:rPr sz="2500"/>
            </a:br>
            <a:r>
              <a:rPr b="0" lang="en-US" sz="2500" strike="noStrike" u="none">
                <a:solidFill>
                  <a:srgbClr val="000000"/>
                </a:solidFill>
                <a:effectLst/>
                <a:uFillTx/>
                <a:latin typeface="Arial"/>
                <a:ea typeface="DejaVu Sans"/>
              </a:rPr>
              <a:t>H</a:t>
            </a:r>
            <a:r>
              <a:rPr b="0" lang="en-US" sz="2500" strike="noStrike" u="none" baseline="-8000">
                <a:solidFill>
                  <a:srgbClr val="000000"/>
                </a:solidFill>
                <a:effectLst/>
                <a:uFillTx/>
                <a:latin typeface="Arial"/>
                <a:ea typeface="DejaVu Sans"/>
              </a:rPr>
              <a:t>A</a:t>
            </a:r>
            <a:r>
              <a:rPr b="0" lang="en-US" sz="2500" strike="noStrike" u="none">
                <a:solidFill>
                  <a:srgbClr val="000000"/>
                </a:solidFill>
                <a:effectLst/>
                <a:uFillTx/>
                <a:latin typeface="Arial"/>
                <a:ea typeface="DejaVu Sans"/>
              </a:rPr>
              <a:t>: difference in SHAP values between Healthy and Type 2 diabetic subjects</a:t>
            </a:r>
            <a:endParaRPr b="0" lang="en-US" sz="2500" strike="noStrike" u="none">
              <a:solidFill>
                <a:srgbClr val="000000"/>
              </a:solidFill>
              <a:effectLst/>
              <a:uFillTx/>
              <a:latin typeface="Arial"/>
            </a:endParaRPr>
          </a:p>
          <a:p>
            <a:pPr marL="432000" indent="-324000">
              <a:lnSpc>
                <a:spcPct val="100000"/>
              </a:lnSpc>
              <a:spcBef>
                <a:spcPts val="1417"/>
              </a:spcBef>
              <a:buClr>
                <a:srgbClr val="000000"/>
              </a:buClr>
              <a:buSzPct val="45000"/>
              <a:buFont typeface="Wingdings" charset="2"/>
              <a:buChar char=""/>
            </a:pPr>
            <a:r>
              <a:rPr b="0" lang="en-US" sz="2500" strike="noStrike" u="none">
                <a:solidFill>
                  <a:srgbClr val="000000"/>
                </a:solidFill>
                <a:effectLst/>
                <a:uFillTx/>
                <a:latin typeface="Arial"/>
                <a:ea typeface="DejaVu Sans"/>
              </a:rPr>
              <a:t>p-value &lt; 2.2x10</a:t>
            </a:r>
            <a:r>
              <a:rPr b="0" lang="en-US" sz="2500" strike="noStrike" u="none" baseline="33000">
                <a:solidFill>
                  <a:srgbClr val="000000"/>
                </a:solidFill>
                <a:effectLst/>
                <a:uFillTx/>
                <a:latin typeface="Arial"/>
                <a:ea typeface="DejaVu Sans"/>
              </a:rPr>
              <a:t>-16</a:t>
            </a:r>
            <a:r>
              <a:rPr b="0" lang="en-US" sz="2500" strike="noStrike" u="none">
                <a:solidFill>
                  <a:srgbClr val="000000"/>
                </a:solidFill>
                <a:effectLst/>
                <a:uFillTx/>
                <a:latin typeface="Arial"/>
                <a:ea typeface="DejaVu Sans"/>
              </a:rPr>
              <a:t>, i.e., there is a highly significant difference in SHAP values between Healthy and Type 2 diabetic subjects</a:t>
            </a:r>
            <a:endParaRPr b="0" lang="en-US" sz="2500" strike="noStrike" u="none">
              <a:solidFill>
                <a:srgbClr val="000000"/>
              </a:solidFill>
              <a:effectLst/>
              <a:uFillTx/>
              <a:latin typeface="Arial"/>
            </a:endParaRPr>
          </a:p>
        </p:txBody>
      </p:sp>
      <p:sp>
        <p:nvSpPr>
          <p:cNvPr id="4" name="PlaceHolder 3"/>
          <p:cNvSpPr>
            <a:spLocks noGrp="1"/>
          </p:cNvSpPr>
          <p:nvPr>
            <p:ph type="sldNum" idx="11"/>
          </p:nvPr>
        </p:nvSpPr>
        <p:spPr/>
        <p:txBody>
          <a:bodyPr/>
          <a:p>
            <a:fld id="{DB816BC3-D5F0-40D4-BF6D-D4F838695B5B}" type="slidenum">
              <a:t>56</a:t>
            </a:fld>
          </a:p>
        </p:txBody>
      </p:sp>
    </p:spTree>
  </p:cSld>
  <mc:AlternateContent>
    <mc:Choice Requires="p14">
      <p:transition spd="slow" p14:dur="2000"/>
    </mc:Choice>
    <mc:Fallback>
      <p:transition spd="slow"/>
    </mc:Fallback>
  </mc:AlternateContent>
</p:sld>
</file>

<file path=ppt/slides/slide5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6" name="PlaceHolder 1"/>
          <p:cNvSpPr>
            <a:spLocks noGrp="1"/>
          </p:cNvSpPr>
          <p:nvPr>
            <p:ph type="title"/>
          </p:nvPr>
        </p:nvSpPr>
        <p:spPr>
          <a:xfrm>
            <a:off x="360000" y="181080"/>
            <a:ext cx="9342720" cy="458640"/>
          </a:xfrm>
          <a:prstGeom prst="rect">
            <a:avLst/>
          </a:prstGeom>
          <a:noFill/>
          <a:ln w="0">
            <a:noFill/>
          </a:ln>
        </p:spPr>
        <p:txBody>
          <a:bodyPr lIns="0" rIns="0" tIns="0" bIns="0" anchor="ctr">
            <a:spAutoFit/>
          </a:bodyPr>
          <a:p>
            <a:pPr indent="0" algn="ctr">
              <a:lnSpc>
                <a:spcPct val="100000"/>
              </a:lnSpc>
              <a:buNone/>
              <a:tabLst>
                <a:tab algn="l" pos="0"/>
              </a:tabLst>
            </a:pPr>
            <a:r>
              <a:rPr b="0" lang="en-US" sz="3000" strike="noStrike" u="none">
                <a:solidFill>
                  <a:srgbClr val="ffffff"/>
                </a:solidFill>
                <a:effectLst/>
                <a:uFillTx/>
                <a:latin typeface="Arial"/>
              </a:rPr>
              <a:t>Random Forest: Mean(|SHAP|)</a:t>
            </a:r>
            <a:endParaRPr b="0" lang="en-US" sz="3000" strike="noStrike" u="none">
              <a:solidFill>
                <a:srgbClr val="000000"/>
              </a:solidFill>
              <a:effectLst/>
              <a:uFillTx/>
              <a:latin typeface="Arial"/>
            </a:endParaRPr>
          </a:p>
        </p:txBody>
      </p:sp>
      <p:pic>
        <p:nvPicPr>
          <p:cNvPr id="247" name="" descr=""/>
          <p:cNvPicPr/>
          <p:nvPr/>
        </p:nvPicPr>
        <p:blipFill>
          <a:blip r:embed="rId1"/>
          <a:stretch/>
        </p:blipFill>
        <p:spPr>
          <a:xfrm>
            <a:off x="0" y="735120"/>
            <a:ext cx="6168960" cy="4748040"/>
          </a:xfrm>
          <a:prstGeom prst="rect">
            <a:avLst/>
          </a:prstGeom>
          <a:noFill/>
          <a:ln w="0">
            <a:noFill/>
          </a:ln>
        </p:spPr>
      </p:pic>
      <p:sp>
        <p:nvSpPr>
          <p:cNvPr id="248" name=""/>
          <p:cNvSpPr/>
          <p:nvPr/>
        </p:nvSpPr>
        <p:spPr>
          <a:xfrm>
            <a:off x="6372720" y="1582200"/>
            <a:ext cx="3456000" cy="2989800"/>
          </a:xfrm>
          <a:prstGeom prst="rect">
            <a:avLst/>
          </a:prstGeom>
          <a:noFill/>
          <a:ln w="0">
            <a:noFill/>
          </a:ln>
        </p:spPr>
        <p:style>
          <a:lnRef idx="0"/>
          <a:fillRef idx="0"/>
          <a:effectRef idx="0"/>
          <a:fontRef idx="minor"/>
        </p:style>
        <p:txBody>
          <a:bodyPr lIns="90000" rIns="90000" tIns="45000" bIns="45000" anchor="t">
            <a:spAutoFit/>
          </a:bodyPr>
          <a:p>
            <a:pPr marL="216000" indent="-216000">
              <a:lnSpc>
                <a:spcPct val="100000"/>
              </a:lnSpc>
              <a:buClr>
                <a:srgbClr val="000000"/>
              </a:buClr>
              <a:buSzPct val="45000"/>
              <a:buFont typeface="Wingdings" charset="2"/>
              <a:buChar char=""/>
            </a:pPr>
            <a:r>
              <a:rPr b="0" lang="en-US" sz="1200" strike="noStrike" u="none">
                <a:solidFill>
                  <a:srgbClr val="000000"/>
                </a:solidFill>
                <a:effectLst/>
                <a:uFillTx/>
                <a:latin typeface="Arial"/>
                <a:ea typeface="DejaVu Sans"/>
              </a:rPr>
              <a:t>Mean absolute SHAP value for each metabolite for a random forest model, assuming that age, gender, BMI and Waistline (cm) are in the model, representing its overall importance in the predictive model.</a:t>
            </a:r>
            <a:endParaRPr b="0" lang="en-US" sz="1200" strike="noStrike" u="none">
              <a:solidFill>
                <a:srgbClr val="000000"/>
              </a:solidFill>
              <a:effectLst/>
              <a:uFillTx/>
              <a:latin typeface="Arial"/>
            </a:endParaRPr>
          </a:p>
          <a:p>
            <a:pPr>
              <a:lnSpc>
                <a:spcPct val="100000"/>
              </a:lnSpc>
            </a:pPr>
            <a:endParaRPr b="0" lang="en-US" sz="1200" strike="noStrike" u="none">
              <a:solidFill>
                <a:srgbClr val="000000"/>
              </a:solidFill>
              <a:effectLst/>
              <a:uFillTx/>
              <a:latin typeface="Arial"/>
            </a:endParaRPr>
          </a:p>
          <a:p>
            <a:pPr marL="216000" indent="-216000">
              <a:lnSpc>
                <a:spcPct val="100000"/>
              </a:lnSpc>
              <a:spcBef>
                <a:spcPts val="1191"/>
              </a:spcBef>
              <a:spcAft>
                <a:spcPts val="992"/>
              </a:spcAft>
              <a:buClr>
                <a:srgbClr val="000000"/>
              </a:buClr>
              <a:buSzPct val="45000"/>
              <a:buFont typeface="Wingdings" charset="2"/>
              <a:buChar char=""/>
            </a:pPr>
            <a:r>
              <a:rPr b="0" lang="en-US" sz="1200" strike="noStrike" u="none">
                <a:solidFill>
                  <a:srgbClr val="000000"/>
                </a:solidFill>
                <a:effectLst/>
                <a:uFillTx/>
                <a:latin typeface="Arial"/>
                <a:ea typeface="DejaVu Sans"/>
              </a:rPr>
              <a:t>The fatty acid (FFA (20:4-5/12-OH)) has the strongest influence.</a:t>
            </a:r>
            <a:endParaRPr b="0" lang="en-US" sz="1200" strike="noStrike" u="none">
              <a:solidFill>
                <a:srgbClr val="000000"/>
              </a:solidFill>
              <a:effectLst/>
              <a:uFillTx/>
              <a:latin typeface="Arial"/>
            </a:endParaRPr>
          </a:p>
          <a:p>
            <a:pPr marL="216000" indent="-216000">
              <a:lnSpc>
                <a:spcPct val="100000"/>
              </a:lnSpc>
              <a:spcBef>
                <a:spcPts val="1191"/>
              </a:spcBef>
              <a:spcAft>
                <a:spcPts val="992"/>
              </a:spcAft>
              <a:buClr>
                <a:srgbClr val="000000"/>
              </a:buClr>
              <a:buSzPct val="45000"/>
              <a:buFont typeface="Wingdings" charset="2"/>
              <a:buChar char=""/>
            </a:pPr>
            <a:r>
              <a:rPr b="0" lang="en-US" sz="1200" strike="noStrike" u="none">
                <a:solidFill>
                  <a:srgbClr val="000000"/>
                </a:solidFill>
                <a:effectLst/>
                <a:uFillTx/>
                <a:latin typeface="Arial"/>
                <a:ea typeface="DejaVu Sans"/>
              </a:rPr>
              <a:t>DAGs and TAGS dominate the importance ranking.</a:t>
            </a:r>
            <a:endParaRPr b="0" lang="en-US" sz="1200" strike="noStrike" u="none">
              <a:solidFill>
                <a:srgbClr val="000000"/>
              </a:solidFill>
              <a:effectLst/>
              <a:uFillTx/>
              <a:latin typeface="Arial"/>
            </a:endParaRPr>
          </a:p>
          <a:p>
            <a:pPr marL="216000" indent="-216000">
              <a:lnSpc>
                <a:spcPct val="100000"/>
              </a:lnSpc>
              <a:spcBef>
                <a:spcPts val="1191"/>
              </a:spcBef>
              <a:spcAft>
                <a:spcPts val="992"/>
              </a:spcAft>
              <a:buClr>
                <a:srgbClr val="000000"/>
              </a:buClr>
              <a:buSzPct val="45000"/>
              <a:buFont typeface="Wingdings" charset="2"/>
              <a:buChar char=""/>
            </a:pPr>
            <a:r>
              <a:rPr b="0" lang="en-US" sz="1200" strike="noStrike" u="none">
                <a:solidFill>
                  <a:srgbClr val="000000"/>
                </a:solidFill>
                <a:effectLst/>
                <a:uFillTx/>
                <a:latin typeface="Arial"/>
                <a:ea typeface="DejaVu Sans"/>
              </a:rPr>
              <a:t>Phosphatidic acids (PAs) show strong but varied effects.</a:t>
            </a:r>
            <a:endParaRPr b="0" lang="en-US" sz="1200" strike="noStrike" u="none">
              <a:solidFill>
                <a:srgbClr val="000000"/>
              </a:solidFill>
              <a:effectLst/>
              <a:uFillTx/>
              <a:latin typeface="Arial"/>
            </a:endParaRPr>
          </a:p>
        </p:txBody>
      </p:sp>
      <p:sp>
        <p:nvSpPr>
          <p:cNvPr id="3" name="PlaceHolder 2"/>
          <p:cNvSpPr>
            <a:spLocks noGrp="1"/>
          </p:cNvSpPr>
          <p:nvPr>
            <p:ph type="sldNum" idx="11"/>
          </p:nvPr>
        </p:nvSpPr>
        <p:spPr/>
        <p:txBody>
          <a:bodyPr/>
          <a:p>
            <a:fld id="{EC3A1C61-7877-407E-A3DA-82CF8FAA8B2F}" type="slidenum">
              <a:t>57</a:t>
            </a:fld>
          </a:p>
        </p:txBody>
      </p:sp>
    </p:spTree>
  </p:cSld>
  <mc:AlternateContent>
    <mc:Choice Requires="p14">
      <p:transition spd="slow" p14:dur="2000"/>
    </mc:Choice>
    <mc:Fallback>
      <p:transition spd="slow"/>
    </mc:Fallback>
  </mc:AlternateContent>
</p:sld>
</file>

<file path=ppt/slides/slide5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9" name="PlaceHolder 1"/>
          <p:cNvSpPr>
            <a:spLocks noGrp="1"/>
          </p:cNvSpPr>
          <p:nvPr>
            <p:ph type="title"/>
          </p:nvPr>
        </p:nvSpPr>
        <p:spPr>
          <a:xfrm>
            <a:off x="360000" y="195840"/>
            <a:ext cx="9342720" cy="428760"/>
          </a:xfrm>
          <a:prstGeom prst="rect">
            <a:avLst/>
          </a:prstGeom>
          <a:noFill/>
          <a:ln w="0">
            <a:noFill/>
          </a:ln>
        </p:spPr>
        <p:txBody>
          <a:bodyPr lIns="0" rIns="0" tIns="0" bIns="0" anchor="ctr">
            <a:spAutoFit/>
          </a:bodyPr>
          <a:p>
            <a:pPr indent="0" algn="ctr">
              <a:lnSpc>
                <a:spcPct val="100000"/>
              </a:lnSpc>
              <a:buNone/>
              <a:tabLst>
                <a:tab algn="l" pos="0"/>
              </a:tabLst>
            </a:pPr>
            <a:r>
              <a:rPr b="0" lang="en-US" sz="3000" strike="noStrike" u="none">
                <a:solidFill>
                  <a:srgbClr val="ffffff"/>
                </a:solidFill>
                <a:effectLst/>
                <a:uFillTx/>
                <a:latin typeface="Arial"/>
              </a:rPr>
              <a:t>Random Forest: Mean(|SHAP|) per Metabolite</a:t>
            </a:r>
            <a:endParaRPr b="0" lang="en-US" sz="3000" strike="noStrike" u="none">
              <a:solidFill>
                <a:srgbClr val="000000"/>
              </a:solidFill>
              <a:effectLst/>
              <a:uFillTx/>
              <a:latin typeface="Arial"/>
            </a:endParaRPr>
          </a:p>
        </p:txBody>
      </p:sp>
      <p:pic>
        <p:nvPicPr>
          <p:cNvPr id="250" name="" descr=""/>
          <p:cNvPicPr/>
          <p:nvPr/>
        </p:nvPicPr>
        <p:blipFill>
          <a:blip r:embed="rId1"/>
          <a:stretch/>
        </p:blipFill>
        <p:spPr>
          <a:xfrm>
            <a:off x="0" y="914400"/>
            <a:ext cx="5711760" cy="4752720"/>
          </a:xfrm>
          <a:prstGeom prst="rect">
            <a:avLst/>
          </a:prstGeom>
          <a:noFill/>
          <a:ln w="0">
            <a:noFill/>
          </a:ln>
        </p:spPr>
      </p:pic>
      <p:sp>
        <p:nvSpPr>
          <p:cNvPr id="251" name=""/>
          <p:cNvSpPr/>
          <p:nvPr/>
        </p:nvSpPr>
        <p:spPr>
          <a:xfrm>
            <a:off x="5715000" y="881640"/>
            <a:ext cx="4340160" cy="3627000"/>
          </a:xfrm>
          <a:prstGeom prst="rect">
            <a:avLst/>
          </a:prstGeom>
          <a:noFill/>
          <a:ln w="0">
            <a:noFill/>
          </a:ln>
        </p:spPr>
        <p:style>
          <a:lnRef idx="0"/>
          <a:fillRef idx="0"/>
          <a:effectRef idx="0"/>
          <a:fontRef idx="minor"/>
        </p:style>
        <p:txBody>
          <a:bodyPr lIns="90000" rIns="90000" tIns="45000" bIns="45000" anchor="t">
            <a:spAutoFit/>
          </a:bodyPr>
          <a:p>
            <a:pPr marL="216000" indent="-216000">
              <a:lnSpc>
                <a:spcPct val="100000"/>
              </a:lnSpc>
              <a:buClr>
                <a:srgbClr val="000000"/>
              </a:buClr>
              <a:buSzPct val="45000"/>
              <a:buFont typeface="Wingdings" charset="2"/>
              <a:buChar char=""/>
            </a:pPr>
            <a:r>
              <a:rPr b="0" lang="en-US" sz="1200" strike="noStrike" u="none">
                <a:solidFill>
                  <a:srgbClr val="000000"/>
                </a:solidFill>
                <a:effectLst/>
                <a:uFillTx/>
                <a:latin typeface="Arial"/>
                <a:ea typeface="DejaVu Sans"/>
              </a:rPr>
              <a:t>Heatmap shows the top 20 metabolites ranked by mean absolute SHAP values as identified by the Random Forest (RF) model, assuming that age, gender, BMI and Waistline (cm) are in the model.</a:t>
            </a:r>
            <a:endParaRPr b="0" lang="en-US" sz="1200" strike="noStrike" u="none">
              <a:solidFill>
                <a:srgbClr val="000000"/>
              </a:solidFill>
              <a:effectLst/>
              <a:uFillTx/>
              <a:latin typeface="Arial"/>
            </a:endParaRPr>
          </a:p>
          <a:p>
            <a:pPr>
              <a:lnSpc>
                <a:spcPct val="100000"/>
              </a:lnSpc>
            </a:pPr>
            <a:endParaRPr b="0" lang="en-US" sz="1200" strike="noStrike" u="none">
              <a:solidFill>
                <a:srgbClr val="000000"/>
              </a:solidFill>
              <a:effectLst/>
              <a:uFillTx/>
              <a:latin typeface="Arial"/>
            </a:endParaRPr>
          </a:p>
          <a:p>
            <a:pPr marL="216000" indent="-216000">
              <a:lnSpc>
                <a:spcPct val="100000"/>
              </a:lnSpc>
              <a:buClr>
                <a:srgbClr val="000000"/>
              </a:buClr>
              <a:buSzPct val="45000"/>
              <a:buFont typeface="Wingdings" charset="2"/>
              <a:buChar char=""/>
            </a:pPr>
            <a:r>
              <a:rPr b="0" lang="en-US" sz="1200" strike="noStrike" u="none">
                <a:solidFill>
                  <a:srgbClr val="000000"/>
                </a:solidFill>
                <a:effectLst/>
                <a:uFillTx/>
                <a:latin typeface="Arial"/>
                <a:ea typeface="DejaVu Sans"/>
              </a:rPr>
              <a:t>There is a clear separation between Healthy (H) and Diabetic (D) samples.</a:t>
            </a:r>
            <a:endParaRPr b="0" lang="en-US" sz="1200" strike="noStrike" u="none">
              <a:solidFill>
                <a:srgbClr val="000000"/>
              </a:solidFill>
              <a:effectLst/>
              <a:uFillTx/>
              <a:latin typeface="Arial"/>
            </a:endParaRPr>
          </a:p>
          <a:p>
            <a:pPr>
              <a:lnSpc>
                <a:spcPct val="100000"/>
              </a:lnSpc>
            </a:pPr>
            <a:endParaRPr b="0" lang="en-US" sz="1200" strike="noStrike" u="none">
              <a:solidFill>
                <a:srgbClr val="000000"/>
              </a:solidFill>
              <a:effectLst/>
              <a:uFillTx/>
              <a:latin typeface="Arial"/>
            </a:endParaRPr>
          </a:p>
          <a:p>
            <a:pPr marL="216000" indent="-216000">
              <a:lnSpc>
                <a:spcPct val="100000"/>
              </a:lnSpc>
              <a:buClr>
                <a:srgbClr val="000000"/>
              </a:buClr>
              <a:buSzPct val="45000"/>
              <a:buFont typeface="Wingdings" charset="2"/>
              <a:buChar char=""/>
            </a:pPr>
            <a:r>
              <a:rPr b="0" lang="en-US" sz="1200" strike="noStrike" u="none">
                <a:solidFill>
                  <a:srgbClr val="000000"/>
                </a:solidFill>
                <a:effectLst/>
                <a:uFillTx/>
                <a:latin typeface="Arial"/>
                <a:ea typeface="DejaVu Sans"/>
              </a:rPr>
              <a:t>High-ranking TAG metabolites show strong group differences (diabetic samples show deep blue regions while healthy samples show lighter red colors)</a:t>
            </a:r>
            <a:endParaRPr b="0" lang="en-US" sz="1200" strike="noStrike" u="none">
              <a:solidFill>
                <a:srgbClr val="000000"/>
              </a:solidFill>
              <a:effectLst/>
              <a:uFillTx/>
              <a:latin typeface="Arial"/>
            </a:endParaRPr>
          </a:p>
          <a:p>
            <a:pPr>
              <a:lnSpc>
                <a:spcPct val="100000"/>
              </a:lnSpc>
            </a:pPr>
            <a:endParaRPr b="0" lang="en-US" sz="1200" strike="noStrike" u="none">
              <a:solidFill>
                <a:srgbClr val="000000"/>
              </a:solidFill>
              <a:effectLst/>
              <a:uFillTx/>
              <a:latin typeface="Arial"/>
            </a:endParaRPr>
          </a:p>
          <a:p>
            <a:pPr marL="216000" indent="-216000">
              <a:lnSpc>
                <a:spcPct val="100000"/>
              </a:lnSpc>
              <a:spcBef>
                <a:spcPts val="1191"/>
              </a:spcBef>
              <a:spcAft>
                <a:spcPts val="992"/>
              </a:spcAft>
              <a:buClr>
                <a:srgbClr val="000000"/>
              </a:buClr>
              <a:buSzPct val="45000"/>
              <a:buFont typeface="Wingdings" charset="2"/>
              <a:buChar char=""/>
            </a:pPr>
            <a:r>
              <a:rPr b="0" lang="en-US" sz="1200" strike="noStrike" u="none">
                <a:solidFill>
                  <a:srgbClr val="000000"/>
                </a:solidFill>
                <a:effectLst/>
                <a:uFillTx/>
                <a:latin typeface="Arial"/>
                <a:ea typeface="DejaVu Sans"/>
              </a:rPr>
              <a:t>Phosphatidic acids (PA 20:0/18:2, PA 20:0/20:4) exhibit warmer colors (higher Z-scores) in diabetic samples and more mixed or neutral colors among healthy participants.</a:t>
            </a:r>
            <a:endParaRPr b="0" lang="en-US" sz="1200" strike="noStrike" u="none">
              <a:solidFill>
                <a:srgbClr val="000000"/>
              </a:solidFill>
              <a:effectLst/>
              <a:uFillTx/>
              <a:latin typeface="Arial"/>
            </a:endParaRPr>
          </a:p>
          <a:p>
            <a:pPr marL="216000" indent="-216000">
              <a:lnSpc>
                <a:spcPct val="100000"/>
              </a:lnSpc>
              <a:spcBef>
                <a:spcPts val="1191"/>
              </a:spcBef>
              <a:spcAft>
                <a:spcPts val="992"/>
              </a:spcAft>
              <a:buClr>
                <a:srgbClr val="000000"/>
              </a:buClr>
              <a:buSzPct val="45000"/>
              <a:buFont typeface="Wingdings" charset="2"/>
              <a:buChar char=""/>
            </a:pPr>
            <a:r>
              <a:rPr b="0" lang="en-US" sz="1200" strike="noStrike" u="none">
                <a:solidFill>
                  <a:srgbClr val="000000"/>
                </a:solidFill>
                <a:effectLst/>
                <a:uFillTx/>
                <a:latin typeface="Arial"/>
                <a:ea typeface="DejaVu Sans"/>
              </a:rPr>
              <a:t>DAGs and FFAs show strong patterns aligned with disease status.</a:t>
            </a:r>
            <a:endParaRPr b="0" lang="en-US" sz="1200" strike="noStrike" u="none">
              <a:solidFill>
                <a:srgbClr val="000000"/>
              </a:solidFill>
              <a:effectLst/>
              <a:uFillTx/>
              <a:latin typeface="Arial"/>
            </a:endParaRPr>
          </a:p>
        </p:txBody>
      </p:sp>
      <p:sp>
        <p:nvSpPr>
          <p:cNvPr id="3" name="PlaceHolder 2"/>
          <p:cNvSpPr>
            <a:spLocks noGrp="1"/>
          </p:cNvSpPr>
          <p:nvPr>
            <p:ph type="sldNum" idx="11"/>
          </p:nvPr>
        </p:nvSpPr>
        <p:spPr/>
        <p:txBody>
          <a:bodyPr/>
          <a:p>
            <a:fld id="{8967AEBB-FB9E-4972-8238-95D223C3BA41}" type="slidenum">
              <a:t>58</a:t>
            </a:fld>
          </a:p>
        </p:txBody>
      </p:sp>
    </p:spTree>
  </p:cSld>
  <mc:AlternateContent>
    <mc:Choice Requires="p14">
      <p:transition spd="slow" p14:dur="2000"/>
    </mc:Choice>
    <mc:Fallback>
      <p:transition spd="slow"/>
    </mc:Fallback>
  </mc:AlternateContent>
</p:sld>
</file>

<file path=ppt/slides/slide5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2" name="PlaceHolder 1"/>
          <p:cNvSpPr>
            <a:spLocks noGrp="1"/>
          </p:cNvSpPr>
          <p:nvPr>
            <p:ph type="title"/>
          </p:nvPr>
        </p:nvSpPr>
        <p:spPr>
          <a:xfrm>
            <a:off x="360000" y="195840"/>
            <a:ext cx="9342720" cy="428760"/>
          </a:xfrm>
          <a:prstGeom prst="rect">
            <a:avLst/>
          </a:prstGeom>
          <a:noFill/>
          <a:ln w="0">
            <a:noFill/>
          </a:ln>
        </p:spPr>
        <p:txBody>
          <a:bodyPr lIns="0" rIns="0" tIns="0" bIns="0" anchor="ctr">
            <a:spAutoFit/>
          </a:bodyPr>
          <a:p>
            <a:pPr indent="0" algn="ctr">
              <a:lnSpc>
                <a:spcPct val="100000"/>
              </a:lnSpc>
              <a:buNone/>
              <a:tabLst>
                <a:tab algn="l" pos="0"/>
              </a:tabLst>
            </a:pPr>
            <a:r>
              <a:rPr b="0" lang="en-US" sz="3000" strike="noStrike" u="none">
                <a:solidFill>
                  <a:srgbClr val="ffffff"/>
                </a:solidFill>
                <a:effectLst/>
                <a:uFillTx/>
                <a:latin typeface="Arial"/>
              </a:rPr>
              <a:t>Random Forest: Predicted Probability (P(T2DM))</a:t>
            </a:r>
            <a:endParaRPr b="0" lang="en-US" sz="3000" strike="noStrike" u="none">
              <a:solidFill>
                <a:srgbClr val="000000"/>
              </a:solidFill>
              <a:effectLst/>
              <a:uFillTx/>
              <a:latin typeface="Arial"/>
            </a:endParaRPr>
          </a:p>
        </p:txBody>
      </p:sp>
      <p:pic>
        <p:nvPicPr>
          <p:cNvPr id="253" name="" descr=""/>
          <p:cNvPicPr/>
          <p:nvPr/>
        </p:nvPicPr>
        <p:blipFill>
          <a:blip r:embed="rId1"/>
          <a:stretch/>
        </p:blipFill>
        <p:spPr>
          <a:xfrm>
            <a:off x="0" y="735120"/>
            <a:ext cx="6168960" cy="4748040"/>
          </a:xfrm>
          <a:prstGeom prst="rect">
            <a:avLst/>
          </a:prstGeom>
          <a:noFill/>
          <a:ln w="0">
            <a:noFill/>
          </a:ln>
        </p:spPr>
      </p:pic>
      <p:sp>
        <p:nvSpPr>
          <p:cNvPr id="254" name=""/>
          <p:cNvSpPr/>
          <p:nvPr/>
        </p:nvSpPr>
        <p:spPr>
          <a:xfrm>
            <a:off x="6119280" y="827280"/>
            <a:ext cx="3958200" cy="3800160"/>
          </a:xfrm>
          <a:prstGeom prst="rect">
            <a:avLst/>
          </a:prstGeom>
          <a:noFill/>
          <a:ln w="0">
            <a:noFill/>
          </a:ln>
        </p:spPr>
        <p:style>
          <a:lnRef idx="0"/>
          <a:fillRef idx="0"/>
          <a:effectRef idx="0"/>
          <a:fontRef idx="minor"/>
        </p:style>
        <p:txBody>
          <a:bodyPr lIns="90000" rIns="90000" tIns="45000" bIns="45000" anchor="t">
            <a:spAutoFit/>
          </a:bodyPr>
          <a:p>
            <a:pPr marL="216000" indent="-216000">
              <a:lnSpc>
                <a:spcPct val="100000"/>
              </a:lnSpc>
              <a:buClr>
                <a:srgbClr val="000000"/>
              </a:buClr>
              <a:buSzPct val="45000"/>
              <a:buFont typeface="Wingdings" charset="2"/>
              <a:buChar char=""/>
            </a:pPr>
            <a:r>
              <a:rPr b="0" lang="en-US" sz="1200" strike="noStrike" u="none">
                <a:solidFill>
                  <a:srgbClr val="000000"/>
                </a:solidFill>
                <a:effectLst/>
                <a:uFillTx/>
                <a:latin typeface="Arial"/>
                <a:ea typeface="DejaVu Sans"/>
              </a:rPr>
              <a:t>Waterfall plot that explains how individual metabolite contributions from a Random Forest (RF) model, assuming that age, gender, BMI and Waistline (cm) are in the model, influence the predicted probability for a specific sample (D1) of having the target outcome (likely PT2DM).</a:t>
            </a:r>
            <a:endParaRPr b="0" lang="en-US" sz="1200" strike="noStrike" u="none">
              <a:solidFill>
                <a:srgbClr val="000000"/>
              </a:solidFill>
              <a:effectLst/>
              <a:uFillTx/>
              <a:latin typeface="Arial"/>
            </a:endParaRPr>
          </a:p>
          <a:p>
            <a:pPr>
              <a:lnSpc>
                <a:spcPct val="100000"/>
              </a:lnSpc>
            </a:pPr>
            <a:endParaRPr b="0" lang="en-US" sz="1200" strike="noStrike" u="none">
              <a:solidFill>
                <a:srgbClr val="000000"/>
              </a:solidFill>
              <a:effectLst/>
              <a:uFillTx/>
              <a:latin typeface="Arial"/>
            </a:endParaRPr>
          </a:p>
          <a:p>
            <a:pPr marL="216000" indent="-216000">
              <a:lnSpc>
                <a:spcPct val="100000"/>
              </a:lnSpc>
              <a:spcBef>
                <a:spcPts val="1191"/>
              </a:spcBef>
              <a:spcAft>
                <a:spcPts val="992"/>
              </a:spcAft>
              <a:buClr>
                <a:srgbClr val="000000"/>
              </a:buClr>
              <a:buSzPct val="45000"/>
              <a:buFont typeface="Wingdings" charset="2"/>
              <a:buChar char=""/>
            </a:pPr>
            <a:r>
              <a:rPr b="0" lang="en-US" sz="1200" strike="noStrike" u="none">
                <a:solidFill>
                  <a:srgbClr val="000000"/>
                </a:solidFill>
                <a:effectLst/>
                <a:uFillTx/>
                <a:latin typeface="Arial"/>
                <a:ea typeface="DejaVu Sans"/>
              </a:rPr>
              <a:t>The fatty acid (FFA (20:4-5/12-OH)) is the dominant positive driver.</a:t>
            </a:r>
            <a:endParaRPr b="0" lang="en-US" sz="1200" strike="noStrike" u="none">
              <a:solidFill>
                <a:srgbClr val="000000"/>
              </a:solidFill>
              <a:effectLst/>
              <a:uFillTx/>
              <a:latin typeface="Arial"/>
            </a:endParaRPr>
          </a:p>
          <a:p>
            <a:pPr marL="216000" indent="-216000">
              <a:lnSpc>
                <a:spcPct val="100000"/>
              </a:lnSpc>
              <a:spcBef>
                <a:spcPts val="1191"/>
              </a:spcBef>
              <a:spcAft>
                <a:spcPts val="992"/>
              </a:spcAft>
              <a:buClr>
                <a:srgbClr val="000000"/>
              </a:buClr>
              <a:buSzPct val="45000"/>
              <a:buFont typeface="Wingdings" charset="2"/>
              <a:buChar char=""/>
            </a:pPr>
            <a:r>
              <a:rPr b="0" lang="en-US" sz="1200" strike="noStrike" u="none">
                <a:solidFill>
                  <a:srgbClr val="000000"/>
                </a:solidFill>
                <a:effectLst/>
                <a:uFillTx/>
                <a:latin typeface="Arial"/>
                <a:ea typeface="DejaVu Sans"/>
              </a:rPr>
              <a:t>TAG and DAG lipids provide additional positive contributions</a:t>
            </a:r>
            <a:r>
              <a:rPr b="0" lang="en-US" sz="1000" strike="noStrike" u="none">
                <a:solidFill>
                  <a:srgbClr val="000000"/>
                </a:solidFill>
                <a:effectLst/>
                <a:uFillTx/>
                <a:latin typeface="Arial"/>
                <a:ea typeface="DejaVu Sans"/>
              </a:rPr>
              <a:t>.</a:t>
            </a:r>
            <a:endParaRPr b="0" lang="en-US" sz="1000" strike="noStrike" u="none">
              <a:solidFill>
                <a:srgbClr val="000000"/>
              </a:solidFill>
              <a:effectLst/>
              <a:uFillTx/>
              <a:latin typeface="Arial"/>
            </a:endParaRPr>
          </a:p>
          <a:p>
            <a:pPr marL="216000" indent="-216000">
              <a:lnSpc>
                <a:spcPct val="100000"/>
              </a:lnSpc>
              <a:spcBef>
                <a:spcPts val="1191"/>
              </a:spcBef>
              <a:spcAft>
                <a:spcPts val="992"/>
              </a:spcAft>
              <a:buClr>
                <a:srgbClr val="000000"/>
              </a:buClr>
              <a:buSzPct val="45000"/>
              <a:buFont typeface="Wingdings" charset="2"/>
              <a:buChar char=""/>
            </a:pPr>
            <a:r>
              <a:rPr b="0" lang="en-US" sz="1200" strike="noStrike" u="none">
                <a:solidFill>
                  <a:srgbClr val="000000"/>
                </a:solidFill>
                <a:effectLst/>
                <a:uFillTx/>
                <a:latin typeface="Arial"/>
                <a:ea typeface="DejaVu Sans"/>
              </a:rPr>
              <a:t>Phosphatidic acids (PA (20:0/20:4) and PA (20:0/18:2)) and some TAG species reduce the probability.</a:t>
            </a:r>
            <a:endParaRPr b="0" lang="en-US" sz="1200" strike="noStrike" u="none">
              <a:solidFill>
                <a:srgbClr val="000000"/>
              </a:solidFill>
              <a:effectLst/>
              <a:uFillTx/>
              <a:latin typeface="Arial"/>
            </a:endParaRPr>
          </a:p>
          <a:p>
            <a:pPr marL="216000" indent="-216000">
              <a:lnSpc>
                <a:spcPct val="100000"/>
              </a:lnSpc>
              <a:spcBef>
                <a:spcPts val="1191"/>
              </a:spcBef>
              <a:spcAft>
                <a:spcPts val="992"/>
              </a:spcAft>
              <a:buClr>
                <a:srgbClr val="000000"/>
              </a:buClr>
              <a:buSzPct val="45000"/>
              <a:buFont typeface="Wingdings" charset="2"/>
              <a:buChar char=""/>
            </a:pPr>
            <a:r>
              <a:rPr b="0" lang="en-US" sz="1200" strike="noStrike" u="none">
                <a:solidFill>
                  <a:srgbClr val="000000"/>
                </a:solidFill>
                <a:effectLst/>
                <a:uFillTx/>
                <a:latin typeface="Arial"/>
                <a:ea typeface="DejaVu Sans"/>
              </a:rPr>
              <a:t>The final predicted probability is moderately above the baseline.</a:t>
            </a:r>
            <a:endParaRPr b="0" lang="en-US" sz="1200" strike="noStrike" u="none">
              <a:solidFill>
                <a:srgbClr val="000000"/>
              </a:solidFill>
              <a:effectLst/>
              <a:uFillTx/>
              <a:latin typeface="Arial"/>
            </a:endParaRPr>
          </a:p>
        </p:txBody>
      </p:sp>
      <p:sp>
        <p:nvSpPr>
          <p:cNvPr id="3" name="PlaceHolder 2"/>
          <p:cNvSpPr>
            <a:spLocks noGrp="1"/>
          </p:cNvSpPr>
          <p:nvPr>
            <p:ph type="sldNum" idx="11"/>
          </p:nvPr>
        </p:nvSpPr>
        <p:spPr/>
        <p:txBody>
          <a:bodyPr/>
          <a:p>
            <a:fld id="{41B74EB4-E9C3-4AD0-8B87-3C61511B9BD1}" type="slidenum">
              <a:t>59</a:t>
            </a:fld>
          </a:p>
        </p:txBody>
      </p:sp>
    </p:spTree>
  </p:cSld>
  <mc:AlternateContent>
    <mc:Choice Requires="p14">
      <p:transition spd="slow" p14:dur="2000"/>
    </mc:Choice>
    <mc:Fallback>
      <p:transition spd="slow"/>
    </mc:Fallback>
  </mc:AlternateContent>
</p:sld>
</file>

<file path=ppt/slides/slide6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5" name="PlaceHolder 1"/>
          <p:cNvSpPr>
            <a:spLocks noGrp="1"/>
          </p:cNvSpPr>
          <p:nvPr>
            <p:ph type="title"/>
          </p:nvPr>
        </p:nvSpPr>
        <p:spPr>
          <a:xfrm>
            <a:off x="360000" y="74880"/>
            <a:ext cx="9342720" cy="671400"/>
          </a:xfrm>
          <a:prstGeom prst="rect">
            <a:avLst/>
          </a:prstGeom>
          <a:noFill/>
          <a:ln w="0">
            <a:noFill/>
          </a:ln>
        </p:spPr>
        <p:txBody>
          <a:bodyPr lIns="0" rIns="0" tIns="0" bIns="0" anchor="ctr">
            <a:spAutoFit/>
          </a:bodyPr>
          <a:p>
            <a:pPr indent="0" algn="ctr">
              <a:lnSpc>
                <a:spcPct val="100000"/>
              </a:lnSpc>
              <a:buNone/>
              <a:tabLst>
                <a:tab algn="l" pos="0"/>
              </a:tabLst>
            </a:pPr>
            <a:r>
              <a:rPr b="0" lang="en-US" sz="3000" strike="noStrike" u="none">
                <a:solidFill>
                  <a:srgbClr val="ffffff"/>
                </a:solidFill>
                <a:effectLst/>
                <a:uFillTx/>
                <a:latin typeface="Arial"/>
              </a:rPr>
              <a:t>Random Forest: Conclusions</a:t>
            </a:r>
            <a:endParaRPr b="0" lang="en-US" sz="3000" strike="noStrike" u="none">
              <a:solidFill>
                <a:srgbClr val="000000"/>
              </a:solidFill>
              <a:effectLst/>
              <a:uFillTx/>
              <a:latin typeface="Arial"/>
            </a:endParaRPr>
          </a:p>
        </p:txBody>
      </p:sp>
      <p:sp>
        <p:nvSpPr>
          <p:cNvPr id="256" name="PlaceHolder 2"/>
          <p:cNvSpPr>
            <a:spLocks noGrp="1"/>
          </p:cNvSpPr>
          <p:nvPr>
            <p:ph/>
          </p:nvPr>
        </p:nvSpPr>
        <p:spPr>
          <a:xfrm>
            <a:off x="360000" y="1080000"/>
            <a:ext cx="9342720" cy="3582720"/>
          </a:xfrm>
          <a:prstGeom prst="rect">
            <a:avLst/>
          </a:prstGeom>
          <a:noFill/>
          <a:ln w="0">
            <a:noFill/>
          </a:ln>
        </p:spPr>
        <p:txBody>
          <a:bodyPr lIns="0" rIns="0" tIns="0" bIns="0" anchor="t">
            <a:normAutofit/>
          </a:bodyPr>
          <a:p>
            <a:pPr marL="432000" indent="-324000">
              <a:lnSpc>
                <a:spcPct val="100000"/>
              </a:lnSpc>
              <a:spcBef>
                <a:spcPts val="1191"/>
              </a:spcBef>
              <a:spcAft>
                <a:spcPts val="992"/>
              </a:spcAft>
              <a:buClr>
                <a:srgbClr val="000000"/>
              </a:buClr>
              <a:buSzPct val="45000"/>
              <a:buFont typeface="Wingdings" charset="2"/>
              <a:buChar char=""/>
            </a:pPr>
            <a:r>
              <a:rPr b="0" lang="en-US" sz="1600" strike="noStrike" u="none">
                <a:solidFill>
                  <a:srgbClr val="000000"/>
                </a:solidFill>
                <a:effectLst/>
                <a:uFillTx/>
                <a:latin typeface="Arial"/>
              </a:rPr>
              <a:t>Across all SHAP visualizations, the Random Forest model identifies a robust, biologically meaningful lipid signature that distinguishes T2DM from healthy controls. </a:t>
            </a:r>
            <a:endParaRPr b="0" lang="en-US" sz="1600" strike="noStrike" u="none">
              <a:solidFill>
                <a:srgbClr val="000000"/>
              </a:solidFill>
              <a:effectLst/>
              <a:uFillTx/>
              <a:latin typeface="Arial"/>
            </a:endParaRPr>
          </a:p>
          <a:p>
            <a:pPr marL="432000" indent="-324000">
              <a:lnSpc>
                <a:spcPct val="100000"/>
              </a:lnSpc>
              <a:spcBef>
                <a:spcPts val="1191"/>
              </a:spcBef>
              <a:spcAft>
                <a:spcPts val="992"/>
              </a:spcAft>
              <a:buClr>
                <a:srgbClr val="000000"/>
              </a:buClr>
              <a:buSzPct val="45000"/>
              <a:buFont typeface="Wingdings" charset="2"/>
              <a:buChar char=""/>
            </a:pPr>
            <a:r>
              <a:rPr b="0" lang="en-US" sz="1600" strike="noStrike" u="none">
                <a:solidFill>
                  <a:srgbClr val="000000"/>
                </a:solidFill>
                <a:effectLst/>
                <a:uFillTx/>
                <a:latin typeface="Arial"/>
              </a:rPr>
              <a:t>Free fatty acids, diacylglycerols, and numerous triacylglycerols collectively form the strongest predictors: high levels consistently push predictions toward T2DM. </a:t>
            </a:r>
            <a:endParaRPr b="0" lang="en-US" sz="1600" strike="noStrike" u="none">
              <a:solidFill>
                <a:srgbClr val="000000"/>
              </a:solidFill>
              <a:effectLst/>
              <a:uFillTx/>
              <a:latin typeface="Arial"/>
            </a:endParaRPr>
          </a:p>
          <a:p>
            <a:pPr marL="432000" indent="-324000">
              <a:lnSpc>
                <a:spcPct val="100000"/>
              </a:lnSpc>
              <a:spcBef>
                <a:spcPts val="1191"/>
              </a:spcBef>
              <a:spcAft>
                <a:spcPts val="992"/>
              </a:spcAft>
              <a:buClr>
                <a:srgbClr val="000000"/>
              </a:buClr>
              <a:buSzPct val="45000"/>
              <a:buFont typeface="Wingdings" charset="2"/>
              <a:buChar char=""/>
            </a:pPr>
            <a:r>
              <a:rPr b="0" lang="en-US" sz="1600" strike="noStrike" u="none">
                <a:solidFill>
                  <a:srgbClr val="000000"/>
                </a:solidFill>
                <a:effectLst/>
                <a:uFillTx/>
                <a:latin typeface="Arial"/>
              </a:rPr>
              <a:t>The model integrates many small-to-moderate signals from TAG species rather than relying on any single metabolite, capturing the broad dysregulation characteristic of insulin-resistant lipid metabolism. </a:t>
            </a:r>
            <a:endParaRPr b="0" lang="en-US" sz="1600" strike="noStrike" u="none">
              <a:solidFill>
                <a:srgbClr val="000000"/>
              </a:solidFill>
              <a:effectLst/>
              <a:uFillTx/>
              <a:latin typeface="Arial"/>
            </a:endParaRPr>
          </a:p>
          <a:p>
            <a:pPr marL="432000" indent="-324000">
              <a:lnSpc>
                <a:spcPct val="100000"/>
              </a:lnSpc>
              <a:spcBef>
                <a:spcPts val="1191"/>
              </a:spcBef>
              <a:spcAft>
                <a:spcPts val="992"/>
              </a:spcAft>
              <a:buClr>
                <a:srgbClr val="000000"/>
              </a:buClr>
              <a:buSzPct val="45000"/>
              <a:buFont typeface="Wingdings" charset="2"/>
              <a:buChar char=""/>
            </a:pPr>
            <a:r>
              <a:rPr b="0" lang="en-US" sz="1600" strike="noStrike" u="none">
                <a:solidFill>
                  <a:srgbClr val="000000"/>
                </a:solidFill>
                <a:effectLst/>
                <a:uFillTx/>
                <a:latin typeface="Arial"/>
              </a:rPr>
              <a:t>Random Forest learns a coherent lipotoxic profile: elevated storage lipids and FFAs drive diabetes prediction, while certain membrane lipids exert protective or modulatory effects. </a:t>
            </a:r>
            <a:endParaRPr b="0" lang="en-US" sz="1600" strike="noStrike" u="none">
              <a:solidFill>
                <a:srgbClr val="000000"/>
              </a:solidFill>
              <a:effectLst/>
              <a:uFillTx/>
              <a:latin typeface="Arial"/>
            </a:endParaRPr>
          </a:p>
        </p:txBody>
      </p:sp>
      <p:sp>
        <p:nvSpPr>
          <p:cNvPr id="4" name="PlaceHolder 3"/>
          <p:cNvSpPr>
            <a:spLocks noGrp="1"/>
          </p:cNvSpPr>
          <p:nvPr>
            <p:ph type="sldNum" idx="11"/>
          </p:nvPr>
        </p:nvSpPr>
        <p:spPr/>
        <p:txBody>
          <a:bodyPr/>
          <a:p>
            <a:fld id="{B0DB07EF-A3D8-4FE1-B369-9676DADAA87A}" type="slidenum">
              <a:t>60</a:t>
            </a:fld>
          </a:p>
        </p:txBody>
      </p:sp>
    </p:spTree>
  </p:cSld>
  <mc:AlternateContent>
    <mc:Choice Requires="p14">
      <p:transition spd="slow" p14:dur="2000"/>
    </mc:Choice>
    <mc:Fallback>
      <p:transition spd="slow"/>
    </mc:Fallback>
  </mc:AlternateContent>
</p:sld>
</file>

<file path=ppt/slides/slide6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7" name="PlaceHolder 1"/>
          <p:cNvSpPr>
            <a:spLocks noGrp="1"/>
          </p:cNvSpPr>
          <p:nvPr>
            <p:ph type="title"/>
          </p:nvPr>
        </p:nvSpPr>
        <p:spPr>
          <a:xfrm>
            <a:off x="360000" y="92160"/>
            <a:ext cx="9342720" cy="636480"/>
          </a:xfrm>
          <a:prstGeom prst="rect">
            <a:avLst/>
          </a:prstGeom>
          <a:noFill/>
          <a:ln w="0">
            <a:noFill/>
          </a:ln>
        </p:spPr>
        <p:txBody>
          <a:bodyPr lIns="0" rIns="0" tIns="0" bIns="0" anchor="ctr">
            <a:spAutoFit/>
          </a:bodyPr>
          <a:p>
            <a:pPr indent="0" algn="ctr">
              <a:lnSpc>
                <a:spcPct val="100000"/>
              </a:lnSpc>
              <a:buNone/>
              <a:tabLst>
                <a:tab algn="l" pos="0"/>
              </a:tabLst>
            </a:pPr>
            <a:r>
              <a:rPr b="0" lang="en-US" sz="3000" strike="noStrike" u="none">
                <a:solidFill>
                  <a:srgbClr val="ffffff"/>
                </a:solidFill>
                <a:effectLst/>
                <a:uFillTx/>
                <a:latin typeface="Arial"/>
              </a:rPr>
              <a:t>XGBoost: Top 20 metabolites by Gain</a:t>
            </a:r>
            <a:endParaRPr b="0" lang="en-US" sz="3000" strike="noStrike" u="none">
              <a:solidFill>
                <a:srgbClr val="000000"/>
              </a:solidFill>
              <a:effectLst/>
              <a:uFillTx/>
              <a:latin typeface="Arial"/>
            </a:endParaRPr>
          </a:p>
        </p:txBody>
      </p:sp>
      <p:sp>
        <p:nvSpPr>
          <p:cNvPr id="258" name=""/>
          <p:cNvSpPr/>
          <p:nvPr/>
        </p:nvSpPr>
        <p:spPr>
          <a:xfrm>
            <a:off x="6629400" y="1143000"/>
            <a:ext cx="3254400" cy="325800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en-US" sz="1600" strike="noStrike" u="none">
                <a:solidFill>
                  <a:srgbClr val="000000"/>
                </a:solidFill>
                <a:effectLst/>
                <a:uFillTx/>
                <a:latin typeface="Arial"/>
                <a:ea typeface="DejaVu Sans"/>
              </a:rPr>
              <a:t>This visualizes the most influential features in an XGBoost model assuming that age, gender, BMI and Waistline (cm) are in the model, based on their gain, which reflects each variable's relative contribution to reducing model error across all decision trees. The x-axis represents the gain score, where higher values indicate a more significant impact on the model’s predictive performance.</a:t>
            </a:r>
            <a:endParaRPr b="0" lang="en-US" sz="1600" strike="noStrike" u="none">
              <a:solidFill>
                <a:srgbClr val="000000"/>
              </a:solidFill>
              <a:effectLst/>
              <a:uFillTx/>
              <a:latin typeface="Arial"/>
            </a:endParaRPr>
          </a:p>
        </p:txBody>
      </p:sp>
      <p:pic>
        <p:nvPicPr>
          <p:cNvPr id="259" name="" descr=""/>
          <p:cNvPicPr/>
          <p:nvPr/>
        </p:nvPicPr>
        <p:blipFill>
          <a:blip r:embed="rId1"/>
          <a:stretch/>
        </p:blipFill>
        <p:spPr>
          <a:xfrm>
            <a:off x="0" y="728640"/>
            <a:ext cx="6624000" cy="4931640"/>
          </a:xfrm>
          <a:prstGeom prst="rect">
            <a:avLst/>
          </a:prstGeom>
          <a:noFill/>
          <a:ln w="0">
            <a:noFill/>
          </a:ln>
        </p:spPr>
      </p:pic>
      <p:sp>
        <p:nvSpPr>
          <p:cNvPr id="3" name="PlaceHolder 2"/>
          <p:cNvSpPr>
            <a:spLocks noGrp="1"/>
          </p:cNvSpPr>
          <p:nvPr>
            <p:ph type="sldNum" idx="11"/>
          </p:nvPr>
        </p:nvSpPr>
        <p:spPr/>
        <p:txBody>
          <a:bodyPr/>
          <a:p>
            <a:fld id="{FE385F32-BFFC-4A98-942A-9CD1BF49C2D8}" type="slidenum">
              <a:t>61</a:t>
            </a:fld>
          </a:p>
        </p:txBody>
      </p:sp>
    </p:spTree>
  </p:cSld>
  <mc:AlternateContent>
    <mc:Choice Requires="p14">
      <p:transition spd="slow" p14:dur="2000"/>
    </mc:Choice>
    <mc:Fallback>
      <p:transition spd="slow"/>
    </mc:Fallback>
  </mc:AlternateContent>
</p:sld>
</file>

<file path=ppt/slides/slide6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0" name="PlaceHolder 1"/>
          <p:cNvSpPr>
            <a:spLocks noGrp="1"/>
          </p:cNvSpPr>
          <p:nvPr>
            <p:ph type="title"/>
          </p:nvPr>
        </p:nvSpPr>
        <p:spPr>
          <a:xfrm>
            <a:off x="360000" y="195840"/>
            <a:ext cx="9342720" cy="428760"/>
          </a:xfrm>
          <a:prstGeom prst="rect">
            <a:avLst/>
          </a:prstGeom>
          <a:noFill/>
          <a:ln w="0">
            <a:noFill/>
          </a:ln>
        </p:spPr>
        <p:txBody>
          <a:bodyPr lIns="0" rIns="0" tIns="0" bIns="0" anchor="ctr">
            <a:spAutoFit/>
          </a:bodyPr>
          <a:p>
            <a:pPr indent="0" algn="ctr">
              <a:lnSpc>
                <a:spcPct val="100000"/>
              </a:lnSpc>
              <a:buNone/>
              <a:tabLst>
                <a:tab algn="l" pos="0"/>
              </a:tabLst>
            </a:pPr>
            <a:r>
              <a:rPr b="0" lang="en-US" sz="3000" strike="noStrike" u="none">
                <a:solidFill>
                  <a:srgbClr val="ffffff"/>
                </a:solidFill>
                <a:effectLst/>
                <a:uFillTx/>
                <a:latin typeface="Arial"/>
              </a:rPr>
              <a:t>XGBoost: SHAP Values</a:t>
            </a:r>
            <a:endParaRPr b="0" lang="en-US" sz="3000" strike="noStrike" u="none">
              <a:solidFill>
                <a:srgbClr val="000000"/>
              </a:solidFill>
              <a:effectLst/>
              <a:uFillTx/>
              <a:latin typeface="Arial"/>
            </a:endParaRPr>
          </a:p>
        </p:txBody>
      </p:sp>
      <p:pic>
        <p:nvPicPr>
          <p:cNvPr id="261" name="" descr=""/>
          <p:cNvPicPr/>
          <p:nvPr/>
        </p:nvPicPr>
        <p:blipFill>
          <a:blip r:embed="rId1"/>
          <a:stretch/>
        </p:blipFill>
        <p:spPr>
          <a:xfrm>
            <a:off x="0" y="730440"/>
            <a:ext cx="6168960" cy="4752720"/>
          </a:xfrm>
          <a:prstGeom prst="rect">
            <a:avLst/>
          </a:prstGeom>
          <a:noFill/>
          <a:ln w="0">
            <a:noFill/>
          </a:ln>
        </p:spPr>
      </p:pic>
      <p:sp>
        <p:nvSpPr>
          <p:cNvPr id="262" name=""/>
          <p:cNvSpPr/>
          <p:nvPr/>
        </p:nvSpPr>
        <p:spPr>
          <a:xfrm>
            <a:off x="6307560" y="772560"/>
            <a:ext cx="3519000" cy="4546800"/>
          </a:xfrm>
          <a:prstGeom prst="rect">
            <a:avLst/>
          </a:prstGeom>
          <a:noFill/>
          <a:ln w="0">
            <a:noFill/>
          </a:ln>
        </p:spPr>
        <p:style>
          <a:lnRef idx="0"/>
          <a:fillRef idx="0"/>
          <a:effectRef idx="0"/>
          <a:fontRef idx="minor"/>
        </p:style>
        <p:txBody>
          <a:bodyPr lIns="90000" rIns="90000" tIns="45000" bIns="45000" anchor="t">
            <a:spAutoFit/>
          </a:bodyPr>
          <a:p>
            <a:pPr marL="216000" indent="-216000">
              <a:lnSpc>
                <a:spcPct val="100000"/>
              </a:lnSpc>
              <a:buClr>
                <a:srgbClr val="000000"/>
              </a:buClr>
              <a:buSzPct val="45000"/>
              <a:buFont typeface="Wingdings" charset="2"/>
              <a:buChar char=""/>
            </a:pPr>
            <a:r>
              <a:rPr b="0" lang="en-US" sz="1200" strike="noStrike" u="none">
                <a:solidFill>
                  <a:srgbClr val="000000"/>
                </a:solidFill>
                <a:effectLst/>
                <a:uFillTx/>
                <a:latin typeface="Arial"/>
                <a:ea typeface="DejaVu Sans"/>
              </a:rPr>
              <a:t>This graph presents a SHAP summary for the top 20 metabolites that most strongly influence the prediction of Type 2 Diabetes Mellitus (T2DM) in an XGBoost model assuming that age, gender, BMI and Waistline (cm) are in the model. It uses violin plots to visualize the distribution of SHAP values, which quantify each metabolite's impact on the model's predicted log-odds for T2DM.</a:t>
            </a:r>
            <a:endParaRPr b="0" lang="en-US" sz="1200" strike="noStrike" u="none">
              <a:solidFill>
                <a:srgbClr val="000000"/>
              </a:solidFill>
              <a:effectLst/>
              <a:uFillTx/>
              <a:latin typeface="Arial"/>
            </a:endParaRPr>
          </a:p>
          <a:p>
            <a:pPr>
              <a:lnSpc>
                <a:spcPct val="100000"/>
              </a:lnSpc>
            </a:pPr>
            <a:endParaRPr b="0" lang="en-US" sz="1200" strike="noStrike" u="none">
              <a:solidFill>
                <a:srgbClr val="000000"/>
              </a:solidFill>
              <a:effectLst/>
              <a:uFillTx/>
              <a:latin typeface="Arial"/>
            </a:endParaRPr>
          </a:p>
          <a:p>
            <a:pPr marL="216000" indent="-216000">
              <a:lnSpc>
                <a:spcPct val="100000"/>
              </a:lnSpc>
              <a:buClr>
                <a:srgbClr val="000000"/>
              </a:buClr>
              <a:buSzPct val="45000"/>
              <a:buFont typeface="Wingdings" charset="2"/>
              <a:buChar char=""/>
            </a:pPr>
            <a:r>
              <a:rPr b="0" lang="en-US" sz="1200" strike="noStrike" u="none">
                <a:solidFill>
                  <a:srgbClr val="000000"/>
                </a:solidFill>
                <a:effectLst/>
                <a:uFillTx/>
                <a:latin typeface="Arial"/>
                <a:ea typeface="DejaVu Sans"/>
              </a:rPr>
              <a:t>TAG (TAG (49:2-18:2), TAG (54:6-18:3), TAG (56:6-20:4), TAG (54:5-18:3)) species dominate the model’s prediction.</a:t>
            </a:r>
            <a:endParaRPr b="0" lang="en-US" sz="1200" strike="noStrike" u="none">
              <a:solidFill>
                <a:srgbClr val="000000"/>
              </a:solidFill>
              <a:effectLst/>
              <a:uFillTx/>
              <a:latin typeface="Arial"/>
            </a:endParaRPr>
          </a:p>
          <a:p>
            <a:pPr>
              <a:lnSpc>
                <a:spcPct val="100000"/>
              </a:lnSpc>
            </a:pPr>
            <a:endParaRPr b="0" lang="en-US" sz="1200" strike="noStrike" u="none">
              <a:solidFill>
                <a:srgbClr val="000000"/>
              </a:solidFill>
              <a:effectLst/>
              <a:uFillTx/>
              <a:latin typeface="Arial"/>
            </a:endParaRPr>
          </a:p>
          <a:p>
            <a:pPr marL="216000" indent="-216000">
              <a:lnSpc>
                <a:spcPct val="100000"/>
              </a:lnSpc>
              <a:spcBef>
                <a:spcPts val="1191"/>
              </a:spcBef>
              <a:spcAft>
                <a:spcPts val="992"/>
              </a:spcAft>
              <a:buClr>
                <a:srgbClr val="000000"/>
              </a:buClr>
              <a:buSzPct val="45000"/>
              <a:buFont typeface="Wingdings" charset="2"/>
              <a:buChar char=""/>
            </a:pPr>
            <a:r>
              <a:rPr b="0" lang="en-US" sz="1200" strike="noStrike" u="none">
                <a:solidFill>
                  <a:srgbClr val="000000"/>
                </a:solidFill>
                <a:effectLst/>
                <a:uFillTx/>
                <a:latin typeface="Arial"/>
                <a:ea typeface="DejaVu Sans"/>
              </a:rPr>
              <a:t>The strongest positive contributor is the free fatty acid (FFA (20:4–5/12-OH)).</a:t>
            </a:r>
            <a:endParaRPr b="0" lang="en-US" sz="1200" strike="noStrike" u="none">
              <a:solidFill>
                <a:srgbClr val="000000"/>
              </a:solidFill>
              <a:effectLst/>
              <a:uFillTx/>
              <a:latin typeface="Arial"/>
            </a:endParaRPr>
          </a:p>
          <a:p>
            <a:pPr marL="216000" indent="-216000">
              <a:lnSpc>
                <a:spcPct val="100000"/>
              </a:lnSpc>
              <a:spcBef>
                <a:spcPts val="1191"/>
              </a:spcBef>
              <a:spcAft>
                <a:spcPts val="992"/>
              </a:spcAft>
              <a:buClr>
                <a:srgbClr val="000000"/>
              </a:buClr>
              <a:buSzPct val="45000"/>
              <a:buFont typeface="Wingdings" charset="2"/>
              <a:buChar char=""/>
            </a:pPr>
            <a:r>
              <a:rPr b="0" lang="en-US" sz="1200" strike="noStrike" u="none">
                <a:solidFill>
                  <a:srgbClr val="000000"/>
                </a:solidFill>
                <a:effectLst/>
                <a:uFillTx/>
                <a:latin typeface="Arial"/>
                <a:ea typeface="DejaVu Sans"/>
              </a:rPr>
              <a:t>Ether-linked phosphatidylcholine (PC-O 34:3),  phoshatidylcholine (PC (38:2), PC (38:3), PC (36:1-2)), PA and DAG species exert mixed or protective effects.</a:t>
            </a:r>
            <a:endParaRPr b="0" lang="en-US" sz="1200" strike="noStrike" u="none">
              <a:solidFill>
                <a:srgbClr val="000000"/>
              </a:solidFill>
              <a:effectLst/>
              <a:uFillTx/>
              <a:latin typeface="Arial"/>
            </a:endParaRPr>
          </a:p>
          <a:p>
            <a:pPr marL="216000" indent="-216000">
              <a:lnSpc>
                <a:spcPct val="100000"/>
              </a:lnSpc>
              <a:spcBef>
                <a:spcPts val="1191"/>
              </a:spcBef>
              <a:spcAft>
                <a:spcPts val="992"/>
              </a:spcAft>
              <a:buClr>
                <a:srgbClr val="000000"/>
              </a:buClr>
              <a:buSzPct val="45000"/>
              <a:buFont typeface="Wingdings" charset="2"/>
              <a:buChar char=""/>
            </a:pPr>
            <a:r>
              <a:rPr b="0" lang="en-US" sz="1200" strike="noStrike" u="none">
                <a:solidFill>
                  <a:srgbClr val="000000"/>
                </a:solidFill>
                <a:effectLst/>
                <a:uFillTx/>
                <a:latin typeface="Arial"/>
                <a:ea typeface="DejaVu Sans"/>
              </a:rPr>
              <a:t>Carnosine and Phoshatidylethanolamine (PE (40:7)) show weaker but noticeable influence.</a:t>
            </a:r>
            <a:endParaRPr b="0" lang="en-US" sz="1200" strike="noStrike" u="none">
              <a:solidFill>
                <a:srgbClr val="000000"/>
              </a:solidFill>
              <a:effectLst/>
              <a:uFillTx/>
              <a:latin typeface="Arial"/>
            </a:endParaRPr>
          </a:p>
        </p:txBody>
      </p:sp>
      <p:sp>
        <p:nvSpPr>
          <p:cNvPr id="3" name="PlaceHolder 2"/>
          <p:cNvSpPr>
            <a:spLocks noGrp="1"/>
          </p:cNvSpPr>
          <p:nvPr>
            <p:ph type="sldNum" idx="11"/>
          </p:nvPr>
        </p:nvSpPr>
        <p:spPr/>
        <p:txBody>
          <a:bodyPr/>
          <a:p>
            <a:fld id="{895B3DF9-436A-4338-9292-035B8E0EEB79}" type="slidenum">
              <a:t>62</a:t>
            </a:fld>
          </a:p>
        </p:txBody>
      </p:sp>
    </p:spTree>
  </p:cSld>
  <mc:AlternateContent>
    <mc:Choice Requires="p14">
      <p:transition spd="slow" p14:dur="2000"/>
    </mc:Choice>
    <mc:Fallback>
      <p:transition spd="slow"/>
    </mc:Fallback>
  </mc:AlternateContent>
</p:sld>
</file>

<file path=ppt/slides/slide6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3" name="PlaceHolder 1"/>
          <p:cNvSpPr>
            <a:spLocks noGrp="1"/>
          </p:cNvSpPr>
          <p:nvPr>
            <p:ph type="title"/>
          </p:nvPr>
        </p:nvSpPr>
        <p:spPr>
          <a:xfrm>
            <a:off x="360000" y="195840"/>
            <a:ext cx="9342720" cy="428760"/>
          </a:xfrm>
          <a:prstGeom prst="rect">
            <a:avLst/>
          </a:prstGeom>
          <a:noFill/>
          <a:ln w="0">
            <a:noFill/>
          </a:ln>
        </p:spPr>
        <p:txBody>
          <a:bodyPr lIns="0" rIns="0" tIns="0" bIns="0" anchor="ctr">
            <a:spAutoFit/>
          </a:bodyPr>
          <a:p>
            <a:pPr indent="0" algn="ctr">
              <a:lnSpc>
                <a:spcPct val="100000"/>
              </a:lnSpc>
              <a:buNone/>
              <a:tabLst>
                <a:tab algn="l" pos="0"/>
              </a:tabLst>
            </a:pPr>
            <a:r>
              <a:rPr b="0" lang="en-US" sz="3000" strike="noStrike" u="none">
                <a:solidFill>
                  <a:srgbClr val="ffffff"/>
                </a:solidFill>
                <a:effectLst/>
                <a:uFillTx/>
                <a:latin typeface="Arial"/>
              </a:rPr>
              <a:t>XGBoost: SHAP Values</a:t>
            </a:r>
            <a:endParaRPr b="0" lang="en-US" sz="3000" strike="noStrike" u="none">
              <a:solidFill>
                <a:srgbClr val="000000"/>
              </a:solidFill>
              <a:effectLst/>
              <a:uFillTx/>
              <a:latin typeface="Arial"/>
            </a:endParaRPr>
          </a:p>
        </p:txBody>
      </p:sp>
      <p:pic>
        <p:nvPicPr>
          <p:cNvPr id="264" name="" descr=""/>
          <p:cNvPicPr/>
          <p:nvPr/>
        </p:nvPicPr>
        <p:blipFill>
          <a:blip r:embed="rId1"/>
          <a:stretch/>
        </p:blipFill>
        <p:spPr>
          <a:xfrm>
            <a:off x="0" y="735120"/>
            <a:ext cx="5711760" cy="4748040"/>
          </a:xfrm>
          <a:prstGeom prst="rect">
            <a:avLst/>
          </a:prstGeom>
          <a:noFill/>
          <a:ln w="0">
            <a:noFill/>
          </a:ln>
        </p:spPr>
      </p:pic>
      <p:sp>
        <p:nvSpPr>
          <p:cNvPr id="265" name=""/>
          <p:cNvSpPr/>
          <p:nvPr/>
        </p:nvSpPr>
        <p:spPr>
          <a:xfrm>
            <a:off x="6172200" y="888480"/>
            <a:ext cx="3840120" cy="3821760"/>
          </a:xfrm>
          <a:prstGeom prst="rect">
            <a:avLst/>
          </a:prstGeom>
          <a:noFill/>
          <a:ln w="0">
            <a:noFill/>
          </a:ln>
        </p:spPr>
        <p:style>
          <a:lnRef idx="0"/>
          <a:fillRef idx="0"/>
          <a:effectRef idx="0"/>
          <a:fontRef idx="minor"/>
        </p:style>
        <p:txBody>
          <a:bodyPr lIns="90000" rIns="90000" tIns="45000" bIns="45000" anchor="t">
            <a:spAutoFit/>
          </a:bodyPr>
          <a:p>
            <a:pPr marL="216000" indent="-216000">
              <a:lnSpc>
                <a:spcPct val="100000"/>
              </a:lnSpc>
              <a:buClr>
                <a:srgbClr val="000000"/>
              </a:buClr>
              <a:buSzPct val="45000"/>
              <a:buFont typeface="Wingdings" charset="2"/>
              <a:buChar char=""/>
            </a:pPr>
            <a:r>
              <a:rPr b="0" lang="en-US" sz="1200" strike="noStrike" u="none">
                <a:solidFill>
                  <a:srgbClr val="000000"/>
                </a:solidFill>
                <a:effectLst/>
                <a:uFillTx/>
                <a:latin typeface="Arial"/>
                <a:ea typeface="DejaVu Sans"/>
              </a:rPr>
              <a:t>SHAP (SHapley Additive exPlanations) summary plot displaying the distribution of SHAP values (ϕ) for the most influential features identified by a XGBoost model assuming that age, gender, BMI and Waistline (cm) are in the model. SHAP values represent the contribution of each feature to the model's output for individual predictions.</a:t>
            </a:r>
            <a:endParaRPr b="0" lang="en-US" sz="1200" strike="noStrike" u="none">
              <a:solidFill>
                <a:srgbClr val="000000"/>
              </a:solidFill>
              <a:effectLst/>
              <a:uFillTx/>
              <a:latin typeface="Arial"/>
            </a:endParaRPr>
          </a:p>
          <a:p>
            <a:pPr>
              <a:lnSpc>
                <a:spcPct val="100000"/>
              </a:lnSpc>
            </a:pPr>
            <a:endParaRPr b="0" lang="en-US" sz="1200" strike="noStrike" u="none">
              <a:solidFill>
                <a:srgbClr val="000000"/>
              </a:solidFill>
              <a:effectLst/>
              <a:uFillTx/>
              <a:latin typeface="Arial"/>
            </a:endParaRPr>
          </a:p>
          <a:p>
            <a:pPr marL="216000" indent="-216000">
              <a:lnSpc>
                <a:spcPct val="100000"/>
              </a:lnSpc>
              <a:buClr>
                <a:srgbClr val="000000"/>
              </a:buClr>
              <a:buSzPct val="45000"/>
              <a:buFont typeface="Wingdings" charset="2"/>
              <a:buChar char=""/>
            </a:pPr>
            <a:r>
              <a:rPr b="0" lang="en-US" sz="1200" strike="noStrike" u="none">
                <a:solidFill>
                  <a:srgbClr val="000000"/>
                </a:solidFill>
                <a:effectLst/>
                <a:uFillTx/>
                <a:latin typeface="Arial"/>
                <a:ea typeface="DejaVu Sans"/>
              </a:rPr>
              <a:t>Triacylglycerols (TAG (54:6-18:3), TAG (51:4-18:2)), phosphatidylcholine (PC (36:1-2)) and Sphingomyelin (SM (36:2)) cluster near 0</a:t>
            </a:r>
            <a:endParaRPr b="0" lang="en-US" sz="1200" strike="noStrike" u="none">
              <a:solidFill>
                <a:srgbClr val="000000"/>
              </a:solidFill>
              <a:effectLst/>
              <a:uFillTx/>
              <a:latin typeface="Arial"/>
            </a:endParaRPr>
          </a:p>
          <a:p>
            <a:pPr>
              <a:lnSpc>
                <a:spcPct val="100000"/>
              </a:lnSpc>
            </a:pPr>
            <a:endParaRPr b="0" lang="en-US" sz="1200" strike="noStrike" u="none">
              <a:solidFill>
                <a:srgbClr val="000000"/>
              </a:solidFill>
              <a:effectLst/>
              <a:uFillTx/>
              <a:latin typeface="Arial"/>
            </a:endParaRPr>
          </a:p>
          <a:p>
            <a:pPr marL="216000" indent="-216000">
              <a:lnSpc>
                <a:spcPct val="100000"/>
              </a:lnSpc>
              <a:buClr>
                <a:srgbClr val="000000"/>
              </a:buClr>
              <a:buSzPct val="45000"/>
              <a:buFont typeface="Wingdings" charset="2"/>
              <a:buChar char=""/>
            </a:pPr>
            <a:r>
              <a:rPr b="0" lang="en-US" sz="1200" strike="noStrike" u="none">
                <a:solidFill>
                  <a:srgbClr val="000000"/>
                </a:solidFill>
                <a:effectLst/>
                <a:uFillTx/>
                <a:latin typeface="Arial"/>
                <a:ea typeface="DejaVu Sans"/>
              </a:rPr>
              <a:t>Phospholipids (PC (38:2), PC (38:3), PC-O (34:3)) and some DAG (DAG (18:2/18:3)) species show both positive and negative contributions.</a:t>
            </a:r>
            <a:endParaRPr b="0" lang="en-US" sz="1200" strike="noStrike" u="none">
              <a:solidFill>
                <a:srgbClr val="000000"/>
              </a:solidFill>
              <a:effectLst/>
              <a:uFillTx/>
              <a:latin typeface="Arial"/>
            </a:endParaRPr>
          </a:p>
          <a:p>
            <a:pPr>
              <a:lnSpc>
                <a:spcPct val="100000"/>
              </a:lnSpc>
            </a:pPr>
            <a:endParaRPr b="0" lang="en-US" sz="1200" strike="noStrike" u="none">
              <a:solidFill>
                <a:srgbClr val="000000"/>
              </a:solidFill>
              <a:effectLst/>
              <a:uFillTx/>
              <a:latin typeface="Arial"/>
            </a:endParaRPr>
          </a:p>
          <a:p>
            <a:pPr marL="216000" indent="-216000">
              <a:lnSpc>
                <a:spcPct val="100000"/>
              </a:lnSpc>
              <a:buClr>
                <a:srgbClr val="000000"/>
              </a:buClr>
              <a:buSzPct val="45000"/>
              <a:buFont typeface="Wingdings" charset="2"/>
              <a:buChar char=""/>
            </a:pPr>
            <a:r>
              <a:rPr b="0" lang="en-US" sz="1200" strike="noStrike" u="none">
                <a:solidFill>
                  <a:srgbClr val="000000"/>
                </a:solidFill>
                <a:effectLst/>
                <a:uFillTx/>
                <a:latin typeface="Arial"/>
                <a:ea typeface="DejaVu Sans"/>
              </a:rPr>
              <a:t>The fatty acid (FFA (20:4-5/12-OH)) and triacylglycerol (TAG (50:1-16:0)) show primarily negative SHAP values</a:t>
            </a:r>
            <a:endParaRPr b="0" lang="en-US" sz="1200" strike="noStrike" u="none">
              <a:solidFill>
                <a:srgbClr val="000000"/>
              </a:solidFill>
              <a:effectLst/>
              <a:uFillTx/>
              <a:latin typeface="Arial"/>
            </a:endParaRPr>
          </a:p>
          <a:p>
            <a:pPr>
              <a:lnSpc>
                <a:spcPct val="100000"/>
              </a:lnSpc>
            </a:pPr>
            <a:endParaRPr b="0" lang="en-US" sz="1200" strike="noStrike" u="none">
              <a:solidFill>
                <a:srgbClr val="000000"/>
              </a:solidFill>
              <a:effectLst/>
              <a:uFillTx/>
              <a:latin typeface="Arial"/>
            </a:endParaRPr>
          </a:p>
          <a:p>
            <a:pPr marL="216000" indent="-216000">
              <a:lnSpc>
                <a:spcPct val="100000"/>
              </a:lnSpc>
              <a:spcBef>
                <a:spcPts val="1191"/>
              </a:spcBef>
              <a:spcAft>
                <a:spcPts val="992"/>
              </a:spcAft>
              <a:buClr>
                <a:srgbClr val="000000"/>
              </a:buClr>
              <a:buSzPct val="45000"/>
              <a:buFont typeface="Wingdings" charset="2"/>
              <a:buChar char=""/>
            </a:pPr>
            <a:r>
              <a:rPr b="0" lang="en-US" sz="1200" strike="noStrike" u="none">
                <a:solidFill>
                  <a:srgbClr val="000000"/>
                </a:solidFill>
                <a:effectLst/>
                <a:uFillTx/>
                <a:latin typeface="Arial"/>
                <a:ea typeface="DejaVu Sans"/>
              </a:rPr>
              <a:t>Carnosine behaves differently than lipids </a:t>
            </a:r>
            <a:endParaRPr b="0" lang="en-US" sz="1200" strike="noStrike" u="none">
              <a:solidFill>
                <a:srgbClr val="000000"/>
              </a:solidFill>
              <a:effectLst/>
              <a:uFillTx/>
              <a:latin typeface="Arial"/>
            </a:endParaRPr>
          </a:p>
        </p:txBody>
      </p:sp>
      <p:sp>
        <p:nvSpPr>
          <p:cNvPr id="3" name="PlaceHolder 2"/>
          <p:cNvSpPr>
            <a:spLocks noGrp="1"/>
          </p:cNvSpPr>
          <p:nvPr>
            <p:ph type="sldNum" idx="11"/>
          </p:nvPr>
        </p:nvSpPr>
        <p:spPr/>
        <p:txBody>
          <a:bodyPr/>
          <a:p>
            <a:fld id="{028B3E2A-246D-4D86-B122-A4A798ED6707}" type="slidenum">
              <a:t>63</a:t>
            </a:fld>
          </a:p>
        </p:txBody>
      </p:sp>
    </p:spTree>
  </p:cSld>
  <mc:AlternateContent>
    <mc:Choice Requires="p14">
      <p:transition spd="slow" p14:dur="2000"/>
    </mc:Choice>
    <mc:Fallback>
      <p:transition spd="slow"/>
    </mc:Fallback>
  </mc:AlternateContent>
</p:sld>
</file>

<file path=ppt/slides/slide6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6" name="PlaceHolder 1"/>
          <p:cNvSpPr>
            <a:spLocks noGrp="1"/>
          </p:cNvSpPr>
          <p:nvPr>
            <p:ph type="title"/>
          </p:nvPr>
        </p:nvSpPr>
        <p:spPr>
          <a:xfrm>
            <a:off x="360000" y="195840"/>
            <a:ext cx="9342720" cy="428760"/>
          </a:xfrm>
          <a:prstGeom prst="rect">
            <a:avLst/>
          </a:prstGeom>
          <a:noFill/>
          <a:ln w="0">
            <a:noFill/>
          </a:ln>
        </p:spPr>
        <p:txBody>
          <a:bodyPr lIns="0" rIns="0" tIns="0" bIns="0" anchor="ctr">
            <a:spAutoFit/>
          </a:bodyPr>
          <a:p>
            <a:pPr indent="0" algn="ctr">
              <a:lnSpc>
                <a:spcPct val="100000"/>
              </a:lnSpc>
              <a:buNone/>
              <a:tabLst>
                <a:tab algn="l" pos="0"/>
              </a:tabLst>
            </a:pPr>
            <a:r>
              <a:rPr b="0" lang="en-US" sz="3000" strike="noStrike" u="none">
                <a:solidFill>
                  <a:srgbClr val="ffffff"/>
                </a:solidFill>
                <a:effectLst/>
                <a:uFillTx/>
                <a:latin typeface="Arial"/>
              </a:rPr>
              <a:t>XGBoost: Difference Between Groups</a:t>
            </a:r>
            <a:endParaRPr b="0" lang="en-US" sz="3000" strike="noStrike" u="none">
              <a:solidFill>
                <a:srgbClr val="000000"/>
              </a:solidFill>
              <a:effectLst/>
              <a:uFillTx/>
              <a:latin typeface="Arial"/>
            </a:endParaRPr>
          </a:p>
        </p:txBody>
      </p:sp>
      <p:sp>
        <p:nvSpPr>
          <p:cNvPr id="267" name=""/>
          <p:cNvSpPr/>
          <p:nvPr/>
        </p:nvSpPr>
        <p:spPr>
          <a:xfrm>
            <a:off x="360360" y="1080360"/>
            <a:ext cx="9342720" cy="3582720"/>
          </a:xfrm>
          <a:prstGeom prst="rect">
            <a:avLst/>
          </a:prstGeom>
          <a:noFill/>
          <a:ln w="0">
            <a:noFill/>
          </a:ln>
        </p:spPr>
        <p:style>
          <a:lnRef idx="0"/>
          <a:fillRef idx="0"/>
          <a:effectRef idx="0"/>
          <a:fontRef idx="minor"/>
        </p:style>
        <p:txBody>
          <a:bodyPr lIns="0" rIns="0" tIns="0" bIns="0" anchor="t">
            <a:normAutofit/>
          </a:bodyPr>
          <a:p>
            <a:pPr marL="432000" indent="-324000">
              <a:lnSpc>
                <a:spcPct val="100000"/>
              </a:lnSpc>
              <a:spcBef>
                <a:spcPts val="1417"/>
              </a:spcBef>
              <a:buClr>
                <a:srgbClr val="000000"/>
              </a:buClr>
              <a:buSzPct val="45000"/>
              <a:buFont typeface="Wingdings" charset="2"/>
              <a:buChar char=""/>
            </a:pPr>
            <a:r>
              <a:rPr b="0" lang="en-US" sz="2500" strike="noStrike" u="none">
                <a:solidFill>
                  <a:srgbClr val="000000"/>
                </a:solidFill>
                <a:effectLst/>
                <a:uFillTx/>
                <a:latin typeface="Arial"/>
                <a:ea typeface="DejaVu Sans"/>
              </a:rPr>
              <a:t>H</a:t>
            </a:r>
            <a:r>
              <a:rPr b="0" lang="en-US" sz="2500" strike="noStrike" u="none" baseline="-8000">
                <a:solidFill>
                  <a:srgbClr val="000000"/>
                </a:solidFill>
                <a:effectLst/>
                <a:uFillTx/>
                <a:latin typeface="Arial"/>
                <a:ea typeface="DejaVu Sans"/>
              </a:rPr>
              <a:t>0</a:t>
            </a:r>
            <a:r>
              <a:rPr b="0" lang="en-US" sz="2500" strike="noStrike" u="none">
                <a:solidFill>
                  <a:srgbClr val="000000"/>
                </a:solidFill>
                <a:effectLst/>
                <a:uFillTx/>
                <a:latin typeface="Arial"/>
                <a:ea typeface="DejaVu Sans"/>
              </a:rPr>
              <a:t>: no difference in SHAP values between Healthy and Type 2 diabetic subjects </a:t>
            </a:r>
            <a:br>
              <a:rPr sz="2500"/>
            </a:br>
            <a:r>
              <a:rPr b="0" lang="en-US" sz="2500" strike="noStrike" u="none">
                <a:solidFill>
                  <a:srgbClr val="000000"/>
                </a:solidFill>
                <a:effectLst/>
                <a:uFillTx/>
                <a:latin typeface="Arial"/>
                <a:ea typeface="DejaVu Sans"/>
              </a:rPr>
              <a:t>H</a:t>
            </a:r>
            <a:r>
              <a:rPr b="0" lang="en-US" sz="2500" strike="noStrike" u="none" baseline="-8000">
                <a:solidFill>
                  <a:srgbClr val="000000"/>
                </a:solidFill>
                <a:effectLst/>
                <a:uFillTx/>
                <a:latin typeface="Arial"/>
                <a:ea typeface="DejaVu Sans"/>
              </a:rPr>
              <a:t>A</a:t>
            </a:r>
            <a:r>
              <a:rPr b="0" lang="en-US" sz="2500" strike="noStrike" u="none">
                <a:solidFill>
                  <a:srgbClr val="000000"/>
                </a:solidFill>
                <a:effectLst/>
                <a:uFillTx/>
                <a:latin typeface="Arial"/>
                <a:ea typeface="DejaVu Sans"/>
              </a:rPr>
              <a:t>: difference in SHAP values between Healthy and Type 2 diabetic subjects</a:t>
            </a:r>
            <a:endParaRPr b="0" lang="en-US" sz="2500" strike="noStrike" u="none">
              <a:solidFill>
                <a:srgbClr val="000000"/>
              </a:solidFill>
              <a:effectLst/>
              <a:uFillTx/>
              <a:latin typeface="Arial"/>
            </a:endParaRPr>
          </a:p>
          <a:p>
            <a:pPr marL="432000" indent="-324000">
              <a:lnSpc>
                <a:spcPct val="100000"/>
              </a:lnSpc>
              <a:spcBef>
                <a:spcPts val="1417"/>
              </a:spcBef>
              <a:buClr>
                <a:srgbClr val="000000"/>
              </a:buClr>
              <a:buSzPct val="45000"/>
              <a:buFont typeface="Wingdings" charset="2"/>
              <a:buChar char=""/>
            </a:pPr>
            <a:r>
              <a:rPr b="0" lang="en-US" sz="2500" strike="noStrike" u="none">
                <a:solidFill>
                  <a:srgbClr val="000000"/>
                </a:solidFill>
                <a:effectLst/>
                <a:uFillTx/>
                <a:latin typeface="Arial"/>
                <a:ea typeface="DejaVu Sans"/>
              </a:rPr>
              <a:t>p-value &lt; 2.2x10</a:t>
            </a:r>
            <a:r>
              <a:rPr b="0" lang="en-US" sz="2500" strike="noStrike" u="none" baseline="33000">
                <a:solidFill>
                  <a:srgbClr val="000000"/>
                </a:solidFill>
                <a:effectLst/>
                <a:uFillTx/>
                <a:latin typeface="Arial"/>
                <a:ea typeface="DejaVu Sans"/>
              </a:rPr>
              <a:t>-16</a:t>
            </a:r>
            <a:r>
              <a:rPr b="0" lang="en-US" sz="2500" strike="noStrike" u="none">
                <a:solidFill>
                  <a:srgbClr val="000000"/>
                </a:solidFill>
                <a:effectLst/>
                <a:uFillTx/>
                <a:latin typeface="Arial"/>
                <a:ea typeface="DejaVu Sans"/>
              </a:rPr>
              <a:t>, i.e., there is a highly significant difference in SHAP values between Healthy and Type 2 diabetic subjects</a:t>
            </a:r>
            <a:endParaRPr b="0" lang="en-US" sz="2500" strike="noStrike" u="none">
              <a:solidFill>
                <a:srgbClr val="000000"/>
              </a:solidFill>
              <a:effectLst/>
              <a:uFillTx/>
              <a:latin typeface="Arial"/>
            </a:endParaRPr>
          </a:p>
        </p:txBody>
      </p:sp>
      <p:sp>
        <p:nvSpPr>
          <p:cNvPr id="3" name="PlaceHolder 2"/>
          <p:cNvSpPr>
            <a:spLocks noGrp="1"/>
          </p:cNvSpPr>
          <p:nvPr>
            <p:ph type="sldNum" idx="11"/>
          </p:nvPr>
        </p:nvSpPr>
        <p:spPr/>
        <p:txBody>
          <a:bodyPr/>
          <a:p>
            <a:fld id="{12211EB4-13CA-433C-9539-33239D3918D4}" type="slidenum">
              <a:t>64</a:t>
            </a:fld>
          </a:p>
        </p:txBody>
      </p:sp>
    </p:spTree>
  </p:cSld>
  <mc:AlternateContent>
    <mc:Choice Requires="p14">
      <p:transition spd="slow" p14:dur="2000"/>
    </mc:Choice>
    <mc:Fallback>
      <p:transition spd="slow"/>
    </mc:Fallback>
  </mc:AlternateContent>
</p:sld>
</file>

<file path=ppt/slides/slide6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8" name="PlaceHolder 1"/>
          <p:cNvSpPr>
            <a:spLocks noGrp="1"/>
          </p:cNvSpPr>
          <p:nvPr>
            <p:ph type="title"/>
          </p:nvPr>
        </p:nvSpPr>
        <p:spPr>
          <a:xfrm>
            <a:off x="360000" y="181080"/>
            <a:ext cx="9342720" cy="458640"/>
          </a:xfrm>
          <a:prstGeom prst="rect">
            <a:avLst/>
          </a:prstGeom>
          <a:noFill/>
          <a:ln w="0">
            <a:noFill/>
          </a:ln>
        </p:spPr>
        <p:txBody>
          <a:bodyPr lIns="0" rIns="0" tIns="0" bIns="0" anchor="ctr">
            <a:spAutoFit/>
          </a:bodyPr>
          <a:p>
            <a:pPr indent="0" algn="ctr">
              <a:lnSpc>
                <a:spcPct val="100000"/>
              </a:lnSpc>
              <a:buNone/>
              <a:tabLst>
                <a:tab algn="l" pos="0"/>
              </a:tabLst>
            </a:pPr>
            <a:r>
              <a:rPr b="0" lang="en-US" sz="3000" strike="noStrike" u="none">
                <a:solidFill>
                  <a:srgbClr val="ffffff"/>
                </a:solidFill>
                <a:effectLst/>
                <a:uFillTx/>
                <a:latin typeface="Arial"/>
              </a:rPr>
              <a:t>XGBoost: Mean(|SHAP|)</a:t>
            </a:r>
            <a:endParaRPr b="0" lang="en-US" sz="3000" strike="noStrike" u="none">
              <a:solidFill>
                <a:srgbClr val="000000"/>
              </a:solidFill>
              <a:effectLst/>
              <a:uFillTx/>
              <a:latin typeface="Arial"/>
            </a:endParaRPr>
          </a:p>
        </p:txBody>
      </p:sp>
      <p:pic>
        <p:nvPicPr>
          <p:cNvPr id="269" name="" descr=""/>
          <p:cNvPicPr/>
          <p:nvPr/>
        </p:nvPicPr>
        <p:blipFill>
          <a:blip r:embed="rId1"/>
          <a:stretch/>
        </p:blipFill>
        <p:spPr>
          <a:xfrm>
            <a:off x="0" y="735120"/>
            <a:ext cx="5940360" cy="4748040"/>
          </a:xfrm>
          <a:prstGeom prst="rect">
            <a:avLst/>
          </a:prstGeom>
          <a:noFill/>
          <a:ln w="0">
            <a:noFill/>
          </a:ln>
        </p:spPr>
      </p:pic>
      <p:sp>
        <p:nvSpPr>
          <p:cNvPr id="270" name=""/>
          <p:cNvSpPr/>
          <p:nvPr/>
        </p:nvSpPr>
        <p:spPr>
          <a:xfrm>
            <a:off x="5943600" y="711000"/>
            <a:ext cx="4133880" cy="4458600"/>
          </a:xfrm>
          <a:prstGeom prst="rect">
            <a:avLst/>
          </a:prstGeom>
          <a:noFill/>
          <a:ln w="0">
            <a:noFill/>
          </a:ln>
        </p:spPr>
        <p:style>
          <a:lnRef idx="0"/>
          <a:fillRef idx="0"/>
          <a:effectRef idx="0"/>
          <a:fontRef idx="minor"/>
        </p:style>
        <p:txBody>
          <a:bodyPr lIns="90000" rIns="90000" tIns="45000" bIns="45000" anchor="t">
            <a:spAutoFit/>
          </a:bodyPr>
          <a:p>
            <a:pPr marL="216000" indent="-216000">
              <a:lnSpc>
                <a:spcPct val="100000"/>
              </a:lnSpc>
              <a:buClr>
                <a:srgbClr val="000000"/>
              </a:buClr>
              <a:buSzPct val="45000"/>
              <a:buFont typeface="Wingdings" charset="2"/>
              <a:buChar char=""/>
            </a:pPr>
            <a:r>
              <a:rPr b="0" lang="en-US" sz="1200" strike="noStrike" u="none">
                <a:solidFill>
                  <a:srgbClr val="000000"/>
                </a:solidFill>
                <a:effectLst/>
                <a:uFillTx/>
                <a:latin typeface="Arial"/>
                <a:ea typeface="DejaVu Sans"/>
              </a:rPr>
              <a:t>This plot is a bar chart that shows the global importance of metabolites in XGBoost model, assuming that age, gender, BMI and Waistline (cm) are in the model, based on the average magnitude of their SHAP (Shapley Additive Explanations) values.</a:t>
            </a:r>
            <a:endParaRPr b="0" lang="en-US" sz="1200" strike="noStrike" u="none">
              <a:solidFill>
                <a:srgbClr val="000000"/>
              </a:solidFill>
              <a:effectLst/>
              <a:uFillTx/>
              <a:latin typeface="Arial"/>
            </a:endParaRPr>
          </a:p>
          <a:p>
            <a:pPr>
              <a:lnSpc>
                <a:spcPct val="100000"/>
              </a:lnSpc>
            </a:pPr>
            <a:endParaRPr b="0" lang="en-US" sz="1200" strike="noStrike" u="none">
              <a:solidFill>
                <a:srgbClr val="000000"/>
              </a:solidFill>
              <a:effectLst/>
              <a:uFillTx/>
              <a:latin typeface="Arial"/>
            </a:endParaRPr>
          </a:p>
          <a:p>
            <a:pPr marL="216000" indent="-216000">
              <a:lnSpc>
                <a:spcPct val="100000"/>
              </a:lnSpc>
              <a:spcBef>
                <a:spcPts val="1191"/>
              </a:spcBef>
              <a:spcAft>
                <a:spcPts val="992"/>
              </a:spcAft>
              <a:buClr>
                <a:srgbClr val="000000"/>
              </a:buClr>
              <a:buSzPct val="45000"/>
              <a:buFont typeface="Wingdings" charset="2"/>
              <a:buChar char=""/>
            </a:pPr>
            <a:r>
              <a:rPr b="0" lang="en-US" sz="1200" strike="noStrike" u="none">
                <a:solidFill>
                  <a:srgbClr val="000000"/>
                </a:solidFill>
                <a:effectLst/>
                <a:uFillTx/>
                <a:latin typeface="Arial"/>
                <a:ea typeface="DejaVu Sans"/>
              </a:rPr>
              <a:t>The free fatty acid (FFA (20:4)-5/12-OH) is the most influential metabolite </a:t>
            </a:r>
            <a:endParaRPr b="0" lang="en-US" sz="1200" strike="noStrike" u="none">
              <a:solidFill>
                <a:srgbClr val="000000"/>
              </a:solidFill>
              <a:effectLst/>
              <a:uFillTx/>
              <a:latin typeface="Arial"/>
            </a:endParaRPr>
          </a:p>
          <a:p>
            <a:pPr marL="216000" indent="-216000">
              <a:lnSpc>
                <a:spcPct val="100000"/>
              </a:lnSpc>
              <a:spcBef>
                <a:spcPts val="1191"/>
              </a:spcBef>
              <a:spcAft>
                <a:spcPts val="992"/>
              </a:spcAft>
              <a:buClr>
                <a:srgbClr val="000000"/>
              </a:buClr>
              <a:buSzPct val="45000"/>
              <a:buFont typeface="Wingdings" charset="2"/>
              <a:buChar char=""/>
            </a:pPr>
            <a:r>
              <a:rPr b="0" lang="en-US" sz="1200" strike="noStrike" u="none">
                <a:solidFill>
                  <a:srgbClr val="000000"/>
                </a:solidFill>
                <a:effectLst/>
                <a:uFillTx/>
                <a:latin typeface="Arial"/>
                <a:ea typeface="DejaVu Sans"/>
              </a:rPr>
              <a:t>TAG (TAG (50:1-16:0), TAG (56:6-20:4), etc.) species dominate the next tier of importance.</a:t>
            </a:r>
            <a:endParaRPr b="0" lang="en-US" sz="1200" strike="noStrike" u="none">
              <a:solidFill>
                <a:srgbClr val="000000"/>
              </a:solidFill>
              <a:effectLst/>
              <a:uFillTx/>
              <a:latin typeface="Arial"/>
            </a:endParaRPr>
          </a:p>
          <a:p>
            <a:pPr marL="216000" indent="-216000">
              <a:lnSpc>
                <a:spcPct val="100000"/>
              </a:lnSpc>
              <a:spcBef>
                <a:spcPts val="1191"/>
              </a:spcBef>
              <a:spcAft>
                <a:spcPts val="992"/>
              </a:spcAft>
              <a:buClr>
                <a:srgbClr val="000000"/>
              </a:buClr>
              <a:buSzPct val="45000"/>
              <a:buFont typeface="Wingdings" charset="2"/>
              <a:buChar char=""/>
            </a:pPr>
            <a:r>
              <a:rPr b="0" lang="en-US" sz="1200" strike="noStrike" u="none">
                <a:solidFill>
                  <a:srgbClr val="000000"/>
                </a:solidFill>
                <a:effectLst/>
                <a:uFillTx/>
                <a:latin typeface="Arial"/>
                <a:ea typeface="DejaVu Sans"/>
              </a:rPr>
              <a:t>DAGs (DAG (18:2/18:3), DAG (14:0/16:0)) also contribute meaningfully.</a:t>
            </a:r>
            <a:endParaRPr b="0" lang="en-US" sz="1200" strike="noStrike" u="none">
              <a:solidFill>
                <a:srgbClr val="000000"/>
              </a:solidFill>
              <a:effectLst/>
              <a:uFillTx/>
              <a:latin typeface="Arial"/>
            </a:endParaRPr>
          </a:p>
          <a:p>
            <a:pPr marL="216000" indent="-216000">
              <a:lnSpc>
                <a:spcPct val="100000"/>
              </a:lnSpc>
              <a:spcBef>
                <a:spcPts val="1191"/>
              </a:spcBef>
              <a:spcAft>
                <a:spcPts val="992"/>
              </a:spcAft>
              <a:buClr>
                <a:srgbClr val="000000"/>
              </a:buClr>
              <a:buSzPct val="45000"/>
              <a:buFont typeface="Wingdings" charset="2"/>
              <a:buChar char=""/>
            </a:pPr>
            <a:r>
              <a:rPr b="0" lang="en-US" sz="1200" strike="noStrike" u="none">
                <a:solidFill>
                  <a:srgbClr val="000000"/>
                </a:solidFill>
                <a:effectLst/>
                <a:uFillTx/>
                <a:latin typeface="Arial"/>
                <a:ea typeface="DejaVu Sans"/>
              </a:rPr>
              <a:t>Phospholipids (PC (40:5), PC (36:1-2), PC-O (34:3), PC (38:3), PC (38:2), PE (40:7)) show moderate importance.</a:t>
            </a:r>
            <a:endParaRPr b="0" lang="en-US" sz="1200" strike="noStrike" u="none">
              <a:solidFill>
                <a:srgbClr val="000000"/>
              </a:solidFill>
              <a:effectLst/>
              <a:uFillTx/>
              <a:latin typeface="Arial"/>
            </a:endParaRPr>
          </a:p>
          <a:p>
            <a:pPr marL="216000" indent="-216000">
              <a:lnSpc>
                <a:spcPct val="100000"/>
              </a:lnSpc>
              <a:spcBef>
                <a:spcPts val="1191"/>
              </a:spcBef>
              <a:spcAft>
                <a:spcPts val="992"/>
              </a:spcAft>
              <a:buClr>
                <a:srgbClr val="000000"/>
              </a:buClr>
              <a:buSzPct val="45000"/>
              <a:buFont typeface="Wingdings" charset="2"/>
              <a:buChar char=""/>
            </a:pPr>
            <a:r>
              <a:rPr b="0" lang="en-US" sz="1200" strike="noStrike" u="none">
                <a:solidFill>
                  <a:srgbClr val="000000"/>
                </a:solidFill>
                <a:effectLst/>
                <a:uFillTx/>
                <a:latin typeface="Arial"/>
                <a:ea typeface="DejaVu Sans"/>
              </a:rPr>
              <a:t>Carnosine and Sphingomyelin (SM (36:2) are lower-impact metabolites.</a:t>
            </a:r>
            <a:endParaRPr b="0" lang="en-US" sz="1200" strike="noStrike" u="none">
              <a:solidFill>
                <a:srgbClr val="000000"/>
              </a:solidFill>
              <a:effectLst/>
              <a:uFillTx/>
              <a:latin typeface="Arial"/>
            </a:endParaRPr>
          </a:p>
        </p:txBody>
      </p:sp>
      <p:sp>
        <p:nvSpPr>
          <p:cNvPr id="3" name="PlaceHolder 2"/>
          <p:cNvSpPr>
            <a:spLocks noGrp="1"/>
          </p:cNvSpPr>
          <p:nvPr>
            <p:ph type="sldNum" idx="11"/>
          </p:nvPr>
        </p:nvSpPr>
        <p:spPr/>
        <p:txBody>
          <a:bodyPr/>
          <a:p>
            <a:fld id="{CBC228DD-A766-41A5-8A58-F0436B156598}" type="slidenum">
              <a:t>65</a:t>
            </a:fld>
          </a:p>
        </p:txBody>
      </p:sp>
    </p:spTree>
  </p:cSld>
  <mc:AlternateContent>
    <mc:Choice Requires="p14">
      <p:transition spd="slow" p14:dur="2000"/>
    </mc:Choice>
    <mc:Fallback>
      <p:transition spd="slow"/>
    </mc:Fallback>
  </mc:AlternateContent>
</p:sld>
</file>

<file path=ppt/slides/slide6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1" name="PlaceHolder 1"/>
          <p:cNvSpPr>
            <a:spLocks noGrp="1"/>
          </p:cNvSpPr>
          <p:nvPr>
            <p:ph type="title"/>
          </p:nvPr>
        </p:nvSpPr>
        <p:spPr>
          <a:xfrm>
            <a:off x="360000" y="195840"/>
            <a:ext cx="9342720" cy="428760"/>
          </a:xfrm>
          <a:prstGeom prst="rect">
            <a:avLst/>
          </a:prstGeom>
          <a:noFill/>
          <a:ln w="0">
            <a:noFill/>
          </a:ln>
        </p:spPr>
        <p:txBody>
          <a:bodyPr lIns="0" rIns="0" tIns="0" bIns="0" anchor="ctr">
            <a:spAutoFit/>
          </a:bodyPr>
          <a:p>
            <a:pPr indent="0" algn="ctr">
              <a:lnSpc>
                <a:spcPct val="100000"/>
              </a:lnSpc>
              <a:buNone/>
              <a:tabLst>
                <a:tab algn="l" pos="0"/>
              </a:tabLst>
            </a:pPr>
            <a:r>
              <a:rPr b="0" lang="en-US" sz="3000" strike="noStrike" u="none">
                <a:solidFill>
                  <a:srgbClr val="ffffff"/>
                </a:solidFill>
                <a:effectLst/>
                <a:uFillTx/>
                <a:latin typeface="Arial"/>
              </a:rPr>
              <a:t>XGBoost: Mean(|SHAP|) per Metabolite</a:t>
            </a:r>
            <a:endParaRPr b="0" lang="en-US" sz="3000" strike="noStrike" u="none">
              <a:solidFill>
                <a:srgbClr val="000000"/>
              </a:solidFill>
              <a:effectLst/>
              <a:uFillTx/>
              <a:latin typeface="Arial"/>
            </a:endParaRPr>
          </a:p>
        </p:txBody>
      </p:sp>
      <p:pic>
        <p:nvPicPr>
          <p:cNvPr id="272" name="" descr=""/>
          <p:cNvPicPr/>
          <p:nvPr/>
        </p:nvPicPr>
        <p:blipFill>
          <a:blip r:embed="rId1"/>
          <a:stretch/>
        </p:blipFill>
        <p:spPr>
          <a:xfrm>
            <a:off x="84240" y="730080"/>
            <a:ext cx="5627520" cy="4753080"/>
          </a:xfrm>
          <a:prstGeom prst="rect">
            <a:avLst/>
          </a:prstGeom>
          <a:noFill/>
          <a:ln w="0">
            <a:noFill/>
          </a:ln>
        </p:spPr>
      </p:pic>
      <p:sp>
        <p:nvSpPr>
          <p:cNvPr id="273" name=""/>
          <p:cNvSpPr/>
          <p:nvPr/>
        </p:nvSpPr>
        <p:spPr>
          <a:xfrm>
            <a:off x="5692680" y="827280"/>
            <a:ext cx="4362480" cy="3906720"/>
          </a:xfrm>
          <a:prstGeom prst="rect">
            <a:avLst/>
          </a:prstGeom>
          <a:noFill/>
          <a:ln w="0">
            <a:noFill/>
          </a:ln>
        </p:spPr>
        <p:style>
          <a:lnRef idx="0"/>
          <a:fillRef idx="0"/>
          <a:effectRef idx="0"/>
          <a:fontRef idx="minor"/>
        </p:style>
        <p:txBody>
          <a:bodyPr lIns="90000" rIns="90000" tIns="45000" bIns="45000" anchor="t">
            <a:spAutoFit/>
          </a:bodyPr>
          <a:p>
            <a:pPr marL="216000" indent="-216000">
              <a:lnSpc>
                <a:spcPct val="100000"/>
              </a:lnSpc>
              <a:buClr>
                <a:srgbClr val="000000"/>
              </a:buClr>
              <a:buSzPct val="45000"/>
              <a:buFont typeface="Wingdings" charset="2"/>
              <a:buChar char=""/>
            </a:pPr>
            <a:r>
              <a:rPr b="0" lang="en-US" sz="1200" strike="noStrike" u="none">
                <a:solidFill>
                  <a:srgbClr val="000000"/>
                </a:solidFill>
                <a:effectLst/>
                <a:uFillTx/>
                <a:latin typeface="Arial"/>
                <a:ea typeface="DejaVu Sans"/>
              </a:rPr>
              <a:t>Heatmap shows the top 20 metabolites ranked by mean absolute SHAP values as identified by the XGBoost model, assuming that age, gender, BMI and Waistline (cm) are in the model.</a:t>
            </a:r>
            <a:endParaRPr b="0" lang="en-US" sz="1200" strike="noStrike" u="none">
              <a:solidFill>
                <a:srgbClr val="000000"/>
              </a:solidFill>
              <a:effectLst/>
              <a:uFillTx/>
              <a:latin typeface="Arial"/>
            </a:endParaRPr>
          </a:p>
          <a:p>
            <a:pPr>
              <a:lnSpc>
                <a:spcPct val="100000"/>
              </a:lnSpc>
            </a:pPr>
            <a:endParaRPr b="0" lang="en-US" sz="1200" strike="noStrike" u="none">
              <a:solidFill>
                <a:srgbClr val="000000"/>
              </a:solidFill>
              <a:effectLst/>
              <a:uFillTx/>
              <a:latin typeface="Arial"/>
            </a:endParaRPr>
          </a:p>
          <a:p>
            <a:pPr marL="216000" indent="-216000">
              <a:lnSpc>
                <a:spcPct val="100000"/>
              </a:lnSpc>
              <a:spcBef>
                <a:spcPts val="1191"/>
              </a:spcBef>
              <a:spcAft>
                <a:spcPts val="992"/>
              </a:spcAft>
              <a:buClr>
                <a:srgbClr val="000000"/>
              </a:buClr>
              <a:buSzPct val="45000"/>
              <a:buFont typeface="Wingdings" charset="2"/>
              <a:buChar char=""/>
            </a:pPr>
            <a:r>
              <a:rPr b="0" lang="en-US" sz="1200" strike="noStrike" u="none">
                <a:solidFill>
                  <a:srgbClr val="000000"/>
                </a:solidFill>
                <a:effectLst/>
                <a:uFillTx/>
                <a:latin typeface="Arial"/>
                <a:ea typeface="DejaVu Sans"/>
              </a:rPr>
              <a:t>There is a clear metabolic differences between healthy and diabetic groups </a:t>
            </a:r>
            <a:endParaRPr b="0" lang="en-US" sz="1200" strike="noStrike" u="none">
              <a:solidFill>
                <a:srgbClr val="000000"/>
              </a:solidFill>
              <a:effectLst/>
              <a:uFillTx/>
              <a:latin typeface="Arial"/>
            </a:endParaRPr>
          </a:p>
          <a:p>
            <a:pPr marL="216000" indent="-216000">
              <a:lnSpc>
                <a:spcPct val="100000"/>
              </a:lnSpc>
              <a:spcBef>
                <a:spcPts val="1191"/>
              </a:spcBef>
              <a:spcAft>
                <a:spcPts val="992"/>
              </a:spcAft>
              <a:buClr>
                <a:srgbClr val="000000"/>
              </a:buClr>
              <a:buSzPct val="45000"/>
              <a:buFont typeface="Wingdings" charset="2"/>
              <a:buChar char=""/>
            </a:pPr>
            <a:r>
              <a:rPr b="0" lang="en-US" sz="1200" strike="noStrike" u="none">
                <a:solidFill>
                  <a:srgbClr val="000000"/>
                </a:solidFill>
                <a:effectLst/>
                <a:uFillTx/>
                <a:latin typeface="Arial"/>
                <a:ea typeface="DejaVu Sans"/>
              </a:rPr>
              <a:t>Triacylglycerols (TAGs) and free fatty acids (FFAs) show strong group-level differences.</a:t>
            </a:r>
            <a:endParaRPr b="0" lang="en-US" sz="1200" strike="noStrike" u="none">
              <a:solidFill>
                <a:srgbClr val="000000"/>
              </a:solidFill>
              <a:effectLst/>
              <a:uFillTx/>
              <a:latin typeface="Arial"/>
            </a:endParaRPr>
          </a:p>
          <a:p>
            <a:pPr marL="216000" indent="-216000">
              <a:lnSpc>
                <a:spcPct val="100000"/>
              </a:lnSpc>
              <a:spcBef>
                <a:spcPts val="1191"/>
              </a:spcBef>
              <a:spcAft>
                <a:spcPts val="992"/>
              </a:spcAft>
              <a:buClr>
                <a:srgbClr val="000000"/>
              </a:buClr>
              <a:buSzPct val="45000"/>
              <a:buFont typeface="Wingdings" charset="2"/>
              <a:buChar char=""/>
            </a:pPr>
            <a:r>
              <a:rPr b="0" lang="en-US" sz="1200" strike="noStrike" u="none">
                <a:solidFill>
                  <a:srgbClr val="000000"/>
                </a:solidFill>
                <a:effectLst/>
                <a:uFillTx/>
                <a:latin typeface="Arial"/>
                <a:ea typeface="DejaVu Sans"/>
              </a:rPr>
              <a:t>Phosphatidylcholines (PC (36:1-2), PC (38:2), PC (38:3)), phosphatidylethanolamine (PE (40:7)), and sphingomyelin (SM (36:2)) show more mixed patterns, with variation across individuals.</a:t>
            </a:r>
            <a:endParaRPr b="0" lang="en-US" sz="1200" strike="noStrike" u="none">
              <a:solidFill>
                <a:srgbClr val="000000"/>
              </a:solidFill>
              <a:effectLst/>
              <a:uFillTx/>
              <a:latin typeface="Arial"/>
            </a:endParaRPr>
          </a:p>
          <a:p>
            <a:pPr marL="216000" indent="-216000">
              <a:lnSpc>
                <a:spcPct val="100000"/>
              </a:lnSpc>
              <a:spcBef>
                <a:spcPts val="1191"/>
              </a:spcBef>
              <a:spcAft>
                <a:spcPts val="992"/>
              </a:spcAft>
              <a:buClr>
                <a:srgbClr val="000000"/>
              </a:buClr>
              <a:buSzPct val="45000"/>
              <a:buFont typeface="Wingdings" charset="2"/>
              <a:buChar char=""/>
            </a:pPr>
            <a:r>
              <a:rPr b="0" lang="en-US" sz="1200" strike="noStrike" u="none">
                <a:solidFill>
                  <a:srgbClr val="000000"/>
                </a:solidFill>
                <a:effectLst/>
                <a:uFillTx/>
                <a:latin typeface="Arial"/>
                <a:ea typeface="DejaVu Sans"/>
              </a:rPr>
              <a:t>Carnosine and some DAGs show distinct behavior.</a:t>
            </a:r>
            <a:endParaRPr b="0" lang="en-US" sz="1200" strike="noStrike" u="none">
              <a:solidFill>
                <a:srgbClr val="000000"/>
              </a:solidFill>
              <a:effectLst/>
              <a:uFillTx/>
              <a:latin typeface="Arial"/>
            </a:endParaRPr>
          </a:p>
          <a:p>
            <a:pPr marL="216000" indent="-216000">
              <a:lnSpc>
                <a:spcPct val="100000"/>
              </a:lnSpc>
              <a:spcBef>
                <a:spcPts val="1191"/>
              </a:spcBef>
              <a:spcAft>
                <a:spcPts val="992"/>
              </a:spcAft>
              <a:buClr>
                <a:srgbClr val="000000"/>
              </a:buClr>
              <a:buSzPct val="45000"/>
              <a:buFont typeface="Wingdings" charset="2"/>
              <a:buChar char=""/>
            </a:pPr>
            <a:r>
              <a:rPr b="0" lang="en-US" sz="1200" strike="noStrike" u="none">
                <a:solidFill>
                  <a:srgbClr val="000000"/>
                </a:solidFill>
                <a:effectLst/>
                <a:uFillTx/>
                <a:latin typeface="Arial"/>
                <a:ea typeface="DejaVu Sans"/>
              </a:rPr>
              <a:t>T2DM samples exhibit more variability overall.</a:t>
            </a:r>
            <a:endParaRPr b="0" lang="en-US" sz="1200" strike="noStrike" u="none">
              <a:solidFill>
                <a:srgbClr val="000000"/>
              </a:solidFill>
              <a:effectLst/>
              <a:uFillTx/>
              <a:latin typeface="Arial"/>
            </a:endParaRPr>
          </a:p>
        </p:txBody>
      </p:sp>
      <p:sp>
        <p:nvSpPr>
          <p:cNvPr id="3" name="PlaceHolder 2"/>
          <p:cNvSpPr>
            <a:spLocks noGrp="1"/>
          </p:cNvSpPr>
          <p:nvPr>
            <p:ph type="sldNum" idx="11"/>
          </p:nvPr>
        </p:nvSpPr>
        <p:spPr/>
        <p:txBody>
          <a:bodyPr/>
          <a:p>
            <a:fld id="{BF919631-B02C-48C3-85E2-536F5D408342}" type="slidenum">
              <a:t>66</a:t>
            </a:fld>
          </a:p>
        </p:txBody>
      </p:sp>
    </p:spTree>
  </p:cSld>
  <mc:AlternateContent>
    <mc:Choice Requires="p14">
      <p:transition spd="slow" p14:dur="2000"/>
    </mc:Choice>
    <mc:Fallback>
      <p:transition spd="slow"/>
    </mc:Fallback>
  </mc:AlternateContent>
</p:sld>
</file>

<file path=ppt/slides/slide6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4" name="PlaceHolder 1"/>
          <p:cNvSpPr>
            <a:spLocks noGrp="1"/>
          </p:cNvSpPr>
          <p:nvPr>
            <p:ph type="title"/>
          </p:nvPr>
        </p:nvSpPr>
        <p:spPr>
          <a:xfrm>
            <a:off x="360000" y="195840"/>
            <a:ext cx="9342720" cy="428760"/>
          </a:xfrm>
          <a:prstGeom prst="rect">
            <a:avLst/>
          </a:prstGeom>
          <a:noFill/>
          <a:ln w="0">
            <a:noFill/>
          </a:ln>
        </p:spPr>
        <p:txBody>
          <a:bodyPr lIns="0" rIns="0" tIns="0" bIns="0" anchor="ctr">
            <a:spAutoFit/>
          </a:bodyPr>
          <a:p>
            <a:pPr indent="0" algn="ctr">
              <a:lnSpc>
                <a:spcPct val="100000"/>
              </a:lnSpc>
              <a:buNone/>
              <a:tabLst>
                <a:tab algn="l" pos="0"/>
              </a:tabLst>
            </a:pPr>
            <a:r>
              <a:rPr b="0" lang="en-US" sz="3000" strike="noStrike" u="none">
                <a:solidFill>
                  <a:srgbClr val="ffffff"/>
                </a:solidFill>
                <a:effectLst/>
                <a:uFillTx/>
                <a:latin typeface="Arial"/>
              </a:rPr>
              <a:t>XGBoost: Predicted Probability (P(T2DM))</a:t>
            </a:r>
            <a:endParaRPr b="0" lang="en-US" sz="3000" strike="noStrike" u="none">
              <a:solidFill>
                <a:srgbClr val="000000"/>
              </a:solidFill>
              <a:effectLst/>
              <a:uFillTx/>
              <a:latin typeface="Arial"/>
            </a:endParaRPr>
          </a:p>
        </p:txBody>
      </p:sp>
      <p:pic>
        <p:nvPicPr>
          <p:cNvPr id="275" name="" descr=""/>
          <p:cNvPicPr/>
          <p:nvPr/>
        </p:nvPicPr>
        <p:blipFill>
          <a:blip r:embed="rId1"/>
          <a:stretch/>
        </p:blipFill>
        <p:spPr>
          <a:xfrm>
            <a:off x="0" y="914400"/>
            <a:ext cx="5711760" cy="4752720"/>
          </a:xfrm>
          <a:prstGeom prst="rect">
            <a:avLst/>
          </a:prstGeom>
          <a:noFill/>
          <a:ln w="0">
            <a:noFill/>
          </a:ln>
        </p:spPr>
      </p:pic>
      <p:sp>
        <p:nvSpPr>
          <p:cNvPr id="276" name=""/>
          <p:cNvSpPr/>
          <p:nvPr/>
        </p:nvSpPr>
        <p:spPr>
          <a:xfrm>
            <a:off x="5715000" y="914400"/>
            <a:ext cx="4340160" cy="3800160"/>
          </a:xfrm>
          <a:prstGeom prst="rect">
            <a:avLst/>
          </a:prstGeom>
          <a:noFill/>
          <a:ln w="0">
            <a:noFill/>
          </a:ln>
        </p:spPr>
        <p:style>
          <a:lnRef idx="0"/>
          <a:fillRef idx="0"/>
          <a:effectRef idx="0"/>
          <a:fontRef idx="minor"/>
        </p:style>
        <p:txBody>
          <a:bodyPr lIns="90000" rIns="90000" tIns="45000" bIns="45000" anchor="t">
            <a:spAutoFit/>
          </a:bodyPr>
          <a:p>
            <a:pPr marL="216000" indent="-216000">
              <a:lnSpc>
                <a:spcPct val="100000"/>
              </a:lnSpc>
              <a:buClr>
                <a:srgbClr val="000000"/>
              </a:buClr>
              <a:buSzPct val="45000"/>
              <a:buFont typeface="Wingdings" charset="2"/>
              <a:buChar char=""/>
            </a:pPr>
            <a:r>
              <a:rPr b="0" lang="en-US" sz="1200" strike="noStrike" u="none">
                <a:solidFill>
                  <a:srgbClr val="000000"/>
                </a:solidFill>
                <a:effectLst/>
                <a:uFillTx/>
                <a:latin typeface="Arial"/>
                <a:ea typeface="DejaVu Sans"/>
              </a:rPr>
              <a:t>Waterfall plot that explains how individual metabolite contributions from a XGBoost model, assuming that age, gender, BMI and Waistline (cm) are in the model, influence the predicted probability for a specific sample (D1) of having the target outcome (likely PT2DM).</a:t>
            </a:r>
            <a:endParaRPr b="0" lang="en-US" sz="1200" strike="noStrike" u="none">
              <a:solidFill>
                <a:srgbClr val="000000"/>
              </a:solidFill>
              <a:effectLst/>
              <a:uFillTx/>
              <a:latin typeface="Arial"/>
            </a:endParaRPr>
          </a:p>
          <a:p>
            <a:pPr>
              <a:lnSpc>
                <a:spcPct val="100000"/>
              </a:lnSpc>
            </a:pPr>
            <a:endParaRPr b="0" lang="en-US" sz="1200" strike="noStrike" u="none">
              <a:solidFill>
                <a:srgbClr val="000000"/>
              </a:solidFill>
              <a:effectLst/>
              <a:uFillTx/>
              <a:latin typeface="Arial"/>
            </a:endParaRPr>
          </a:p>
          <a:p>
            <a:pPr marL="216000" indent="-216000">
              <a:lnSpc>
                <a:spcPct val="100000"/>
              </a:lnSpc>
              <a:spcBef>
                <a:spcPts val="1191"/>
              </a:spcBef>
              <a:spcAft>
                <a:spcPts val="992"/>
              </a:spcAft>
              <a:buClr>
                <a:srgbClr val="000000"/>
              </a:buClr>
              <a:buSzPct val="45000"/>
              <a:buFont typeface="Wingdings" charset="2"/>
              <a:buChar char=""/>
            </a:pPr>
            <a:r>
              <a:rPr b="0" lang="en-US" sz="1200" strike="noStrike" u="none">
                <a:solidFill>
                  <a:srgbClr val="000000"/>
                </a:solidFill>
                <a:effectLst/>
                <a:uFillTx/>
                <a:latin typeface="Arial"/>
                <a:ea typeface="DejaVu Sans"/>
              </a:rPr>
              <a:t>The free fatty acid (FFA (20:4)-5/12-OH) is the strongest driver of a higher T2DM probability. </a:t>
            </a:r>
            <a:endParaRPr b="0" lang="en-US" sz="1200" strike="noStrike" u="none">
              <a:solidFill>
                <a:srgbClr val="000000"/>
              </a:solidFill>
              <a:effectLst/>
              <a:uFillTx/>
              <a:latin typeface="Arial"/>
            </a:endParaRPr>
          </a:p>
          <a:p>
            <a:pPr marL="216000" indent="-216000">
              <a:lnSpc>
                <a:spcPct val="100000"/>
              </a:lnSpc>
              <a:spcBef>
                <a:spcPts val="1191"/>
              </a:spcBef>
              <a:spcAft>
                <a:spcPts val="992"/>
              </a:spcAft>
              <a:buClr>
                <a:srgbClr val="000000"/>
              </a:buClr>
              <a:buSzPct val="45000"/>
              <a:buFont typeface="Wingdings" charset="2"/>
              <a:buChar char=""/>
            </a:pPr>
            <a:r>
              <a:rPr b="0" lang="en-US" sz="1200" strike="noStrike" u="none">
                <a:solidFill>
                  <a:srgbClr val="000000"/>
                </a:solidFill>
                <a:effectLst/>
                <a:uFillTx/>
                <a:latin typeface="Arial"/>
                <a:ea typeface="DejaVu Sans"/>
              </a:rPr>
              <a:t>Several TAG (TAG (54:5-18:2), TAG (50:1-16:0), TAG (56:6-20:4), etc.) species strongly push the prediction upward.</a:t>
            </a:r>
            <a:endParaRPr b="0" lang="en-US" sz="1200" strike="noStrike" u="none">
              <a:solidFill>
                <a:srgbClr val="000000"/>
              </a:solidFill>
              <a:effectLst/>
              <a:uFillTx/>
              <a:latin typeface="Arial"/>
            </a:endParaRPr>
          </a:p>
          <a:p>
            <a:pPr marL="216000" indent="-216000">
              <a:lnSpc>
                <a:spcPct val="100000"/>
              </a:lnSpc>
              <a:spcBef>
                <a:spcPts val="1191"/>
              </a:spcBef>
              <a:spcAft>
                <a:spcPts val="992"/>
              </a:spcAft>
              <a:buClr>
                <a:srgbClr val="000000"/>
              </a:buClr>
              <a:buSzPct val="45000"/>
              <a:buFont typeface="Wingdings" charset="2"/>
              <a:buChar char=""/>
            </a:pPr>
            <a:r>
              <a:rPr b="0" lang="en-US" sz="1200" strike="noStrike" u="none">
                <a:solidFill>
                  <a:srgbClr val="000000"/>
                </a:solidFill>
                <a:effectLst/>
                <a:uFillTx/>
                <a:latin typeface="Arial"/>
                <a:ea typeface="DejaVu Sans"/>
              </a:rPr>
              <a:t>Triacylglycerol (TAG (50:1-16:0)), Sphingomyelin (SM (36:2)), Carnosine, diacylglycerol (DAG (14:0/16:0)) decrease the predicted probability.</a:t>
            </a:r>
            <a:endParaRPr b="0" lang="en-US" sz="1200" strike="noStrike" u="none">
              <a:solidFill>
                <a:srgbClr val="000000"/>
              </a:solidFill>
              <a:effectLst/>
              <a:uFillTx/>
              <a:latin typeface="Arial"/>
            </a:endParaRPr>
          </a:p>
          <a:p>
            <a:pPr marL="216000" indent="-216000">
              <a:lnSpc>
                <a:spcPct val="100000"/>
              </a:lnSpc>
              <a:spcBef>
                <a:spcPts val="1191"/>
              </a:spcBef>
              <a:spcAft>
                <a:spcPts val="992"/>
              </a:spcAft>
              <a:buClr>
                <a:srgbClr val="000000"/>
              </a:buClr>
              <a:buSzPct val="45000"/>
              <a:buFont typeface="Wingdings" charset="2"/>
              <a:buChar char=""/>
            </a:pPr>
            <a:r>
              <a:rPr b="0" lang="en-US" sz="1200" strike="noStrike" u="none">
                <a:solidFill>
                  <a:srgbClr val="000000"/>
                </a:solidFill>
                <a:effectLst/>
                <a:uFillTx/>
                <a:latin typeface="Arial"/>
                <a:ea typeface="DejaVu Sans"/>
              </a:rPr>
              <a:t>The combined effect of metabolites pushes the final prediction far above the baseline. </a:t>
            </a:r>
            <a:endParaRPr b="0" lang="en-US" sz="1200" strike="noStrike" u="none">
              <a:solidFill>
                <a:srgbClr val="000000"/>
              </a:solidFill>
              <a:effectLst/>
              <a:uFillTx/>
              <a:latin typeface="Arial"/>
            </a:endParaRPr>
          </a:p>
        </p:txBody>
      </p:sp>
      <p:sp>
        <p:nvSpPr>
          <p:cNvPr id="3" name="PlaceHolder 2"/>
          <p:cNvSpPr>
            <a:spLocks noGrp="1"/>
          </p:cNvSpPr>
          <p:nvPr>
            <p:ph type="sldNum" idx="11"/>
          </p:nvPr>
        </p:nvSpPr>
        <p:spPr/>
        <p:txBody>
          <a:bodyPr/>
          <a:p>
            <a:fld id="{E388284A-EE40-4596-B256-0D18EC55D649}" type="slidenum">
              <a:t>67</a:t>
            </a:fld>
          </a:p>
        </p:txBody>
      </p:sp>
    </p:spTree>
  </p:cSld>
  <mc:AlternateContent>
    <mc:Choice Requires="p14">
      <p:transition spd="slow" p14:dur="2000"/>
    </mc:Choice>
    <mc:Fallback>
      <p:transition spd="slow"/>
    </mc:Fallback>
  </mc:AlternateContent>
</p:sld>
</file>

<file path=ppt/slides/slide6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7" name="PlaceHolder 1"/>
          <p:cNvSpPr>
            <a:spLocks noGrp="1"/>
          </p:cNvSpPr>
          <p:nvPr>
            <p:ph type="title"/>
          </p:nvPr>
        </p:nvSpPr>
        <p:spPr>
          <a:xfrm>
            <a:off x="360000" y="74880"/>
            <a:ext cx="9342720" cy="671400"/>
          </a:xfrm>
          <a:prstGeom prst="rect">
            <a:avLst/>
          </a:prstGeom>
          <a:noFill/>
          <a:ln w="0">
            <a:noFill/>
          </a:ln>
        </p:spPr>
        <p:txBody>
          <a:bodyPr lIns="0" rIns="0" tIns="0" bIns="0" anchor="ctr">
            <a:spAutoFit/>
          </a:bodyPr>
          <a:p>
            <a:pPr indent="0" algn="ctr">
              <a:lnSpc>
                <a:spcPct val="100000"/>
              </a:lnSpc>
              <a:buNone/>
              <a:tabLst>
                <a:tab algn="l" pos="0"/>
              </a:tabLst>
            </a:pPr>
            <a:r>
              <a:rPr b="0" lang="en-US" sz="3000" strike="noStrike" u="none">
                <a:solidFill>
                  <a:srgbClr val="ffffff"/>
                </a:solidFill>
                <a:effectLst/>
                <a:uFillTx/>
                <a:latin typeface="Arial"/>
              </a:rPr>
              <a:t>XGBoost: Conclusions </a:t>
            </a:r>
            <a:endParaRPr b="0" lang="en-US" sz="3000" strike="noStrike" u="none">
              <a:solidFill>
                <a:srgbClr val="000000"/>
              </a:solidFill>
              <a:effectLst/>
              <a:uFillTx/>
              <a:latin typeface="Arial"/>
            </a:endParaRPr>
          </a:p>
        </p:txBody>
      </p:sp>
      <p:sp>
        <p:nvSpPr>
          <p:cNvPr id="278" name="PlaceHolder 2"/>
          <p:cNvSpPr>
            <a:spLocks noGrp="1"/>
          </p:cNvSpPr>
          <p:nvPr>
            <p:ph/>
          </p:nvPr>
        </p:nvSpPr>
        <p:spPr>
          <a:xfrm>
            <a:off x="360000" y="1080000"/>
            <a:ext cx="9342720" cy="3582720"/>
          </a:xfrm>
          <a:prstGeom prst="rect">
            <a:avLst/>
          </a:prstGeom>
          <a:noFill/>
          <a:ln w="0">
            <a:noFill/>
          </a:ln>
        </p:spPr>
        <p:txBody>
          <a:bodyPr lIns="0" rIns="0" tIns="0" bIns="0" anchor="t">
            <a:normAutofit/>
          </a:bodyPr>
          <a:p>
            <a:pPr marL="432000" indent="-324000">
              <a:lnSpc>
                <a:spcPct val="100000"/>
              </a:lnSpc>
              <a:spcBef>
                <a:spcPts val="1191"/>
              </a:spcBef>
              <a:spcAft>
                <a:spcPts val="992"/>
              </a:spcAft>
              <a:buClr>
                <a:srgbClr val="000000"/>
              </a:buClr>
              <a:buSzPct val="45000"/>
              <a:buFont typeface="Wingdings" charset="2"/>
              <a:buChar char=""/>
            </a:pPr>
            <a:r>
              <a:rPr b="0" lang="en-US" sz="1600" strike="noStrike" u="none">
                <a:solidFill>
                  <a:srgbClr val="000000"/>
                </a:solidFill>
                <a:effectLst/>
                <a:uFillTx/>
                <a:latin typeface="Arial"/>
              </a:rPr>
              <a:t>The XGBoost classifier identifies T2DM primarily through patterns of lipid overload—especially TAGs, DAGs, and the highly influential free fatty acid (FFA (20:4)-5/12-OH).</a:t>
            </a:r>
            <a:endParaRPr b="0" lang="en-US" sz="1600" strike="noStrike" u="none">
              <a:solidFill>
                <a:srgbClr val="000000"/>
              </a:solidFill>
              <a:effectLst/>
              <a:uFillTx/>
              <a:latin typeface="Arial"/>
            </a:endParaRPr>
          </a:p>
          <a:p>
            <a:pPr marL="432000" indent="-324000">
              <a:lnSpc>
                <a:spcPct val="100000"/>
              </a:lnSpc>
              <a:spcBef>
                <a:spcPts val="1191"/>
              </a:spcBef>
              <a:spcAft>
                <a:spcPts val="992"/>
              </a:spcAft>
              <a:buClr>
                <a:srgbClr val="000000"/>
              </a:buClr>
              <a:buSzPct val="45000"/>
              <a:buFont typeface="Wingdings" charset="2"/>
              <a:buChar char=""/>
            </a:pPr>
            <a:r>
              <a:rPr b="0" lang="en-US" sz="1600" strike="noStrike" u="none">
                <a:solidFill>
                  <a:srgbClr val="000000"/>
                </a:solidFill>
                <a:effectLst/>
                <a:uFillTx/>
                <a:latin typeface="Arial"/>
              </a:rPr>
              <a:t>Phospholipids, sphingolipids, and peptides provide smaller but consistent refinements.</a:t>
            </a:r>
            <a:endParaRPr b="0" lang="en-US" sz="1600" strike="noStrike" u="none">
              <a:solidFill>
                <a:srgbClr val="000000"/>
              </a:solidFill>
              <a:effectLst/>
              <a:uFillTx/>
              <a:latin typeface="Arial"/>
            </a:endParaRPr>
          </a:p>
          <a:p>
            <a:pPr marL="432000" indent="-324000">
              <a:lnSpc>
                <a:spcPct val="100000"/>
              </a:lnSpc>
              <a:spcBef>
                <a:spcPts val="1191"/>
              </a:spcBef>
              <a:spcAft>
                <a:spcPts val="992"/>
              </a:spcAft>
              <a:buClr>
                <a:srgbClr val="000000"/>
              </a:buClr>
              <a:buSzPct val="45000"/>
              <a:buFont typeface="Wingdings" charset="2"/>
              <a:buChar char=""/>
            </a:pPr>
            <a:r>
              <a:rPr b="0" lang="en-US" sz="1600" strike="noStrike" u="none">
                <a:solidFill>
                  <a:srgbClr val="000000"/>
                </a:solidFill>
                <a:effectLst/>
                <a:uFillTx/>
                <a:latin typeface="Arial"/>
              </a:rPr>
              <a:t>The model captures nonlinear, threshold-based increases in diabetes risk associated with lipid accumulation, reflecting true metabolic phenotypes of insulin resistance. </a:t>
            </a:r>
            <a:endParaRPr b="0" lang="en-US" sz="1600" strike="noStrike" u="none">
              <a:solidFill>
                <a:srgbClr val="000000"/>
              </a:solidFill>
              <a:effectLst/>
              <a:uFillTx/>
              <a:latin typeface="Arial"/>
            </a:endParaRPr>
          </a:p>
        </p:txBody>
      </p:sp>
      <p:sp>
        <p:nvSpPr>
          <p:cNvPr id="4" name="PlaceHolder 3"/>
          <p:cNvSpPr>
            <a:spLocks noGrp="1"/>
          </p:cNvSpPr>
          <p:nvPr>
            <p:ph type="sldNum" idx="11"/>
          </p:nvPr>
        </p:nvSpPr>
        <p:spPr/>
        <p:txBody>
          <a:bodyPr/>
          <a:p>
            <a:fld id="{7FA8662D-3498-4B9E-B56A-D82B82F979ED}" type="slidenum">
              <a:t>68</a:t>
            </a:fld>
          </a:p>
        </p:txBody>
      </p:sp>
    </p:spTree>
  </p:cSld>
  <mc:AlternateContent>
    <mc:Choice Requires="p14">
      <p:transition spd="slow" p14:dur="2000"/>
    </mc:Choice>
    <mc:Fallback>
      <p:transition spd="slow"/>
    </mc:Fallback>
  </mc:AlternateContent>
</p:sld>
</file>

<file path=ppt/slides/slide6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9" name="PlaceHolder 1"/>
          <p:cNvSpPr>
            <a:spLocks noGrp="1"/>
          </p:cNvSpPr>
          <p:nvPr>
            <p:ph type="title"/>
          </p:nvPr>
        </p:nvSpPr>
        <p:spPr>
          <a:xfrm>
            <a:off x="360000" y="96120"/>
            <a:ext cx="9342720" cy="628560"/>
          </a:xfrm>
          <a:prstGeom prst="rect">
            <a:avLst/>
          </a:prstGeom>
          <a:noFill/>
          <a:ln w="0">
            <a:noFill/>
          </a:ln>
        </p:spPr>
        <p:txBody>
          <a:bodyPr lIns="0" rIns="0" tIns="0" bIns="0" anchor="ctr">
            <a:spAutoFit/>
          </a:bodyPr>
          <a:p>
            <a:pPr indent="0" algn="ctr">
              <a:lnSpc>
                <a:spcPct val="100000"/>
              </a:lnSpc>
              <a:buNone/>
              <a:tabLst>
                <a:tab algn="l" pos="0"/>
              </a:tabLst>
            </a:pPr>
            <a:r>
              <a:rPr b="0" lang="en-US" sz="3000" strike="noStrike" u="none">
                <a:solidFill>
                  <a:srgbClr val="ffffff"/>
                </a:solidFill>
                <a:effectLst/>
                <a:uFillTx/>
                <a:latin typeface="Arial"/>
              </a:rPr>
              <a:t>All three models</a:t>
            </a:r>
            <a:endParaRPr b="0" lang="en-US" sz="3000" strike="noStrike" u="none">
              <a:solidFill>
                <a:srgbClr val="000000"/>
              </a:solidFill>
              <a:effectLst/>
              <a:uFillTx/>
              <a:latin typeface="Arial"/>
            </a:endParaRPr>
          </a:p>
        </p:txBody>
      </p:sp>
      <p:sp>
        <p:nvSpPr>
          <p:cNvPr id="280" name="PlaceHolder 2"/>
          <p:cNvSpPr>
            <a:spLocks noGrp="1"/>
          </p:cNvSpPr>
          <p:nvPr>
            <p:ph/>
          </p:nvPr>
        </p:nvSpPr>
        <p:spPr>
          <a:xfrm>
            <a:off x="360000" y="1080000"/>
            <a:ext cx="9342720" cy="3582720"/>
          </a:xfrm>
          <a:prstGeom prst="rect">
            <a:avLst/>
          </a:prstGeom>
          <a:noFill/>
          <a:ln w="0">
            <a:noFill/>
          </a:ln>
        </p:spPr>
        <p:txBody>
          <a:bodyPr lIns="0" rIns="0" tIns="0" bIns="0" anchor="t">
            <a:normAutofit/>
          </a:bodyPr>
          <a:p>
            <a:pPr marL="432000" indent="-324000">
              <a:lnSpc>
                <a:spcPct val="100000"/>
              </a:lnSpc>
              <a:spcBef>
                <a:spcPts val="1191"/>
              </a:spcBef>
              <a:spcAft>
                <a:spcPts val="992"/>
              </a:spcAft>
              <a:buClr>
                <a:srgbClr val="000000"/>
              </a:buClr>
              <a:buSzPct val="45000"/>
              <a:buFont typeface="Wingdings" charset="2"/>
              <a:buChar char=""/>
            </a:pPr>
            <a:r>
              <a:rPr b="0" lang="en-US" sz="1600" strike="noStrike" u="none">
                <a:solidFill>
                  <a:srgbClr val="000000"/>
                </a:solidFill>
                <a:effectLst/>
                <a:uFillTx/>
                <a:latin typeface="Arial"/>
              </a:rPr>
              <a:t>Elastic Net shows a linear, additive lipid signature dominated by TAGs and organic acids, with directionally consistent effects. </a:t>
            </a:r>
            <a:endParaRPr b="0" lang="en-US" sz="1600" strike="noStrike" u="none">
              <a:solidFill>
                <a:srgbClr val="000000"/>
              </a:solidFill>
              <a:effectLst/>
              <a:uFillTx/>
              <a:latin typeface="Arial"/>
            </a:endParaRPr>
          </a:p>
          <a:p>
            <a:pPr marL="432000" indent="-324000">
              <a:lnSpc>
                <a:spcPct val="100000"/>
              </a:lnSpc>
              <a:spcBef>
                <a:spcPts val="1191"/>
              </a:spcBef>
              <a:spcAft>
                <a:spcPts val="992"/>
              </a:spcAft>
              <a:buClr>
                <a:srgbClr val="000000"/>
              </a:buClr>
              <a:buSzPct val="45000"/>
              <a:buFont typeface="Wingdings" charset="2"/>
              <a:buChar char=""/>
            </a:pPr>
            <a:r>
              <a:rPr b="0" lang="en-US" sz="1600" strike="noStrike" u="none">
                <a:solidFill>
                  <a:srgbClr val="000000"/>
                </a:solidFill>
                <a:effectLst/>
                <a:uFillTx/>
                <a:latin typeface="Arial"/>
              </a:rPr>
              <a:t>Random Forest shows a nonlinear lipid-overload signature dominated by TAGs, DAGs, and FFAs, with moderate influence from phospholipids. </a:t>
            </a:r>
            <a:endParaRPr b="0" lang="en-US" sz="1600" strike="noStrike" u="none">
              <a:solidFill>
                <a:srgbClr val="000000"/>
              </a:solidFill>
              <a:effectLst/>
              <a:uFillTx/>
              <a:latin typeface="Arial"/>
            </a:endParaRPr>
          </a:p>
          <a:p>
            <a:pPr marL="432000" indent="-324000">
              <a:lnSpc>
                <a:spcPct val="100000"/>
              </a:lnSpc>
              <a:spcBef>
                <a:spcPts val="1191"/>
              </a:spcBef>
              <a:spcAft>
                <a:spcPts val="992"/>
              </a:spcAft>
              <a:buClr>
                <a:srgbClr val="000000"/>
              </a:buClr>
              <a:buSzPct val="45000"/>
              <a:buFont typeface="Wingdings" charset="2"/>
              <a:buChar char=""/>
            </a:pPr>
            <a:r>
              <a:rPr b="0" lang="en-US" sz="1600" strike="noStrike" u="none">
                <a:solidFill>
                  <a:srgbClr val="000000"/>
                </a:solidFill>
                <a:effectLst/>
                <a:uFillTx/>
                <a:latin typeface="Arial"/>
              </a:rPr>
              <a:t>XGBoost is the most nuanced model—capturing nonlinear, threshold-based, and interaction-driven lipid relationships.</a:t>
            </a:r>
            <a:r>
              <a:rPr b="0" lang="en-US" sz="1000" strike="noStrike" u="none">
                <a:solidFill>
                  <a:srgbClr val="000000"/>
                </a:solidFill>
                <a:effectLst/>
                <a:uFillTx/>
                <a:latin typeface="Arial"/>
              </a:rPr>
              <a:t> </a:t>
            </a:r>
            <a:endParaRPr b="0" lang="en-US" sz="1000" strike="noStrike" u="none">
              <a:solidFill>
                <a:srgbClr val="000000"/>
              </a:solidFill>
              <a:effectLst/>
              <a:uFillTx/>
              <a:latin typeface="Arial"/>
            </a:endParaRPr>
          </a:p>
        </p:txBody>
      </p:sp>
      <p:sp>
        <p:nvSpPr>
          <p:cNvPr id="4" name="PlaceHolder 3"/>
          <p:cNvSpPr>
            <a:spLocks noGrp="1"/>
          </p:cNvSpPr>
          <p:nvPr>
            <p:ph type="sldNum" idx="11"/>
          </p:nvPr>
        </p:nvSpPr>
        <p:spPr/>
        <p:txBody>
          <a:bodyPr/>
          <a:p>
            <a:fld id="{4D32FD3A-8100-4C55-8A30-226B2E13E343}" type="slidenum">
              <a:t>69</a:t>
            </a:fld>
          </a:p>
        </p:txBody>
      </p:sp>
    </p:spTree>
  </p:cSld>
  <mc:AlternateContent>
    <mc:Choice Requires="p14">
      <p:transition spd="slow" p14:dur="2000"/>
    </mc:Choice>
    <mc:Fallback>
      <p:transition spd="slow"/>
    </mc:Fallback>
  </mc:AlternateContent>
</p:sld>
</file>

<file path=ppt/slides/slide7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1" name="PlaceHolder 1"/>
          <p:cNvSpPr>
            <a:spLocks noGrp="1"/>
          </p:cNvSpPr>
          <p:nvPr>
            <p:ph type="title"/>
          </p:nvPr>
        </p:nvSpPr>
        <p:spPr>
          <a:xfrm>
            <a:off x="360000" y="96120"/>
            <a:ext cx="9342720" cy="628560"/>
          </a:xfrm>
          <a:prstGeom prst="rect">
            <a:avLst/>
          </a:prstGeom>
          <a:noFill/>
          <a:ln w="0">
            <a:noFill/>
          </a:ln>
        </p:spPr>
        <p:txBody>
          <a:bodyPr lIns="0" rIns="0" tIns="0" bIns="0" anchor="ctr">
            <a:spAutoFit/>
          </a:bodyPr>
          <a:p>
            <a:pPr indent="0" algn="ctr">
              <a:lnSpc>
                <a:spcPct val="100000"/>
              </a:lnSpc>
              <a:buNone/>
              <a:tabLst>
                <a:tab algn="l" pos="0"/>
              </a:tabLst>
            </a:pPr>
            <a:r>
              <a:rPr b="0" lang="en-US" sz="3000" strike="noStrike" u="none">
                <a:solidFill>
                  <a:srgbClr val="ffffff"/>
                </a:solidFill>
                <a:effectLst/>
                <a:uFillTx/>
                <a:latin typeface="Arial"/>
              </a:rPr>
              <a:t>All three models</a:t>
            </a:r>
            <a:endParaRPr b="0" lang="en-US" sz="3000" strike="noStrike" u="none">
              <a:solidFill>
                <a:srgbClr val="000000"/>
              </a:solidFill>
              <a:effectLst/>
              <a:uFillTx/>
              <a:latin typeface="Arial"/>
            </a:endParaRPr>
          </a:p>
        </p:txBody>
      </p:sp>
      <p:sp>
        <p:nvSpPr>
          <p:cNvPr id="282" name="PlaceHolder 2"/>
          <p:cNvSpPr>
            <a:spLocks noGrp="1"/>
          </p:cNvSpPr>
          <p:nvPr>
            <p:ph/>
          </p:nvPr>
        </p:nvSpPr>
        <p:spPr>
          <a:xfrm>
            <a:off x="360000" y="1080000"/>
            <a:ext cx="9342720" cy="3582720"/>
          </a:xfrm>
          <a:prstGeom prst="rect">
            <a:avLst/>
          </a:prstGeom>
          <a:noFill/>
          <a:ln w="0">
            <a:noFill/>
          </a:ln>
        </p:spPr>
        <p:txBody>
          <a:bodyPr lIns="0" rIns="0" tIns="0" bIns="0" anchor="t">
            <a:normAutofit/>
          </a:bodyPr>
          <a:p>
            <a:pPr marL="432000" indent="-324000">
              <a:lnSpc>
                <a:spcPct val="100000"/>
              </a:lnSpc>
              <a:spcBef>
                <a:spcPts val="1191"/>
              </a:spcBef>
              <a:spcAft>
                <a:spcPts val="992"/>
              </a:spcAft>
              <a:buClr>
                <a:srgbClr val="000000"/>
              </a:buClr>
              <a:buSzPct val="45000"/>
              <a:buFont typeface="Wingdings" charset="2"/>
              <a:buChar char=""/>
            </a:pPr>
            <a:r>
              <a:rPr b="0" lang="en-US" sz="1600" strike="noStrike" u="none">
                <a:solidFill>
                  <a:srgbClr val="000000"/>
                </a:solidFill>
                <a:effectLst/>
                <a:uFillTx/>
                <a:latin typeface="Arial"/>
              </a:rPr>
              <a:t>Across all SHAP analyses, T2DM prediction is consistently driven by a lipid-centered metabolic signature dominated by elevated TAGs, DAGs, and specific FFAs. </a:t>
            </a:r>
            <a:endParaRPr b="0" lang="en-US" sz="1600" strike="noStrike" u="none">
              <a:solidFill>
                <a:srgbClr val="000000"/>
              </a:solidFill>
              <a:effectLst/>
              <a:uFillTx/>
              <a:latin typeface="Arial"/>
            </a:endParaRPr>
          </a:p>
          <a:p>
            <a:pPr marL="432000" indent="-324000">
              <a:lnSpc>
                <a:spcPct val="100000"/>
              </a:lnSpc>
              <a:spcBef>
                <a:spcPts val="1191"/>
              </a:spcBef>
              <a:spcAft>
                <a:spcPts val="992"/>
              </a:spcAft>
              <a:buClr>
                <a:srgbClr val="000000"/>
              </a:buClr>
              <a:buSzPct val="45000"/>
              <a:buFont typeface="Wingdings" charset="2"/>
              <a:buChar char=""/>
            </a:pPr>
            <a:r>
              <a:rPr b="0" lang="en-US" sz="1600" strike="noStrike" u="none">
                <a:solidFill>
                  <a:srgbClr val="000000"/>
                </a:solidFill>
                <a:effectLst/>
                <a:uFillTx/>
                <a:latin typeface="Arial"/>
              </a:rPr>
              <a:t>These models together paint a unified picture of dysregulated lipid metabolism as the primary determinant of T2DM classification in this dataset. </a:t>
            </a:r>
            <a:endParaRPr b="0" lang="en-US" sz="1600" strike="noStrike" u="none">
              <a:solidFill>
                <a:srgbClr val="000000"/>
              </a:solidFill>
              <a:effectLst/>
              <a:uFillTx/>
              <a:latin typeface="Arial"/>
            </a:endParaRPr>
          </a:p>
        </p:txBody>
      </p:sp>
      <p:sp>
        <p:nvSpPr>
          <p:cNvPr id="4" name="PlaceHolder 3"/>
          <p:cNvSpPr>
            <a:spLocks noGrp="1"/>
          </p:cNvSpPr>
          <p:nvPr>
            <p:ph type="sldNum" idx="11"/>
          </p:nvPr>
        </p:nvSpPr>
        <p:spPr/>
        <p:txBody>
          <a:bodyPr/>
          <a:p>
            <a:fld id="{077E2303-3BB4-4FAC-BE8C-8A6BADB5049D}" type="slidenum">
              <a:t>70</a:t>
            </a:fld>
          </a:p>
        </p:txBody>
      </p:sp>
    </p:spTree>
  </p:cSld>
  <mc:AlternateContent>
    <mc:Choice Requires="p14">
      <p:transition spd="slow" p14:dur="2000"/>
    </mc:Choice>
    <mc:Fallback>
      <p:transition spd="slow"/>
    </mc:Fallback>
  </mc:AlternateContent>
</p:sld>
</file>

<file path=ppt/slides/slide7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3" name="PlaceHolder 1"/>
          <p:cNvSpPr>
            <a:spLocks noGrp="1"/>
          </p:cNvSpPr>
          <p:nvPr>
            <p:ph type="title"/>
          </p:nvPr>
        </p:nvSpPr>
        <p:spPr>
          <a:xfrm>
            <a:off x="360000" y="195840"/>
            <a:ext cx="9342720" cy="428760"/>
          </a:xfrm>
          <a:prstGeom prst="rect">
            <a:avLst/>
          </a:prstGeom>
          <a:noFill/>
          <a:ln w="0">
            <a:noFill/>
          </a:ln>
        </p:spPr>
        <p:txBody>
          <a:bodyPr lIns="0" rIns="0" tIns="0" bIns="0" anchor="ctr">
            <a:spAutoFit/>
          </a:bodyPr>
          <a:p>
            <a:pPr indent="0" algn="ctr">
              <a:lnSpc>
                <a:spcPct val="100000"/>
              </a:lnSpc>
              <a:buNone/>
              <a:tabLst>
                <a:tab algn="l" pos="0"/>
              </a:tabLst>
            </a:pPr>
            <a:r>
              <a:rPr b="0" lang="en-US" sz="3000" strike="noStrike" u="none">
                <a:solidFill>
                  <a:srgbClr val="ffffff"/>
                </a:solidFill>
                <a:effectLst/>
                <a:uFillTx/>
                <a:latin typeface="Arial"/>
              </a:rPr>
              <a:t>Metabolite Importance Based on Rank Sum</a:t>
            </a:r>
            <a:endParaRPr b="0" lang="en-US" sz="3000" strike="noStrike" u="none">
              <a:solidFill>
                <a:srgbClr val="000000"/>
              </a:solidFill>
              <a:effectLst/>
              <a:uFillTx/>
              <a:latin typeface="Arial"/>
            </a:endParaRPr>
          </a:p>
        </p:txBody>
      </p:sp>
      <p:pic>
        <p:nvPicPr>
          <p:cNvPr id="284" name="" descr=""/>
          <p:cNvPicPr/>
          <p:nvPr/>
        </p:nvPicPr>
        <p:blipFill>
          <a:blip r:embed="rId1"/>
          <a:stretch/>
        </p:blipFill>
        <p:spPr>
          <a:xfrm>
            <a:off x="0" y="914400"/>
            <a:ext cx="5483160" cy="4748040"/>
          </a:xfrm>
          <a:prstGeom prst="rect">
            <a:avLst/>
          </a:prstGeom>
          <a:noFill/>
          <a:ln w="0">
            <a:noFill/>
          </a:ln>
        </p:spPr>
      </p:pic>
      <p:sp>
        <p:nvSpPr>
          <p:cNvPr id="285" name=""/>
          <p:cNvSpPr/>
          <p:nvPr/>
        </p:nvSpPr>
        <p:spPr>
          <a:xfrm>
            <a:off x="5486400" y="724320"/>
            <a:ext cx="4559760" cy="3381480"/>
          </a:xfrm>
          <a:prstGeom prst="rect">
            <a:avLst/>
          </a:prstGeom>
          <a:noFill/>
          <a:ln w="0">
            <a:noFill/>
          </a:ln>
        </p:spPr>
        <p:style>
          <a:lnRef idx="0"/>
          <a:fillRef idx="0"/>
          <a:effectRef idx="0"/>
          <a:fontRef idx="minor"/>
        </p:style>
        <p:txBody>
          <a:bodyPr lIns="90000" rIns="90000" tIns="45000" bIns="45000" anchor="t">
            <a:spAutoFit/>
          </a:bodyPr>
          <a:p>
            <a:pPr marL="216000" indent="-216000">
              <a:lnSpc>
                <a:spcPct val="100000"/>
              </a:lnSpc>
              <a:buClr>
                <a:srgbClr val="000000"/>
              </a:buClr>
              <a:buSzPct val="45000"/>
              <a:buFont typeface="Wingdings" charset="2"/>
              <a:buChar char=""/>
            </a:pPr>
            <a:r>
              <a:rPr b="0" lang="en-US" sz="1800" strike="noStrike" u="none">
                <a:solidFill>
                  <a:srgbClr val="000000"/>
                </a:solidFill>
                <a:effectLst/>
                <a:uFillTx/>
                <a:latin typeface="Arial"/>
                <a:ea typeface="DejaVu Sans"/>
              </a:rPr>
              <a:t>The free fatty acid (FFA (20:4)-5/12-OH) and triacylglycerol (TAG (54:5-18:2)) are the top consensus metabolites </a:t>
            </a:r>
            <a:endParaRPr b="0" lang="en-US" sz="1800" strike="noStrike" u="none">
              <a:solidFill>
                <a:srgbClr val="000000"/>
              </a:solidFill>
              <a:effectLst/>
              <a:uFillTx/>
              <a:latin typeface="Arial"/>
            </a:endParaRPr>
          </a:p>
          <a:p>
            <a:pPr>
              <a:lnSpc>
                <a:spcPct val="100000"/>
              </a:lnSpc>
            </a:pPr>
            <a:endParaRPr b="0" lang="en-US" sz="1800" strike="noStrike" u="none">
              <a:solidFill>
                <a:srgbClr val="000000"/>
              </a:solidFill>
              <a:effectLst/>
              <a:uFillTx/>
              <a:latin typeface="Arial"/>
            </a:endParaRPr>
          </a:p>
          <a:p>
            <a:pPr marL="216000" indent="-216000">
              <a:lnSpc>
                <a:spcPct val="100000"/>
              </a:lnSpc>
              <a:buClr>
                <a:srgbClr val="000000"/>
              </a:buClr>
              <a:buSzPct val="45000"/>
              <a:buFont typeface="Wingdings" charset="2"/>
              <a:buChar char=""/>
            </a:pPr>
            <a:r>
              <a:rPr b="0" lang="en-US" sz="1800" strike="noStrike" u="none">
                <a:solidFill>
                  <a:srgbClr val="000000"/>
                </a:solidFill>
                <a:effectLst/>
                <a:uFillTx/>
                <a:latin typeface="Arial"/>
                <a:ea typeface="DejaVu Sans"/>
              </a:rPr>
              <a:t>Valine, phosphatidic acid (PA(20:0/20:4)) and triacylglycerol (TAG(54:3-18:1)) are the middle-ranked metabolites </a:t>
            </a:r>
            <a:endParaRPr b="0" lang="en-US" sz="1800" strike="noStrike" u="none">
              <a:solidFill>
                <a:srgbClr val="000000"/>
              </a:solidFill>
              <a:effectLst/>
              <a:uFillTx/>
              <a:latin typeface="Arial"/>
            </a:endParaRPr>
          </a:p>
          <a:p>
            <a:pPr>
              <a:lnSpc>
                <a:spcPct val="100000"/>
              </a:lnSpc>
            </a:pPr>
            <a:endParaRPr b="0" lang="en-US" sz="1800" strike="noStrike" u="none">
              <a:solidFill>
                <a:srgbClr val="000000"/>
              </a:solidFill>
              <a:effectLst/>
              <a:uFillTx/>
              <a:latin typeface="Arial"/>
            </a:endParaRPr>
          </a:p>
          <a:p>
            <a:pPr marL="216000" indent="-216000">
              <a:lnSpc>
                <a:spcPct val="100000"/>
              </a:lnSpc>
              <a:buClr>
                <a:srgbClr val="000000"/>
              </a:buClr>
              <a:buSzPct val="45000"/>
              <a:buFont typeface="Wingdings" charset="2"/>
              <a:buChar char=""/>
            </a:pPr>
            <a:r>
              <a:rPr b="0" lang="en-US" sz="1800" strike="noStrike" u="none">
                <a:solidFill>
                  <a:srgbClr val="000000"/>
                </a:solidFill>
                <a:effectLst/>
                <a:uFillTx/>
                <a:latin typeface="Arial"/>
                <a:ea typeface="DejaVu Sans"/>
              </a:rPr>
              <a:t>Triacylglycerols (TAG(54:4-16:0),  TAG(50:3-14:0)) and cholesteryl ester (CE (22:5)) are the lower consensus metabolites</a:t>
            </a:r>
            <a:endParaRPr b="0" lang="en-US" sz="1800" strike="noStrike" u="none">
              <a:solidFill>
                <a:srgbClr val="000000"/>
              </a:solidFill>
              <a:effectLst/>
              <a:uFillTx/>
              <a:latin typeface="Arial"/>
            </a:endParaRPr>
          </a:p>
        </p:txBody>
      </p:sp>
      <p:sp>
        <p:nvSpPr>
          <p:cNvPr id="3" name="PlaceHolder 2"/>
          <p:cNvSpPr>
            <a:spLocks noGrp="1"/>
          </p:cNvSpPr>
          <p:nvPr>
            <p:ph type="sldNum" idx="11"/>
          </p:nvPr>
        </p:nvSpPr>
        <p:spPr/>
        <p:txBody>
          <a:bodyPr/>
          <a:p>
            <a:fld id="{2AEFB871-5B1C-46B2-9FFF-9CEBCE717681}" type="slidenum">
              <a:t>71</a:t>
            </a:fld>
          </a:p>
        </p:txBody>
      </p:sp>
    </p:spTree>
  </p:cSld>
  <mc:AlternateContent>
    <mc:Choice Requires="p14">
      <p:transition spd="slow" p14:dur="2000"/>
    </mc:Choice>
    <mc:Fallback>
      <p:transition spd="slow"/>
    </mc:Fallback>
  </mc:AlternateContent>
</p:sld>
</file>

<file path=ppt/slides/slide7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6" name="PlaceHolder 1"/>
          <p:cNvSpPr>
            <a:spLocks noGrp="1"/>
          </p:cNvSpPr>
          <p:nvPr>
            <p:ph type="title"/>
          </p:nvPr>
        </p:nvSpPr>
        <p:spPr>
          <a:xfrm>
            <a:off x="360000" y="198360"/>
            <a:ext cx="9342720" cy="426240"/>
          </a:xfrm>
          <a:prstGeom prst="rect">
            <a:avLst/>
          </a:prstGeom>
          <a:noFill/>
          <a:ln w="0">
            <a:noFill/>
          </a:ln>
        </p:spPr>
        <p:txBody>
          <a:bodyPr lIns="0" rIns="0" tIns="0" bIns="0" anchor="ctr">
            <a:spAutoFit/>
          </a:bodyPr>
          <a:p>
            <a:pPr indent="0" algn="ctr">
              <a:lnSpc>
                <a:spcPct val="100000"/>
              </a:lnSpc>
              <a:buNone/>
              <a:tabLst>
                <a:tab algn="l" pos="0"/>
              </a:tabLst>
            </a:pPr>
            <a:r>
              <a:rPr b="0" lang="en-US" sz="3000" strike="noStrike" u="none">
                <a:solidFill>
                  <a:srgbClr val="ffffff"/>
                </a:solidFill>
                <a:effectLst/>
                <a:uFillTx/>
                <a:latin typeface="Arial"/>
              </a:rPr>
              <a:t>Metabolites from all three models </a:t>
            </a:r>
            <a:endParaRPr b="0" lang="en-US" sz="3000" strike="noStrike" u="none">
              <a:solidFill>
                <a:srgbClr val="000000"/>
              </a:solidFill>
              <a:effectLst/>
              <a:uFillTx/>
              <a:latin typeface="Arial"/>
            </a:endParaRPr>
          </a:p>
        </p:txBody>
      </p:sp>
      <p:sp>
        <p:nvSpPr>
          <p:cNvPr id="287" name=""/>
          <p:cNvSpPr/>
          <p:nvPr/>
        </p:nvSpPr>
        <p:spPr>
          <a:xfrm>
            <a:off x="1863360" y="723960"/>
            <a:ext cx="3656880" cy="3428280"/>
          </a:xfrm>
          <a:prstGeom prst="ellipse">
            <a:avLst/>
          </a:prstGeom>
          <a:noFill/>
          <a:ln w="0">
            <a:solidFill>
              <a:srgbClr val="000000"/>
            </a:solidFill>
          </a:ln>
        </p:spPr>
        <p:style>
          <a:lnRef idx="0"/>
          <a:fillRef idx="0"/>
          <a:effectRef idx="0"/>
          <a:fontRef idx="minor"/>
        </p:style>
        <p:txBody>
          <a:bodyPr lIns="90000" rIns="90000" tIns="45000" bIns="45000" anchor="ctr">
            <a:noAutofit/>
          </a:bodyPr>
          <a:p>
            <a:pPr>
              <a:lnSpc>
                <a:spcPct val="100000"/>
              </a:lnSpc>
            </a:pPr>
            <a:endParaRPr b="0" lang="en-US" sz="1800" strike="noStrike" u="none">
              <a:solidFill>
                <a:srgbClr val="000000"/>
              </a:solidFill>
              <a:effectLst/>
              <a:uFillTx/>
              <a:latin typeface="Arial"/>
              <a:ea typeface="DejaVu Sans"/>
            </a:endParaRPr>
          </a:p>
        </p:txBody>
      </p:sp>
      <p:sp>
        <p:nvSpPr>
          <p:cNvPr id="288" name=""/>
          <p:cNvSpPr/>
          <p:nvPr/>
        </p:nvSpPr>
        <p:spPr>
          <a:xfrm>
            <a:off x="4366800" y="770400"/>
            <a:ext cx="3656880" cy="3428280"/>
          </a:xfrm>
          <a:prstGeom prst="ellipse">
            <a:avLst/>
          </a:prstGeom>
          <a:noFill/>
          <a:ln w="0">
            <a:solidFill>
              <a:srgbClr val="000000"/>
            </a:solidFill>
          </a:ln>
        </p:spPr>
        <p:style>
          <a:lnRef idx="0"/>
          <a:fillRef idx="0"/>
          <a:effectRef idx="0"/>
          <a:fontRef idx="minor"/>
        </p:style>
        <p:txBody>
          <a:bodyPr lIns="90000" rIns="90000" tIns="45000" bIns="45000" anchor="ctr">
            <a:noAutofit/>
          </a:bodyPr>
          <a:p>
            <a:pPr>
              <a:lnSpc>
                <a:spcPct val="100000"/>
              </a:lnSpc>
            </a:pPr>
            <a:endParaRPr b="0" lang="en-US" sz="1800" strike="noStrike" u="none">
              <a:solidFill>
                <a:srgbClr val="000000"/>
              </a:solidFill>
              <a:effectLst/>
              <a:uFillTx/>
              <a:latin typeface="Arial"/>
              <a:ea typeface="DejaVu Sans"/>
            </a:endParaRPr>
          </a:p>
        </p:txBody>
      </p:sp>
      <p:sp>
        <p:nvSpPr>
          <p:cNvPr id="289" name=""/>
          <p:cNvSpPr/>
          <p:nvPr/>
        </p:nvSpPr>
        <p:spPr>
          <a:xfrm>
            <a:off x="3031200" y="2205720"/>
            <a:ext cx="3656880" cy="3428280"/>
          </a:xfrm>
          <a:prstGeom prst="ellipse">
            <a:avLst/>
          </a:prstGeom>
          <a:noFill/>
          <a:ln w="0">
            <a:solidFill>
              <a:srgbClr val="000000"/>
            </a:solidFill>
          </a:ln>
        </p:spPr>
        <p:style>
          <a:lnRef idx="0"/>
          <a:fillRef idx="0"/>
          <a:effectRef idx="0"/>
          <a:fontRef idx="minor"/>
        </p:style>
        <p:txBody>
          <a:bodyPr lIns="90000" rIns="90000" tIns="45000" bIns="45000" anchor="ctr">
            <a:noAutofit/>
          </a:bodyPr>
          <a:p>
            <a:pPr>
              <a:lnSpc>
                <a:spcPct val="100000"/>
              </a:lnSpc>
            </a:pPr>
            <a:endParaRPr b="0" lang="en-US" sz="1800" strike="noStrike" u="none">
              <a:solidFill>
                <a:srgbClr val="000000"/>
              </a:solidFill>
              <a:effectLst/>
              <a:uFillTx/>
              <a:latin typeface="Arial"/>
              <a:ea typeface="DejaVu Sans"/>
            </a:endParaRPr>
          </a:p>
        </p:txBody>
      </p:sp>
      <p:sp>
        <p:nvSpPr>
          <p:cNvPr id="290" name=""/>
          <p:cNvSpPr/>
          <p:nvPr/>
        </p:nvSpPr>
        <p:spPr>
          <a:xfrm>
            <a:off x="685800" y="1143000"/>
            <a:ext cx="1370880" cy="36468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1" lang="en-US" sz="1800" strike="noStrike" u="none">
                <a:solidFill>
                  <a:srgbClr val="000000"/>
                </a:solidFill>
                <a:effectLst/>
                <a:uFillTx/>
                <a:latin typeface="Arial"/>
                <a:ea typeface="DejaVu Sans"/>
              </a:rPr>
              <a:t>Elastic Net</a:t>
            </a:r>
            <a:endParaRPr b="1" lang="en-US" sz="1800" strike="noStrike" u="none">
              <a:solidFill>
                <a:srgbClr val="000000"/>
              </a:solidFill>
              <a:effectLst/>
              <a:uFillTx/>
              <a:latin typeface="Arial"/>
            </a:endParaRPr>
          </a:p>
        </p:txBody>
      </p:sp>
      <p:sp>
        <p:nvSpPr>
          <p:cNvPr id="291" name=""/>
          <p:cNvSpPr/>
          <p:nvPr/>
        </p:nvSpPr>
        <p:spPr>
          <a:xfrm>
            <a:off x="7315200" y="1143000"/>
            <a:ext cx="2056680" cy="638280"/>
          </a:xfrm>
          <a:prstGeom prst="rect">
            <a:avLst/>
          </a:prstGeom>
          <a:noFill/>
          <a:ln w="0">
            <a:noFill/>
          </a:ln>
        </p:spPr>
        <p:style>
          <a:lnRef idx="0"/>
          <a:fillRef idx="0"/>
          <a:effectRef idx="0"/>
          <a:fontRef idx="minor"/>
        </p:style>
        <p:txBody>
          <a:bodyPr lIns="90000" rIns="90000" tIns="45000" bIns="45000" anchor="t" anchorCtr="1">
            <a:spAutoFit/>
          </a:bodyPr>
          <a:p>
            <a:pPr algn="ctr">
              <a:lnSpc>
                <a:spcPct val="100000"/>
              </a:lnSpc>
            </a:pPr>
            <a:r>
              <a:rPr b="1" lang="en-US" sz="1800" strike="noStrike" u="none">
                <a:solidFill>
                  <a:srgbClr val="000000"/>
                </a:solidFill>
                <a:effectLst/>
                <a:uFillTx/>
                <a:latin typeface="Arial"/>
                <a:ea typeface="DejaVu Sans"/>
              </a:rPr>
              <a:t>Random </a:t>
            </a:r>
            <a:endParaRPr b="1" lang="en-US" sz="1800" strike="noStrike" u="none">
              <a:solidFill>
                <a:srgbClr val="000000"/>
              </a:solidFill>
              <a:effectLst/>
              <a:uFillTx/>
              <a:latin typeface="Arial"/>
            </a:endParaRPr>
          </a:p>
          <a:p>
            <a:pPr algn="ctr">
              <a:lnSpc>
                <a:spcPct val="100000"/>
              </a:lnSpc>
            </a:pPr>
            <a:r>
              <a:rPr b="1" lang="en-US" sz="1800" strike="noStrike" u="none">
                <a:solidFill>
                  <a:srgbClr val="000000"/>
                </a:solidFill>
                <a:effectLst/>
                <a:uFillTx/>
                <a:latin typeface="Arial"/>
                <a:ea typeface="DejaVu Sans"/>
              </a:rPr>
              <a:t>Forest</a:t>
            </a:r>
            <a:endParaRPr b="1" lang="en-US" sz="1800" strike="noStrike" u="none">
              <a:solidFill>
                <a:srgbClr val="000000"/>
              </a:solidFill>
              <a:effectLst/>
              <a:uFillTx/>
              <a:latin typeface="Arial"/>
            </a:endParaRPr>
          </a:p>
        </p:txBody>
      </p:sp>
      <p:sp>
        <p:nvSpPr>
          <p:cNvPr id="292" name=""/>
          <p:cNvSpPr/>
          <p:nvPr/>
        </p:nvSpPr>
        <p:spPr>
          <a:xfrm>
            <a:off x="6108840" y="5029920"/>
            <a:ext cx="1370880" cy="36468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1" lang="en-US" sz="1800" strike="noStrike" u="none">
                <a:solidFill>
                  <a:srgbClr val="000000"/>
                </a:solidFill>
                <a:effectLst/>
                <a:uFillTx/>
                <a:latin typeface="Arial"/>
                <a:ea typeface="DejaVu Sans"/>
              </a:rPr>
              <a:t>XGBoost</a:t>
            </a:r>
            <a:endParaRPr b="1" lang="en-US" sz="1800" strike="noStrike" u="none">
              <a:solidFill>
                <a:srgbClr val="000000"/>
              </a:solidFill>
              <a:effectLst/>
              <a:uFillTx/>
              <a:latin typeface="Arial"/>
            </a:endParaRPr>
          </a:p>
        </p:txBody>
      </p:sp>
      <p:sp>
        <p:nvSpPr>
          <p:cNvPr id="293" name=""/>
          <p:cNvSpPr/>
          <p:nvPr/>
        </p:nvSpPr>
        <p:spPr>
          <a:xfrm>
            <a:off x="4800600" y="2743200"/>
            <a:ext cx="3223080" cy="1371600"/>
          </a:xfrm>
          <a:prstGeom prst="line">
            <a:avLst/>
          </a:prstGeom>
          <a:ln cap="rnd" w="0">
            <a:solidFill>
              <a:srgbClr val="000000"/>
            </a:solidFill>
            <a:prstDash val="dash"/>
          </a:ln>
        </p:spPr>
        <p:style>
          <a:lnRef idx="0"/>
          <a:fillRef idx="0"/>
          <a:effectRef idx="0"/>
          <a:fontRef idx="minor"/>
        </p:style>
        <p:txBody>
          <a:bodyPr lIns="90000" rIns="90000" tIns="45000" bIns="45000" anchor="ctr">
            <a:noAutofit/>
          </a:bodyPr>
          <a:p>
            <a:endParaRPr b="0" lang="en-US" sz="1800" strike="noStrike" u="none">
              <a:solidFill>
                <a:srgbClr val="000000"/>
              </a:solidFill>
              <a:effectLst/>
              <a:uFillTx/>
              <a:latin typeface="Arial"/>
              <a:ea typeface="DejaVu Sans"/>
            </a:endParaRPr>
          </a:p>
        </p:txBody>
      </p:sp>
      <p:sp>
        <p:nvSpPr>
          <p:cNvPr id="294" name=""/>
          <p:cNvSpPr/>
          <p:nvPr/>
        </p:nvSpPr>
        <p:spPr>
          <a:xfrm>
            <a:off x="7315920" y="4114800"/>
            <a:ext cx="2742480" cy="192132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en-US" sz="1000" strike="noStrike" u="none">
                <a:solidFill>
                  <a:srgbClr val="808080"/>
                </a:solidFill>
                <a:effectLst/>
                <a:uFillTx/>
                <a:latin typeface="Arial"/>
                <a:ea typeface="DejaVu Sans"/>
              </a:rPr>
              <a:t>3-Hydroxypropionic acid, </a:t>
            </a:r>
            <a:br>
              <a:rPr sz="1000"/>
            </a:br>
            <a:r>
              <a:rPr b="0" lang="en-US" sz="1000" strike="noStrike" u="none">
                <a:solidFill>
                  <a:srgbClr val="808080"/>
                </a:solidFill>
                <a:effectLst/>
                <a:uFillTx/>
                <a:latin typeface="Arial"/>
                <a:ea typeface="DejaVu Sans"/>
              </a:rPr>
              <a:t>4-Hydroxyphenyllactate,</a:t>
            </a:r>
            <a:r>
              <a:rPr b="0" lang="en-US" sz="1000" strike="noStrike" u="none">
                <a:solidFill>
                  <a:srgbClr val="000000"/>
                </a:solidFill>
                <a:effectLst/>
                <a:uFillTx/>
                <a:latin typeface="Arial"/>
                <a:ea typeface="DejaVu Sans"/>
              </a:rPr>
              <a:t> </a:t>
            </a:r>
            <a:r>
              <a:rPr b="0" lang="en-US" sz="1000" strike="noStrike" u="none">
                <a:solidFill>
                  <a:srgbClr val="ff69b4"/>
                </a:solidFill>
                <a:effectLst/>
                <a:uFillTx/>
                <a:latin typeface="Arial"/>
                <a:ea typeface="DejaVu Sans"/>
              </a:rPr>
              <a:t>CE (22:5),</a:t>
            </a:r>
            <a:r>
              <a:rPr b="0" lang="en-US" sz="1000" strike="noStrike" u="none">
                <a:solidFill>
                  <a:srgbClr val="000000"/>
                </a:solidFill>
                <a:effectLst/>
                <a:uFillTx/>
                <a:latin typeface="Arial"/>
                <a:ea typeface="DejaVu Sans"/>
              </a:rPr>
              <a:t>  </a:t>
            </a:r>
            <a:br>
              <a:rPr sz="1000"/>
            </a:br>
            <a:r>
              <a:rPr b="0" lang="en-US" sz="1000" strike="noStrike" u="none">
                <a:solidFill>
                  <a:srgbClr val="00e3e3"/>
                </a:solidFill>
                <a:effectLst/>
                <a:uFillTx/>
                <a:latin typeface="Arial"/>
                <a:ea typeface="DejaVu Sans"/>
              </a:rPr>
              <a:t>DAG: (14:0/16:0), (18:1/20:4), </a:t>
            </a:r>
            <a:endParaRPr b="0" lang="en-US" sz="1000" strike="noStrike" u="none">
              <a:solidFill>
                <a:srgbClr val="000000"/>
              </a:solidFill>
              <a:effectLst/>
              <a:uFillTx/>
              <a:latin typeface="Arial"/>
            </a:endParaRPr>
          </a:p>
          <a:p>
            <a:pPr>
              <a:lnSpc>
                <a:spcPct val="100000"/>
              </a:lnSpc>
            </a:pPr>
            <a:r>
              <a:rPr b="0" lang="en-US" sz="1000" strike="noStrike" u="none">
                <a:solidFill>
                  <a:srgbClr val="3465a4"/>
                </a:solidFill>
                <a:effectLst/>
                <a:uFillTx/>
                <a:latin typeface="Arial"/>
                <a:ea typeface="DejaVu Sans"/>
              </a:rPr>
              <a:t>PC: (38:2), (40:5), </a:t>
            </a:r>
            <a:endParaRPr b="0" lang="en-US" sz="1000" strike="noStrike" u="none">
              <a:solidFill>
                <a:srgbClr val="000000"/>
              </a:solidFill>
              <a:effectLst/>
              <a:uFillTx/>
              <a:latin typeface="Arial"/>
            </a:endParaRPr>
          </a:p>
          <a:p>
            <a:pPr>
              <a:lnSpc>
                <a:spcPct val="100000"/>
              </a:lnSpc>
            </a:pPr>
            <a:r>
              <a:rPr b="0" lang="en-US" sz="1000" strike="noStrike" u="none">
                <a:solidFill>
                  <a:srgbClr val="e47200"/>
                </a:solidFill>
                <a:effectLst/>
                <a:uFillTx/>
                <a:latin typeface="Arial"/>
                <a:ea typeface="DejaVu Sans"/>
              </a:rPr>
              <a:t>SM: (34:1), (36:1), (36:3), (38:1),</a:t>
            </a:r>
            <a:br>
              <a:rPr sz="1000"/>
            </a:br>
            <a:r>
              <a:rPr b="0" lang="en-US" sz="1000" strike="noStrike" u="none">
                <a:solidFill>
                  <a:srgbClr val="009e4f"/>
                </a:solidFill>
                <a:effectLst/>
                <a:uFillTx/>
                <a:latin typeface="Arial"/>
                <a:ea typeface="DejaVu Sans"/>
              </a:rPr>
              <a:t>TAG: (52:3-18:1), (54:3-18:1), (52:5-18:2), (56:7-18:2), (52:4-16:1), (54:5-18:2),</a:t>
            </a:r>
            <a:r>
              <a:rPr b="0" lang="en-US" sz="1000" strike="noStrike" u="none">
                <a:solidFill>
                  <a:srgbClr val="000000"/>
                </a:solidFill>
                <a:effectLst/>
                <a:uFillTx/>
                <a:latin typeface="Arial"/>
                <a:ea typeface="DejaVu Sans"/>
              </a:rPr>
              <a:t>  </a:t>
            </a:r>
            <a:endParaRPr b="0" lang="en-US" sz="1000" strike="noStrike" u="none">
              <a:solidFill>
                <a:srgbClr val="000000"/>
              </a:solidFill>
              <a:effectLst/>
              <a:uFillTx/>
              <a:latin typeface="Arial"/>
            </a:endParaRPr>
          </a:p>
          <a:p>
            <a:pPr>
              <a:lnSpc>
                <a:spcPct val="100000"/>
              </a:lnSpc>
            </a:pPr>
            <a:r>
              <a:rPr b="0" lang="en-US" sz="1000" strike="noStrike" u="none">
                <a:solidFill>
                  <a:srgbClr val="e3e300"/>
                </a:solidFill>
                <a:effectLst/>
                <a:uFillTx/>
                <a:latin typeface="Arial"/>
                <a:ea typeface="DejaVu Sans"/>
              </a:rPr>
              <a:t>Valine</a:t>
            </a:r>
            <a:endParaRPr b="0" lang="en-US" sz="1000" strike="noStrike" u="none">
              <a:solidFill>
                <a:srgbClr val="000000"/>
              </a:solidFill>
              <a:effectLst/>
              <a:uFillTx/>
              <a:latin typeface="Arial"/>
            </a:endParaRPr>
          </a:p>
          <a:p>
            <a:pPr>
              <a:lnSpc>
                <a:spcPct val="100000"/>
              </a:lnSpc>
            </a:pPr>
            <a:endParaRPr b="0" lang="en-US" sz="1000" strike="noStrike" u="none">
              <a:solidFill>
                <a:srgbClr val="000000"/>
              </a:solidFill>
              <a:effectLst/>
              <a:uFillTx/>
              <a:latin typeface="Arial"/>
            </a:endParaRPr>
          </a:p>
          <a:p>
            <a:pPr>
              <a:lnSpc>
                <a:spcPct val="100000"/>
              </a:lnSpc>
            </a:pPr>
            <a:endParaRPr b="0" lang="en-US" sz="1000" strike="noStrike" u="none">
              <a:solidFill>
                <a:srgbClr val="000000"/>
              </a:solidFill>
              <a:effectLst/>
              <a:uFillTx/>
              <a:latin typeface="Arial"/>
            </a:endParaRPr>
          </a:p>
          <a:p>
            <a:pPr>
              <a:lnSpc>
                <a:spcPct val="100000"/>
              </a:lnSpc>
            </a:pPr>
            <a:endParaRPr b="0" lang="en-US" sz="1000" strike="noStrike" u="none">
              <a:solidFill>
                <a:srgbClr val="000000"/>
              </a:solidFill>
              <a:effectLst/>
              <a:uFillTx/>
              <a:latin typeface="Arial"/>
            </a:endParaRPr>
          </a:p>
          <a:p>
            <a:pPr>
              <a:lnSpc>
                <a:spcPct val="100000"/>
              </a:lnSpc>
            </a:pPr>
            <a:endParaRPr b="0" lang="en-US" sz="1000" strike="noStrike" u="none">
              <a:solidFill>
                <a:srgbClr val="000000"/>
              </a:solidFill>
              <a:effectLst/>
              <a:uFillTx/>
              <a:latin typeface="Arial"/>
            </a:endParaRPr>
          </a:p>
        </p:txBody>
      </p:sp>
      <p:sp>
        <p:nvSpPr>
          <p:cNvPr id="295" name=""/>
          <p:cNvSpPr/>
          <p:nvPr/>
        </p:nvSpPr>
        <p:spPr>
          <a:xfrm>
            <a:off x="5486400" y="1785600"/>
            <a:ext cx="2285280" cy="39492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en-US" sz="1000" strike="noStrike" u="none">
                <a:solidFill>
                  <a:srgbClr val="aadcf7"/>
                </a:solidFill>
                <a:effectLst/>
                <a:uFillTx/>
                <a:latin typeface="Arial"/>
                <a:ea typeface="DejaVu Sans"/>
              </a:rPr>
              <a:t>FFA (20:4)-5/12-OH, </a:t>
            </a:r>
            <a:r>
              <a:rPr b="0" lang="en-US" sz="1000" strike="noStrike" u="none">
                <a:solidFill>
                  <a:srgbClr val="ea7500"/>
                </a:solidFill>
                <a:effectLst/>
                <a:uFillTx/>
                <a:latin typeface="Arial"/>
                <a:ea typeface="DejaVu Sans"/>
              </a:rPr>
              <a:t>SM (32:0)</a:t>
            </a:r>
            <a:r>
              <a:rPr b="0" lang="en-US" sz="1000" strike="noStrike" u="none">
                <a:solidFill>
                  <a:srgbClr val="000000"/>
                </a:solidFill>
                <a:effectLst/>
                <a:uFillTx/>
                <a:latin typeface="Arial"/>
                <a:ea typeface="DejaVu Sans"/>
              </a:rPr>
              <a:t> </a:t>
            </a:r>
            <a:br>
              <a:rPr sz="1000"/>
            </a:br>
            <a:endParaRPr b="0" lang="en-US" sz="1000" strike="noStrike" u="none">
              <a:solidFill>
                <a:srgbClr val="000000"/>
              </a:solidFill>
              <a:effectLst/>
              <a:uFillTx/>
              <a:latin typeface="Arial"/>
            </a:endParaRPr>
          </a:p>
        </p:txBody>
      </p:sp>
      <p:sp>
        <p:nvSpPr>
          <p:cNvPr id="296" name=""/>
          <p:cNvSpPr/>
          <p:nvPr/>
        </p:nvSpPr>
        <p:spPr>
          <a:xfrm>
            <a:off x="4114800" y="4572000"/>
            <a:ext cx="1994040" cy="70020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en-US" sz="1000" strike="noStrike" u="none">
                <a:solidFill>
                  <a:srgbClr val="808080"/>
                </a:solidFill>
                <a:effectLst/>
                <a:uFillTx/>
                <a:latin typeface="Arial"/>
                <a:ea typeface="DejaVu Sans"/>
              </a:rPr>
              <a:t>3-Hydroxypropionic acid,</a:t>
            </a:r>
            <a:r>
              <a:rPr b="0" lang="en-US" sz="1000" strike="noStrike" u="none">
                <a:solidFill>
                  <a:srgbClr val="000000"/>
                </a:solidFill>
                <a:effectLst/>
                <a:uFillTx/>
                <a:latin typeface="Arial"/>
                <a:ea typeface="DejaVu Sans"/>
              </a:rPr>
              <a:t> </a:t>
            </a:r>
            <a:br>
              <a:rPr sz="1000"/>
            </a:br>
            <a:r>
              <a:rPr b="0" lang="en-US" sz="1000" strike="noStrike" u="none">
                <a:solidFill>
                  <a:srgbClr val="3465a4"/>
                </a:solidFill>
                <a:effectLst/>
                <a:uFillTx/>
                <a:latin typeface="Arial"/>
                <a:ea typeface="DejaVu Sans"/>
              </a:rPr>
              <a:t>PC (40:6) </a:t>
            </a:r>
            <a:br>
              <a:rPr sz="1000"/>
            </a:br>
            <a:endParaRPr b="0" lang="en-US" sz="1000" strike="noStrike" u="none">
              <a:solidFill>
                <a:srgbClr val="000000"/>
              </a:solidFill>
              <a:effectLst/>
              <a:uFillTx/>
              <a:latin typeface="Arial"/>
            </a:endParaRPr>
          </a:p>
          <a:p>
            <a:pPr>
              <a:lnSpc>
                <a:spcPct val="100000"/>
              </a:lnSpc>
            </a:pPr>
            <a:endParaRPr b="0" lang="en-US" sz="1000" strike="noStrike" u="none">
              <a:solidFill>
                <a:srgbClr val="000000"/>
              </a:solidFill>
              <a:effectLst/>
              <a:uFillTx/>
              <a:latin typeface="Arial"/>
            </a:endParaRPr>
          </a:p>
        </p:txBody>
      </p:sp>
      <p:sp>
        <p:nvSpPr>
          <p:cNvPr id="297" name=""/>
          <p:cNvSpPr/>
          <p:nvPr/>
        </p:nvSpPr>
        <p:spPr>
          <a:xfrm>
            <a:off x="4500000" y="1932480"/>
            <a:ext cx="1599480" cy="24228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en-US" sz="1000" strike="noStrike" u="none">
                <a:solidFill>
                  <a:srgbClr val="000000"/>
                </a:solidFill>
                <a:effectLst/>
                <a:uFillTx/>
                <a:latin typeface="Arial"/>
                <a:ea typeface="DejaVu Sans"/>
              </a:rPr>
              <a:t>PC-O (34:3)</a:t>
            </a:r>
            <a:endParaRPr b="0" lang="en-US" sz="1000" strike="noStrike" u="none">
              <a:solidFill>
                <a:srgbClr val="000000"/>
              </a:solidFill>
              <a:effectLst/>
              <a:uFillTx/>
              <a:latin typeface="Arial"/>
            </a:endParaRPr>
          </a:p>
        </p:txBody>
      </p:sp>
      <p:sp>
        <p:nvSpPr>
          <p:cNvPr id="298" name=""/>
          <p:cNvSpPr/>
          <p:nvPr/>
        </p:nvSpPr>
        <p:spPr>
          <a:xfrm>
            <a:off x="3224160" y="3200400"/>
            <a:ext cx="1142280" cy="39492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en-US" sz="1000" strike="noStrike" u="none">
                <a:solidFill>
                  <a:srgbClr val="808080"/>
                </a:solidFill>
                <a:effectLst/>
                <a:uFillTx/>
                <a:latin typeface="Arial"/>
                <a:ea typeface="DejaVu Sans"/>
              </a:rPr>
              <a:t>Glycolate, </a:t>
            </a:r>
            <a:br>
              <a:rPr sz="1000"/>
            </a:br>
            <a:r>
              <a:rPr b="0" lang="en-US" sz="1000" strike="noStrike" u="none">
                <a:solidFill>
                  <a:srgbClr val="ea7500"/>
                </a:solidFill>
                <a:effectLst/>
                <a:uFillTx/>
                <a:latin typeface="Arial"/>
                <a:ea typeface="DejaVu Sans"/>
              </a:rPr>
              <a:t>SM (40:3) </a:t>
            </a:r>
            <a:endParaRPr b="0" lang="en-US" sz="1000" strike="noStrike" u="none">
              <a:solidFill>
                <a:srgbClr val="000000"/>
              </a:solidFill>
              <a:effectLst/>
              <a:uFillTx/>
              <a:latin typeface="Arial"/>
            </a:endParaRPr>
          </a:p>
        </p:txBody>
      </p:sp>
      <p:sp>
        <p:nvSpPr>
          <p:cNvPr id="299" name=""/>
          <p:cNvSpPr/>
          <p:nvPr/>
        </p:nvSpPr>
        <p:spPr>
          <a:xfrm>
            <a:off x="5088240" y="3378600"/>
            <a:ext cx="1805760" cy="85284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en-US" sz="1000" strike="noStrike" u="none">
                <a:solidFill>
                  <a:srgbClr val="ff69b4"/>
                </a:solidFill>
                <a:effectLst/>
                <a:uFillTx/>
                <a:latin typeface="Arial"/>
                <a:ea typeface="DejaVu Sans"/>
              </a:rPr>
              <a:t>CE (22:4),</a:t>
            </a:r>
            <a:endParaRPr b="0" lang="en-US" sz="1000" strike="noStrike" u="none">
              <a:solidFill>
                <a:srgbClr val="000000"/>
              </a:solidFill>
              <a:effectLst/>
              <a:uFillTx/>
              <a:latin typeface="Arial"/>
            </a:endParaRPr>
          </a:p>
          <a:p>
            <a:pPr>
              <a:lnSpc>
                <a:spcPct val="100000"/>
              </a:lnSpc>
            </a:pPr>
            <a:r>
              <a:rPr b="0" lang="en-US" sz="1000" strike="noStrike" u="none">
                <a:solidFill>
                  <a:srgbClr val="b85c00"/>
                </a:solidFill>
                <a:effectLst/>
                <a:uFillTx/>
                <a:latin typeface="Arial"/>
                <a:ea typeface="DejaVu Sans"/>
              </a:rPr>
              <a:t>PA: (18:0/22:6), (20:0/18:2) (20:0/20:4),</a:t>
            </a:r>
            <a:endParaRPr b="0" lang="en-US" sz="1000" strike="noStrike" u="none">
              <a:solidFill>
                <a:srgbClr val="000000"/>
              </a:solidFill>
              <a:effectLst/>
              <a:uFillTx/>
              <a:latin typeface="Arial"/>
            </a:endParaRPr>
          </a:p>
          <a:p>
            <a:pPr>
              <a:lnSpc>
                <a:spcPct val="100000"/>
              </a:lnSpc>
            </a:pPr>
            <a:r>
              <a:rPr b="0" lang="en-US" sz="1000" strike="noStrike" u="none">
                <a:solidFill>
                  <a:srgbClr val="168253"/>
                </a:solidFill>
                <a:effectLst/>
                <a:uFillTx/>
                <a:latin typeface="Arial"/>
                <a:ea typeface="DejaVu Sans"/>
              </a:rPr>
              <a:t>TAG (48:3-18:3)</a:t>
            </a:r>
            <a:endParaRPr b="0" lang="en-US" sz="1000" strike="noStrike" u="none">
              <a:solidFill>
                <a:srgbClr val="000000"/>
              </a:solidFill>
              <a:effectLst/>
              <a:uFillTx/>
              <a:latin typeface="Arial"/>
            </a:endParaRPr>
          </a:p>
          <a:p>
            <a:pPr>
              <a:lnSpc>
                <a:spcPct val="100000"/>
              </a:lnSpc>
            </a:pPr>
            <a:endParaRPr b="0" lang="en-US" sz="1000" strike="noStrike" u="none">
              <a:solidFill>
                <a:srgbClr val="000000"/>
              </a:solidFill>
              <a:effectLst/>
              <a:uFillTx/>
              <a:latin typeface="Arial"/>
            </a:endParaRPr>
          </a:p>
        </p:txBody>
      </p:sp>
      <p:sp>
        <p:nvSpPr>
          <p:cNvPr id="3" name="PlaceHolder 2"/>
          <p:cNvSpPr>
            <a:spLocks noGrp="1"/>
          </p:cNvSpPr>
          <p:nvPr>
            <p:ph type="sldNum" idx="11"/>
          </p:nvPr>
        </p:nvSpPr>
        <p:spPr/>
        <p:txBody>
          <a:bodyPr/>
          <a:p>
            <a:fld id="{4495C1C8-725F-434A-BFD9-9BCA5F1F12B3}" type="slidenum">
              <a:t>72</a:t>
            </a:fld>
          </a:p>
        </p:txBody>
      </p:sp>
    </p:spTree>
  </p:cSld>
  <mc:AlternateContent>
    <mc:Choice Requires="p14">
      <p:transition spd="slow" p14:dur="2000"/>
    </mc:Choice>
    <mc:Fallback>
      <p:transition spd="slow"/>
    </mc:Fallback>
  </mc:AlternateContent>
</p:sld>
</file>

<file path=ppt/slides/slide7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0" name="PlaceHolder 1"/>
          <p:cNvSpPr>
            <a:spLocks noGrp="1"/>
          </p:cNvSpPr>
          <p:nvPr>
            <p:ph type="title"/>
          </p:nvPr>
        </p:nvSpPr>
        <p:spPr>
          <a:xfrm>
            <a:off x="360000" y="198360"/>
            <a:ext cx="9342720" cy="426240"/>
          </a:xfrm>
          <a:prstGeom prst="rect">
            <a:avLst/>
          </a:prstGeom>
          <a:noFill/>
          <a:ln w="0">
            <a:noFill/>
          </a:ln>
        </p:spPr>
        <p:txBody>
          <a:bodyPr lIns="0" rIns="0" tIns="0" bIns="0" anchor="ctr">
            <a:spAutoFit/>
          </a:bodyPr>
          <a:p>
            <a:pPr indent="0" algn="ctr">
              <a:lnSpc>
                <a:spcPct val="100000"/>
              </a:lnSpc>
              <a:buNone/>
              <a:tabLst>
                <a:tab algn="l" pos="0"/>
              </a:tabLst>
            </a:pPr>
            <a:r>
              <a:rPr b="0" lang="en-US" sz="3000" strike="noStrike" u="none">
                <a:solidFill>
                  <a:srgbClr val="ffffff"/>
                </a:solidFill>
                <a:effectLst/>
                <a:uFillTx/>
                <a:latin typeface="Arial"/>
              </a:rPr>
              <a:t>Metabolites from all three models </a:t>
            </a:r>
            <a:endParaRPr b="0" lang="en-US" sz="3000" strike="noStrike" u="none">
              <a:solidFill>
                <a:srgbClr val="000000"/>
              </a:solidFill>
              <a:effectLst/>
              <a:uFillTx/>
              <a:latin typeface="Arial"/>
            </a:endParaRPr>
          </a:p>
        </p:txBody>
      </p:sp>
      <p:sp>
        <p:nvSpPr>
          <p:cNvPr id="301" name=""/>
          <p:cNvSpPr/>
          <p:nvPr/>
        </p:nvSpPr>
        <p:spPr>
          <a:xfrm>
            <a:off x="1587600" y="914400"/>
            <a:ext cx="3656880" cy="3428280"/>
          </a:xfrm>
          <a:prstGeom prst="ellipse">
            <a:avLst/>
          </a:prstGeom>
          <a:noFill/>
          <a:ln w="0">
            <a:solidFill>
              <a:srgbClr val="000000"/>
            </a:solidFill>
          </a:ln>
        </p:spPr>
        <p:style>
          <a:lnRef idx="0"/>
          <a:fillRef idx="0"/>
          <a:effectRef idx="0"/>
          <a:fontRef idx="minor"/>
        </p:style>
        <p:txBody>
          <a:bodyPr lIns="90000" rIns="90000" tIns="45000" bIns="45000" anchor="ctr">
            <a:noAutofit/>
          </a:bodyPr>
          <a:p>
            <a:pPr>
              <a:lnSpc>
                <a:spcPct val="100000"/>
              </a:lnSpc>
            </a:pPr>
            <a:endParaRPr b="0" lang="en-US" sz="1800" strike="noStrike" u="none">
              <a:solidFill>
                <a:srgbClr val="000000"/>
              </a:solidFill>
              <a:effectLst/>
              <a:uFillTx/>
              <a:latin typeface="Arial"/>
              <a:ea typeface="DejaVu Sans"/>
            </a:endParaRPr>
          </a:p>
        </p:txBody>
      </p:sp>
      <p:sp>
        <p:nvSpPr>
          <p:cNvPr id="302" name=""/>
          <p:cNvSpPr/>
          <p:nvPr/>
        </p:nvSpPr>
        <p:spPr>
          <a:xfrm>
            <a:off x="4006800" y="914400"/>
            <a:ext cx="3656880" cy="3428280"/>
          </a:xfrm>
          <a:prstGeom prst="ellipse">
            <a:avLst/>
          </a:prstGeom>
          <a:noFill/>
          <a:ln w="0">
            <a:solidFill>
              <a:srgbClr val="000000"/>
            </a:solidFill>
          </a:ln>
        </p:spPr>
        <p:style>
          <a:lnRef idx="0"/>
          <a:fillRef idx="0"/>
          <a:effectRef idx="0"/>
          <a:fontRef idx="minor"/>
        </p:style>
        <p:txBody>
          <a:bodyPr lIns="90000" rIns="90000" tIns="45000" bIns="45000" anchor="ctr">
            <a:noAutofit/>
          </a:bodyPr>
          <a:p>
            <a:pPr>
              <a:lnSpc>
                <a:spcPct val="100000"/>
              </a:lnSpc>
            </a:pPr>
            <a:endParaRPr b="0" lang="en-US" sz="1800" strike="noStrike" u="none">
              <a:solidFill>
                <a:srgbClr val="000000"/>
              </a:solidFill>
              <a:effectLst/>
              <a:uFillTx/>
              <a:latin typeface="Arial"/>
              <a:ea typeface="DejaVu Sans"/>
            </a:endParaRPr>
          </a:p>
        </p:txBody>
      </p:sp>
      <p:sp>
        <p:nvSpPr>
          <p:cNvPr id="303" name=""/>
          <p:cNvSpPr/>
          <p:nvPr/>
        </p:nvSpPr>
        <p:spPr>
          <a:xfrm>
            <a:off x="2743920" y="2206440"/>
            <a:ext cx="3656880" cy="3428280"/>
          </a:xfrm>
          <a:prstGeom prst="ellipse">
            <a:avLst/>
          </a:prstGeom>
          <a:noFill/>
          <a:ln w="0">
            <a:solidFill>
              <a:srgbClr val="000000"/>
            </a:solidFill>
          </a:ln>
        </p:spPr>
        <p:style>
          <a:lnRef idx="0"/>
          <a:fillRef idx="0"/>
          <a:effectRef idx="0"/>
          <a:fontRef idx="minor"/>
        </p:style>
        <p:txBody>
          <a:bodyPr lIns="90000" rIns="90000" tIns="45000" bIns="45000" anchor="ctr">
            <a:noAutofit/>
          </a:bodyPr>
          <a:p>
            <a:pPr>
              <a:lnSpc>
                <a:spcPct val="100000"/>
              </a:lnSpc>
            </a:pPr>
            <a:endParaRPr b="0" lang="en-US" sz="1800" strike="noStrike" u="none">
              <a:solidFill>
                <a:srgbClr val="000000"/>
              </a:solidFill>
              <a:effectLst/>
              <a:uFillTx/>
              <a:latin typeface="Arial"/>
              <a:ea typeface="DejaVu Sans"/>
            </a:endParaRPr>
          </a:p>
        </p:txBody>
      </p:sp>
      <p:sp>
        <p:nvSpPr>
          <p:cNvPr id="304" name=""/>
          <p:cNvSpPr/>
          <p:nvPr/>
        </p:nvSpPr>
        <p:spPr>
          <a:xfrm>
            <a:off x="914400" y="915120"/>
            <a:ext cx="1370880" cy="36468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1" lang="en-US" sz="1800" strike="noStrike" u="none">
                <a:solidFill>
                  <a:srgbClr val="000000"/>
                </a:solidFill>
                <a:effectLst/>
                <a:uFillTx/>
                <a:latin typeface="Arial"/>
                <a:ea typeface="DejaVu Sans"/>
              </a:rPr>
              <a:t>Elastic Net</a:t>
            </a:r>
            <a:endParaRPr b="1" lang="en-US" sz="1800" strike="noStrike" u="none">
              <a:solidFill>
                <a:srgbClr val="000000"/>
              </a:solidFill>
              <a:effectLst/>
              <a:uFillTx/>
              <a:latin typeface="Arial"/>
            </a:endParaRPr>
          </a:p>
        </p:txBody>
      </p:sp>
      <p:sp>
        <p:nvSpPr>
          <p:cNvPr id="305" name=""/>
          <p:cNvSpPr/>
          <p:nvPr/>
        </p:nvSpPr>
        <p:spPr>
          <a:xfrm>
            <a:off x="7086600" y="733320"/>
            <a:ext cx="2056680" cy="63828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1" lang="en-US" sz="1800" strike="noStrike" u="none">
                <a:solidFill>
                  <a:srgbClr val="000000"/>
                </a:solidFill>
                <a:effectLst/>
                <a:uFillTx/>
                <a:latin typeface="Arial"/>
                <a:ea typeface="DejaVu Sans"/>
              </a:rPr>
              <a:t>Random </a:t>
            </a:r>
            <a:br>
              <a:rPr sz="1800"/>
            </a:br>
            <a:r>
              <a:rPr b="1" lang="en-US" sz="1800" strike="noStrike" u="none">
                <a:solidFill>
                  <a:srgbClr val="000000"/>
                </a:solidFill>
                <a:effectLst/>
                <a:uFillTx/>
                <a:latin typeface="Arial"/>
                <a:ea typeface="DejaVu Sans"/>
              </a:rPr>
              <a:t>Forest</a:t>
            </a:r>
            <a:endParaRPr b="1" lang="en-US" sz="1800" strike="noStrike" u="none">
              <a:solidFill>
                <a:srgbClr val="000000"/>
              </a:solidFill>
              <a:effectLst/>
              <a:uFillTx/>
              <a:latin typeface="Arial"/>
            </a:endParaRPr>
          </a:p>
        </p:txBody>
      </p:sp>
      <p:sp>
        <p:nvSpPr>
          <p:cNvPr id="306" name=""/>
          <p:cNvSpPr/>
          <p:nvPr/>
        </p:nvSpPr>
        <p:spPr>
          <a:xfrm>
            <a:off x="5943600" y="5029200"/>
            <a:ext cx="1370880" cy="36468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1" lang="en-US" sz="1800" strike="noStrike" u="none">
                <a:solidFill>
                  <a:srgbClr val="000000"/>
                </a:solidFill>
                <a:effectLst/>
                <a:uFillTx/>
                <a:latin typeface="Arial"/>
                <a:ea typeface="DejaVu Sans"/>
              </a:rPr>
              <a:t>XGBoost</a:t>
            </a:r>
            <a:endParaRPr b="1" lang="en-US" sz="1800" strike="noStrike" u="none">
              <a:solidFill>
                <a:srgbClr val="000000"/>
              </a:solidFill>
              <a:effectLst/>
              <a:uFillTx/>
              <a:latin typeface="Arial"/>
            </a:endParaRPr>
          </a:p>
        </p:txBody>
      </p:sp>
      <p:sp>
        <p:nvSpPr>
          <p:cNvPr id="307" name=""/>
          <p:cNvSpPr/>
          <p:nvPr/>
        </p:nvSpPr>
        <p:spPr>
          <a:xfrm>
            <a:off x="1828800" y="1283400"/>
            <a:ext cx="2742480" cy="70092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en-US" sz="1000" strike="noStrike" u="none">
                <a:solidFill>
                  <a:srgbClr val="e16173"/>
                </a:solidFill>
                <a:effectLst/>
                <a:uFillTx/>
                <a:latin typeface="Arial"/>
                <a:ea typeface="DejaVu Sans"/>
              </a:rPr>
              <a:t>CE (22:5), </a:t>
            </a:r>
            <a:r>
              <a:rPr b="0" lang="en-US" sz="1000" strike="noStrike" u="none">
                <a:solidFill>
                  <a:srgbClr val="999999"/>
                </a:solidFill>
                <a:effectLst/>
                <a:uFillTx/>
                <a:latin typeface="Arial"/>
                <a:ea typeface="DejaVu Sans"/>
              </a:rPr>
              <a:t>Fumaric acid, Galactaric acid,</a:t>
            </a:r>
            <a:r>
              <a:rPr b="0" lang="en-US" sz="1000" strike="noStrike" u="none">
                <a:solidFill>
                  <a:srgbClr val="ea7500"/>
                </a:solidFill>
                <a:effectLst/>
                <a:uFillTx/>
                <a:latin typeface="Arial"/>
                <a:ea typeface="DejaVu Sans"/>
              </a:rPr>
              <a:t> PA (18:0/20:4),</a:t>
            </a:r>
            <a:r>
              <a:rPr b="0" lang="en-US" sz="1000" strike="noStrike" u="none">
                <a:solidFill>
                  <a:srgbClr val="3465a4"/>
                </a:solidFill>
                <a:effectLst/>
                <a:uFillTx/>
                <a:latin typeface="Arial"/>
                <a:ea typeface="DejaVu Sans"/>
              </a:rPr>
              <a:t> PC (38:3), </a:t>
            </a:r>
            <a:r>
              <a:rPr b="0" lang="en-US" sz="1000" strike="noStrike" u="none">
                <a:solidFill>
                  <a:srgbClr val="5b277d"/>
                </a:solidFill>
                <a:effectLst/>
                <a:uFillTx/>
                <a:latin typeface="Arial"/>
                <a:ea typeface="DejaVu Sans"/>
              </a:rPr>
              <a:t>PI (14:0/18:2),</a:t>
            </a:r>
            <a:r>
              <a:rPr b="0" lang="en-US" sz="1000" strike="noStrike" u="none">
                <a:solidFill>
                  <a:srgbClr val="000000"/>
                </a:solidFill>
                <a:effectLst/>
                <a:uFillTx/>
                <a:latin typeface="Arial"/>
                <a:ea typeface="DejaVu Sans"/>
              </a:rPr>
              <a:t> </a:t>
            </a:r>
            <a:br>
              <a:rPr sz="1000"/>
            </a:br>
            <a:r>
              <a:rPr b="0" lang="en-US" sz="1000" strike="noStrike" u="none">
                <a:solidFill>
                  <a:srgbClr val="158466"/>
                </a:solidFill>
                <a:effectLst/>
                <a:uFillTx/>
                <a:latin typeface="Arial"/>
                <a:ea typeface="DejaVu Sans"/>
              </a:rPr>
              <a:t>TAG: (46:0-14:0), (54:4-18:2), (52:4-16:1), (54:3-18:1), (52:4-18:2)</a:t>
            </a:r>
            <a:r>
              <a:rPr b="0" lang="en-US" sz="1000" strike="noStrike" u="none">
                <a:solidFill>
                  <a:srgbClr val="000000"/>
                </a:solidFill>
                <a:effectLst/>
                <a:uFillTx/>
                <a:latin typeface="Arial"/>
                <a:ea typeface="DejaVu Sans"/>
              </a:rPr>
              <a:t>, </a:t>
            </a:r>
            <a:r>
              <a:rPr b="0" lang="en-US" sz="1000" strike="noStrike" u="none">
                <a:solidFill>
                  <a:srgbClr val="e6e905"/>
                </a:solidFill>
                <a:effectLst/>
                <a:uFillTx/>
                <a:latin typeface="Arial"/>
                <a:ea typeface="DejaVu Sans"/>
              </a:rPr>
              <a:t>Valine</a:t>
            </a:r>
            <a:endParaRPr b="0" lang="en-US" sz="1000" strike="noStrike" u="none">
              <a:solidFill>
                <a:srgbClr val="000000"/>
              </a:solidFill>
              <a:effectLst/>
              <a:uFillTx/>
              <a:latin typeface="Arial"/>
            </a:endParaRPr>
          </a:p>
        </p:txBody>
      </p:sp>
      <p:sp>
        <p:nvSpPr>
          <p:cNvPr id="308" name=""/>
          <p:cNvSpPr/>
          <p:nvPr/>
        </p:nvSpPr>
        <p:spPr>
          <a:xfrm>
            <a:off x="5257800" y="1283400"/>
            <a:ext cx="2742480" cy="120384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en-US" sz="1000" strike="noStrike" u="none">
                <a:solidFill>
                  <a:srgbClr val="00e3e3"/>
                </a:solidFill>
                <a:effectLst/>
                <a:uFillTx/>
                <a:latin typeface="Arial"/>
                <a:ea typeface="DejaVu Sans"/>
              </a:rPr>
              <a:t>DAG: (16:0/16:0), (16:0/18:0),</a:t>
            </a:r>
            <a:br>
              <a:rPr sz="1000"/>
            </a:br>
            <a:r>
              <a:rPr b="0" lang="en-US" sz="1000" strike="noStrike" u="none">
                <a:solidFill>
                  <a:srgbClr val="e8a202"/>
                </a:solidFill>
                <a:effectLst/>
                <a:uFillTx/>
                <a:latin typeface="Arial"/>
                <a:ea typeface="DejaVu Sans"/>
              </a:rPr>
              <a:t>SM (38:1),</a:t>
            </a:r>
            <a:br>
              <a:rPr sz="1000"/>
            </a:br>
            <a:r>
              <a:rPr b="0" lang="en-US" sz="1000" strike="noStrike" u="none">
                <a:solidFill>
                  <a:srgbClr val="158466"/>
                </a:solidFill>
                <a:effectLst/>
                <a:uFillTx/>
                <a:latin typeface="Arial"/>
                <a:ea typeface="DejaVu Sans"/>
              </a:rPr>
              <a:t>TAG: (50:3-18:1), (52:3-16:1), (50:3-16:1), (54:4-18:0), (52:5-18:2), (54:4-18:1), (54:5-18:1), (52:3-16:0)</a:t>
            </a:r>
            <a:br>
              <a:rPr sz="1000"/>
            </a:br>
            <a:endParaRPr b="0" lang="en-US" sz="1000" strike="noStrike" u="none">
              <a:solidFill>
                <a:srgbClr val="000000"/>
              </a:solidFill>
              <a:effectLst/>
              <a:uFillTx/>
              <a:latin typeface="Arial"/>
            </a:endParaRPr>
          </a:p>
          <a:p>
            <a:pPr>
              <a:lnSpc>
                <a:spcPct val="100000"/>
              </a:lnSpc>
            </a:pPr>
            <a:endParaRPr b="0" lang="en-US" sz="1300" strike="noStrike" u="none">
              <a:solidFill>
                <a:srgbClr val="000000"/>
              </a:solidFill>
              <a:effectLst/>
              <a:uFillTx/>
              <a:latin typeface="Arial"/>
            </a:endParaRPr>
          </a:p>
        </p:txBody>
      </p:sp>
      <p:sp>
        <p:nvSpPr>
          <p:cNvPr id="309" name=""/>
          <p:cNvSpPr/>
          <p:nvPr/>
        </p:nvSpPr>
        <p:spPr>
          <a:xfrm>
            <a:off x="2963520" y="4343400"/>
            <a:ext cx="3436560" cy="70092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en-US" sz="1000" strike="noStrike" u="none">
                <a:solidFill>
                  <a:srgbClr val="ff00ff"/>
                </a:solidFill>
                <a:effectLst/>
                <a:uFillTx/>
                <a:latin typeface="Arial"/>
                <a:ea typeface="DejaVu Sans"/>
              </a:rPr>
              <a:t>Carnosine,</a:t>
            </a:r>
            <a:r>
              <a:rPr b="0" lang="en-US" sz="1000" strike="noStrike" u="none">
                <a:solidFill>
                  <a:srgbClr val="000000"/>
                </a:solidFill>
                <a:effectLst/>
                <a:uFillTx/>
                <a:latin typeface="Arial"/>
                <a:ea typeface="DejaVu Sans"/>
              </a:rPr>
              <a:t> </a:t>
            </a:r>
            <a:r>
              <a:rPr b="0" lang="en-US" sz="1000" strike="noStrike" u="none">
                <a:solidFill>
                  <a:srgbClr val="00e3e3"/>
                </a:solidFill>
                <a:effectLst/>
                <a:uFillTx/>
                <a:latin typeface="Arial"/>
                <a:ea typeface="DejaVu Sans"/>
              </a:rPr>
              <a:t>DAG (18:2/18:3),</a:t>
            </a:r>
            <a:r>
              <a:rPr b="0" lang="en-US" sz="1000" strike="noStrike" u="none">
                <a:solidFill>
                  <a:srgbClr val="000000"/>
                </a:solidFill>
                <a:effectLst/>
                <a:uFillTx/>
                <a:latin typeface="Arial"/>
                <a:ea typeface="DejaVu Sans"/>
              </a:rPr>
              <a:t> PC-O (34:3),</a:t>
            </a:r>
            <a:r>
              <a:rPr b="0" lang="en-US" sz="1000" strike="noStrike" u="none">
                <a:solidFill>
                  <a:srgbClr val="6200c4"/>
                </a:solidFill>
                <a:effectLst/>
                <a:uFillTx/>
                <a:latin typeface="Arial"/>
                <a:ea typeface="DejaVu Sans"/>
              </a:rPr>
              <a:t> PE (40:7)</a:t>
            </a:r>
            <a:r>
              <a:rPr b="0" lang="en-US" sz="1000" strike="noStrike" u="none">
                <a:solidFill>
                  <a:srgbClr val="000000"/>
                </a:solidFill>
                <a:effectLst/>
                <a:uFillTx/>
                <a:latin typeface="Arial"/>
                <a:ea typeface="DejaVu Sans"/>
              </a:rPr>
              <a:t>, </a:t>
            </a:r>
            <a:r>
              <a:rPr b="0" lang="en-US" sz="1000" strike="noStrike" u="none">
                <a:solidFill>
                  <a:srgbClr val="fe7f00"/>
                </a:solidFill>
                <a:effectLst/>
                <a:uFillTx/>
                <a:latin typeface="Arial"/>
                <a:ea typeface="DejaVu Sans"/>
              </a:rPr>
              <a:t>SM (36:2), </a:t>
            </a:r>
            <a:r>
              <a:rPr b="0" lang="en-US" sz="1000" strike="noStrike" u="none">
                <a:solidFill>
                  <a:srgbClr val="158466"/>
                </a:solidFill>
                <a:effectLst/>
                <a:uFillTx/>
                <a:latin typeface="Arial"/>
                <a:ea typeface="DejaVu Sans"/>
              </a:rPr>
              <a:t>TAG: (49:2-18:2), (56:6-20:4), (51:4-18:2), (54:5-18:3), (54:6-18:3)</a:t>
            </a:r>
            <a:endParaRPr b="0" lang="en-US" sz="1000" strike="noStrike" u="none">
              <a:solidFill>
                <a:srgbClr val="000000"/>
              </a:solidFill>
              <a:effectLst/>
              <a:uFillTx/>
              <a:latin typeface="Arial"/>
            </a:endParaRPr>
          </a:p>
          <a:p>
            <a:pPr>
              <a:lnSpc>
                <a:spcPct val="100000"/>
              </a:lnSpc>
            </a:pPr>
            <a:endParaRPr b="0" lang="en-US" sz="1000" strike="noStrike" u="none">
              <a:solidFill>
                <a:srgbClr val="000000"/>
              </a:solidFill>
              <a:effectLst/>
              <a:uFillTx/>
              <a:latin typeface="Arial"/>
            </a:endParaRPr>
          </a:p>
        </p:txBody>
      </p:sp>
      <p:sp>
        <p:nvSpPr>
          <p:cNvPr id="310" name=""/>
          <p:cNvSpPr/>
          <p:nvPr/>
        </p:nvSpPr>
        <p:spPr>
          <a:xfrm>
            <a:off x="4572000" y="1959840"/>
            <a:ext cx="3429000" cy="2154960"/>
          </a:xfrm>
          <a:prstGeom prst="line">
            <a:avLst/>
          </a:prstGeom>
          <a:ln w="0">
            <a:solidFill>
              <a:srgbClr val="000000"/>
            </a:solidFill>
            <a:prstDash val="dash"/>
          </a:ln>
        </p:spPr>
        <p:style>
          <a:lnRef idx="0"/>
          <a:fillRef idx="0"/>
          <a:effectRef idx="0"/>
          <a:fontRef idx="minor"/>
        </p:style>
        <p:txBody>
          <a:bodyPr lIns="90000" rIns="90000" tIns="45000" bIns="45000" anchor="ctr">
            <a:noAutofit/>
          </a:bodyPr>
          <a:p>
            <a:endParaRPr b="0" lang="en-US" sz="1800" strike="noStrike" u="none">
              <a:solidFill>
                <a:srgbClr val="000000"/>
              </a:solidFill>
              <a:effectLst/>
              <a:uFillTx/>
              <a:latin typeface="Arial"/>
              <a:ea typeface="DejaVu Sans"/>
            </a:endParaRPr>
          </a:p>
        </p:txBody>
      </p:sp>
      <p:sp>
        <p:nvSpPr>
          <p:cNvPr id="311" name=""/>
          <p:cNvSpPr/>
          <p:nvPr/>
        </p:nvSpPr>
        <p:spPr>
          <a:xfrm>
            <a:off x="8001000" y="3788640"/>
            <a:ext cx="1828080" cy="70092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en-US" sz="1000" strike="noStrike" u="none">
                <a:solidFill>
                  <a:srgbClr val="ea7500"/>
                </a:solidFill>
                <a:effectLst/>
                <a:uFillTx/>
                <a:latin typeface="Arial"/>
                <a:ea typeface="DejaVu Sans"/>
              </a:rPr>
              <a:t>PA: (20:0/20:4), (20:0/18:2), </a:t>
            </a:r>
            <a:r>
              <a:rPr b="0" lang="en-US" sz="1000" strike="noStrike" u="none">
                <a:solidFill>
                  <a:srgbClr val="3465a4"/>
                </a:solidFill>
                <a:effectLst/>
                <a:uFillTx/>
                <a:latin typeface="Arial"/>
                <a:ea typeface="DejaVu Sans"/>
              </a:rPr>
              <a:t>PC: (40:5), (38:2), (36:1-2),</a:t>
            </a:r>
            <a:r>
              <a:rPr b="0" lang="en-US" sz="1000" strike="noStrike" u="none">
                <a:solidFill>
                  <a:srgbClr val="000000"/>
                </a:solidFill>
                <a:effectLst/>
                <a:uFillTx/>
                <a:latin typeface="Arial"/>
                <a:ea typeface="DejaVu Sans"/>
              </a:rPr>
              <a:t> </a:t>
            </a:r>
            <a:r>
              <a:rPr b="0" lang="en-US" sz="1000" strike="noStrike" u="none">
                <a:solidFill>
                  <a:srgbClr val="158466"/>
                </a:solidFill>
                <a:effectLst/>
                <a:uFillTx/>
                <a:latin typeface="Arial"/>
                <a:ea typeface="DejaVu Sans"/>
              </a:rPr>
              <a:t>TAG:  (52:3-18:1), (54:5-18:2)</a:t>
            </a:r>
            <a:endParaRPr b="0" lang="en-US" sz="1000" strike="noStrike" u="none">
              <a:solidFill>
                <a:srgbClr val="000000"/>
              </a:solidFill>
              <a:effectLst/>
              <a:uFillTx/>
              <a:latin typeface="Arial"/>
            </a:endParaRPr>
          </a:p>
        </p:txBody>
      </p:sp>
      <p:sp>
        <p:nvSpPr>
          <p:cNvPr id="312" name=""/>
          <p:cNvSpPr/>
          <p:nvPr/>
        </p:nvSpPr>
        <p:spPr>
          <a:xfrm>
            <a:off x="4800600" y="3657600"/>
            <a:ext cx="1599480" cy="54612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en-US" sz="1000" strike="noStrike" u="none">
                <a:solidFill>
                  <a:srgbClr val="158466"/>
                </a:solidFill>
                <a:effectLst/>
                <a:uFillTx/>
                <a:latin typeface="Arial"/>
                <a:ea typeface="DejaVu Sans"/>
              </a:rPr>
              <a:t>TAG: (54:6-18:3),(54:4-16:0), (50:1-16:0)</a:t>
            </a:r>
            <a:endParaRPr b="0" lang="en-US" sz="1000" strike="noStrike" u="none">
              <a:solidFill>
                <a:srgbClr val="000000"/>
              </a:solidFill>
              <a:effectLst/>
              <a:uFillTx/>
              <a:latin typeface="Arial"/>
            </a:endParaRPr>
          </a:p>
          <a:p>
            <a:pPr>
              <a:lnSpc>
                <a:spcPct val="100000"/>
              </a:lnSpc>
            </a:pPr>
            <a:endParaRPr b="0" lang="en-US" sz="1000" strike="noStrike" u="none">
              <a:solidFill>
                <a:srgbClr val="000000"/>
              </a:solidFill>
              <a:effectLst/>
              <a:uFillTx/>
              <a:latin typeface="Arial"/>
            </a:endParaRPr>
          </a:p>
        </p:txBody>
      </p:sp>
      <p:sp>
        <p:nvSpPr>
          <p:cNvPr id="313" name=""/>
          <p:cNvSpPr/>
          <p:nvPr/>
        </p:nvSpPr>
        <p:spPr>
          <a:xfrm>
            <a:off x="3958920" y="2514600"/>
            <a:ext cx="1828080" cy="24300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en-US" sz="1000" strike="noStrike" u="none">
                <a:solidFill>
                  <a:srgbClr val="afeeee"/>
                </a:solidFill>
                <a:effectLst/>
                <a:uFillTx/>
                <a:latin typeface="Arial"/>
                <a:ea typeface="DejaVu Sans"/>
              </a:rPr>
              <a:t>FFA (20:4)-5/12-OH</a:t>
            </a:r>
            <a:endParaRPr b="0" lang="en-US" sz="1000" strike="noStrike" u="none">
              <a:solidFill>
                <a:srgbClr val="afeeee"/>
              </a:solidFill>
              <a:effectLst/>
              <a:uFillTx/>
              <a:latin typeface="Arial"/>
            </a:endParaRPr>
          </a:p>
        </p:txBody>
      </p:sp>
      <p:sp>
        <p:nvSpPr>
          <p:cNvPr id="3" name="PlaceHolder 2"/>
          <p:cNvSpPr>
            <a:spLocks noGrp="1"/>
          </p:cNvSpPr>
          <p:nvPr>
            <p:ph type="sldNum" idx="11"/>
          </p:nvPr>
        </p:nvSpPr>
        <p:spPr/>
        <p:txBody>
          <a:bodyPr/>
          <a:p>
            <a:fld id="{BFDFAE68-C9C3-4E1C-A59B-34B816268174}" type="slidenum">
              <a:t>73</a:t>
            </a:fld>
          </a:p>
        </p:txBody>
      </p:sp>
    </p:spTree>
  </p:cSld>
  <mc:AlternateContent>
    <mc:Choice Requires="p14">
      <p:transition spd="slow" p14:dur="2000"/>
    </mc:Choice>
    <mc:Fallback>
      <p:transition spd="slow"/>
    </mc:Fallback>
  </mc:AlternateContent>
</p:sld>
</file>

<file path=ppt/slides/slide7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4" name="PlaceHolder 1"/>
          <p:cNvSpPr>
            <a:spLocks noGrp="1"/>
          </p:cNvSpPr>
          <p:nvPr>
            <p:ph type="title"/>
          </p:nvPr>
        </p:nvSpPr>
        <p:spPr>
          <a:xfrm>
            <a:off x="360000" y="198000"/>
            <a:ext cx="9342720" cy="426960"/>
          </a:xfrm>
          <a:prstGeom prst="rect">
            <a:avLst/>
          </a:prstGeom>
          <a:noFill/>
          <a:ln w="0">
            <a:noFill/>
          </a:ln>
        </p:spPr>
        <p:txBody>
          <a:bodyPr lIns="0" rIns="0" tIns="0" bIns="0" anchor="ctr">
            <a:spAutoFit/>
          </a:bodyPr>
          <a:p>
            <a:pPr indent="0" algn="ctr">
              <a:lnSpc>
                <a:spcPct val="100000"/>
              </a:lnSpc>
              <a:spcBef>
                <a:spcPts val="1191"/>
              </a:spcBef>
              <a:spcAft>
                <a:spcPts val="992"/>
              </a:spcAft>
              <a:buNone/>
              <a:tabLst>
                <a:tab algn="l" pos="0"/>
              </a:tabLst>
            </a:pPr>
            <a:r>
              <a:rPr b="0" lang="en-US" sz="3000" strike="noStrike" u="none">
                <a:solidFill>
                  <a:srgbClr val="ffffff"/>
                </a:solidFill>
                <a:effectLst/>
                <a:uFillTx/>
                <a:latin typeface="Arial"/>
              </a:rPr>
              <a:t>Deriving an Interpretable Metabolite-Based Risk Score </a:t>
            </a:r>
            <a:endParaRPr b="0" lang="en-US" sz="3000" strike="noStrike" u="none">
              <a:solidFill>
                <a:srgbClr val="000000"/>
              </a:solidFill>
              <a:effectLst/>
              <a:uFillTx/>
              <a:latin typeface="Arial"/>
            </a:endParaRPr>
          </a:p>
        </p:txBody>
      </p:sp>
      <p:sp>
        <p:nvSpPr>
          <p:cNvPr id="315" name="PlaceHolder 2"/>
          <p:cNvSpPr>
            <a:spLocks noGrp="1"/>
          </p:cNvSpPr>
          <p:nvPr>
            <p:ph/>
          </p:nvPr>
        </p:nvSpPr>
        <p:spPr>
          <a:xfrm>
            <a:off x="360000" y="1080000"/>
            <a:ext cx="9342720" cy="3582720"/>
          </a:xfrm>
          <a:prstGeom prst="rect">
            <a:avLst/>
          </a:prstGeom>
          <a:noFill/>
          <a:ln w="0">
            <a:noFill/>
          </a:ln>
        </p:spPr>
        <p:txBody>
          <a:bodyPr lIns="0" rIns="0" tIns="0" bIns="0" anchor="t">
            <a:normAutofit/>
          </a:bodyPr>
          <a:p>
            <a:pPr marL="432000" indent="-324000">
              <a:lnSpc>
                <a:spcPct val="100000"/>
              </a:lnSpc>
              <a:spcBef>
                <a:spcPts val="1191"/>
              </a:spcBef>
              <a:spcAft>
                <a:spcPts val="992"/>
              </a:spcAft>
              <a:buClr>
                <a:srgbClr val="000000"/>
              </a:buClr>
              <a:buSzPct val="45000"/>
              <a:buFont typeface="Wingdings" charset="2"/>
              <a:buChar char=""/>
            </a:pPr>
            <a:r>
              <a:rPr b="0" lang="en-US" sz="1800" strike="noStrike" u="none">
                <a:solidFill>
                  <a:srgbClr val="000000"/>
                </a:solidFill>
                <a:effectLst/>
                <a:uFillTx/>
                <a:latin typeface="Arial"/>
              </a:rPr>
              <a:t>500+ metabolites → reduced to 5 biologically meaningful axes </a:t>
            </a:r>
            <a:endParaRPr b="0" lang="en-US" sz="1800" strike="noStrike" u="none">
              <a:solidFill>
                <a:srgbClr val="000000"/>
              </a:solidFill>
              <a:effectLst/>
              <a:uFillTx/>
              <a:latin typeface="Arial"/>
            </a:endParaRPr>
          </a:p>
          <a:p>
            <a:pPr marL="432000" indent="-324000">
              <a:lnSpc>
                <a:spcPct val="100000"/>
              </a:lnSpc>
              <a:spcBef>
                <a:spcPts val="1191"/>
              </a:spcBef>
              <a:spcAft>
                <a:spcPts val="992"/>
              </a:spcAft>
              <a:buClr>
                <a:srgbClr val="000000"/>
              </a:buClr>
              <a:buSzPct val="45000"/>
              <a:buFont typeface="Wingdings" charset="2"/>
              <a:buChar char=""/>
            </a:pPr>
            <a:r>
              <a:rPr b="0" lang="en-US" sz="1800" strike="noStrike" u="none">
                <a:solidFill>
                  <a:srgbClr val="000000"/>
                </a:solidFill>
                <a:effectLst/>
                <a:uFillTx/>
                <a:latin typeface="Arial"/>
              </a:rPr>
              <a:t>Based on cross-model stability (Elastic Net, RF, XGBoost SHAP) </a:t>
            </a:r>
            <a:endParaRPr b="0" lang="en-US" sz="1800" strike="noStrike" u="none">
              <a:solidFill>
                <a:srgbClr val="000000"/>
              </a:solidFill>
              <a:effectLst/>
              <a:uFillTx/>
              <a:latin typeface="Arial"/>
            </a:endParaRPr>
          </a:p>
          <a:p>
            <a:pPr marL="432000" indent="-324000">
              <a:lnSpc>
                <a:spcPct val="100000"/>
              </a:lnSpc>
              <a:spcBef>
                <a:spcPts val="1191"/>
              </a:spcBef>
              <a:spcAft>
                <a:spcPts val="992"/>
              </a:spcAft>
              <a:buClr>
                <a:srgbClr val="000000"/>
              </a:buClr>
              <a:buSzPct val="45000"/>
              <a:buFont typeface="Wingdings" charset="2"/>
              <a:buChar char=""/>
            </a:pPr>
            <a:r>
              <a:rPr b="0" lang="en-US" sz="1800" strike="noStrike" u="none">
                <a:solidFill>
                  <a:srgbClr val="000000"/>
                </a:solidFill>
                <a:effectLst/>
                <a:uFillTx/>
                <a:latin typeface="Arial"/>
              </a:rPr>
              <a:t>Predictors showed monotonic relationships (validated via SHAP) </a:t>
            </a:r>
            <a:endParaRPr b="0" lang="en-US" sz="1800" strike="noStrike" u="none">
              <a:solidFill>
                <a:srgbClr val="000000"/>
              </a:solidFill>
              <a:effectLst/>
              <a:uFillTx/>
              <a:latin typeface="Arial"/>
            </a:endParaRPr>
          </a:p>
          <a:p>
            <a:pPr marL="432000" indent="-324000">
              <a:lnSpc>
                <a:spcPct val="100000"/>
              </a:lnSpc>
              <a:spcBef>
                <a:spcPts val="1191"/>
              </a:spcBef>
              <a:spcAft>
                <a:spcPts val="992"/>
              </a:spcAft>
              <a:buClr>
                <a:srgbClr val="000000"/>
              </a:buClr>
              <a:buSzPct val="45000"/>
              <a:buFont typeface="Wingdings" charset="2"/>
              <a:buChar char=""/>
            </a:pPr>
            <a:r>
              <a:rPr b="0" lang="en-US" sz="1800" strike="noStrike" u="none">
                <a:solidFill>
                  <a:srgbClr val="000000"/>
                </a:solidFill>
                <a:effectLst/>
                <a:uFillTx/>
                <a:latin typeface="Arial"/>
              </a:rPr>
              <a:t>Penalized logistic regression used to estimate interpretable coefficients </a:t>
            </a:r>
            <a:endParaRPr b="0" lang="en-US" sz="1800" strike="noStrike" u="none">
              <a:solidFill>
                <a:srgbClr val="000000"/>
              </a:solidFill>
              <a:effectLst/>
              <a:uFillTx/>
              <a:latin typeface="Arial"/>
            </a:endParaRPr>
          </a:p>
          <a:p>
            <a:pPr indent="0">
              <a:lnSpc>
                <a:spcPct val="100000"/>
              </a:lnSpc>
              <a:spcBef>
                <a:spcPts val="1191"/>
              </a:spcBef>
              <a:spcAft>
                <a:spcPts val="992"/>
              </a:spcAft>
              <a:buNone/>
              <a:tabLst>
                <a:tab algn="l" pos="0"/>
              </a:tabLst>
            </a:pPr>
            <a:endParaRPr b="0" lang="en-US" sz="1000" strike="noStrike" u="none">
              <a:solidFill>
                <a:srgbClr val="000000"/>
              </a:solidFill>
              <a:effectLst/>
              <a:uFillTx/>
              <a:latin typeface="Arial"/>
            </a:endParaRPr>
          </a:p>
        </p:txBody>
      </p:sp>
      <p:sp>
        <p:nvSpPr>
          <p:cNvPr id="4" name="PlaceHolder 3"/>
          <p:cNvSpPr>
            <a:spLocks noGrp="1"/>
          </p:cNvSpPr>
          <p:nvPr>
            <p:ph type="sldNum" idx="11"/>
          </p:nvPr>
        </p:nvSpPr>
        <p:spPr/>
        <p:txBody>
          <a:bodyPr/>
          <a:p>
            <a:fld id="{9D61D5C8-119B-4BA5-95D0-B1284411D80D}" type="slidenum">
              <a:t>74</a:t>
            </a:fld>
          </a:p>
        </p:txBody>
      </p:sp>
    </p:spTree>
  </p:cSld>
  <mc:AlternateContent>
    <mc:Choice Requires="p14">
      <p:transition spd="slow" p14:dur="2000"/>
    </mc:Choice>
    <mc:Fallback>
      <p:transition spd="slow"/>
    </mc:Fallback>
  </mc:AlternateContent>
</p:sld>
</file>

<file path=ppt/slides/slide7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6" name="PlaceHolder 1"/>
          <p:cNvSpPr>
            <a:spLocks noGrp="1"/>
          </p:cNvSpPr>
          <p:nvPr>
            <p:ph type="title"/>
          </p:nvPr>
        </p:nvSpPr>
        <p:spPr>
          <a:xfrm>
            <a:off x="360000" y="-45720"/>
            <a:ext cx="9342720" cy="914760"/>
          </a:xfrm>
          <a:prstGeom prst="rect">
            <a:avLst/>
          </a:prstGeom>
          <a:noFill/>
          <a:ln w="0">
            <a:noFill/>
          </a:ln>
        </p:spPr>
        <p:txBody>
          <a:bodyPr lIns="0" rIns="0" tIns="0" bIns="0" anchor="ctr">
            <a:spAutoFit/>
          </a:bodyPr>
          <a:p>
            <a:pPr indent="0" algn="ctr">
              <a:lnSpc>
                <a:spcPct val="100000"/>
              </a:lnSpc>
              <a:spcBef>
                <a:spcPts val="1191"/>
              </a:spcBef>
              <a:spcAft>
                <a:spcPts val="992"/>
              </a:spcAft>
              <a:buNone/>
              <a:tabLst>
                <a:tab algn="l" pos="0"/>
              </a:tabLst>
            </a:pPr>
            <a:r>
              <a:rPr b="0" lang="en-US" sz="3000" strike="noStrike" u="none">
                <a:solidFill>
                  <a:srgbClr val="ffffff"/>
                </a:solidFill>
                <a:effectLst/>
                <a:uFillTx/>
                <a:latin typeface="Arial"/>
              </a:rPr>
              <a:t>Deriving an Interpretable Metabolite-Based Risk Score </a:t>
            </a:r>
            <a:endParaRPr b="0" lang="en-US" sz="3000" strike="noStrike" u="none">
              <a:solidFill>
                <a:srgbClr val="000000"/>
              </a:solidFill>
              <a:effectLst/>
              <a:uFillTx/>
              <a:latin typeface="Arial"/>
            </a:endParaRPr>
          </a:p>
        </p:txBody>
      </p:sp>
      <p:sp>
        <p:nvSpPr>
          <p:cNvPr id="317" name=""/>
          <p:cNvSpPr/>
          <p:nvPr/>
        </p:nvSpPr>
        <p:spPr>
          <a:xfrm>
            <a:off x="2971800" y="1005480"/>
            <a:ext cx="5027760" cy="374724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en-US" sz="2400" strike="noStrike" u="none">
                <a:solidFill>
                  <a:srgbClr val="000000"/>
                </a:solidFill>
                <a:effectLst/>
                <a:uFillTx/>
                <a:latin typeface="Arial"/>
                <a:ea typeface="DejaVu Sans"/>
              </a:rPr>
              <a:t>Full metabolomics dataset</a:t>
            </a:r>
            <a:endParaRPr b="0" lang="en-US" sz="2400" strike="noStrike" u="none">
              <a:solidFill>
                <a:srgbClr val="000000"/>
              </a:solidFill>
              <a:effectLst/>
              <a:uFillTx/>
              <a:latin typeface="Arial"/>
            </a:endParaRPr>
          </a:p>
          <a:p>
            <a:pPr>
              <a:lnSpc>
                <a:spcPct val="100000"/>
              </a:lnSpc>
            </a:pPr>
            <a:r>
              <a:rPr b="0" lang="en-US" sz="2400" strike="noStrike" u="none">
                <a:solidFill>
                  <a:srgbClr val="000000"/>
                </a:solidFill>
                <a:effectLst/>
                <a:uFillTx/>
                <a:latin typeface="Arial"/>
                <a:ea typeface="DejaVu Sans"/>
              </a:rPr>
              <a:t>                    ↓</a:t>
            </a:r>
            <a:endParaRPr b="0" lang="en-US" sz="2400" strike="noStrike" u="none">
              <a:solidFill>
                <a:srgbClr val="000000"/>
              </a:solidFill>
              <a:effectLst/>
              <a:uFillTx/>
              <a:latin typeface="Arial"/>
            </a:endParaRPr>
          </a:p>
          <a:p>
            <a:pPr>
              <a:lnSpc>
                <a:spcPct val="100000"/>
              </a:lnSpc>
            </a:pPr>
            <a:r>
              <a:rPr b="0" lang="en-US" sz="2400" strike="noStrike" u="none">
                <a:solidFill>
                  <a:srgbClr val="000000"/>
                </a:solidFill>
                <a:effectLst/>
                <a:uFillTx/>
                <a:latin typeface="Arial"/>
                <a:ea typeface="DejaVu Sans"/>
              </a:rPr>
              <a:t>  SHAP / feature stability</a:t>
            </a:r>
            <a:endParaRPr b="0" lang="en-US" sz="2400" strike="noStrike" u="none">
              <a:solidFill>
                <a:srgbClr val="000000"/>
              </a:solidFill>
              <a:effectLst/>
              <a:uFillTx/>
              <a:latin typeface="Arial"/>
            </a:endParaRPr>
          </a:p>
          <a:p>
            <a:pPr>
              <a:lnSpc>
                <a:spcPct val="100000"/>
              </a:lnSpc>
            </a:pPr>
            <a:r>
              <a:rPr b="0" lang="en-US" sz="2400" strike="noStrike" u="none">
                <a:solidFill>
                  <a:srgbClr val="000000"/>
                </a:solidFill>
                <a:effectLst/>
                <a:uFillTx/>
                <a:latin typeface="Arial"/>
                <a:ea typeface="DejaVu Sans"/>
              </a:rPr>
              <a:t>                    ↓</a:t>
            </a:r>
            <a:endParaRPr b="0" lang="en-US" sz="2400" strike="noStrike" u="none">
              <a:solidFill>
                <a:srgbClr val="000000"/>
              </a:solidFill>
              <a:effectLst/>
              <a:uFillTx/>
              <a:latin typeface="Arial"/>
            </a:endParaRPr>
          </a:p>
          <a:p>
            <a:pPr>
              <a:lnSpc>
                <a:spcPct val="100000"/>
              </a:lnSpc>
            </a:pPr>
            <a:r>
              <a:rPr b="0" lang="en-US" sz="2400" strike="noStrike" u="none">
                <a:solidFill>
                  <a:srgbClr val="000000"/>
                </a:solidFill>
                <a:effectLst/>
                <a:uFillTx/>
                <a:latin typeface="Arial"/>
                <a:ea typeface="DejaVu Sans"/>
              </a:rPr>
              <a:t> Biochemically grouped predictors</a:t>
            </a:r>
            <a:endParaRPr b="0" lang="en-US" sz="2400" strike="noStrike" u="none">
              <a:solidFill>
                <a:srgbClr val="000000"/>
              </a:solidFill>
              <a:effectLst/>
              <a:uFillTx/>
              <a:latin typeface="Arial"/>
            </a:endParaRPr>
          </a:p>
          <a:p>
            <a:pPr>
              <a:lnSpc>
                <a:spcPct val="100000"/>
              </a:lnSpc>
            </a:pPr>
            <a:r>
              <a:rPr b="0" lang="en-US" sz="2400" strike="noStrike" u="none">
                <a:solidFill>
                  <a:srgbClr val="000000"/>
                </a:solidFill>
                <a:effectLst/>
                <a:uFillTx/>
                <a:latin typeface="Arial"/>
                <a:ea typeface="DejaVu Sans"/>
              </a:rPr>
              <a:t> TAG, PA, SM, PC(38:2), Valine</a:t>
            </a:r>
            <a:endParaRPr b="0" lang="en-US" sz="2400" strike="noStrike" u="none">
              <a:solidFill>
                <a:srgbClr val="000000"/>
              </a:solidFill>
              <a:effectLst/>
              <a:uFillTx/>
              <a:latin typeface="Arial"/>
            </a:endParaRPr>
          </a:p>
          <a:p>
            <a:pPr>
              <a:lnSpc>
                <a:spcPct val="100000"/>
              </a:lnSpc>
            </a:pPr>
            <a:r>
              <a:rPr b="0" lang="en-US" sz="2400" strike="noStrike" u="none">
                <a:solidFill>
                  <a:srgbClr val="000000"/>
                </a:solidFill>
                <a:effectLst/>
                <a:uFillTx/>
                <a:latin typeface="Arial"/>
                <a:ea typeface="DejaVu Sans"/>
              </a:rPr>
              <a:t>                    ↓</a:t>
            </a:r>
            <a:endParaRPr b="0" lang="en-US" sz="2400" strike="noStrike" u="none">
              <a:solidFill>
                <a:srgbClr val="000000"/>
              </a:solidFill>
              <a:effectLst/>
              <a:uFillTx/>
              <a:latin typeface="Arial"/>
            </a:endParaRPr>
          </a:p>
          <a:p>
            <a:pPr>
              <a:lnSpc>
                <a:spcPct val="100000"/>
              </a:lnSpc>
            </a:pPr>
            <a:r>
              <a:rPr b="0" lang="en-US" sz="2400" strike="noStrike" u="none">
                <a:solidFill>
                  <a:srgbClr val="000000"/>
                </a:solidFill>
                <a:effectLst/>
                <a:uFillTx/>
                <a:latin typeface="Arial"/>
                <a:ea typeface="DejaVu Sans"/>
              </a:rPr>
              <a:t>  Penalized logistic regression</a:t>
            </a:r>
            <a:endParaRPr b="0" lang="en-US" sz="2400" strike="noStrike" u="none">
              <a:solidFill>
                <a:srgbClr val="000000"/>
              </a:solidFill>
              <a:effectLst/>
              <a:uFillTx/>
              <a:latin typeface="Arial"/>
            </a:endParaRPr>
          </a:p>
          <a:p>
            <a:pPr>
              <a:lnSpc>
                <a:spcPct val="100000"/>
              </a:lnSpc>
            </a:pPr>
            <a:r>
              <a:rPr b="0" lang="en-US" sz="2400" strike="noStrike" u="none">
                <a:solidFill>
                  <a:srgbClr val="000000"/>
                </a:solidFill>
                <a:effectLst/>
                <a:uFillTx/>
                <a:latin typeface="Arial"/>
                <a:ea typeface="DejaVu Sans"/>
              </a:rPr>
              <a:t>                    ↓</a:t>
            </a:r>
            <a:endParaRPr b="0" lang="en-US" sz="2400" strike="noStrike" u="none">
              <a:solidFill>
                <a:srgbClr val="000000"/>
              </a:solidFill>
              <a:effectLst/>
              <a:uFillTx/>
              <a:latin typeface="Arial"/>
            </a:endParaRPr>
          </a:p>
          <a:p>
            <a:pPr>
              <a:lnSpc>
                <a:spcPct val="100000"/>
              </a:lnSpc>
            </a:pPr>
            <a:r>
              <a:rPr b="0" lang="en-US" sz="2400" strike="noStrike" u="none">
                <a:solidFill>
                  <a:srgbClr val="000000"/>
                </a:solidFill>
                <a:effectLst/>
                <a:uFillTx/>
                <a:latin typeface="Arial"/>
                <a:ea typeface="DejaVu Sans"/>
              </a:rPr>
              <a:t>  Interpretable risk score</a:t>
            </a:r>
            <a:endParaRPr b="0" lang="en-US" sz="2400" strike="noStrike" u="none">
              <a:solidFill>
                <a:srgbClr val="000000"/>
              </a:solidFill>
              <a:effectLst/>
              <a:uFillTx/>
              <a:latin typeface="Arial"/>
            </a:endParaRPr>
          </a:p>
        </p:txBody>
      </p:sp>
      <p:sp>
        <p:nvSpPr>
          <p:cNvPr id="3" name="PlaceHolder 2"/>
          <p:cNvSpPr>
            <a:spLocks noGrp="1"/>
          </p:cNvSpPr>
          <p:nvPr>
            <p:ph type="sldNum" idx="11"/>
          </p:nvPr>
        </p:nvSpPr>
        <p:spPr/>
        <p:txBody>
          <a:bodyPr/>
          <a:p>
            <a:fld id="{049DC7C9-490F-40B1-B072-CF05D047737A}" type="slidenum">
              <a:t>75</a:t>
            </a:fld>
          </a:p>
        </p:txBody>
      </p:sp>
    </p:spTree>
  </p:cSld>
  <mc:AlternateContent>
    <mc:Choice Requires="p14">
      <p:transition spd="slow" p14:dur="2000"/>
    </mc:Choice>
    <mc:Fallback>
      <p:transition spd="slow"/>
    </mc:Fallback>
  </mc:AlternateContent>
</p:sld>
</file>

<file path=ppt/slides/slide7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8" name="PlaceHolder 1"/>
          <p:cNvSpPr>
            <a:spLocks noGrp="1"/>
          </p:cNvSpPr>
          <p:nvPr>
            <p:ph type="title"/>
          </p:nvPr>
        </p:nvSpPr>
        <p:spPr>
          <a:xfrm>
            <a:off x="360000" y="97920"/>
            <a:ext cx="9342720" cy="626760"/>
          </a:xfrm>
          <a:prstGeom prst="rect">
            <a:avLst/>
          </a:prstGeom>
          <a:noFill/>
          <a:ln w="0">
            <a:noFill/>
          </a:ln>
        </p:spPr>
        <p:txBody>
          <a:bodyPr lIns="0" rIns="0" tIns="0" bIns="0" anchor="ctr">
            <a:spAutoFit/>
          </a:bodyPr>
          <a:p>
            <a:pPr indent="0" algn="ctr">
              <a:lnSpc>
                <a:spcPct val="100000"/>
              </a:lnSpc>
              <a:buNone/>
              <a:tabLst>
                <a:tab algn="l" pos="0"/>
              </a:tabLst>
            </a:pPr>
            <a:r>
              <a:rPr b="0" lang="en-US" sz="3000" strike="noStrike" u="none">
                <a:solidFill>
                  <a:srgbClr val="ffffff"/>
                </a:solidFill>
                <a:effectLst/>
                <a:uFillTx/>
                <a:latin typeface="Arial"/>
              </a:rPr>
              <a:t>Predictors Included in the Score</a:t>
            </a:r>
            <a:endParaRPr b="0" lang="en-US" sz="3000" strike="noStrike" u="none">
              <a:solidFill>
                <a:srgbClr val="000000"/>
              </a:solidFill>
              <a:effectLst/>
              <a:uFillTx/>
              <a:latin typeface="Arial"/>
            </a:endParaRPr>
          </a:p>
        </p:txBody>
      </p:sp>
      <p:graphicFrame>
        <p:nvGraphicFramePr>
          <p:cNvPr id="319" name=""/>
          <p:cNvGraphicFramePr/>
          <p:nvPr/>
        </p:nvGraphicFramePr>
        <p:xfrm>
          <a:off x="1239120" y="968400"/>
          <a:ext cx="7826400" cy="3714120"/>
        </p:xfrm>
        <a:graphic>
          <a:graphicData uri="http://schemas.openxmlformats.org/drawingml/2006/table">
            <a:tbl>
              <a:tblPr/>
              <a:tblGrid>
                <a:gridCol w="1493640"/>
                <a:gridCol w="2228760"/>
                <a:gridCol w="1477800"/>
                <a:gridCol w="2626560"/>
              </a:tblGrid>
              <a:tr h="609120">
                <a:tc>
                  <a:txBody>
                    <a:bodyPr lIns="36000" rIns="36000" tIns="36000" bIns="36000" anchor="t">
                      <a:noAutofit/>
                    </a:bodyPr>
                    <a:p>
                      <a:pPr algn="ctr">
                        <a:lnSpc>
                          <a:spcPct val="100000"/>
                        </a:lnSpc>
                      </a:pPr>
                      <a:r>
                        <a:rPr b="0" lang="en-US" sz="1800" strike="noStrike" u="none">
                          <a:solidFill>
                            <a:srgbClr val="000000"/>
                          </a:solidFill>
                          <a:effectLst/>
                          <a:uFillTx/>
                          <a:latin typeface="Arial"/>
                        </a:rPr>
                        <a:t>Predictor</a:t>
                      </a:r>
                      <a:endParaRPr b="0" lang="en-US" sz="1800" strike="noStrike" u="non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gn="ctr">
                        <a:lnSpc>
                          <a:spcPct val="100000"/>
                        </a:lnSpc>
                      </a:pPr>
                      <a:r>
                        <a:rPr b="0" lang="en-US" sz="1800" strike="noStrike" u="none">
                          <a:solidFill>
                            <a:srgbClr val="000000"/>
                          </a:solidFill>
                          <a:effectLst/>
                          <a:uFillTx/>
                          <a:latin typeface="Arial"/>
                        </a:rPr>
                        <a:t>Biological meaning</a:t>
                      </a:r>
                      <a:endParaRPr b="0" lang="en-US" sz="1800" strike="noStrike" u="non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gn="ctr">
                        <a:lnSpc>
                          <a:spcPct val="100000"/>
                        </a:lnSpc>
                      </a:pPr>
                      <a:r>
                        <a:rPr b="0" lang="en-US" sz="1800" strike="noStrike" u="none">
                          <a:solidFill>
                            <a:srgbClr val="000000"/>
                          </a:solidFill>
                          <a:effectLst/>
                          <a:uFillTx/>
                          <a:latin typeface="Arial"/>
                        </a:rPr>
                        <a:t>Monotonicity</a:t>
                      </a:r>
                      <a:endParaRPr b="0" lang="en-US" sz="1800" strike="noStrike" u="non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gn="ctr">
                        <a:lnSpc>
                          <a:spcPct val="100000"/>
                        </a:lnSpc>
                      </a:pPr>
                      <a:r>
                        <a:rPr b="0" lang="en-US" sz="1800" strike="noStrike" u="none">
                          <a:solidFill>
                            <a:srgbClr val="000000"/>
                          </a:solidFill>
                          <a:effectLst/>
                          <a:uFillTx/>
                          <a:latin typeface="Arial"/>
                        </a:rPr>
                        <a:t>Contribution to Risk</a:t>
                      </a:r>
                      <a:endParaRPr b="0" lang="en-US" sz="1800" strike="noStrike" u="non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r>
              <a:tr h="361080">
                <a:tc>
                  <a:txBody>
                    <a:bodyPr lIns="36000" rIns="36000" tIns="36000" bIns="36000" anchor="t">
                      <a:noAutofit/>
                    </a:bodyPr>
                    <a:p>
                      <a:pPr algn="ctr">
                        <a:lnSpc>
                          <a:spcPct val="100000"/>
                        </a:lnSpc>
                      </a:pPr>
                      <a:r>
                        <a:rPr b="0" lang="en-US" sz="1800" strike="noStrike" u="none">
                          <a:solidFill>
                            <a:srgbClr val="000000"/>
                          </a:solidFill>
                          <a:effectLst/>
                          <a:uFillTx/>
                          <a:latin typeface="Arial"/>
                        </a:rPr>
                        <a:t>TAG_score</a:t>
                      </a:r>
                      <a:endParaRPr b="0" lang="en-US" sz="1800" strike="noStrike" u="non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gn="ctr">
                        <a:lnSpc>
                          <a:spcPct val="100000"/>
                        </a:lnSpc>
                      </a:pPr>
                      <a:r>
                        <a:rPr b="0" lang="en-US" sz="1800" strike="noStrike" u="none">
                          <a:solidFill>
                            <a:srgbClr val="000000"/>
                          </a:solidFill>
                          <a:effectLst/>
                          <a:uFillTx/>
                          <a:latin typeface="Arial"/>
                        </a:rPr>
                        <a:t>TAG-rich lipid storage</a:t>
                      </a:r>
                      <a:endParaRPr b="0" lang="en-US" sz="1800" strike="noStrike" u="non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gn="ctr">
                        <a:lnSpc>
                          <a:spcPct val="100000"/>
                        </a:lnSpc>
                      </a:pPr>
                      <a:r>
                        <a:rPr b="0" lang="en-US" sz="1800" strike="noStrike" u="none">
                          <a:solidFill>
                            <a:srgbClr val="000000"/>
                          </a:solidFill>
                          <a:effectLst/>
                          <a:uFillTx/>
                          <a:latin typeface="Arial"/>
                        </a:rPr>
                        <a:t>↓ </a:t>
                      </a:r>
                      <a:endParaRPr b="0" lang="en-US" sz="1800" strike="noStrike" u="non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gn="ctr">
                        <a:lnSpc>
                          <a:spcPct val="100000"/>
                        </a:lnSpc>
                      </a:pPr>
                      <a:r>
                        <a:rPr b="0" lang="en-US" sz="1800" strike="noStrike" u="none">
                          <a:solidFill>
                            <a:srgbClr val="000000"/>
                          </a:solidFill>
                          <a:effectLst/>
                          <a:uFillTx/>
                          <a:latin typeface="Arial"/>
                        </a:rPr>
                        <a:t>strong negative</a:t>
                      </a:r>
                      <a:endParaRPr b="0" lang="en-US" sz="1800" strike="noStrike" u="non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r>
              <a:tr h="361080">
                <a:tc>
                  <a:txBody>
                    <a:bodyPr lIns="36000" rIns="36000" tIns="36000" bIns="36000" anchor="t">
                      <a:noAutofit/>
                    </a:bodyPr>
                    <a:p>
                      <a:pPr algn="ctr">
                        <a:lnSpc>
                          <a:spcPct val="100000"/>
                        </a:lnSpc>
                      </a:pPr>
                      <a:r>
                        <a:rPr b="0" lang="en-US" sz="1800" strike="noStrike" u="none">
                          <a:solidFill>
                            <a:srgbClr val="000000"/>
                          </a:solidFill>
                          <a:effectLst/>
                          <a:uFillTx/>
                          <a:latin typeface="Arial"/>
                        </a:rPr>
                        <a:t>PA_score</a:t>
                      </a:r>
                      <a:endParaRPr b="0" lang="en-US" sz="1800" strike="noStrike" u="non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gn="ctr">
                        <a:lnSpc>
                          <a:spcPct val="100000"/>
                        </a:lnSpc>
                      </a:pPr>
                      <a:r>
                        <a:rPr b="0" lang="en-US" sz="1800" strike="noStrike" u="none">
                          <a:solidFill>
                            <a:srgbClr val="000000"/>
                          </a:solidFill>
                          <a:effectLst/>
                          <a:uFillTx/>
                          <a:latin typeface="Arial"/>
                        </a:rPr>
                        <a:t>Membrane remodeling lipids</a:t>
                      </a:r>
                      <a:endParaRPr b="0" lang="en-US" sz="1800" strike="noStrike" u="non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gn="ctr">
                        <a:lnSpc>
                          <a:spcPct val="100000"/>
                        </a:lnSpc>
                      </a:pPr>
                      <a:r>
                        <a:rPr b="0" lang="en-US" sz="1800" strike="noStrike" u="none">
                          <a:solidFill>
                            <a:srgbClr val="000000"/>
                          </a:solidFill>
                          <a:effectLst/>
                          <a:uFillTx/>
                          <a:latin typeface="Arial"/>
                        </a:rPr>
                        <a:t>↑ </a:t>
                      </a:r>
                      <a:endParaRPr b="0" lang="en-US" sz="1800" strike="noStrike" u="non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gn="ctr">
                        <a:lnSpc>
                          <a:spcPct val="100000"/>
                        </a:lnSpc>
                      </a:pPr>
                      <a:r>
                        <a:rPr b="0" lang="en-US" sz="1800" strike="noStrike" u="none">
                          <a:solidFill>
                            <a:srgbClr val="000000"/>
                          </a:solidFill>
                          <a:effectLst/>
                          <a:uFillTx/>
                          <a:latin typeface="Arial"/>
                        </a:rPr>
                        <a:t>strong positive</a:t>
                      </a:r>
                      <a:endParaRPr b="0" lang="en-US" sz="1800" strike="noStrike" u="non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r>
              <a:tr h="361080">
                <a:tc>
                  <a:txBody>
                    <a:bodyPr lIns="36000" rIns="36000" tIns="36000" bIns="36000" anchor="t">
                      <a:noAutofit/>
                    </a:bodyPr>
                    <a:p>
                      <a:pPr algn="ctr">
                        <a:lnSpc>
                          <a:spcPct val="100000"/>
                        </a:lnSpc>
                      </a:pPr>
                      <a:r>
                        <a:rPr b="0" lang="en-US" sz="1800" strike="noStrike" u="none">
                          <a:solidFill>
                            <a:srgbClr val="000000"/>
                          </a:solidFill>
                          <a:effectLst/>
                          <a:uFillTx/>
                          <a:latin typeface="Arial"/>
                        </a:rPr>
                        <a:t>SM_score</a:t>
                      </a:r>
                      <a:endParaRPr b="0" lang="en-US" sz="1800" strike="noStrike" u="non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gn="ctr">
                        <a:lnSpc>
                          <a:spcPct val="100000"/>
                        </a:lnSpc>
                      </a:pPr>
                      <a:r>
                        <a:rPr b="0" lang="en-US" sz="1800" strike="noStrike" u="none">
                          <a:solidFill>
                            <a:srgbClr val="000000"/>
                          </a:solidFill>
                          <a:effectLst/>
                          <a:uFillTx/>
                          <a:latin typeface="Arial"/>
                        </a:rPr>
                        <a:t>Sphingomyelins / ceramide axis</a:t>
                      </a:r>
                      <a:endParaRPr b="0" lang="en-US" sz="1800" strike="noStrike" u="non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gn="ctr">
                        <a:lnSpc>
                          <a:spcPct val="100000"/>
                        </a:lnSpc>
                      </a:pPr>
                      <a:r>
                        <a:rPr b="0" lang="en-US" sz="1800" strike="noStrike" u="none">
                          <a:solidFill>
                            <a:srgbClr val="000000"/>
                          </a:solidFill>
                          <a:effectLst/>
                          <a:uFillTx/>
                          <a:latin typeface="Arial"/>
                        </a:rPr>
                        <a:t>↑ </a:t>
                      </a:r>
                      <a:endParaRPr b="0" lang="en-US" sz="1800" strike="noStrike" u="non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gn="ctr">
                        <a:lnSpc>
                          <a:spcPct val="100000"/>
                        </a:lnSpc>
                      </a:pPr>
                      <a:r>
                        <a:rPr b="0" lang="en-US" sz="1800" strike="noStrike" u="none">
                          <a:solidFill>
                            <a:srgbClr val="000000"/>
                          </a:solidFill>
                          <a:effectLst/>
                          <a:uFillTx/>
                          <a:latin typeface="Arial"/>
                        </a:rPr>
                        <a:t>strong positive</a:t>
                      </a:r>
                      <a:endParaRPr b="0" lang="en-US" sz="1800" strike="noStrike" u="non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r>
              <a:tr h="361080">
                <a:tc>
                  <a:txBody>
                    <a:bodyPr lIns="36000" rIns="36000" tIns="36000" bIns="36000" anchor="t">
                      <a:noAutofit/>
                    </a:bodyPr>
                    <a:p>
                      <a:pPr algn="ctr">
                        <a:lnSpc>
                          <a:spcPct val="100000"/>
                        </a:lnSpc>
                      </a:pPr>
                      <a:r>
                        <a:rPr b="0" lang="en-US" sz="1800" strike="noStrike" u="none">
                          <a:solidFill>
                            <a:srgbClr val="000000"/>
                          </a:solidFill>
                          <a:effectLst/>
                          <a:uFillTx/>
                          <a:latin typeface="Arial"/>
                        </a:rPr>
                        <a:t>PC(38:2)</a:t>
                      </a:r>
                      <a:endParaRPr b="0" lang="en-US" sz="1800" strike="noStrike" u="non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gn="ctr">
                        <a:lnSpc>
                          <a:spcPct val="100000"/>
                        </a:lnSpc>
                      </a:pPr>
                      <a:r>
                        <a:rPr b="0" lang="en-US" sz="1800" strike="noStrike" u="none">
                          <a:solidFill>
                            <a:srgbClr val="000000"/>
                          </a:solidFill>
                          <a:effectLst/>
                          <a:uFillTx/>
                          <a:latin typeface="Arial"/>
                        </a:rPr>
                        <a:t>Glycerophospholipid remodeling</a:t>
                      </a:r>
                      <a:endParaRPr b="0" lang="en-US" sz="1800" strike="noStrike" u="non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gn="ctr">
                        <a:lnSpc>
                          <a:spcPct val="100000"/>
                        </a:lnSpc>
                      </a:pPr>
                      <a:r>
                        <a:rPr b="0" lang="en-US" sz="1800" strike="noStrike" u="none">
                          <a:solidFill>
                            <a:srgbClr val="000000"/>
                          </a:solidFill>
                          <a:effectLst/>
                          <a:uFillTx/>
                          <a:latin typeface="Arial"/>
                        </a:rPr>
                        <a:t>↓</a:t>
                      </a:r>
                      <a:endParaRPr b="0" lang="en-US" sz="1800" strike="noStrike" u="non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gn="ctr">
                        <a:lnSpc>
                          <a:spcPct val="100000"/>
                        </a:lnSpc>
                      </a:pPr>
                      <a:r>
                        <a:rPr b="0" lang="en-US" sz="1800" strike="noStrike" u="none">
                          <a:solidFill>
                            <a:srgbClr val="000000"/>
                          </a:solidFill>
                          <a:effectLst/>
                          <a:uFillTx/>
                          <a:latin typeface="Arial"/>
                        </a:rPr>
                        <a:t>strong negative</a:t>
                      </a:r>
                      <a:endParaRPr b="0" lang="en-US" sz="1800" strike="noStrike" u="non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r>
              <a:tr h="362160">
                <a:tc>
                  <a:txBody>
                    <a:bodyPr lIns="36000" rIns="36000" tIns="36000" bIns="36000" anchor="t">
                      <a:noAutofit/>
                    </a:bodyPr>
                    <a:p>
                      <a:pPr algn="ctr">
                        <a:lnSpc>
                          <a:spcPct val="100000"/>
                        </a:lnSpc>
                      </a:pPr>
                      <a:r>
                        <a:rPr b="0" lang="en-US" sz="1800" strike="noStrike" u="none">
                          <a:solidFill>
                            <a:srgbClr val="000000"/>
                          </a:solidFill>
                          <a:effectLst/>
                          <a:uFillTx/>
                          <a:latin typeface="Arial"/>
                        </a:rPr>
                        <a:t>Valine</a:t>
                      </a:r>
                      <a:endParaRPr b="0" lang="en-US" sz="1800" strike="noStrike" u="non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gn="ctr">
                        <a:lnSpc>
                          <a:spcPct val="100000"/>
                        </a:lnSpc>
                      </a:pPr>
                      <a:r>
                        <a:rPr b="0" lang="en-US" sz="1800" strike="noStrike" u="none">
                          <a:solidFill>
                            <a:srgbClr val="000000"/>
                          </a:solidFill>
                          <a:effectLst/>
                          <a:uFillTx/>
                          <a:latin typeface="Arial"/>
                        </a:rPr>
                        <a:t>Branched-Chain Amino Acid (BCAA) metabolism / insulin resistance</a:t>
                      </a:r>
                      <a:endParaRPr b="0" lang="en-US" sz="1800" strike="noStrike" u="non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gn="ctr">
                        <a:lnSpc>
                          <a:spcPct val="100000"/>
                        </a:lnSpc>
                      </a:pPr>
                      <a:r>
                        <a:rPr b="0" lang="en-US" sz="1800" strike="noStrike" u="none">
                          <a:solidFill>
                            <a:srgbClr val="000000"/>
                          </a:solidFill>
                          <a:effectLst/>
                          <a:uFillTx/>
                          <a:latin typeface="Arial"/>
                        </a:rPr>
                        <a:t>↑</a:t>
                      </a:r>
                      <a:endParaRPr b="0" lang="en-US" sz="1800" strike="noStrike" u="non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gn="ctr">
                        <a:lnSpc>
                          <a:spcPct val="100000"/>
                        </a:lnSpc>
                      </a:pPr>
                      <a:r>
                        <a:rPr b="0" lang="en-US" sz="1800" strike="noStrike" u="none">
                          <a:solidFill>
                            <a:srgbClr val="000000"/>
                          </a:solidFill>
                          <a:effectLst/>
                          <a:uFillTx/>
                          <a:latin typeface="Arial"/>
                        </a:rPr>
                        <a:t>strong positive</a:t>
                      </a:r>
                      <a:endParaRPr b="0" lang="en-US" sz="1800" strike="noStrike" u="non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r>
            </a:tbl>
          </a:graphicData>
        </a:graphic>
      </p:graphicFrame>
      <p:sp>
        <p:nvSpPr>
          <p:cNvPr id="3" name="PlaceHolder 2"/>
          <p:cNvSpPr>
            <a:spLocks noGrp="1"/>
          </p:cNvSpPr>
          <p:nvPr>
            <p:ph type="sldNum" idx="11"/>
          </p:nvPr>
        </p:nvSpPr>
        <p:spPr/>
        <p:txBody>
          <a:bodyPr/>
          <a:p>
            <a:fld id="{89E4C0BE-3339-47CE-8655-0FEE30473020}" type="slidenum">
              <a:t>76</a:t>
            </a:fld>
          </a:p>
        </p:txBody>
      </p:sp>
    </p:spTree>
  </p:cSld>
  <mc:AlternateContent>
    <mc:Choice Requires="p14">
      <p:transition spd="slow" p14:dur="2000"/>
    </mc:Choice>
    <mc:Fallback>
      <p:transition spd="slow"/>
    </mc:Fallback>
  </mc:AlternateContent>
</p:sld>
</file>

<file path=ppt/slides/slide7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0" name="PlaceHolder 1"/>
          <p:cNvSpPr>
            <a:spLocks noGrp="1"/>
          </p:cNvSpPr>
          <p:nvPr>
            <p:ph type="title"/>
          </p:nvPr>
        </p:nvSpPr>
        <p:spPr>
          <a:xfrm>
            <a:off x="360000" y="197640"/>
            <a:ext cx="9342720" cy="426960"/>
          </a:xfrm>
          <a:prstGeom prst="rect">
            <a:avLst/>
          </a:prstGeom>
          <a:noFill/>
          <a:ln w="0">
            <a:noFill/>
          </a:ln>
        </p:spPr>
        <p:txBody>
          <a:bodyPr lIns="0" rIns="0" tIns="0" bIns="0" anchor="ctr">
            <a:spAutoFit/>
          </a:bodyPr>
          <a:p>
            <a:pPr indent="0" algn="ctr">
              <a:lnSpc>
                <a:spcPct val="100000"/>
              </a:lnSpc>
              <a:buNone/>
              <a:tabLst>
                <a:tab algn="l" pos="0"/>
              </a:tabLst>
            </a:pPr>
            <a:r>
              <a:rPr b="0" lang="en-US" sz="3000" strike="noStrike" u="none">
                <a:solidFill>
                  <a:srgbClr val="ffffff"/>
                </a:solidFill>
                <a:effectLst/>
                <a:uFillTx/>
                <a:latin typeface="Arial"/>
              </a:rPr>
              <a:t>Final Interpretable Risk Score (Continuous Model)</a:t>
            </a:r>
            <a:endParaRPr b="0" lang="en-US" sz="3000" strike="noStrike" u="none">
              <a:solidFill>
                <a:srgbClr val="000000"/>
              </a:solidFill>
              <a:effectLst/>
              <a:uFillTx/>
              <a:latin typeface="Arial"/>
            </a:endParaRPr>
          </a:p>
        </p:txBody>
      </p:sp>
      <p:sp>
        <p:nvSpPr>
          <p:cNvPr id="321" name="PlaceHolder 2"/>
          <p:cNvSpPr>
            <a:spLocks noGrp="1"/>
          </p:cNvSpPr>
          <p:nvPr>
            <p:ph/>
          </p:nvPr>
        </p:nvSpPr>
        <p:spPr>
          <a:xfrm>
            <a:off x="360000" y="1080000"/>
            <a:ext cx="9342720" cy="358272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b="0" lang="en-US" sz="1800" strike="noStrike" u="none">
                <a:solidFill>
                  <a:srgbClr val="000000"/>
                </a:solidFill>
                <a:effectLst/>
                <a:uFillTx/>
                <a:latin typeface="Arial"/>
              </a:rPr>
              <a:t>MRS = -</a:t>
            </a:r>
            <a:r>
              <a:rPr b="0" lang="en-US" sz="1800" strike="noStrike" u="none">
                <a:solidFill>
                  <a:srgbClr val="5983b0"/>
                </a:solidFill>
                <a:effectLst/>
                <a:uFillTx/>
                <a:latin typeface="Arial"/>
              </a:rPr>
              <a:t>0.74</a:t>
            </a:r>
            <a:r>
              <a:rPr b="0" lang="en-US" sz="1800" strike="noStrike" u="none">
                <a:solidFill>
                  <a:srgbClr val="000000"/>
                </a:solidFill>
                <a:effectLst/>
                <a:uFillTx/>
                <a:latin typeface="Arial"/>
              </a:rPr>
              <a:t>*TAG_score+</a:t>
            </a:r>
            <a:r>
              <a:rPr b="0" lang="en-US" sz="1800" strike="noStrike" u="none">
                <a:solidFill>
                  <a:srgbClr val="ff0000"/>
                </a:solidFill>
                <a:effectLst/>
                <a:uFillTx/>
                <a:latin typeface="Arial"/>
              </a:rPr>
              <a:t>0.64</a:t>
            </a:r>
            <a:r>
              <a:rPr b="0" lang="en-US" sz="1800" strike="noStrike" u="none">
                <a:solidFill>
                  <a:srgbClr val="000000"/>
                </a:solidFill>
                <a:effectLst/>
                <a:uFillTx/>
                <a:latin typeface="Arial"/>
              </a:rPr>
              <a:t>*PA_score+</a:t>
            </a:r>
            <a:r>
              <a:rPr b="0" lang="en-US" sz="1800" strike="noStrike" u="none">
                <a:solidFill>
                  <a:srgbClr val="ff0000"/>
                </a:solidFill>
                <a:effectLst/>
                <a:uFillTx/>
                <a:latin typeface="Arial"/>
              </a:rPr>
              <a:t>1.09</a:t>
            </a:r>
            <a:r>
              <a:rPr b="0" lang="en-US" sz="1800" strike="noStrike" u="none">
                <a:solidFill>
                  <a:srgbClr val="000000"/>
                </a:solidFill>
                <a:effectLst/>
                <a:uFillTx/>
                <a:latin typeface="Arial"/>
              </a:rPr>
              <a:t>*SM_score-</a:t>
            </a:r>
            <a:r>
              <a:rPr b="0" lang="en-US" sz="1800" strike="noStrike" u="none">
                <a:solidFill>
                  <a:srgbClr val="5983b0"/>
                </a:solidFill>
                <a:effectLst/>
                <a:uFillTx/>
                <a:latin typeface="Arial"/>
              </a:rPr>
              <a:t>1.19</a:t>
            </a:r>
            <a:r>
              <a:rPr b="0" lang="en-US" sz="1800" strike="noStrike" u="none">
                <a:solidFill>
                  <a:srgbClr val="000000"/>
                </a:solidFill>
                <a:effectLst/>
                <a:uFillTx/>
                <a:latin typeface="Arial"/>
              </a:rPr>
              <a:t>*PC(38:2)+</a:t>
            </a:r>
            <a:r>
              <a:rPr b="0" lang="en-US" sz="1800" strike="noStrike" u="none">
                <a:solidFill>
                  <a:srgbClr val="ff0000"/>
                </a:solidFill>
                <a:effectLst/>
                <a:uFillTx/>
                <a:latin typeface="Arial"/>
              </a:rPr>
              <a:t>1.04</a:t>
            </a:r>
            <a:r>
              <a:rPr b="0" lang="en-US" sz="1800" strike="noStrike" u="none">
                <a:solidFill>
                  <a:srgbClr val="000000"/>
                </a:solidFill>
                <a:effectLst/>
                <a:uFillTx/>
                <a:latin typeface="Arial"/>
              </a:rPr>
              <a:t>*Valine</a:t>
            </a:r>
            <a:endParaRPr b="0" lang="en-US" sz="1800" strike="noStrike" u="none">
              <a:solidFill>
                <a:srgbClr val="000000"/>
              </a:solidFill>
              <a:effectLst/>
              <a:uFillTx/>
              <a:latin typeface="Arial"/>
            </a:endParaRPr>
          </a:p>
          <a:p>
            <a:pPr lvl="1" marL="864000" indent="-324000">
              <a:lnSpc>
                <a:spcPct val="100000"/>
              </a:lnSpc>
              <a:spcBef>
                <a:spcPts val="1134"/>
              </a:spcBef>
              <a:buClr>
                <a:srgbClr val="000000"/>
              </a:buClr>
              <a:buSzPct val="75000"/>
              <a:buFont typeface="Symbol" charset="2"/>
              <a:buChar char=""/>
            </a:pPr>
            <a:r>
              <a:rPr b="0" lang="en-US" sz="1800" strike="noStrike" u="none">
                <a:solidFill>
                  <a:srgbClr val="000000"/>
                </a:solidFill>
                <a:effectLst/>
                <a:uFillTx/>
                <a:latin typeface="Arial"/>
              </a:rPr>
              <a:t>Coefficients derived using penalized logistic regression</a:t>
            </a:r>
            <a:endParaRPr b="0" lang="en-US" sz="1800" strike="noStrike" u="none">
              <a:solidFill>
                <a:srgbClr val="000000"/>
              </a:solidFill>
              <a:effectLst/>
              <a:uFillTx/>
              <a:latin typeface="Arial"/>
            </a:endParaRPr>
          </a:p>
          <a:p>
            <a:pPr lvl="1" marL="864000" indent="-324000">
              <a:lnSpc>
                <a:spcPct val="100000"/>
              </a:lnSpc>
              <a:spcBef>
                <a:spcPts val="1134"/>
              </a:spcBef>
              <a:buClr>
                <a:srgbClr val="000000"/>
              </a:buClr>
              <a:buSzPct val="75000"/>
              <a:buFont typeface="Symbol" charset="2"/>
              <a:buChar char=""/>
            </a:pPr>
            <a:r>
              <a:rPr b="0" lang="en-US" sz="1800" strike="noStrike" u="none">
                <a:solidFill>
                  <a:srgbClr val="000000"/>
                </a:solidFill>
                <a:effectLst/>
                <a:uFillTx/>
                <a:latin typeface="Arial"/>
              </a:rPr>
              <a:t>All predictors standardized (log-transformed and Pareto scaled)</a:t>
            </a:r>
            <a:endParaRPr b="0" lang="en-US" sz="1800" strike="noStrike" u="none">
              <a:solidFill>
                <a:srgbClr val="000000"/>
              </a:solidFill>
              <a:effectLst/>
              <a:uFillTx/>
              <a:latin typeface="Arial"/>
            </a:endParaRPr>
          </a:p>
          <a:p>
            <a:pPr lvl="1" marL="864000" indent="-324000">
              <a:lnSpc>
                <a:spcPct val="100000"/>
              </a:lnSpc>
              <a:spcBef>
                <a:spcPts val="1191"/>
              </a:spcBef>
              <a:spcAft>
                <a:spcPts val="992"/>
              </a:spcAft>
              <a:buClr>
                <a:srgbClr val="000000"/>
              </a:buClr>
              <a:buSzPct val="75000"/>
              <a:buFont typeface="Symbol" charset="2"/>
              <a:buChar char=""/>
            </a:pPr>
            <a:r>
              <a:rPr b="0" lang="en-US" sz="1800" strike="noStrike" u="none">
                <a:solidFill>
                  <a:srgbClr val="000000"/>
                </a:solidFill>
                <a:effectLst/>
                <a:uFillTx/>
                <a:latin typeface="Arial"/>
              </a:rPr>
              <a:t>Higher score → higher metabolic signature of T2DM </a:t>
            </a:r>
            <a:endParaRPr b="0" lang="en-US" sz="1800" strike="noStrike" u="none">
              <a:solidFill>
                <a:srgbClr val="000000"/>
              </a:solidFill>
              <a:effectLst/>
              <a:uFillTx/>
              <a:latin typeface="Arial"/>
            </a:endParaRPr>
          </a:p>
        </p:txBody>
      </p:sp>
      <p:sp>
        <p:nvSpPr>
          <p:cNvPr id="4" name="PlaceHolder 3"/>
          <p:cNvSpPr>
            <a:spLocks noGrp="1"/>
          </p:cNvSpPr>
          <p:nvPr>
            <p:ph type="sldNum" idx="11"/>
          </p:nvPr>
        </p:nvSpPr>
        <p:spPr/>
        <p:txBody>
          <a:bodyPr/>
          <a:p>
            <a:fld id="{432951B2-BBAF-4911-BA9E-7B1BB9EB43B1}" type="slidenum">
              <a:t>77</a:t>
            </a:fld>
          </a:p>
        </p:txBody>
      </p:sp>
    </p:spTree>
  </p:cSld>
  <mc:AlternateContent>
    <mc:Choice Requires="p14">
      <p:transition spd="slow" p14:dur="2000"/>
    </mc:Choice>
    <mc:Fallback>
      <p:transition spd="slow"/>
    </mc:Fallback>
  </mc:AlternateContent>
</p:sld>
</file>

<file path=ppt/slides/slide7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2" name="PlaceHolder 1"/>
          <p:cNvSpPr>
            <a:spLocks noGrp="1"/>
          </p:cNvSpPr>
          <p:nvPr>
            <p:ph type="title"/>
          </p:nvPr>
        </p:nvSpPr>
        <p:spPr>
          <a:xfrm>
            <a:off x="360000" y="182520"/>
            <a:ext cx="9342720" cy="457560"/>
          </a:xfrm>
          <a:prstGeom prst="rect">
            <a:avLst/>
          </a:prstGeom>
          <a:noFill/>
          <a:ln w="0">
            <a:noFill/>
          </a:ln>
        </p:spPr>
        <p:txBody>
          <a:bodyPr lIns="0" rIns="0" tIns="0" bIns="0" anchor="ctr">
            <a:spAutoFit/>
          </a:bodyPr>
          <a:p>
            <a:pPr indent="0" algn="ctr">
              <a:lnSpc>
                <a:spcPct val="100000"/>
              </a:lnSpc>
              <a:buNone/>
              <a:tabLst>
                <a:tab algn="l" pos="0"/>
              </a:tabLst>
            </a:pPr>
            <a:r>
              <a:rPr b="0" lang="en-US" sz="3000" strike="noStrike" u="none">
                <a:solidFill>
                  <a:srgbClr val="ffffff"/>
                </a:solidFill>
                <a:effectLst/>
                <a:uFillTx/>
                <a:latin typeface="Arial"/>
              </a:rPr>
              <a:t>Relative Contribution of Predictors to the MRS</a:t>
            </a:r>
            <a:endParaRPr b="0" lang="en-US" sz="3000" strike="noStrike" u="none">
              <a:solidFill>
                <a:srgbClr val="000000"/>
              </a:solidFill>
              <a:effectLst/>
              <a:uFillTx/>
              <a:latin typeface="Arial"/>
            </a:endParaRPr>
          </a:p>
        </p:txBody>
      </p:sp>
      <p:sp>
        <p:nvSpPr>
          <p:cNvPr id="323" name="PlaceHolder 2"/>
          <p:cNvSpPr>
            <a:spLocks noGrp="1"/>
          </p:cNvSpPr>
          <p:nvPr>
            <p:ph/>
          </p:nvPr>
        </p:nvSpPr>
        <p:spPr>
          <a:xfrm>
            <a:off x="5715000" y="1371600"/>
            <a:ext cx="4313520" cy="1141560"/>
          </a:xfrm>
          <a:prstGeom prst="rect">
            <a:avLst/>
          </a:prstGeom>
          <a:noFill/>
          <a:ln w="0">
            <a:noFill/>
          </a:ln>
        </p:spPr>
        <p:txBody>
          <a:bodyPr lIns="0" rIns="0" tIns="0" bIns="0" anchor="t">
            <a:normAutofit fontScale="92500" lnSpcReduction="9999"/>
          </a:bodyPr>
          <a:p>
            <a:pPr marL="432000" indent="-324000">
              <a:lnSpc>
                <a:spcPct val="100000"/>
              </a:lnSpc>
              <a:spcBef>
                <a:spcPts val="1417"/>
              </a:spcBef>
              <a:buClr>
                <a:srgbClr val="000000"/>
              </a:buClr>
              <a:buSzPct val="45000"/>
              <a:buFont typeface="Wingdings" charset="2"/>
              <a:buChar char=""/>
            </a:pPr>
            <a:r>
              <a:rPr b="0" lang="en-US" sz="1800" strike="noStrike" u="none">
                <a:solidFill>
                  <a:srgbClr val="000000"/>
                </a:solidFill>
                <a:effectLst/>
                <a:uFillTx/>
                <a:latin typeface="Arial"/>
              </a:rPr>
              <a:t>Valine and SM contribute most strongly</a:t>
            </a:r>
            <a:endParaRPr b="0" lang="en-US" sz="1800" strike="noStrike" u="none">
              <a:solidFill>
                <a:srgbClr val="000000"/>
              </a:solidFill>
              <a:effectLst/>
              <a:uFillTx/>
              <a:latin typeface="Arial"/>
            </a:endParaRPr>
          </a:p>
          <a:p>
            <a:pPr marL="432000" indent="-324000">
              <a:lnSpc>
                <a:spcPct val="100000"/>
              </a:lnSpc>
              <a:spcBef>
                <a:spcPts val="1417"/>
              </a:spcBef>
              <a:buClr>
                <a:srgbClr val="000000"/>
              </a:buClr>
              <a:buSzPct val="45000"/>
              <a:buFont typeface="Wingdings" charset="2"/>
              <a:buChar char=""/>
            </a:pPr>
            <a:r>
              <a:rPr b="0" lang="en-US" sz="1800" strike="noStrike" u="none">
                <a:solidFill>
                  <a:srgbClr val="000000"/>
                </a:solidFill>
                <a:effectLst/>
                <a:uFillTx/>
                <a:latin typeface="Arial"/>
              </a:rPr>
              <a:t>TAG and PC (38:2) are protective (negative coefficient)</a:t>
            </a:r>
            <a:endParaRPr b="0" lang="en-US" sz="1800" strike="noStrike" u="none">
              <a:solidFill>
                <a:srgbClr val="000000"/>
              </a:solidFill>
              <a:effectLst/>
              <a:uFillTx/>
              <a:latin typeface="Arial"/>
            </a:endParaRPr>
          </a:p>
        </p:txBody>
      </p:sp>
      <p:pic>
        <p:nvPicPr>
          <p:cNvPr id="324" name="" descr=""/>
          <p:cNvPicPr/>
          <p:nvPr/>
        </p:nvPicPr>
        <p:blipFill>
          <a:blip r:embed="rId1"/>
          <a:stretch/>
        </p:blipFill>
        <p:spPr>
          <a:xfrm>
            <a:off x="30960" y="796320"/>
            <a:ext cx="5684040" cy="4690080"/>
          </a:xfrm>
          <a:prstGeom prst="rect">
            <a:avLst/>
          </a:prstGeom>
          <a:noFill/>
          <a:ln w="0">
            <a:noFill/>
          </a:ln>
        </p:spPr>
      </p:pic>
      <p:sp>
        <p:nvSpPr>
          <p:cNvPr id="4" name="PlaceHolder 3"/>
          <p:cNvSpPr>
            <a:spLocks noGrp="1"/>
          </p:cNvSpPr>
          <p:nvPr>
            <p:ph type="sldNum" idx="11"/>
          </p:nvPr>
        </p:nvSpPr>
        <p:spPr/>
        <p:txBody>
          <a:bodyPr/>
          <a:p>
            <a:fld id="{F194C5A7-6C22-4878-ABE1-9A7773EA5102}" type="slidenum">
              <a:t>78</a:t>
            </a:fld>
          </a:p>
        </p:txBody>
      </p:sp>
    </p:spTree>
  </p:cSld>
  <mc:AlternateContent>
    <mc:Choice Requires="p14">
      <p:transition spd="slow" p14:dur="2000"/>
    </mc:Choice>
    <mc:Fallback>
      <p:transition spd="slow"/>
    </mc:Fallback>
  </mc:AlternateContent>
</p:sld>
</file>

<file path=ppt/slides/slide7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5" name="PlaceHolder 1"/>
          <p:cNvSpPr>
            <a:spLocks noGrp="1"/>
          </p:cNvSpPr>
          <p:nvPr>
            <p:ph type="title"/>
          </p:nvPr>
        </p:nvSpPr>
        <p:spPr>
          <a:xfrm>
            <a:off x="360000" y="182520"/>
            <a:ext cx="9342720" cy="457560"/>
          </a:xfrm>
          <a:prstGeom prst="rect">
            <a:avLst/>
          </a:prstGeom>
          <a:noFill/>
          <a:ln w="0">
            <a:noFill/>
          </a:ln>
        </p:spPr>
        <p:txBody>
          <a:bodyPr lIns="0" rIns="0" tIns="0" bIns="0" anchor="ctr">
            <a:spAutoFit/>
          </a:bodyPr>
          <a:p>
            <a:pPr indent="0" algn="ctr">
              <a:lnSpc>
                <a:spcPct val="100000"/>
              </a:lnSpc>
              <a:buNone/>
              <a:tabLst>
                <a:tab algn="l" pos="0"/>
              </a:tabLst>
            </a:pPr>
            <a:r>
              <a:rPr b="0" lang="en-US" sz="3000" strike="noStrike" u="none">
                <a:solidFill>
                  <a:srgbClr val="ffffff"/>
                </a:solidFill>
                <a:effectLst/>
                <a:uFillTx/>
                <a:latin typeface="Arial"/>
              </a:rPr>
              <a:t>From MRS to Probability</a:t>
            </a:r>
            <a:endParaRPr b="0" lang="en-US" sz="3000" strike="noStrike" u="none">
              <a:solidFill>
                <a:srgbClr val="000000"/>
              </a:solidFill>
              <a:effectLst/>
              <a:uFillTx/>
              <a:latin typeface="Arial"/>
            </a:endParaRPr>
          </a:p>
        </p:txBody>
      </p:sp>
      <p:sp>
        <p:nvSpPr>
          <p:cNvPr id="326" name="PlaceHolder 2"/>
          <p:cNvSpPr>
            <a:spLocks noGrp="1"/>
          </p:cNvSpPr>
          <p:nvPr>
            <p:ph/>
          </p:nvPr>
        </p:nvSpPr>
        <p:spPr>
          <a:xfrm>
            <a:off x="5383440" y="1080000"/>
            <a:ext cx="4673520" cy="3490560"/>
          </a:xfrm>
          <a:prstGeom prst="rect">
            <a:avLst/>
          </a:prstGeom>
          <a:noFill/>
          <a:ln w="0">
            <a:noFill/>
          </a:ln>
        </p:spPr>
        <p:txBody>
          <a:bodyPr lIns="0" rIns="0" tIns="0" bIns="0" anchor="t">
            <a:normAutofit fontScale="85000" lnSpcReduction="9999"/>
          </a:bodyPr>
          <a:p>
            <a:pPr marL="432000" indent="-324000">
              <a:lnSpc>
                <a:spcPct val="100000"/>
              </a:lnSpc>
              <a:spcBef>
                <a:spcPts val="1417"/>
              </a:spcBef>
              <a:buClr>
                <a:srgbClr val="000000"/>
              </a:buClr>
              <a:buSzPct val="45000"/>
              <a:buFont typeface="Wingdings" charset="2"/>
              <a:buChar char=""/>
            </a:pPr>
            <a:r>
              <a:rPr b="0" lang="en-US" sz="1800" strike="noStrike" u="none">
                <a:solidFill>
                  <a:srgbClr val="000000"/>
                </a:solidFill>
                <a:effectLst/>
                <a:uFillTx/>
                <a:latin typeface="Arial"/>
              </a:rPr>
              <a:t>p(T2DM) = 1 / (1+exp(-(-1.65+MRS)))</a:t>
            </a:r>
            <a:endParaRPr b="0" lang="en-US" sz="1800" strike="noStrike" u="none">
              <a:solidFill>
                <a:srgbClr val="000000"/>
              </a:solidFill>
              <a:effectLst/>
              <a:uFillTx/>
              <a:latin typeface="Arial"/>
            </a:endParaRPr>
          </a:p>
          <a:p>
            <a:pPr marL="432000" indent="-324000">
              <a:lnSpc>
                <a:spcPct val="100000"/>
              </a:lnSpc>
              <a:spcBef>
                <a:spcPts val="1191"/>
              </a:spcBef>
              <a:spcAft>
                <a:spcPts val="992"/>
              </a:spcAft>
              <a:buClr>
                <a:srgbClr val="000000"/>
              </a:buClr>
              <a:buSzPct val="45000"/>
              <a:buFont typeface="Wingdings" charset="2"/>
              <a:buChar char=""/>
            </a:pPr>
            <a:r>
              <a:rPr b="0" lang="en-US" sz="1800" strike="noStrike" u="none">
                <a:solidFill>
                  <a:srgbClr val="000000"/>
                </a:solidFill>
                <a:effectLst/>
                <a:uFillTx/>
                <a:latin typeface="Arial"/>
              </a:rPr>
              <a:t>This plot shows how the MRS translates into the predicted probability of having Type 2 Diabetes (T2DM) using the logistic model. The orange curve is the logistic function, and each point represents an individual in the dataset. </a:t>
            </a:r>
            <a:endParaRPr b="0" lang="en-US" sz="1800" strike="noStrike" u="none">
              <a:solidFill>
                <a:srgbClr val="000000"/>
              </a:solidFill>
              <a:effectLst/>
              <a:uFillTx/>
              <a:latin typeface="Arial"/>
            </a:endParaRPr>
          </a:p>
          <a:p>
            <a:pPr marL="432000" indent="-324000">
              <a:lnSpc>
                <a:spcPct val="100000"/>
              </a:lnSpc>
              <a:spcBef>
                <a:spcPts val="1191"/>
              </a:spcBef>
              <a:spcAft>
                <a:spcPts val="992"/>
              </a:spcAft>
              <a:buClr>
                <a:srgbClr val="000000"/>
              </a:buClr>
              <a:buSzPct val="45000"/>
              <a:buFont typeface="Wingdings" charset="2"/>
              <a:buChar char=""/>
            </a:pPr>
            <a:r>
              <a:rPr b="0" lang="en-US" sz="1800" strike="noStrike" u="none">
                <a:solidFill>
                  <a:srgbClr val="000000"/>
                </a:solidFill>
                <a:effectLst/>
                <a:uFillTx/>
                <a:latin typeface="Arial"/>
              </a:rPr>
              <a:t>Low MRS values (≈ –5 to –1) correspond to very low predicted T2DM probabilities (near 0), and almost all individuals in this range are Healthy (blue) </a:t>
            </a:r>
            <a:endParaRPr b="0" lang="en-US" sz="1800" strike="noStrike" u="none">
              <a:solidFill>
                <a:srgbClr val="000000"/>
              </a:solidFill>
              <a:effectLst/>
              <a:uFillTx/>
              <a:latin typeface="Arial"/>
            </a:endParaRPr>
          </a:p>
          <a:p>
            <a:pPr marL="432000" indent="-324000">
              <a:lnSpc>
                <a:spcPct val="100000"/>
              </a:lnSpc>
              <a:spcBef>
                <a:spcPts val="1191"/>
              </a:spcBef>
              <a:spcAft>
                <a:spcPts val="992"/>
              </a:spcAft>
              <a:buClr>
                <a:srgbClr val="000000"/>
              </a:buClr>
              <a:buSzPct val="45000"/>
              <a:buFont typeface="Wingdings" charset="2"/>
              <a:buChar char=""/>
            </a:pPr>
            <a:r>
              <a:rPr b="0" lang="en-US" sz="1800" strike="noStrike" u="none">
                <a:solidFill>
                  <a:srgbClr val="000000"/>
                </a:solidFill>
                <a:effectLst/>
                <a:uFillTx/>
                <a:latin typeface="Arial"/>
              </a:rPr>
              <a:t>High MRS values (≥ 2) produce predicted probabilities very close to 1, and nearly all individuals in this region are T2DM (red). </a:t>
            </a:r>
            <a:endParaRPr b="0" lang="en-US" sz="1800" strike="noStrike" u="none">
              <a:solidFill>
                <a:srgbClr val="000000"/>
              </a:solidFill>
              <a:effectLst/>
              <a:uFillTx/>
              <a:latin typeface="Arial"/>
            </a:endParaRPr>
          </a:p>
        </p:txBody>
      </p:sp>
      <p:pic>
        <p:nvPicPr>
          <p:cNvPr id="327" name="" descr=""/>
          <p:cNvPicPr/>
          <p:nvPr/>
        </p:nvPicPr>
        <p:blipFill>
          <a:blip r:embed="rId1"/>
          <a:srcRect l="0" t="4806" r="0" b="0"/>
          <a:stretch/>
        </p:blipFill>
        <p:spPr>
          <a:xfrm>
            <a:off x="30960" y="730440"/>
            <a:ext cx="5351040" cy="4938840"/>
          </a:xfrm>
          <a:prstGeom prst="rect">
            <a:avLst/>
          </a:prstGeom>
          <a:noFill/>
          <a:ln w="0">
            <a:noFill/>
          </a:ln>
        </p:spPr>
      </p:pic>
      <p:sp>
        <p:nvSpPr>
          <p:cNvPr id="4" name="PlaceHolder 3"/>
          <p:cNvSpPr>
            <a:spLocks noGrp="1"/>
          </p:cNvSpPr>
          <p:nvPr>
            <p:ph type="sldNum" idx="11"/>
          </p:nvPr>
        </p:nvSpPr>
        <p:spPr/>
        <p:txBody>
          <a:bodyPr/>
          <a:p>
            <a:fld id="{FD6A2DC1-AD09-4654-B67E-B29C4C3E28B1}" type="slidenum">
              <a:t>79</a:t>
            </a:fld>
          </a:p>
        </p:txBody>
      </p:sp>
    </p:spTree>
  </p:cSld>
  <mc:AlternateContent>
    <mc:Choice Requires="p14">
      <p:transition spd="slow" p14:dur="2000"/>
    </mc:Choice>
    <mc:Fallback>
      <p:transition spd="slow"/>
    </mc:Fallback>
  </mc:AlternateContent>
</p:sld>
</file>

<file path=ppt/slides/slide8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8" name="PlaceHolder 1"/>
          <p:cNvSpPr>
            <a:spLocks noGrp="1"/>
          </p:cNvSpPr>
          <p:nvPr>
            <p:ph type="title"/>
          </p:nvPr>
        </p:nvSpPr>
        <p:spPr>
          <a:xfrm>
            <a:off x="360000" y="197640"/>
            <a:ext cx="9342720" cy="426960"/>
          </a:xfrm>
          <a:prstGeom prst="rect">
            <a:avLst/>
          </a:prstGeom>
          <a:noFill/>
          <a:ln w="0">
            <a:noFill/>
          </a:ln>
        </p:spPr>
        <p:txBody>
          <a:bodyPr lIns="0" rIns="0" tIns="0" bIns="0" anchor="ctr">
            <a:spAutoFit/>
          </a:bodyPr>
          <a:p>
            <a:pPr indent="0" algn="ctr">
              <a:lnSpc>
                <a:spcPct val="100000"/>
              </a:lnSpc>
              <a:buNone/>
              <a:tabLst>
                <a:tab algn="l" pos="0"/>
              </a:tabLst>
            </a:pPr>
            <a:r>
              <a:rPr b="0" lang="en-US" sz="3000" strike="noStrike" u="none">
                <a:solidFill>
                  <a:srgbClr val="ffffff"/>
                </a:solidFill>
                <a:effectLst/>
                <a:uFillTx/>
                <a:latin typeface="Arial"/>
              </a:rPr>
              <a:t>Model Performance (Training set)</a:t>
            </a:r>
            <a:endParaRPr b="0" lang="en-US" sz="3000" strike="noStrike" u="none">
              <a:solidFill>
                <a:srgbClr val="000000"/>
              </a:solidFill>
              <a:effectLst/>
              <a:uFillTx/>
              <a:latin typeface="Arial"/>
            </a:endParaRPr>
          </a:p>
        </p:txBody>
      </p:sp>
      <p:sp>
        <p:nvSpPr>
          <p:cNvPr id="329" name="PlaceHolder 2"/>
          <p:cNvSpPr>
            <a:spLocks noGrp="1"/>
          </p:cNvSpPr>
          <p:nvPr>
            <p:ph/>
          </p:nvPr>
        </p:nvSpPr>
        <p:spPr>
          <a:xfrm>
            <a:off x="360000" y="759240"/>
            <a:ext cx="9342720" cy="83952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b="0" lang="en-US" sz="1800" strike="noStrike" u="none">
                <a:solidFill>
                  <a:srgbClr val="000000"/>
                </a:solidFill>
                <a:effectLst/>
                <a:uFillTx/>
                <a:latin typeface="Arial"/>
              </a:rPr>
              <a:t>AUC = 0.999</a:t>
            </a:r>
            <a:endParaRPr b="0" lang="en-US" sz="1800" strike="noStrike" u="none">
              <a:solidFill>
                <a:srgbClr val="000000"/>
              </a:solidFill>
              <a:effectLst/>
              <a:uFillTx/>
              <a:latin typeface="Arial"/>
            </a:endParaRPr>
          </a:p>
          <a:p>
            <a:pPr marL="432000" indent="-324000">
              <a:lnSpc>
                <a:spcPct val="100000"/>
              </a:lnSpc>
              <a:spcBef>
                <a:spcPts val="1417"/>
              </a:spcBef>
              <a:buClr>
                <a:srgbClr val="000000"/>
              </a:buClr>
              <a:buSzPct val="45000"/>
              <a:buFont typeface="Wingdings" charset="2"/>
              <a:buChar char=""/>
            </a:pPr>
            <a:r>
              <a:rPr b="0" lang="en-US" sz="1800" strike="noStrike" u="none">
                <a:solidFill>
                  <a:srgbClr val="000000"/>
                </a:solidFill>
                <a:effectLst/>
                <a:uFillTx/>
                <a:latin typeface="Arial"/>
              </a:rPr>
              <a:t>Clear separation between T2DM and healthy controls </a:t>
            </a:r>
            <a:endParaRPr b="0" lang="en-US" sz="1800" strike="noStrike" u="none">
              <a:solidFill>
                <a:srgbClr val="000000"/>
              </a:solidFill>
              <a:effectLst/>
              <a:uFillTx/>
              <a:latin typeface="Arial"/>
            </a:endParaRPr>
          </a:p>
        </p:txBody>
      </p:sp>
      <p:pic>
        <p:nvPicPr>
          <p:cNvPr id="330" name="" descr=""/>
          <p:cNvPicPr/>
          <p:nvPr/>
        </p:nvPicPr>
        <p:blipFill>
          <a:blip r:embed="rId1"/>
          <a:srcRect l="0" t="0" r="3" b="0"/>
          <a:stretch/>
        </p:blipFill>
        <p:spPr>
          <a:xfrm>
            <a:off x="30960" y="1600200"/>
            <a:ext cx="4768200" cy="4069080"/>
          </a:xfrm>
          <a:prstGeom prst="rect">
            <a:avLst/>
          </a:prstGeom>
          <a:noFill/>
          <a:ln w="0">
            <a:noFill/>
          </a:ln>
        </p:spPr>
      </p:pic>
      <p:pic>
        <p:nvPicPr>
          <p:cNvPr id="331" name="" descr=""/>
          <p:cNvPicPr/>
          <p:nvPr/>
        </p:nvPicPr>
        <p:blipFill>
          <a:blip r:embed="rId2"/>
          <a:stretch/>
        </p:blipFill>
        <p:spPr>
          <a:xfrm>
            <a:off x="4800600" y="1600200"/>
            <a:ext cx="5278680" cy="4069080"/>
          </a:xfrm>
          <a:prstGeom prst="rect">
            <a:avLst/>
          </a:prstGeom>
          <a:noFill/>
          <a:ln w="0">
            <a:noFill/>
          </a:ln>
        </p:spPr>
      </p:pic>
      <p:sp>
        <p:nvSpPr>
          <p:cNvPr id="4" name="PlaceHolder 3"/>
          <p:cNvSpPr>
            <a:spLocks noGrp="1"/>
          </p:cNvSpPr>
          <p:nvPr>
            <p:ph type="sldNum" idx="11"/>
          </p:nvPr>
        </p:nvSpPr>
        <p:spPr/>
        <p:txBody>
          <a:bodyPr/>
          <a:p>
            <a:fld id="{1592A8A8-30B3-4A7E-A22C-0FA129B10E15}" type="slidenum">
              <a:t>80</a:t>
            </a:fld>
          </a:p>
        </p:txBody>
      </p:sp>
    </p:spTree>
  </p:cSld>
  <mc:AlternateContent>
    <mc:Choice Requires="p14">
      <p:transition spd="slow" p14:dur="2000"/>
    </mc:Choice>
    <mc:Fallback>
      <p:transition spd="slow"/>
    </mc:Fallback>
  </mc:AlternateContent>
</p:sld>
</file>

<file path=ppt/slides/slide8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2" name="PlaceHolder 1"/>
          <p:cNvSpPr>
            <a:spLocks noGrp="1"/>
          </p:cNvSpPr>
          <p:nvPr>
            <p:ph type="title"/>
          </p:nvPr>
        </p:nvSpPr>
        <p:spPr>
          <a:xfrm>
            <a:off x="360000" y="197640"/>
            <a:ext cx="9342720" cy="426960"/>
          </a:xfrm>
          <a:prstGeom prst="rect">
            <a:avLst/>
          </a:prstGeom>
          <a:noFill/>
          <a:ln w="0">
            <a:noFill/>
          </a:ln>
        </p:spPr>
        <p:txBody>
          <a:bodyPr lIns="0" rIns="0" tIns="0" bIns="0" anchor="ctr">
            <a:spAutoFit/>
          </a:bodyPr>
          <a:p>
            <a:pPr indent="0" algn="ctr">
              <a:lnSpc>
                <a:spcPct val="100000"/>
              </a:lnSpc>
              <a:buNone/>
              <a:tabLst>
                <a:tab algn="l" pos="0"/>
              </a:tabLst>
            </a:pPr>
            <a:r>
              <a:rPr b="0" lang="en-US" sz="3000" strike="noStrike" u="none">
                <a:solidFill>
                  <a:srgbClr val="ffffff"/>
                </a:solidFill>
                <a:effectLst/>
                <a:uFillTx/>
                <a:latin typeface="Arial"/>
              </a:rPr>
              <a:t>Model Performance (Testing set)</a:t>
            </a:r>
            <a:endParaRPr b="0" lang="en-US" sz="3000" strike="noStrike" u="none">
              <a:solidFill>
                <a:srgbClr val="000000"/>
              </a:solidFill>
              <a:effectLst/>
              <a:uFillTx/>
              <a:latin typeface="Arial"/>
            </a:endParaRPr>
          </a:p>
        </p:txBody>
      </p:sp>
      <p:sp>
        <p:nvSpPr>
          <p:cNvPr id="333" name="PlaceHolder 2"/>
          <p:cNvSpPr>
            <a:spLocks noGrp="1"/>
          </p:cNvSpPr>
          <p:nvPr>
            <p:ph/>
          </p:nvPr>
        </p:nvSpPr>
        <p:spPr>
          <a:xfrm>
            <a:off x="360000" y="759240"/>
            <a:ext cx="9342720" cy="83952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b="0" lang="en-US" sz="1800" strike="noStrike" u="none">
                <a:solidFill>
                  <a:srgbClr val="000000"/>
                </a:solidFill>
                <a:effectLst/>
                <a:uFillTx/>
                <a:latin typeface="Arial"/>
              </a:rPr>
              <a:t>AUC = 0.999</a:t>
            </a:r>
            <a:endParaRPr b="0" lang="en-US" sz="1800" strike="noStrike" u="none">
              <a:solidFill>
                <a:srgbClr val="000000"/>
              </a:solidFill>
              <a:effectLst/>
              <a:uFillTx/>
              <a:latin typeface="Arial"/>
            </a:endParaRPr>
          </a:p>
          <a:p>
            <a:pPr marL="432000" indent="-324000">
              <a:lnSpc>
                <a:spcPct val="100000"/>
              </a:lnSpc>
              <a:spcBef>
                <a:spcPts val="1417"/>
              </a:spcBef>
              <a:buClr>
                <a:srgbClr val="000000"/>
              </a:buClr>
              <a:buSzPct val="45000"/>
              <a:buFont typeface="Wingdings" charset="2"/>
              <a:buChar char=""/>
            </a:pPr>
            <a:r>
              <a:rPr b="0" lang="en-US" sz="1800" strike="noStrike" u="none">
                <a:solidFill>
                  <a:srgbClr val="000000"/>
                </a:solidFill>
                <a:effectLst/>
                <a:uFillTx/>
                <a:latin typeface="Arial"/>
              </a:rPr>
              <a:t>Clear separation between T2DM and healthy controls</a:t>
            </a:r>
            <a:endParaRPr b="0" lang="en-US" sz="1800" strike="noStrike" u="none">
              <a:solidFill>
                <a:srgbClr val="000000"/>
              </a:solidFill>
              <a:effectLst/>
              <a:uFillTx/>
              <a:latin typeface="Arial"/>
            </a:endParaRPr>
          </a:p>
        </p:txBody>
      </p:sp>
      <p:pic>
        <p:nvPicPr>
          <p:cNvPr id="334" name="" descr=""/>
          <p:cNvPicPr/>
          <p:nvPr/>
        </p:nvPicPr>
        <p:blipFill>
          <a:blip r:embed="rId1"/>
          <a:stretch/>
        </p:blipFill>
        <p:spPr>
          <a:xfrm>
            <a:off x="0" y="1600200"/>
            <a:ext cx="5256360" cy="4064040"/>
          </a:xfrm>
          <a:prstGeom prst="rect">
            <a:avLst/>
          </a:prstGeom>
          <a:noFill/>
          <a:ln w="0">
            <a:noFill/>
          </a:ln>
        </p:spPr>
      </p:pic>
      <p:pic>
        <p:nvPicPr>
          <p:cNvPr id="335" name="" descr=""/>
          <p:cNvPicPr/>
          <p:nvPr/>
        </p:nvPicPr>
        <p:blipFill>
          <a:blip r:embed="rId2"/>
          <a:stretch/>
        </p:blipFill>
        <p:spPr>
          <a:xfrm>
            <a:off x="5257800" y="1600200"/>
            <a:ext cx="4821480" cy="4069080"/>
          </a:xfrm>
          <a:prstGeom prst="rect">
            <a:avLst/>
          </a:prstGeom>
          <a:noFill/>
          <a:ln w="0">
            <a:noFill/>
          </a:ln>
        </p:spPr>
      </p:pic>
      <p:sp>
        <p:nvSpPr>
          <p:cNvPr id="4" name="PlaceHolder 3"/>
          <p:cNvSpPr>
            <a:spLocks noGrp="1"/>
          </p:cNvSpPr>
          <p:nvPr>
            <p:ph type="sldNum" idx="11"/>
          </p:nvPr>
        </p:nvSpPr>
        <p:spPr/>
        <p:txBody>
          <a:bodyPr/>
          <a:p>
            <a:fld id="{74126161-CDA6-4A9D-8B5C-646BEF6DEEE7}" type="slidenum">
              <a:t>81</a:t>
            </a:fld>
          </a:p>
        </p:txBody>
      </p:sp>
    </p:spTree>
  </p:cSld>
  <mc:AlternateContent>
    <mc:Choice Requires="p14">
      <p:transition spd="slow" p14:dur="2000"/>
    </mc:Choice>
    <mc:Fallback>
      <p:transition spd="slow"/>
    </mc:Fallback>
  </mc:AlternateContent>
</p:sld>
</file>

<file path=ppt/slides/slide8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6" name="PlaceHolder 1"/>
          <p:cNvSpPr>
            <a:spLocks noGrp="1"/>
          </p:cNvSpPr>
          <p:nvPr>
            <p:ph type="title"/>
          </p:nvPr>
        </p:nvSpPr>
        <p:spPr>
          <a:xfrm>
            <a:off x="360000" y="197640"/>
            <a:ext cx="9342720" cy="426960"/>
          </a:xfrm>
          <a:prstGeom prst="rect">
            <a:avLst/>
          </a:prstGeom>
          <a:noFill/>
          <a:ln w="0">
            <a:noFill/>
          </a:ln>
        </p:spPr>
        <p:txBody>
          <a:bodyPr lIns="0" rIns="0" tIns="0" bIns="0" anchor="ctr">
            <a:spAutoFit/>
          </a:bodyPr>
          <a:p>
            <a:pPr indent="0" algn="ctr">
              <a:lnSpc>
                <a:spcPct val="100000"/>
              </a:lnSpc>
              <a:buNone/>
              <a:tabLst>
                <a:tab algn="l" pos="0"/>
              </a:tabLst>
            </a:pPr>
            <a:r>
              <a:rPr b="0" lang="en-US" sz="3000" strike="noStrike" u="none">
                <a:solidFill>
                  <a:srgbClr val="ffffff"/>
                </a:solidFill>
                <a:effectLst/>
                <a:uFillTx/>
                <a:latin typeface="Arial"/>
              </a:rPr>
              <a:t>Clinical/Biological Interpretability</a:t>
            </a:r>
            <a:endParaRPr b="0" lang="en-US" sz="3000" strike="noStrike" u="none">
              <a:solidFill>
                <a:srgbClr val="000000"/>
              </a:solidFill>
              <a:effectLst/>
              <a:uFillTx/>
              <a:latin typeface="Arial"/>
            </a:endParaRPr>
          </a:p>
        </p:txBody>
      </p:sp>
      <p:sp>
        <p:nvSpPr>
          <p:cNvPr id="337" name="PlaceHolder 2"/>
          <p:cNvSpPr>
            <a:spLocks noGrp="1"/>
          </p:cNvSpPr>
          <p:nvPr>
            <p:ph/>
          </p:nvPr>
        </p:nvSpPr>
        <p:spPr>
          <a:xfrm>
            <a:off x="360000" y="1080000"/>
            <a:ext cx="9342720" cy="358272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b="0" lang="en-US" sz="1800" strike="noStrike" u="none">
                <a:solidFill>
                  <a:srgbClr val="000000"/>
                </a:solidFill>
                <a:effectLst/>
                <a:uFillTx/>
                <a:latin typeface="Arial"/>
              </a:rPr>
              <a:t>Each metabolite axis has mechanistic links to T2DM</a:t>
            </a:r>
            <a:endParaRPr b="0" lang="en-US" sz="1800" strike="noStrike" u="none">
              <a:solidFill>
                <a:srgbClr val="000000"/>
              </a:solidFill>
              <a:effectLst/>
              <a:uFillTx/>
              <a:latin typeface="Arial"/>
            </a:endParaRPr>
          </a:p>
          <a:p>
            <a:pPr marL="432000" indent="-324000">
              <a:lnSpc>
                <a:spcPct val="100000"/>
              </a:lnSpc>
              <a:spcBef>
                <a:spcPts val="1417"/>
              </a:spcBef>
              <a:buClr>
                <a:srgbClr val="000000"/>
              </a:buClr>
              <a:buSzPct val="45000"/>
              <a:buFont typeface="Wingdings" charset="2"/>
              <a:buChar char=""/>
            </a:pPr>
            <a:r>
              <a:rPr b="0" lang="en-US" sz="1800" strike="noStrike" u="none">
                <a:solidFill>
                  <a:srgbClr val="000000"/>
                </a:solidFill>
                <a:effectLst/>
                <a:uFillTx/>
                <a:latin typeface="Arial"/>
              </a:rPr>
              <a:t>Strong alignment with known lipidomic and BCAA signatures</a:t>
            </a:r>
            <a:endParaRPr b="0" lang="en-US" sz="1800" strike="noStrike" u="none">
              <a:solidFill>
                <a:srgbClr val="000000"/>
              </a:solidFill>
              <a:effectLst/>
              <a:uFillTx/>
              <a:latin typeface="Arial"/>
            </a:endParaRPr>
          </a:p>
          <a:p>
            <a:pPr marL="432000" indent="-324000">
              <a:lnSpc>
                <a:spcPct val="100000"/>
              </a:lnSpc>
              <a:spcBef>
                <a:spcPts val="1417"/>
              </a:spcBef>
              <a:buClr>
                <a:srgbClr val="000000"/>
              </a:buClr>
              <a:buSzPct val="45000"/>
              <a:buFont typeface="Wingdings" charset="2"/>
              <a:buChar char=""/>
            </a:pPr>
            <a:r>
              <a:rPr b="0" lang="en-US" sz="1800" strike="noStrike" u="none">
                <a:solidFill>
                  <a:srgbClr val="000000"/>
                </a:solidFill>
                <a:effectLst/>
                <a:uFillTx/>
                <a:latin typeface="Arial"/>
              </a:rPr>
              <a:t>Score is linearly interpretable</a:t>
            </a:r>
            <a:endParaRPr b="0" lang="en-US" sz="1800" strike="noStrike" u="none">
              <a:solidFill>
                <a:srgbClr val="000000"/>
              </a:solidFill>
              <a:effectLst/>
              <a:uFillTx/>
              <a:latin typeface="Arial"/>
            </a:endParaRPr>
          </a:p>
          <a:p>
            <a:pPr lvl="1" marL="864000" indent="-324000">
              <a:lnSpc>
                <a:spcPct val="100000"/>
              </a:lnSpc>
              <a:spcBef>
                <a:spcPts val="1134"/>
              </a:spcBef>
              <a:buClr>
                <a:srgbClr val="000000"/>
              </a:buClr>
              <a:buSzPct val="75000"/>
              <a:buFont typeface="Symbol" charset="2"/>
              <a:buChar char=""/>
            </a:pPr>
            <a:r>
              <a:rPr b="0" lang="en-US" sz="1800" strike="noStrike" u="none">
                <a:solidFill>
                  <a:srgbClr val="000000"/>
                </a:solidFill>
                <a:effectLst/>
                <a:uFillTx/>
                <a:latin typeface="Arial"/>
              </a:rPr>
              <a:t>+1 SD increase in Valine increases log-odds of T2DM by 1.04</a:t>
            </a:r>
            <a:endParaRPr b="0" lang="en-US" sz="1800" strike="noStrike" u="none">
              <a:solidFill>
                <a:srgbClr val="000000"/>
              </a:solidFill>
              <a:effectLst/>
              <a:uFillTx/>
              <a:latin typeface="Arial"/>
            </a:endParaRPr>
          </a:p>
          <a:p>
            <a:pPr lvl="1" marL="864000" indent="-324000">
              <a:lnSpc>
                <a:spcPct val="100000"/>
              </a:lnSpc>
              <a:spcBef>
                <a:spcPts val="1134"/>
              </a:spcBef>
              <a:buClr>
                <a:srgbClr val="000000"/>
              </a:buClr>
              <a:buSzPct val="75000"/>
              <a:buFont typeface="Symbol" charset="2"/>
              <a:buChar char=""/>
            </a:pPr>
            <a:r>
              <a:rPr b="0" lang="en-US" sz="1800" strike="noStrike" u="none">
                <a:solidFill>
                  <a:srgbClr val="000000"/>
                </a:solidFill>
                <a:effectLst/>
                <a:uFillTx/>
                <a:latin typeface="Arial"/>
              </a:rPr>
              <a:t>+1 SD increase in PC (38:2) decreases the log-odds of T2DM by 1.19</a:t>
            </a:r>
            <a:endParaRPr b="0" lang="en-US" sz="1800" strike="noStrike" u="none">
              <a:solidFill>
                <a:srgbClr val="000000"/>
              </a:solidFill>
              <a:effectLst/>
              <a:uFillTx/>
              <a:latin typeface="Arial"/>
            </a:endParaRPr>
          </a:p>
        </p:txBody>
      </p:sp>
      <p:sp>
        <p:nvSpPr>
          <p:cNvPr id="4" name="PlaceHolder 3"/>
          <p:cNvSpPr>
            <a:spLocks noGrp="1"/>
          </p:cNvSpPr>
          <p:nvPr>
            <p:ph type="sldNum" idx="11"/>
          </p:nvPr>
        </p:nvSpPr>
        <p:spPr/>
        <p:txBody>
          <a:bodyPr/>
          <a:p>
            <a:fld id="{2770E961-434C-4969-8763-D629D8209B26}" type="slidenum">
              <a:t>82</a:t>
            </a:fld>
          </a:p>
        </p:txBody>
      </p:sp>
    </p:spTree>
  </p:cSld>
  <mc:AlternateContent>
    <mc:Choice Requires="p14">
      <p:transition spd="slow" p14:dur="2000"/>
    </mc:Choice>
    <mc:Fallback>
      <p:transition spd="slow"/>
    </mc:Fallback>
  </mc:AlternateContent>
</p:sld>
</file>

<file path=ppt/slides/slide8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8" name="PlaceHolder 1"/>
          <p:cNvSpPr>
            <a:spLocks noGrp="1"/>
          </p:cNvSpPr>
          <p:nvPr>
            <p:ph type="title"/>
          </p:nvPr>
        </p:nvSpPr>
        <p:spPr>
          <a:xfrm>
            <a:off x="360000" y="97920"/>
            <a:ext cx="9342720" cy="626760"/>
          </a:xfrm>
          <a:prstGeom prst="rect">
            <a:avLst/>
          </a:prstGeom>
          <a:noFill/>
          <a:ln w="0">
            <a:noFill/>
          </a:ln>
        </p:spPr>
        <p:txBody>
          <a:bodyPr lIns="0" rIns="0" tIns="0" bIns="0" anchor="ctr">
            <a:spAutoFit/>
          </a:bodyPr>
          <a:p>
            <a:pPr indent="0" algn="ctr">
              <a:lnSpc>
                <a:spcPct val="100000"/>
              </a:lnSpc>
              <a:buNone/>
              <a:tabLst>
                <a:tab algn="l" pos="0"/>
              </a:tabLst>
            </a:pPr>
            <a:r>
              <a:rPr b="0" lang="en-US" sz="3000" strike="noStrike" u="none">
                <a:solidFill>
                  <a:srgbClr val="ffffff"/>
                </a:solidFill>
                <a:effectLst/>
                <a:uFillTx/>
                <a:latin typeface="Arial"/>
              </a:rPr>
              <a:t>External Validation Attempt</a:t>
            </a:r>
            <a:endParaRPr b="0" lang="en-US" sz="3000" strike="noStrike" u="none">
              <a:solidFill>
                <a:srgbClr val="000000"/>
              </a:solidFill>
              <a:effectLst/>
              <a:uFillTx/>
              <a:latin typeface="Arial"/>
            </a:endParaRPr>
          </a:p>
        </p:txBody>
      </p:sp>
      <p:sp>
        <p:nvSpPr>
          <p:cNvPr id="339" name="PlaceHolder 2"/>
          <p:cNvSpPr>
            <a:spLocks noGrp="1"/>
          </p:cNvSpPr>
          <p:nvPr>
            <p:ph/>
          </p:nvPr>
        </p:nvSpPr>
        <p:spPr>
          <a:xfrm>
            <a:off x="360000" y="1080000"/>
            <a:ext cx="9342720" cy="358272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b="0" lang="en-US" sz="1800" strike="noStrike" u="none">
                <a:solidFill>
                  <a:srgbClr val="000000"/>
                </a:solidFill>
                <a:effectLst/>
                <a:uFillTx/>
                <a:latin typeface="Arial"/>
              </a:rPr>
              <a:t>Goal:</a:t>
            </a:r>
            <a:endParaRPr b="0" lang="en-US" sz="1800" strike="noStrike" u="none">
              <a:solidFill>
                <a:srgbClr val="000000"/>
              </a:solidFill>
              <a:effectLst/>
              <a:uFillTx/>
              <a:latin typeface="Arial"/>
            </a:endParaRPr>
          </a:p>
          <a:p>
            <a:pPr lvl="1" marL="864000" indent="-324000">
              <a:lnSpc>
                <a:spcPct val="100000"/>
              </a:lnSpc>
              <a:spcBef>
                <a:spcPts val="1134"/>
              </a:spcBef>
              <a:buClr>
                <a:srgbClr val="000000"/>
              </a:buClr>
              <a:buSzPct val="75000"/>
              <a:buFont typeface="Symbol" charset="2"/>
              <a:buChar char=""/>
            </a:pPr>
            <a:r>
              <a:rPr b="0" lang="en-US" sz="1800" strike="noStrike" u="none">
                <a:solidFill>
                  <a:srgbClr val="000000"/>
                </a:solidFill>
                <a:effectLst/>
                <a:uFillTx/>
                <a:latin typeface="Arial"/>
              </a:rPr>
              <a:t>Assess whether the interpretable 5-metabolite risk score (TAG_score, PA_score, SM_score, PC (38:2), Valine) generalizes to independent public metabolomics datasets.</a:t>
            </a:r>
            <a:endParaRPr b="0" lang="en-US" sz="1800" strike="noStrike" u="none">
              <a:solidFill>
                <a:srgbClr val="000000"/>
              </a:solidFill>
              <a:effectLst/>
              <a:uFillTx/>
              <a:latin typeface="Arial"/>
            </a:endParaRPr>
          </a:p>
          <a:p>
            <a:pPr marL="432000" indent="-324000">
              <a:lnSpc>
                <a:spcPct val="100000"/>
              </a:lnSpc>
              <a:spcBef>
                <a:spcPts val="1191"/>
              </a:spcBef>
              <a:spcAft>
                <a:spcPts val="992"/>
              </a:spcAft>
              <a:buClr>
                <a:srgbClr val="000000"/>
              </a:buClr>
              <a:buSzPct val="45000"/>
              <a:buFont typeface="Wingdings" charset="2"/>
              <a:buChar char=""/>
            </a:pPr>
            <a:r>
              <a:rPr b="0" lang="en-US" sz="1800" strike="noStrike" u="none">
                <a:solidFill>
                  <a:srgbClr val="000000"/>
                </a:solidFill>
                <a:effectLst/>
                <a:uFillTx/>
                <a:latin typeface="Arial"/>
              </a:rPr>
              <a:t>Public datasets reviewed:</a:t>
            </a:r>
            <a:endParaRPr b="0" lang="en-US" sz="1800" strike="noStrike" u="none">
              <a:solidFill>
                <a:srgbClr val="000000"/>
              </a:solidFill>
              <a:effectLst/>
              <a:uFillTx/>
              <a:latin typeface="Arial"/>
            </a:endParaRPr>
          </a:p>
          <a:p>
            <a:pPr lvl="1" marL="864000" indent="-324000">
              <a:lnSpc>
                <a:spcPct val="100000"/>
              </a:lnSpc>
              <a:spcBef>
                <a:spcPts val="1134"/>
              </a:spcBef>
              <a:buClr>
                <a:srgbClr val="000000"/>
              </a:buClr>
              <a:buSzPct val="75000"/>
              <a:buFont typeface="Symbol" charset="2"/>
              <a:buChar char=""/>
            </a:pPr>
            <a:r>
              <a:rPr b="0" lang="en-US" sz="1800" strike="noStrike" u="none">
                <a:solidFill>
                  <a:srgbClr val="000000"/>
                </a:solidFill>
                <a:effectLst/>
                <a:uFillTx/>
                <a:latin typeface="Arial"/>
              </a:rPr>
              <a:t>Metabolomics Workbench (MW)</a:t>
            </a:r>
            <a:endParaRPr b="0" lang="en-US" sz="1800" strike="noStrike" u="none">
              <a:solidFill>
                <a:srgbClr val="000000"/>
              </a:solidFill>
              <a:effectLst/>
              <a:uFillTx/>
              <a:latin typeface="Arial"/>
            </a:endParaRPr>
          </a:p>
          <a:p>
            <a:pPr lvl="1" marL="864000" indent="-324000">
              <a:lnSpc>
                <a:spcPct val="100000"/>
              </a:lnSpc>
              <a:spcBef>
                <a:spcPts val="1134"/>
              </a:spcBef>
              <a:buClr>
                <a:srgbClr val="000000"/>
              </a:buClr>
              <a:buSzPct val="75000"/>
              <a:buFont typeface="Symbol" charset="2"/>
              <a:buChar char=""/>
            </a:pPr>
            <a:r>
              <a:rPr b="0" lang="en-US" sz="1800" strike="noStrike" u="none">
                <a:solidFill>
                  <a:srgbClr val="000000"/>
                </a:solidFill>
                <a:effectLst/>
                <a:uFillTx/>
                <a:latin typeface="Arial"/>
              </a:rPr>
              <a:t>HMDB-linked metabolomics studies</a:t>
            </a:r>
            <a:endParaRPr b="0" lang="en-US" sz="1800" strike="noStrike" u="none">
              <a:solidFill>
                <a:srgbClr val="000000"/>
              </a:solidFill>
              <a:effectLst/>
              <a:uFillTx/>
              <a:latin typeface="Arial"/>
            </a:endParaRPr>
          </a:p>
          <a:p>
            <a:pPr lvl="1" marL="864000" indent="-324000">
              <a:lnSpc>
                <a:spcPct val="100000"/>
              </a:lnSpc>
              <a:spcBef>
                <a:spcPts val="1134"/>
              </a:spcBef>
              <a:buClr>
                <a:srgbClr val="000000"/>
              </a:buClr>
              <a:buSzPct val="75000"/>
              <a:buFont typeface="Symbol" charset="2"/>
              <a:buChar char=""/>
            </a:pPr>
            <a:r>
              <a:rPr b="0" lang="en-US" sz="1800" strike="noStrike" u="none">
                <a:solidFill>
                  <a:srgbClr val="000000"/>
                </a:solidFill>
                <a:effectLst/>
                <a:uFillTx/>
                <a:latin typeface="Arial"/>
              </a:rPr>
              <a:t>LC–MS and NMR human metabolic disease datasets</a:t>
            </a:r>
            <a:endParaRPr b="0" lang="en-US" sz="1800" strike="noStrike" u="none">
              <a:solidFill>
                <a:srgbClr val="000000"/>
              </a:solidFill>
              <a:effectLst/>
              <a:uFillTx/>
              <a:latin typeface="Arial"/>
            </a:endParaRPr>
          </a:p>
          <a:p>
            <a:pPr lvl="1" marL="864000" indent="-324000">
              <a:lnSpc>
                <a:spcPct val="100000"/>
              </a:lnSpc>
              <a:spcBef>
                <a:spcPts val="1134"/>
              </a:spcBef>
              <a:buClr>
                <a:srgbClr val="000000"/>
              </a:buClr>
              <a:buSzPct val="75000"/>
              <a:buFont typeface="Symbol" charset="2"/>
              <a:buChar char=""/>
            </a:pPr>
            <a:r>
              <a:rPr b="0" lang="en-US" sz="1800" strike="noStrike" u="none">
                <a:solidFill>
                  <a:srgbClr val="000000"/>
                </a:solidFill>
                <a:effectLst/>
                <a:uFillTx/>
                <a:latin typeface="Arial"/>
              </a:rPr>
              <a:t>T2DM and metabolic syndrome cohorts</a:t>
            </a:r>
            <a:endParaRPr b="0" lang="en-US" sz="1800" strike="noStrike" u="none">
              <a:solidFill>
                <a:srgbClr val="000000"/>
              </a:solidFill>
              <a:effectLst/>
              <a:uFillTx/>
              <a:latin typeface="Arial"/>
            </a:endParaRPr>
          </a:p>
          <a:p>
            <a:pPr marL="432000" indent="0">
              <a:lnSpc>
                <a:spcPct val="100000"/>
              </a:lnSpc>
              <a:spcBef>
                <a:spcPts val="1191"/>
              </a:spcBef>
              <a:spcAft>
                <a:spcPts val="992"/>
              </a:spcAft>
              <a:buNone/>
              <a:tabLst>
                <a:tab algn="l" pos="0"/>
              </a:tabLst>
            </a:pPr>
            <a:endParaRPr b="0" lang="en-US" sz="1800" strike="noStrike" u="none">
              <a:solidFill>
                <a:srgbClr val="000000"/>
              </a:solidFill>
              <a:effectLst/>
              <a:uFillTx/>
              <a:latin typeface="Arial"/>
            </a:endParaRPr>
          </a:p>
        </p:txBody>
      </p:sp>
      <p:sp>
        <p:nvSpPr>
          <p:cNvPr id="4" name="PlaceHolder 3"/>
          <p:cNvSpPr>
            <a:spLocks noGrp="1"/>
          </p:cNvSpPr>
          <p:nvPr>
            <p:ph type="sldNum" idx="11"/>
          </p:nvPr>
        </p:nvSpPr>
        <p:spPr/>
        <p:txBody>
          <a:bodyPr/>
          <a:p>
            <a:fld id="{1FBB7E9D-BEFA-4048-B534-80E4B6A5FB90}" type="slidenum">
              <a:t>83</a:t>
            </a:fld>
          </a:p>
        </p:txBody>
      </p:sp>
    </p:spTree>
  </p:cSld>
  <mc:AlternateContent>
    <mc:Choice Requires="p14">
      <p:transition spd="slow" p14:dur="2000"/>
    </mc:Choice>
    <mc:Fallback>
      <p:transition spd="slow"/>
    </mc:Fallback>
  </mc:AlternateContent>
</p:sld>
</file>

<file path=ppt/slides/slide8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0" name="PlaceHolder 1"/>
          <p:cNvSpPr>
            <a:spLocks noGrp="1"/>
          </p:cNvSpPr>
          <p:nvPr>
            <p:ph type="title"/>
          </p:nvPr>
        </p:nvSpPr>
        <p:spPr>
          <a:xfrm>
            <a:off x="360000" y="97920"/>
            <a:ext cx="9342720" cy="626760"/>
          </a:xfrm>
          <a:prstGeom prst="rect">
            <a:avLst/>
          </a:prstGeom>
          <a:noFill/>
          <a:ln w="0">
            <a:noFill/>
          </a:ln>
        </p:spPr>
        <p:txBody>
          <a:bodyPr lIns="0" rIns="0" tIns="0" bIns="0" anchor="ctr">
            <a:spAutoFit/>
          </a:bodyPr>
          <a:p>
            <a:pPr indent="0" algn="ctr">
              <a:lnSpc>
                <a:spcPct val="100000"/>
              </a:lnSpc>
              <a:buNone/>
              <a:tabLst>
                <a:tab algn="l" pos="0"/>
              </a:tabLst>
            </a:pPr>
            <a:r>
              <a:rPr b="0" lang="en-US" sz="3000" strike="noStrike" u="none">
                <a:solidFill>
                  <a:srgbClr val="ffffff"/>
                </a:solidFill>
                <a:effectLst/>
                <a:uFillTx/>
                <a:latin typeface="Arial"/>
              </a:rPr>
              <a:t>External Validation Attempt</a:t>
            </a:r>
            <a:endParaRPr b="0" lang="en-US" sz="3000" strike="noStrike" u="none">
              <a:solidFill>
                <a:srgbClr val="000000"/>
              </a:solidFill>
              <a:effectLst/>
              <a:uFillTx/>
              <a:latin typeface="Arial"/>
            </a:endParaRPr>
          </a:p>
        </p:txBody>
      </p:sp>
      <p:sp>
        <p:nvSpPr>
          <p:cNvPr id="341" name="PlaceHolder 2"/>
          <p:cNvSpPr>
            <a:spLocks noGrp="1"/>
          </p:cNvSpPr>
          <p:nvPr>
            <p:ph/>
          </p:nvPr>
        </p:nvSpPr>
        <p:spPr>
          <a:xfrm>
            <a:off x="360000" y="1080000"/>
            <a:ext cx="9342720" cy="3582720"/>
          </a:xfrm>
          <a:prstGeom prst="rect">
            <a:avLst/>
          </a:prstGeom>
          <a:noFill/>
          <a:ln w="0">
            <a:noFill/>
          </a:ln>
        </p:spPr>
        <p:txBody>
          <a:bodyPr lIns="0" rIns="0" tIns="0" bIns="0" anchor="t">
            <a:normAutofit/>
          </a:bodyPr>
          <a:p>
            <a:pPr marL="432000" indent="-324000">
              <a:lnSpc>
                <a:spcPct val="100000"/>
              </a:lnSpc>
              <a:spcBef>
                <a:spcPts val="1191"/>
              </a:spcBef>
              <a:spcAft>
                <a:spcPts val="992"/>
              </a:spcAft>
              <a:buClr>
                <a:srgbClr val="000000"/>
              </a:buClr>
              <a:buSzPct val="45000"/>
              <a:buFont typeface="Wingdings" charset="2"/>
              <a:buChar char=""/>
            </a:pPr>
            <a:r>
              <a:rPr b="0" lang="en-US" sz="1800" strike="noStrike" u="none">
                <a:solidFill>
                  <a:srgbClr val="000000"/>
                </a:solidFill>
                <a:effectLst/>
                <a:uFillTx/>
                <a:latin typeface="Arial"/>
              </a:rPr>
              <a:t>Validation requirements:</a:t>
            </a:r>
            <a:endParaRPr b="0" lang="en-US" sz="1800" strike="noStrike" u="none">
              <a:solidFill>
                <a:srgbClr val="000000"/>
              </a:solidFill>
              <a:effectLst/>
              <a:uFillTx/>
              <a:latin typeface="Arial"/>
            </a:endParaRPr>
          </a:p>
          <a:p>
            <a:pPr lvl="1" marL="864000" indent="-324000">
              <a:lnSpc>
                <a:spcPct val="100000"/>
              </a:lnSpc>
              <a:spcBef>
                <a:spcPts val="1134"/>
              </a:spcBef>
              <a:buClr>
                <a:srgbClr val="000000"/>
              </a:buClr>
              <a:buSzPct val="75000"/>
              <a:buFont typeface="Symbol" charset="2"/>
              <a:buChar char=""/>
            </a:pPr>
            <a:r>
              <a:rPr b="0" lang="en-US" sz="1800" strike="noStrike" u="none">
                <a:solidFill>
                  <a:srgbClr val="000000"/>
                </a:solidFill>
                <a:effectLst/>
                <a:uFillTx/>
                <a:latin typeface="Arial"/>
              </a:rPr>
              <a:t>Processed metabolite intensity tables (now RAW MS files)</a:t>
            </a:r>
            <a:endParaRPr b="0" lang="en-US" sz="1800" strike="noStrike" u="none">
              <a:solidFill>
                <a:srgbClr val="000000"/>
              </a:solidFill>
              <a:effectLst/>
              <a:uFillTx/>
              <a:latin typeface="Arial"/>
            </a:endParaRPr>
          </a:p>
          <a:p>
            <a:pPr lvl="1" marL="864000" indent="-324000">
              <a:lnSpc>
                <a:spcPct val="100000"/>
              </a:lnSpc>
              <a:spcBef>
                <a:spcPts val="1134"/>
              </a:spcBef>
              <a:buClr>
                <a:srgbClr val="000000"/>
              </a:buClr>
              <a:buSzPct val="75000"/>
              <a:buFont typeface="Symbol" charset="2"/>
              <a:buChar char=""/>
            </a:pPr>
            <a:r>
              <a:rPr b="0" lang="en-US" sz="1800" strike="noStrike" u="none">
                <a:solidFill>
                  <a:srgbClr val="000000"/>
                </a:solidFill>
                <a:effectLst/>
                <a:uFillTx/>
                <a:latin typeface="Arial"/>
              </a:rPr>
              <a:t>Species-level lipidomics: TAGs, SMs, PCs, PAs</a:t>
            </a:r>
            <a:endParaRPr b="0" lang="en-US" sz="1800" strike="noStrike" u="none">
              <a:solidFill>
                <a:srgbClr val="000000"/>
              </a:solidFill>
              <a:effectLst/>
              <a:uFillTx/>
              <a:latin typeface="Arial"/>
            </a:endParaRPr>
          </a:p>
          <a:p>
            <a:pPr lvl="1" marL="864000" indent="-324000">
              <a:lnSpc>
                <a:spcPct val="100000"/>
              </a:lnSpc>
              <a:spcBef>
                <a:spcPts val="1134"/>
              </a:spcBef>
              <a:buClr>
                <a:srgbClr val="000000"/>
              </a:buClr>
              <a:buSzPct val="75000"/>
              <a:buFont typeface="Symbol" charset="2"/>
              <a:buChar char=""/>
            </a:pPr>
            <a:r>
              <a:rPr b="0" lang="en-US" sz="1800" strike="noStrike" u="none">
                <a:solidFill>
                  <a:srgbClr val="000000"/>
                </a:solidFill>
                <a:effectLst/>
                <a:uFillTx/>
                <a:latin typeface="Arial"/>
              </a:rPr>
              <a:t>Amino acids including Valine</a:t>
            </a:r>
            <a:endParaRPr b="0" lang="en-US" sz="1800" strike="noStrike" u="none">
              <a:solidFill>
                <a:srgbClr val="000000"/>
              </a:solidFill>
              <a:effectLst/>
              <a:uFillTx/>
              <a:latin typeface="Arial"/>
            </a:endParaRPr>
          </a:p>
          <a:p>
            <a:pPr lvl="1" marL="864000" indent="-324000">
              <a:lnSpc>
                <a:spcPct val="100000"/>
              </a:lnSpc>
              <a:spcBef>
                <a:spcPts val="1134"/>
              </a:spcBef>
              <a:buClr>
                <a:srgbClr val="000000"/>
              </a:buClr>
              <a:buSzPct val="75000"/>
              <a:buFont typeface="Symbol" charset="2"/>
              <a:buChar char=""/>
            </a:pPr>
            <a:r>
              <a:rPr b="0" lang="en-US" sz="1800" strike="noStrike" u="none">
                <a:solidFill>
                  <a:srgbClr val="000000"/>
                </a:solidFill>
                <a:effectLst/>
                <a:uFillTx/>
                <a:latin typeface="Arial"/>
              </a:rPr>
              <a:t>Case-control structure (Healthy vs T2DM)</a:t>
            </a:r>
            <a:endParaRPr b="0" lang="en-US" sz="1800" strike="noStrike" u="none">
              <a:solidFill>
                <a:srgbClr val="000000"/>
              </a:solidFill>
              <a:effectLst/>
              <a:uFillTx/>
              <a:latin typeface="Arial"/>
            </a:endParaRPr>
          </a:p>
        </p:txBody>
      </p:sp>
      <p:sp>
        <p:nvSpPr>
          <p:cNvPr id="4" name="PlaceHolder 3"/>
          <p:cNvSpPr>
            <a:spLocks noGrp="1"/>
          </p:cNvSpPr>
          <p:nvPr>
            <p:ph type="sldNum" idx="11"/>
          </p:nvPr>
        </p:nvSpPr>
        <p:spPr/>
        <p:txBody>
          <a:bodyPr/>
          <a:p>
            <a:fld id="{55E024E7-32C6-410B-B7D4-F24D918D10CC}" type="slidenum">
              <a:t>84</a:t>
            </a:fld>
          </a:p>
        </p:txBody>
      </p:sp>
    </p:spTree>
  </p:cSld>
  <mc:AlternateContent>
    <mc:Choice Requires="p14">
      <p:transition spd="slow" p14:dur="2000"/>
    </mc:Choice>
    <mc:Fallback>
      <p:transition spd="slow"/>
    </mc:Fallback>
  </mc:AlternateContent>
</p:sld>
</file>

<file path=ppt/slides/slide8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2" name="PlaceHolder 1"/>
          <p:cNvSpPr>
            <a:spLocks noGrp="1"/>
          </p:cNvSpPr>
          <p:nvPr>
            <p:ph type="title"/>
          </p:nvPr>
        </p:nvSpPr>
        <p:spPr>
          <a:xfrm>
            <a:off x="360000" y="97920"/>
            <a:ext cx="9342720" cy="626760"/>
          </a:xfrm>
          <a:prstGeom prst="rect">
            <a:avLst/>
          </a:prstGeom>
          <a:noFill/>
          <a:ln w="0">
            <a:noFill/>
          </a:ln>
        </p:spPr>
        <p:txBody>
          <a:bodyPr lIns="0" rIns="0" tIns="0" bIns="0" anchor="ctr">
            <a:spAutoFit/>
          </a:bodyPr>
          <a:p>
            <a:pPr indent="0" algn="ctr">
              <a:lnSpc>
                <a:spcPct val="100000"/>
              </a:lnSpc>
              <a:buNone/>
              <a:tabLst>
                <a:tab algn="l" pos="0"/>
              </a:tabLst>
            </a:pPr>
            <a:r>
              <a:rPr b="0" lang="en-US" sz="3000" strike="noStrike" u="none">
                <a:solidFill>
                  <a:srgbClr val="ffffff"/>
                </a:solidFill>
                <a:effectLst/>
                <a:uFillTx/>
                <a:latin typeface="Arial"/>
              </a:rPr>
              <a:t>External Validation Attempt</a:t>
            </a:r>
            <a:endParaRPr b="0" lang="en-US" sz="3000" strike="noStrike" u="none">
              <a:solidFill>
                <a:srgbClr val="000000"/>
              </a:solidFill>
              <a:effectLst/>
              <a:uFillTx/>
              <a:latin typeface="Arial"/>
            </a:endParaRPr>
          </a:p>
        </p:txBody>
      </p:sp>
      <p:sp>
        <p:nvSpPr>
          <p:cNvPr id="343" name="PlaceHolder 2"/>
          <p:cNvSpPr>
            <a:spLocks noGrp="1"/>
          </p:cNvSpPr>
          <p:nvPr>
            <p:ph/>
          </p:nvPr>
        </p:nvSpPr>
        <p:spPr>
          <a:xfrm>
            <a:off x="360000" y="1080000"/>
            <a:ext cx="9342720" cy="394776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b="0" lang="en-US" sz="1800" strike="noStrike" u="none">
                <a:solidFill>
                  <a:srgbClr val="000000"/>
                </a:solidFill>
                <a:effectLst/>
                <a:uFillTx/>
                <a:latin typeface="Arial"/>
              </a:rPr>
              <a:t>Findings:</a:t>
            </a:r>
            <a:endParaRPr b="0" lang="en-US" sz="1800" strike="noStrike" u="none">
              <a:solidFill>
                <a:srgbClr val="000000"/>
              </a:solidFill>
              <a:effectLst/>
              <a:uFillTx/>
              <a:latin typeface="Arial"/>
            </a:endParaRPr>
          </a:p>
          <a:p>
            <a:pPr lvl="1" marL="864000" indent="-324000">
              <a:lnSpc>
                <a:spcPct val="100000"/>
              </a:lnSpc>
              <a:spcBef>
                <a:spcPts val="1191"/>
              </a:spcBef>
              <a:spcAft>
                <a:spcPts val="992"/>
              </a:spcAft>
              <a:buClr>
                <a:srgbClr val="000000"/>
              </a:buClr>
              <a:buSzPct val="75000"/>
              <a:buFont typeface="Symbol" charset="2"/>
              <a:buChar char=""/>
            </a:pPr>
            <a:r>
              <a:rPr b="0" lang="en-US" sz="1800" strike="noStrike" u="none">
                <a:solidFill>
                  <a:srgbClr val="000000"/>
                </a:solidFill>
                <a:effectLst/>
                <a:uFillTx/>
                <a:latin typeface="Arial"/>
              </a:rPr>
              <a:t>Many datasets provided only RAW files (no processed metabolite tables).</a:t>
            </a:r>
            <a:endParaRPr b="0" lang="en-US" sz="1800" strike="noStrike" u="none">
              <a:solidFill>
                <a:srgbClr val="000000"/>
              </a:solidFill>
              <a:effectLst/>
              <a:uFillTx/>
              <a:latin typeface="Arial"/>
            </a:endParaRPr>
          </a:p>
          <a:p>
            <a:pPr lvl="1" marL="864000" indent="-324000">
              <a:lnSpc>
                <a:spcPct val="100000"/>
              </a:lnSpc>
              <a:spcBef>
                <a:spcPts val="1191"/>
              </a:spcBef>
              <a:spcAft>
                <a:spcPts val="992"/>
              </a:spcAft>
              <a:buClr>
                <a:srgbClr val="000000"/>
              </a:buClr>
              <a:buSzPct val="75000"/>
              <a:buFont typeface="Symbol" charset="2"/>
              <a:buChar char=""/>
            </a:pPr>
            <a:r>
              <a:rPr b="0" lang="en-US" sz="1800" strike="noStrike" u="none">
                <a:solidFill>
                  <a:srgbClr val="000000"/>
                </a:solidFill>
                <a:effectLst/>
                <a:uFillTx/>
                <a:latin typeface="Arial"/>
              </a:rPr>
              <a:t>Others contained only amino acids or only partial lipid profiles.</a:t>
            </a:r>
            <a:endParaRPr b="0" lang="en-US" sz="1800" strike="noStrike" u="none">
              <a:solidFill>
                <a:srgbClr val="000000"/>
              </a:solidFill>
              <a:effectLst/>
              <a:uFillTx/>
              <a:latin typeface="Arial"/>
            </a:endParaRPr>
          </a:p>
          <a:p>
            <a:pPr lvl="1" marL="864000" indent="-324000">
              <a:lnSpc>
                <a:spcPct val="100000"/>
              </a:lnSpc>
              <a:spcBef>
                <a:spcPts val="1191"/>
              </a:spcBef>
              <a:spcAft>
                <a:spcPts val="992"/>
              </a:spcAft>
              <a:buClr>
                <a:srgbClr val="000000"/>
              </a:buClr>
              <a:buSzPct val="75000"/>
              <a:buFont typeface="Symbol" charset="2"/>
              <a:buChar char=""/>
            </a:pPr>
            <a:r>
              <a:rPr b="0" lang="en-US" sz="1800" strike="noStrike" u="none">
                <a:solidFill>
                  <a:srgbClr val="000000"/>
                </a:solidFill>
                <a:effectLst/>
                <a:uFillTx/>
                <a:latin typeface="Arial"/>
              </a:rPr>
              <a:t>PA species were absent in every dataset examined.</a:t>
            </a:r>
            <a:endParaRPr b="0" lang="en-US" sz="1800" strike="noStrike" u="none">
              <a:solidFill>
                <a:srgbClr val="000000"/>
              </a:solidFill>
              <a:effectLst/>
              <a:uFillTx/>
              <a:latin typeface="Arial"/>
            </a:endParaRPr>
          </a:p>
          <a:p>
            <a:pPr lvl="1" marL="864000" indent="-324000">
              <a:lnSpc>
                <a:spcPct val="100000"/>
              </a:lnSpc>
              <a:spcBef>
                <a:spcPts val="1191"/>
              </a:spcBef>
              <a:spcAft>
                <a:spcPts val="992"/>
              </a:spcAft>
              <a:buClr>
                <a:srgbClr val="000000"/>
              </a:buClr>
              <a:buSzPct val="75000"/>
              <a:buFont typeface="Symbol" charset="2"/>
              <a:buChar char=""/>
            </a:pPr>
            <a:r>
              <a:rPr b="0" lang="en-US" sz="1800" strike="noStrike" u="none">
                <a:solidFill>
                  <a:srgbClr val="000000"/>
                </a:solidFill>
                <a:effectLst/>
                <a:uFillTx/>
                <a:latin typeface="Arial"/>
              </a:rPr>
              <a:t>No dataset contained the full metabolite set needed to compute the risk score.</a:t>
            </a:r>
            <a:endParaRPr b="0" lang="en-US" sz="1800" strike="noStrike" u="none">
              <a:solidFill>
                <a:srgbClr val="000000"/>
              </a:solidFill>
              <a:effectLst/>
              <a:uFillTx/>
              <a:latin typeface="Arial"/>
            </a:endParaRPr>
          </a:p>
          <a:p>
            <a:pPr marL="432000" indent="-324000">
              <a:lnSpc>
                <a:spcPct val="100000"/>
              </a:lnSpc>
              <a:spcBef>
                <a:spcPts val="1417"/>
              </a:spcBef>
              <a:buClr>
                <a:srgbClr val="000000"/>
              </a:buClr>
              <a:buSzPct val="45000"/>
              <a:buFont typeface="Wingdings" charset="2"/>
              <a:buChar char=""/>
            </a:pPr>
            <a:r>
              <a:rPr b="0" lang="en-US" sz="1800" strike="noStrike" u="none">
                <a:solidFill>
                  <a:srgbClr val="000000"/>
                </a:solidFill>
                <a:effectLst/>
                <a:uFillTx/>
                <a:latin typeface="Arial"/>
              </a:rPr>
              <a:t>External validation of the complete 5-metabolite risk score was not possible with currently available public datasets, due to incomplete or incompatible metabolite coverage</a:t>
            </a:r>
            <a:endParaRPr b="0" lang="en-US" sz="1800" strike="noStrike" u="none">
              <a:solidFill>
                <a:srgbClr val="000000"/>
              </a:solidFill>
              <a:effectLst/>
              <a:uFillTx/>
              <a:latin typeface="Arial"/>
            </a:endParaRPr>
          </a:p>
        </p:txBody>
      </p:sp>
      <p:sp>
        <p:nvSpPr>
          <p:cNvPr id="4" name="PlaceHolder 3"/>
          <p:cNvSpPr>
            <a:spLocks noGrp="1"/>
          </p:cNvSpPr>
          <p:nvPr>
            <p:ph type="sldNum" idx="11"/>
          </p:nvPr>
        </p:nvSpPr>
        <p:spPr/>
        <p:txBody>
          <a:bodyPr/>
          <a:p>
            <a:fld id="{C213E614-7B80-427C-8746-6A5026336866}" type="slidenum">
              <a:t>85</a:t>
            </a:fld>
          </a:p>
        </p:txBody>
      </p:sp>
    </p:spTree>
  </p:cSld>
  <mc:AlternateContent>
    <mc:Choice Requires="p14">
      <p:transition spd="slow" p14:dur="2000"/>
    </mc:Choice>
    <mc:Fallback>
      <p:transition spd="slow"/>
    </mc:Fallback>
  </mc:AlternateContent>
</p:sld>
</file>

<file path=ppt/slides/slide8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4" name="PlaceHolder 1"/>
          <p:cNvSpPr>
            <a:spLocks noGrp="1"/>
          </p:cNvSpPr>
          <p:nvPr>
            <p:ph type="title"/>
          </p:nvPr>
        </p:nvSpPr>
        <p:spPr>
          <a:xfrm>
            <a:off x="360000" y="68400"/>
            <a:ext cx="9342720" cy="684720"/>
          </a:xfrm>
          <a:prstGeom prst="rect">
            <a:avLst/>
          </a:prstGeom>
          <a:noFill/>
          <a:ln w="0">
            <a:noFill/>
          </a:ln>
        </p:spPr>
        <p:txBody>
          <a:bodyPr lIns="0" rIns="0" tIns="0" bIns="0" anchor="ctr">
            <a:spAutoFit/>
          </a:bodyPr>
          <a:p>
            <a:pPr indent="0" algn="ctr">
              <a:lnSpc>
                <a:spcPct val="100000"/>
              </a:lnSpc>
              <a:buNone/>
              <a:tabLst>
                <a:tab algn="l" pos="0"/>
              </a:tabLst>
            </a:pPr>
            <a:r>
              <a:rPr b="0" lang="en-US" sz="3000" strike="noStrike" u="none">
                <a:solidFill>
                  <a:srgbClr val="ffffff"/>
                </a:solidFill>
                <a:effectLst/>
                <a:uFillTx/>
                <a:latin typeface="Arial"/>
              </a:rPr>
              <a:t>Future Work</a:t>
            </a:r>
            <a:endParaRPr b="0" lang="en-US" sz="3000" strike="noStrike" u="none">
              <a:solidFill>
                <a:srgbClr val="000000"/>
              </a:solidFill>
              <a:effectLst/>
              <a:uFillTx/>
              <a:latin typeface="Arial"/>
            </a:endParaRPr>
          </a:p>
        </p:txBody>
      </p:sp>
      <p:sp>
        <p:nvSpPr>
          <p:cNvPr id="345" name="PlaceHolder 2"/>
          <p:cNvSpPr>
            <a:spLocks noGrp="1"/>
          </p:cNvSpPr>
          <p:nvPr>
            <p:ph/>
          </p:nvPr>
        </p:nvSpPr>
        <p:spPr>
          <a:xfrm>
            <a:off x="360000" y="1080000"/>
            <a:ext cx="9342720" cy="3582720"/>
          </a:xfrm>
          <a:prstGeom prst="rect">
            <a:avLst/>
          </a:prstGeom>
          <a:noFill/>
          <a:ln w="0">
            <a:noFill/>
          </a:ln>
        </p:spPr>
        <p:txBody>
          <a:bodyPr lIns="0" rIns="0" tIns="0" bIns="0" anchor="t">
            <a:normAutofit/>
          </a:bodyPr>
          <a:p>
            <a:pPr marL="216000" indent="-216000" defTabSz="914400">
              <a:lnSpc>
                <a:spcPct val="90000"/>
              </a:lnSpc>
              <a:spcBef>
                <a:spcPts val="1001"/>
              </a:spcBef>
              <a:buClr>
                <a:srgbClr val="000000"/>
              </a:buClr>
              <a:buSzPct val="45000"/>
              <a:buFont typeface="Wingdings" charset="2"/>
              <a:buChar char=""/>
              <a:tabLst>
                <a:tab algn="l" pos="0"/>
              </a:tabLst>
            </a:pPr>
            <a:r>
              <a:rPr b="1" lang="en-US" sz="1800" strike="noStrike" u="none">
                <a:solidFill>
                  <a:srgbClr val="000000"/>
                </a:solidFill>
                <a:effectLst/>
                <a:uFillTx/>
                <a:latin typeface="Arial"/>
                <a:ea typeface="DejaVu Sans"/>
              </a:rPr>
              <a:t>Pathway mapping</a:t>
            </a:r>
            <a:r>
              <a:rPr b="0" lang="en-US" sz="1800" strike="noStrike" u="none">
                <a:solidFill>
                  <a:srgbClr val="000000"/>
                </a:solidFill>
                <a:effectLst/>
                <a:uFillTx/>
                <a:latin typeface="Arial"/>
                <a:ea typeface="DejaVu Sans"/>
              </a:rPr>
              <a:t> – Feed the overlapping top features into KEGG/LIPID MAPS to identify coherent metabolic pathways (e.g., branched‑chain amino‑acid catabolism, altered TAG species). </a:t>
            </a:r>
            <a:endParaRPr b="0" lang="en-US" sz="1800" strike="noStrike" u="none">
              <a:solidFill>
                <a:srgbClr val="000000"/>
              </a:solidFill>
              <a:effectLst/>
              <a:uFillTx/>
              <a:latin typeface="Arial"/>
            </a:endParaRPr>
          </a:p>
          <a:p>
            <a:pPr marL="216000" indent="-216000" defTabSz="914400">
              <a:lnSpc>
                <a:spcPct val="90000"/>
              </a:lnSpc>
              <a:spcBef>
                <a:spcPts val="1001"/>
              </a:spcBef>
              <a:buClr>
                <a:srgbClr val="000000"/>
              </a:buClr>
              <a:buSzPct val="45000"/>
              <a:buFont typeface="Wingdings" charset="2"/>
              <a:buChar char=""/>
              <a:tabLst>
                <a:tab algn="l" pos="0"/>
              </a:tabLst>
            </a:pPr>
            <a:r>
              <a:rPr b="1" lang="en-US" sz="1800" strike="noStrike" u="none">
                <a:solidFill>
                  <a:srgbClr val="000000"/>
                </a:solidFill>
                <a:effectLst/>
                <a:uFillTx/>
                <a:latin typeface="Arial"/>
                <a:ea typeface="DejaVu Sans"/>
              </a:rPr>
              <a:t>Cross‑validation stability</a:t>
            </a:r>
            <a:r>
              <a:rPr b="0" lang="en-US" sz="1800" strike="noStrike" u="none">
                <a:solidFill>
                  <a:srgbClr val="000000"/>
                </a:solidFill>
                <a:effectLst/>
                <a:uFillTx/>
                <a:latin typeface="Arial"/>
                <a:ea typeface="DejaVu Sans"/>
              </a:rPr>
              <a:t> – Verify that the Gain rankings are stable across CV folds; large variance suggests overfit to specific splits.</a:t>
            </a:r>
            <a:endParaRPr b="0" lang="en-US" sz="1800" strike="noStrike" u="none">
              <a:solidFill>
                <a:srgbClr val="000000"/>
              </a:solidFill>
              <a:effectLst/>
              <a:uFillTx/>
              <a:latin typeface="Arial"/>
            </a:endParaRPr>
          </a:p>
        </p:txBody>
      </p:sp>
      <p:sp>
        <p:nvSpPr>
          <p:cNvPr id="4" name="PlaceHolder 3"/>
          <p:cNvSpPr>
            <a:spLocks noGrp="1"/>
          </p:cNvSpPr>
          <p:nvPr>
            <p:ph type="sldNum" idx="11"/>
          </p:nvPr>
        </p:nvSpPr>
        <p:spPr/>
        <p:txBody>
          <a:bodyPr/>
          <a:p>
            <a:fld id="{3B1DF117-BDB7-4E66-B6C9-0DE1295B585C}" type="slidenum">
              <a:t>86</a:t>
            </a:fld>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2.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3.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4.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5.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23034</TotalTime>
  <Application>LibreOffice/25.8.3.2$Windows_X86_64 LibreOffice_project/8ca8d55c161d602844f5428fa4b58097424e324e</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2025-07-27T20:58:20Z</dcterms:created>
  <dc:creator/>
  <dc:description>This work is licensed under a Creative Commons 0 License.
It makes use of the works of kka_libo_design@ashisuto.co.jp.</dc:description>
  <dc:language>en-US</dc:language>
  <cp:lastModifiedBy/>
  <dcterms:modified xsi:type="dcterms:W3CDTF">2025-12-17T19:43:50Z</dcterms:modified>
  <cp:revision>863</cp:revision>
  <dc:subject/>
  <dc:title>Blue Curve</dc:title>
</cp:coreProperties>
</file>

<file path=docProps/custom.xml><?xml version="1.0" encoding="utf-8"?>
<Properties xmlns="http://schemas.openxmlformats.org/officeDocument/2006/custom-properties" xmlns:vt="http://schemas.openxmlformats.org/officeDocument/2006/docPropsVTypes"/>
</file>